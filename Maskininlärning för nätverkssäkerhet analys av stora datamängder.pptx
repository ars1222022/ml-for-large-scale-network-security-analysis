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sldSz cx="12192000" cy="6858000"/>
  <p:notesSz cx="6858000" cy="9144000"/>
  <p:embeddedFontLst>
    <p:embeddedFont>
      <p:font typeface="Consolas" panose="020B0609020204030204" pitchFamily="49" charset="0"/>
      <p:regular r:id="rId73"/>
      <p:bold r:id="rId74"/>
      <p:italic r:id="rId75"/>
      <p:boldItalic r:id="rId76"/>
    </p:embeddedFont>
    <p:embeddedFont>
      <p:font typeface="Play" panose="020B0604020202020204" charset="0"/>
      <p:regular r:id="rId77"/>
      <p:bold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9" roundtripDataSignature="AMtx7miUcUWUPBADKmvq/5dxIMEc2y3m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22C3B93-EF79-491A-80E4-DA79D8C4CF44}">
  <a:tblStyle styleId="{822C3B93-EF79-491A-80E4-DA79D8C4CF44}"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7C427A64-D489-4A59-8F93-1E52C87C3D23}" styleName="Table_1">
    <a:wholeTbl>
      <a:tcTxStyle b="off" i="off">
        <a:font>
          <a:latin typeface="Aptos"/>
          <a:ea typeface="Aptos"/>
          <a:cs typeface="Aptos"/>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dk1">
              <a:alpha val="20000"/>
            </a:schemeClr>
          </a:solidFill>
        </a:fill>
      </a:tcStyle>
    </a:band1H>
    <a:band2H>
      <a:tcTxStyle/>
      <a:tcStyle>
        <a:tcBdr/>
      </a:tcStyle>
    </a:band2H>
    <a:band1V>
      <a:tcTxStyle/>
      <a:tcStyle>
        <a:tcBdr/>
        <a:fill>
          <a:solidFill>
            <a:schemeClr val="dk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dk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dk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FC5630A3-10B3-40D5-8C3A-4DB2008A8BC0}" styleName="Table_2">
    <a:wholeTbl>
      <a:tcTxStyle b="off" i="off">
        <a:font>
          <a:latin typeface="Aptos"/>
          <a:ea typeface="Aptos"/>
          <a:cs typeface="Aptos"/>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Aptos"/>
          <a:ea typeface="Aptos"/>
          <a:cs typeface="Aptos"/>
        </a:font>
        <a:schemeClr val="lt1"/>
      </a:tcTxStyle>
      <a:tcStyle>
        <a:tcBdr/>
        <a:fill>
          <a:solidFill>
            <a:schemeClr val="accent1"/>
          </a:solidFill>
        </a:fill>
      </a:tcStyle>
    </a:firstRow>
    <a:neCell>
      <a:tcTxStyle/>
      <a:tcStyle>
        <a:tcBdr/>
      </a:tcStyle>
    </a:neCell>
    <a:nwCell>
      <a:tcTxStyle/>
      <a:tcStyle>
        <a:tcBdr/>
      </a:tcStyle>
    </a:nwCell>
  </a:tblStyle>
  <a:tblStyle styleId="{300B5AD4-025D-4A69-B917-D395503BAA86}" styleName="Table_3">
    <a:wholeTbl>
      <a:tcTxStyle b="off" i="off">
        <a:font>
          <a:latin typeface="Aptos"/>
          <a:ea typeface="Aptos"/>
          <a:cs typeface="Aptos"/>
        </a:font>
        <a:schemeClr val="dk1"/>
      </a:tcTxStyle>
      <a:tcStyle>
        <a:tcBdr>
          <a:left>
            <a:ln w="12700" cap="flat" cmpd="sng">
              <a:solidFill>
                <a:schemeClr val="accent3"/>
              </a:solidFill>
              <a:prstDash val="solid"/>
              <a:round/>
              <a:headEnd type="none" w="sm" len="sm"/>
              <a:tailEnd type="none" w="sm" len="sm"/>
            </a:ln>
          </a:left>
          <a:right>
            <a:ln w="12700" cap="flat" cmpd="sng">
              <a:solidFill>
                <a:schemeClr val="accent3"/>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12700" cap="flat" cmpd="sng">
              <a:solidFill>
                <a:schemeClr val="accent3"/>
              </a:solidFill>
              <a:prstDash val="solid"/>
              <a:round/>
              <a:headEnd type="none" w="sm" len="sm"/>
              <a:tailEnd type="none" w="sm" len="sm"/>
            </a:ln>
          </a:insideH>
          <a:insideV>
            <a:ln w="12700"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20000"/>
            </a:schemeClr>
          </a:solidFill>
        </a:fill>
      </a:tcStyle>
    </a:band1H>
    <a:band2H>
      <a:tcTxStyle/>
      <a:tcStyle>
        <a:tcBdr/>
      </a:tcStyle>
    </a:band2H>
    <a:band1V>
      <a:tcTxStyle/>
      <a:tcStyle>
        <a:tcBdr/>
        <a:fill>
          <a:solidFill>
            <a:schemeClr val="accent3">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3"/>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3"/>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CCBEF902-2C5E-4BBE-9D97-C6D18260B670}" styleName="Table_4">
    <a:wholeTbl>
      <a:tcTxStyle b="off" i="off">
        <a:font>
          <a:latin typeface="Aptos"/>
          <a:ea typeface="Aptos"/>
          <a:cs typeface="Aptos"/>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1">
              <a:alpha val="20000"/>
            </a:schemeClr>
          </a:solidFill>
        </a:fill>
      </a:tcStyle>
    </a:band1H>
    <a:band2H>
      <a:tcTxStyle/>
      <a:tcStyle>
        <a:tcBdr/>
      </a:tcStyle>
    </a:band2H>
    <a:band1V>
      <a:tcTxStyle/>
      <a:tcStyle>
        <a:tcBdr/>
        <a:fill>
          <a:solidFill>
            <a:schemeClr val="accent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63" d="100"/>
          <a:sy n="163" d="100"/>
        </p:scale>
        <p:origin x="17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customschemas.google.com/relationships/presentationmetadata" Target="meta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6" name="Google Shape;336;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 name="Google Shape;345;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3" name="Google Shape;413;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5" name="Google Shape;435;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6" name="Google Shape;446;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5" name="Google Shape;465;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5" name="Google Shape;475;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4" name="Google Shape;494;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9" name="Google Shape;499;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1" name="Google Shape;521;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0" name="Google Shape;530;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2" name="Google Shape;542;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0" name="Google Shape;550;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5" name="Google Shape;555;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1" name="Google Shape;561;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9" name="Google Shape;569;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7" name="Google Shape;577;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6" name="Google Shape;586;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5" name="Google Shape;595;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4" name="Google Shape;604;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4" name="Google Shape;614;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6" name="Google Shape;626;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4" name="Google Shape;634;p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3" name="Google Shape;643;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1" name="Google Shape;651;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3" name="Google Shape;663;p5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3" name="Google Shape;673;p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3" name="Google Shape;683;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3" name="Google Shape;693;p5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0" name="Google Shape;700;p5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1" name="Google Shape;711;p6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4" name="Google Shape;724;p6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5" name="Google Shape;735;p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6" name="Google Shape;746;p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7" name="Google Shape;757;p6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8" name="Google Shape;768;p6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0" name="Google Shape;780;p6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2" name="Google Shape;792;p6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4" name="Google Shape;804;p6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5" name="Google Shape;815;p6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p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6" name="Google Shape;826;p7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Rubrikbild" type="title">
  <p:cSld name="TITLE">
    <p:spTree>
      <p:nvGrpSpPr>
        <p:cNvPr id="1" name="Shape 11"/>
        <p:cNvGrpSpPr/>
        <p:nvPr/>
      </p:nvGrpSpPr>
      <p:grpSpPr>
        <a:xfrm>
          <a:off x="0" y="0"/>
          <a:ext cx="0" cy="0"/>
          <a:chOff x="0" y="0"/>
          <a:chExt cx="0" cy="0"/>
        </a:xfrm>
      </p:grpSpPr>
      <p:sp>
        <p:nvSpPr>
          <p:cNvPr id="12" name="Google Shape;12;p7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ubrik och innehåll" type="obj">
  <p:cSld name="OBJECT">
    <p:spTree>
      <p:nvGrpSpPr>
        <p:cNvPr id="1" name="Shape 17"/>
        <p:cNvGrpSpPr/>
        <p:nvPr/>
      </p:nvGrpSpPr>
      <p:grpSpPr>
        <a:xfrm>
          <a:off x="0" y="0"/>
          <a:ext cx="0" cy="0"/>
          <a:chOff x="0" y="0"/>
          <a:chExt cx="0" cy="0"/>
        </a:xfrm>
      </p:grpSpPr>
      <p:sp>
        <p:nvSpPr>
          <p:cNvPr id="18" name="Google Shape;18;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7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vsnittsrubrik" type="secHead">
  <p:cSld name="SECTION_HEADER">
    <p:spTree>
      <p:nvGrpSpPr>
        <p:cNvPr id="1" name="Shape 23"/>
        <p:cNvGrpSpPr/>
        <p:nvPr/>
      </p:nvGrpSpPr>
      <p:grpSpPr>
        <a:xfrm>
          <a:off x="0" y="0"/>
          <a:ext cx="0" cy="0"/>
          <a:chOff x="0" y="0"/>
          <a:chExt cx="0" cy="0"/>
        </a:xfrm>
      </p:grpSpPr>
      <p:sp>
        <p:nvSpPr>
          <p:cNvPr id="24" name="Google Shape;24;p7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7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vå innehållsdelar" type="twoObj">
  <p:cSld name="TWO_OBJECTS">
    <p:spTree>
      <p:nvGrpSpPr>
        <p:cNvPr id="1" name="Shape 29"/>
        <p:cNvGrpSpPr/>
        <p:nvPr/>
      </p:nvGrpSpPr>
      <p:grpSpPr>
        <a:xfrm>
          <a:off x="0" y="0"/>
          <a:ext cx="0" cy="0"/>
          <a:chOff x="0" y="0"/>
          <a:chExt cx="0" cy="0"/>
        </a:xfrm>
      </p:grpSpPr>
      <p:sp>
        <p:nvSpPr>
          <p:cNvPr id="30" name="Google Shape;30;p7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7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7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Jämförelse" type="twoTxTwoObj">
  <p:cSld name="TWO_OBJECTS_WITH_TEXT">
    <p:spTree>
      <p:nvGrpSpPr>
        <p:cNvPr id="1" name="Shape 36"/>
        <p:cNvGrpSpPr/>
        <p:nvPr/>
      </p:nvGrpSpPr>
      <p:grpSpPr>
        <a:xfrm>
          <a:off x="0" y="0"/>
          <a:ext cx="0" cy="0"/>
          <a:chOff x="0" y="0"/>
          <a:chExt cx="0" cy="0"/>
        </a:xfrm>
      </p:grpSpPr>
      <p:sp>
        <p:nvSpPr>
          <p:cNvPr id="37" name="Google Shape;37;p7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7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7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ast rubrik" type="titleOnly">
  <p:cSld name="TITLE_ONLY">
    <p:spTree>
      <p:nvGrpSpPr>
        <p:cNvPr id="1" name="Shape 45"/>
        <p:cNvGrpSpPr/>
        <p:nvPr/>
      </p:nvGrpSpPr>
      <p:grpSpPr>
        <a:xfrm>
          <a:off x="0" y="0"/>
          <a:ext cx="0" cy="0"/>
          <a:chOff x="0" y="0"/>
          <a:chExt cx="0" cy="0"/>
        </a:xfrm>
      </p:grpSpPr>
      <p:sp>
        <p:nvSpPr>
          <p:cNvPr id="46" name="Google Shape;46;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om" type="blank">
  <p:cSld name="BLANK">
    <p:spTree>
      <p:nvGrpSpPr>
        <p:cNvPr id="1" name="Shape 50"/>
        <p:cNvGrpSpPr/>
        <p:nvPr/>
      </p:nvGrpSpPr>
      <p:grpSpPr>
        <a:xfrm>
          <a:off x="0" y="0"/>
          <a:ext cx="0" cy="0"/>
          <a:chOff x="0" y="0"/>
          <a:chExt cx="0" cy="0"/>
        </a:xfrm>
      </p:grpSpPr>
      <p:sp>
        <p:nvSpPr>
          <p:cNvPr id="51" name="Google Shape;51;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nnehåll med bildtext" type="objTx">
  <p:cSld name="OBJECT_WITH_CAPTION_TEXT">
    <p:spTree>
      <p:nvGrpSpPr>
        <p:cNvPr id="1" name="Shape 54"/>
        <p:cNvGrpSpPr/>
        <p:nvPr/>
      </p:nvGrpSpPr>
      <p:grpSpPr>
        <a:xfrm>
          <a:off x="0" y="0"/>
          <a:ext cx="0" cy="0"/>
          <a:chOff x="0" y="0"/>
          <a:chExt cx="0" cy="0"/>
        </a:xfrm>
      </p:grpSpPr>
      <p:sp>
        <p:nvSpPr>
          <p:cNvPr id="55" name="Google Shape;55;p7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7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7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ld med bildtext" type="picTx">
  <p:cSld name="PICTURE_WITH_CAPTION_TEXT">
    <p:spTree>
      <p:nvGrpSpPr>
        <p:cNvPr id="1" name="Shape 61"/>
        <p:cNvGrpSpPr/>
        <p:nvPr/>
      </p:nvGrpSpPr>
      <p:grpSpPr>
        <a:xfrm>
          <a:off x="0" y="0"/>
          <a:ext cx="0" cy="0"/>
          <a:chOff x="0" y="0"/>
          <a:chExt cx="0" cy="0"/>
        </a:xfrm>
      </p:grpSpPr>
      <p:sp>
        <p:nvSpPr>
          <p:cNvPr id="62" name="Google Shape;62;p8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80"/>
          <p:cNvSpPr>
            <a:spLocks noGrp="1"/>
          </p:cNvSpPr>
          <p:nvPr>
            <p:ph type="pic" idx="2"/>
          </p:nvPr>
        </p:nvSpPr>
        <p:spPr>
          <a:xfrm>
            <a:off x="5183188" y="987425"/>
            <a:ext cx="6172200" cy="4873625"/>
          </a:xfrm>
          <a:prstGeom prst="rect">
            <a:avLst/>
          </a:prstGeom>
          <a:noFill/>
          <a:ln>
            <a:noFill/>
          </a:ln>
        </p:spPr>
      </p:sp>
      <p:sp>
        <p:nvSpPr>
          <p:cNvPr id="64" name="Google Shape;64;p8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Rubrik och lodrät text" type="vertTx">
  <p:cSld name="VERTICAL_TEXT">
    <p:spTree>
      <p:nvGrpSpPr>
        <p:cNvPr id="1" name="Shape 68"/>
        <p:cNvGrpSpPr/>
        <p:nvPr/>
      </p:nvGrpSpPr>
      <p:grpSpPr>
        <a:xfrm>
          <a:off x="0" y="0"/>
          <a:ext cx="0" cy="0"/>
          <a:chOff x="0" y="0"/>
          <a:chExt cx="0" cy="0"/>
        </a:xfrm>
      </p:grpSpPr>
      <p:sp>
        <p:nvSpPr>
          <p:cNvPr id="69" name="Google Shape;69;p8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8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odrät rubrik och text" type="vertTitleAndTx">
  <p:cSld name="VERTICAL_TITLE_AND_VERTICAL_TEXT">
    <p:spTree>
      <p:nvGrpSpPr>
        <p:cNvPr id="1" name="Shape 74"/>
        <p:cNvGrpSpPr/>
        <p:nvPr/>
      </p:nvGrpSpPr>
      <p:grpSpPr>
        <a:xfrm>
          <a:off x="0" y="0"/>
          <a:ext cx="0" cy="0"/>
          <a:chOff x="0" y="0"/>
          <a:chExt cx="0" cy="0"/>
        </a:xfrm>
      </p:grpSpPr>
      <p:sp>
        <p:nvSpPr>
          <p:cNvPr id="75" name="Google Shape;75;p8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8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sv-S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7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sv-SE"/>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microsoft.com/sv-se/sql-server/sql-server-download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cs.microsoft.com/sv-se/sql/ssms/download-sql-server-management-studio-ssm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python.org/download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python.org/"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code.visualstudio.com/"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sp>
        <p:nvSpPr>
          <p:cNvPr id="84" name="Google Shape;84;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5" name="Google Shape;85;p1"/>
          <p:cNvSpPr/>
          <p:nvPr/>
        </p:nvSpPr>
        <p:spPr>
          <a:xfrm flipH="1">
            <a:off x="-1" y="0"/>
            <a:ext cx="12191999" cy="6858000"/>
          </a:xfrm>
          <a:prstGeom prst="rect">
            <a:avLst/>
          </a:prstGeom>
          <a:gradFill>
            <a:gsLst>
              <a:gs pos="0">
                <a:srgbClr val="0A3041"/>
              </a:gs>
              <a:gs pos="100000">
                <a:srgbClr val="000000"/>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6" name="Google Shape;86;p1"/>
          <p:cNvSpPr/>
          <p:nvPr/>
        </p:nvSpPr>
        <p:spPr>
          <a:xfrm rot="10800000">
            <a:off x="0" y="-4"/>
            <a:ext cx="12192000" cy="6402581"/>
          </a:xfrm>
          <a:prstGeom prst="rect">
            <a:avLst/>
          </a:prstGeom>
          <a:gradFill>
            <a:gsLst>
              <a:gs pos="0">
                <a:srgbClr val="0F4861">
                  <a:alpha val="58823"/>
                </a:srgbClr>
              </a:gs>
              <a:gs pos="1000">
                <a:srgbClr val="0F4861">
                  <a:alpha val="58823"/>
                </a:srgbClr>
              </a:gs>
              <a:gs pos="100000">
                <a:srgbClr val="000000"/>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7" name="Google Shape;87;p1"/>
          <p:cNvSpPr/>
          <p:nvPr/>
        </p:nvSpPr>
        <p:spPr>
          <a:xfrm rot="5400000" flipH="1">
            <a:off x="2663054" y="-2653923"/>
            <a:ext cx="6858001" cy="12165846"/>
          </a:xfrm>
          <a:prstGeom prst="rect">
            <a:avLst/>
          </a:prstGeom>
          <a:gradFill>
            <a:gsLst>
              <a:gs pos="0">
                <a:srgbClr val="0A3041">
                  <a:alpha val="0"/>
                </a:srgbClr>
              </a:gs>
              <a:gs pos="13000">
                <a:srgbClr val="0A3041">
                  <a:alpha val="0"/>
                </a:srgbClr>
              </a:gs>
              <a:gs pos="99000">
                <a:srgbClr val="000000">
                  <a:alpha val="27843"/>
                </a:srgbClr>
              </a:gs>
              <a:gs pos="100000">
                <a:srgbClr val="000000">
                  <a:alpha val="27843"/>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8" name="Google Shape;88;p1"/>
          <p:cNvSpPr/>
          <p:nvPr/>
        </p:nvSpPr>
        <p:spPr>
          <a:xfrm flipH="1">
            <a:off x="6094763" y="0"/>
            <a:ext cx="6096001" cy="6858000"/>
          </a:xfrm>
          <a:prstGeom prst="rect">
            <a:avLst/>
          </a:prstGeom>
          <a:gradFill>
            <a:gsLst>
              <a:gs pos="0">
                <a:srgbClr val="0A3041">
                  <a:alpha val="0"/>
                </a:srgbClr>
              </a:gs>
              <a:gs pos="13000">
                <a:srgbClr val="0A3041">
                  <a:alpha val="0"/>
                </a:srgbClr>
              </a:gs>
              <a:gs pos="99000">
                <a:srgbClr val="0F4861">
                  <a:alpha val="50196"/>
                </a:srgbClr>
              </a:gs>
              <a:gs pos="100000">
                <a:srgbClr val="0F4861">
                  <a:alpha val="50196"/>
                </a:srgbClr>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9" name="Google Shape;89;p1"/>
          <p:cNvSpPr/>
          <p:nvPr/>
        </p:nvSpPr>
        <p:spPr>
          <a:xfrm flipH="1">
            <a:off x="-4" y="-3"/>
            <a:ext cx="12182871" cy="6871922"/>
          </a:xfrm>
          <a:prstGeom prst="rect">
            <a:avLst/>
          </a:prstGeom>
          <a:gradFill>
            <a:gsLst>
              <a:gs pos="0">
                <a:srgbClr val="000000">
                  <a:alpha val="34901"/>
                </a:srgbClr>
              </a:gs>
              <a:gs pos="13000">
                <a:srgbClr val="000000">
                  <a:alpha val="34901"/>
                </a:srgbClr>
              </a:gs>
              <a:gs pos="99000">
                <a:srgbClr val="0F4861">
                  <a:alpha val="0"/>
                </a:srgbClr>
              </a:gs>
              <a:gs pos="100000">
                <a:srgbClr val="0F4861">
                  <a:alpha val="0"/>
                </a:srgbClr>
              </a:gs>
            </a:gsLst>
            <a:lin ang="4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0" name="Google Shape;90;p1"/>
          <p:cNvSpPr/>
          <p:nvPr/>
        </p:nvSpPr>
        <p:spPr>
          <a:xfrm>
            <a:off x="987713" y="4049"/>
            <a:ext cx="10216576" cy="4729040"/>
          </a:xfrm>
          <a:custGeom>
            <a:avLst/>
            <a:gdLst/>
            <a:ahLst/>
            <a:cxnLst/>
            <a:rect l="l" t="t" r="r" b="b"/>
            <a:pathLst>
              <a:path w="10216576" h="4729040" extrusionOk="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0">
                <a:srgbClr val="0A3041">
                  <a:alpha val="3921"/>
                </a:srgbClr>
              </a:gs>
              <a:gs pos="7000">
                <a:srgbClr val="0A3041">
                  <a:alpha val="3921"/>
                </a:srgbClr>
              </a:gs>
              <a:gs pos="99000">
                <a:srgbClr val="156082">
                  <a:alpha val="23921"/>
                </a:srgbClr>
              </a:gs>
              <a:gs pos="100000">
                <a:srgbClr val="156082">
                  <a:alpha val="23921"/>
                </a:srgbClr>
              </a:gs>
            </a:gsLst>
            <a:lin ang="10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1" name="Google Shape;91;p1"/>
          <p:cNvSpPr txBox="1">
            <a:spLocks noGrp="1"/>
          </p:cNvSpPr>
          <p:nvPr>
            <p:ph type="ctrTitle"/>
          </p:nvPr>
        </p:nvSpPr>
        <p:spPr>
          <a:xfrm>
            <a:off x="2026693" y="1030406"/>
            <a:ext cx="8147713" cy="308124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800"/>
              <a:buFont typeface="Play"/>
              <a:buNone/>
            </a:pPr>
            <a:r>
              <a:rPr lang="sv-SE" sz="4800" dirty="0">
                <a:solidFill>
                  <a:srgbClr val="FFFFFF"/>
                </a:solidFill>
              </a:rPr>
              <a:t>Maskininlärning för nätverkssäkerhet analys av stora datamängder</a:t>
            </a:r>
            <a:endParaRPr sz="4800" dirty="0">
              <a:solidFill>
                <a:srgbClr val="FFFFFF"/>
              </a:solidFill>
            </a:endParaRPr>
          </a:p>
        </p:txBody>
      </p:sp>
      <p:sp>
        <p:nvSpPr>
          <p:cNvPr id="92" name="Google Shape;92;p1"/>
          <p:cNvSpPr txBox="1">
            <a:spLocks noGrp="1"/>
          </p:cNvSpPr>
          <p:nvPr>
            <p:ph type="subTitle" idx="1"/>
          </p:nvPr>
        </p:nvSpPr>
        <p:spPr>
          <a:xfrm>
            <a:off x="1559943" y="5171093"/>
            <a:ext cx="9078628" cy="86062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400"/>
              <a:buNone/>
            </a:pPr>
            <a:r>
              <a:rPr lang="sv-SE">
                <a:solidFill>
                  <a:srgbClr val="FFFFFF"/>
                </a:solidFill>
              </a:rPr>
              <a:t>Arseniy Buzyan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
        <p:cNvGrpSpPr/>
        <p:nvPr/>
      </p:nvGrpSpPr>
      <p:grpSpPr>
        <a:xfrm>
          <a:off x="0" y="0"/>
          <a:ext cx="0" cy="0"/>
          <a:chOff x="0" y="0"/>
          <a:chExt cx="0" cy="0"/>
        </a:xfrm>
      </p:grpSpPr>
      <p:sp>
        <p:nvSpPr>
          <p:cNvPr id="97" name="Google Shape;97;p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8" name="Google Shape;98;p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9" name="Google Shape;99;p2"/>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0" name="Google Shape;100;p2"/>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1" name="Google Shape;101;p2"/>
          <p:cNvSpPr/>
          <p:nvPr/>
        </p:nvSpPr>
        <p:spPr>
          <a:xfrm rot="5400000" flipH="1">
            <a:off x="767923" y="3588085"/>
            <a:ext cx="2501979" cy="403784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2" name="Google Shape;102;p2"/>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3" name="Google Shape;103;p2"/>
          <p:cNvSpPr/>
          <p:nvPr/>
        </p:nvSpPr>
        <p:spPr>
          <a:xfrm rot="5400000" flipH="1">
            <a:off x="-1410093" y="1399943"/>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4" name="Google Shape;104;p2"/>
          <p:cNvSpPr txBox="1">
            <a:spLocks noGrp="1"/>
          </p:cNvSpPr>
          <p:nvPr>
            <p:ph type="title"/>
          </p:nvPr>
        </p:nvSpPr>
        <p:spPr>
          <a:xfrm>
            <a:off x="466722" y="586855"/>
            <a:ext cx="3201366" cy="338749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chemeClr val="dk1"/>
              </a:buClr>
              <a:buSzPts val="4000"/>
              <a:buFont typeface="Play"/>
              <a:buNone/>
            </a:pPr>
            <a:r>
              <a:rPr lang="sv-SE" sz="4000" b="1">
                <a:highlight>
                  <a:srgbClr val="FFFFFF"/>
                </a:highlight>
              </a:rPr>
              <a:t>Översikt</a:t>
            </a:r>
            <a:endParaRPr sz="4000"/>
          </a:p>
        </p:txBody>
      </p:sp>
      <p:sp>
        <p:nvSpPr>
          <p:cNvPr id="105" name="Google Shape;105;p2"/>
          <p:cNvSpPr txBox="1">
            <a:spLocks noGrp="1"/>
          </p:cNvSpPr>
          <p:nvPr>
            <p:ph type="body" idx="1"/>
          </p:nvPr>
        </p:nvSpPr>
        <p:spPr>
          <a:xfrm>
            <a:off x="4810259" y="649480"/>
            <a:ext cx="6555347" cy="5546047"/>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sv-SE" sz="2000">
                <a:highlight>
                  <a:srgbClr val="FFFFFF"/>
                </a:highlight>
              </a:rPr>
              <a:t>I detta projekt bygger vi ett komplett system för att automatiskt upptäcka nätverksattacker med hjälp av maskininlärning. Systemet simulerar en verklig produktionsmiljö där data flödar från nätverksloggar, via en ML-modell, till en databas och slutligen presenteras i en interaktiv rapport.</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9"/>
        <p:cNvGrpSpPr/>
        <p:nvPr/>
      </p:nvGrpSpPr>
      <p:grpSpPr>
        <a:xfrm>
          <a:off x="0" y="0"/>
          <a:ext cx="0" cy="0"/>
          <a:chOff x="0" y="0"/>
          <a:chExt cx="0" cy="0"/>
        </a:xfrm>
      </p:grpSpPr>
      <p:sp>
        <p:nvSpPr>
          <p:cNvPr id="110" name="Google Shape;110;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1" name="Google Shape;111;p3"/>
          <p:cNvSpPr/>
          <p:nvPr/>
        </p:nvSpPr>
        <p:spPr>
          <a:xfrm flipH="1">
            <a:off x="2" y="0"/>
            <a:ext cx="12191998" cy="1575955"/>
          </a:xfrm>
          <a:prstGeom prst="rect">
            <a:avLst/>
          </a:prstGeom>
          <a:gradFill>
            <a:gsLst>
              <a:gs pos="0">
                <a:srgbClr val="000000">
                  <a:alpha val="96078"/>
                </a:srgbClr>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2" name="Google Shape;112;p3"/>
          <p:cNvSpPr/>
          <p:nvPr/>
        </p:nvSpPr>
        <p:spPr>
          <a:xfrm rot="10800000" flipH="1">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3" name="Google Shape;113;p3"/>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4" name="Google Shape;114;p3"/>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rPr>
              <a:t>Mål</a:t>
            </a:r>
            <a:endParaRPr sz="4000">
              <a:solidFill>
                <a:srgbClr val="FFFFFF"/>
              </a:solidFill>
            </a:endParaRPr>
          </a:p>
        </p:txBody>
      </p:sp>
      <p:grpSp>
        <p:nvGrpSpPr>
          <p:cNvPr id="115" name="Google Shape;115;p3"/>
          <p:cNvGrpSpPr/>
          <p:nvPr/>
        </p:nvGrpSpPr>
        <p:grpSpPr>
          <a:xfrm>
            <a:off x="744738" y="3157899"/>
            <a:ext cx="10726464" cy="2102164"/>
            <a:chOff x="100682" y="1045320"/>
            <a:chExt cx="10726464" cy="2102164"/>
          </a:xfrm>
        </p:grpSpPr>
        <p:sp>
          <p:nvSpPr>
            <p:cNvPr id="116" name="Google Shape;116;p3"/>
            <p:cNvSpPr/>
            <p:nvPr/>
          </p:nvSpPr>
          <p:spPr>
            <a:xfrm>
              <a:off x="752566" y="1045320"/>
              <a:ext cx="1066720" cy="106672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p:nvPr/>
          </p:nvSpPr>
          <p:spPr>
            <a:xfrm>
              <a:off x="100682" y="2427484"/>
              <a:ext cx="2370489"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txBox="1"/>
            <p:nvPr/>
          </p:nvSpPr>
          <p:spPr>
            <a:xfrm>
              <a:off x="100682" y="2427484"/>
              <a:ext cx="2370489"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sv-SE" sz="1500" b="0" i="0" u="none" strike="noStrike" cap="none">
                  <a:solidFill>
                    <a:schemeClr val="dk1"/>
                  </a:solidFill>
                  <a:latin typeface="Arial"/>
                  <a:ea typeface="Arial"/>
                  <a:cs typeface="Arial"/>
                  <a:sym typeface="Arial"/>
                </a:rPr>
                <a:t>Skapa en databas för att lagra nätverkstrafik och ML-resultat</a:t>
              </a:r>
              <a:endParaRPr/>
            </a:p>
          </p:txBody>
        </p:sp>
        <p:sp>
          <p:nvSpPr>
            <p:cNvPr id="119" name="Google Shape;119;p3"/>
            <p:cNvSpPr/>
            <p:nvPr/>
          </p:nvSpPr>
          <p:spPr>
            <a:xfrm>
              <a:off x="3537891" y="1045320"/>
              <a:ext cx="1066720" cy="106672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
            <p:cNvSpPr/>
            <p:nvPr/>
          </p:nvSpPr>
          <p:spPr>
            <a:xfrm>
              <a:off x="2886007" y="2427484"/>
              <a:ext cx="2370489"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txBox="1"/>
            <p:nvPr/>
          </p:nvSpPr>
          <p:spPr>
            <a:xfrm>
              <a:off x="2886007" y="2427484"/>
              <a:ext cx="2370489"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sv-SE" sz="1500" b="0" i="0" u="none" strike="noStrike" cap="none">
                  <a:solidFill>
                    <a:schemeClr val="dk1"/>
                  </a:solidFill>
                  <a:latin typeface="Arial"/>
                  <a:ea typeface="Arial"/>
                  <a:cs typeface="Arial"/>
                  <a:sym typeface="Arial"/>
                </a:rPr>
                <a:t>Träna en ML-modell som kan skilja mellan normal och skadlig trafik</a:t>
              </a:r>
              <a:endParaRPr/>
            </a:p>
          </p:txBody>
        </p:sp>
        <p:sp>
          <p:nvSpPr>
            <p:cNvPr id="122" name="Google Shape;122;p3"/>
            <p:cNvSpPr/>
            <p:nvPr/>
          </p:nvSpPr>
          <p:spPr>
            <a:xfrm>
              <a:off x="6323216" y="1045320"/>
              <a:ext cx="1066720" cy="106672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5671332" y="2427484"/>
              <a:ext cx="2370489"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txBox="1"/>
            <p:nvPr/>
          </p:nvSpPr>
          <p:spPr>
            <a:xfrm>
              <a:off x="5671332" y="2427484"/>
              <a:ext cx="2370489"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sv-SE" sz="1500" b="0" i="0" u="none" strike="noStrike" cap="none">
                  <a:solidFill>
                    <a:schemeClr val="dk1"/>
                  </a:solidFill>
                  <a:latin typeface="Arial"/>
                  <a:ea typeface="Arial"/>
                  <a:cs typeface="Arial"/>
                  <a:sym typeface="Arial"/>
                </a:rPr>
                <a:t>Automatisera analysen av ny data</a:t>
              </a:r>
              <a:endParaRPr/>
            </a:p>
          </p:txBody>
        </p:sp>
        <p:sp>
          <p:nvSpPr>
            <p:cNvPr id="125" name="Google Shape;125;p3"/>
            <p:cNvSpPr/>
            <p:nvPr/>
          </p:nvSpPr>
          <p:spPr>
            <a:xfrm>
              <a:off x="9108541" y="1045320"/>
              <a:ext cx="1066720" cy="1066720"/>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a:off x="8456657" y="2427484"/>
              <a:ext cx="2370489"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txBox="1"/>
            <p:nvPr/>
          </p:nvSpPr>
          <p:spPr>
            <a:xfrm>
              <a:off x="8456657" y="2427484"/>
              <a:ext cx="2370489"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sv-SE" sz="1500" b="0" i="0" u="none" strike="noStrike" cap="none">
                  <a:solidFill>
                    <a:schemeClr val="dk1"/>
                  </a:solidFill>
                  <a:latin typeface="Arial"/>
                  <a:ea typeface="Arial"/>
                  <a:cs typeface="Arial"/>
                  <a:sym typeface="Arial"/>
                </a:rPr>
                <a:t>Visualisera resultaten i en användarvänlig rapport</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1"/>
        <p:cNvGrpSpPr/>
        <p:nvPr/>
      </p:nvGrpSpPr>
      <p:grpSpPr>
        <a:xfrm>
          <a:off x="0" y="0"/>
          <a:ext cx="0" cy="0"/>
          <a:chOff x="0" y="0"/>
          <a:chExt cx="0" cy="0"/>
        </a:xfrm>
      </p:grpSpPr>
      <p:sp>
        <p:nvSpPr>
          <p:cNvPr id="132" name="Google Shape;132;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3" name="Google Shape;133;p4"/>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4" name="Google Shape;134;p4"/>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5" name="Google Shape;135;p4"/>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6" name="Google Shape;136;p4"/>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Teknologier som används</a:t>
            </a:r>
            <a:endParaRPr/>
          </a:p>
        </p:txBody>
      </p:sp>
      <p:graphicFrame>
        <p:nvGraphicFramePr>
          <p:cNvPr id="137" name="Google Shape;137;p4"/>
          <p:cNvGraphicFramePr/>
          <p:nvPr/>
        </p:nvGraphicFramePr>
        <p:xfrm>
          <a:off x="798935" y="1966293"/>
          <a:ext cx="3000000" cy="3000000"/>
        </p:xfrm>
        <a:graphic>
          <a:graphicData uri="http://schemas.openxmlformats.org/drawingml/2006/table">
            <a:tbl>
              <a:tblPr firstRow="1" bandRow="1">
                <a:solidFill>
                  <a:srgbClr val="F2F2F2">
                    <a:alpha val="30196"/>
                  </a:srgbClr>
                </a:solidFill>
                <a:tableStyleId>{822C3B93-EF79-491A-80E4-DA79D8C4CF44}</a:tableStyleId>
              </a:tblPr>
              <a:tblGrid>
                <a:gridCol w="3118950">
                  <a:extLst>
                    <a:ext uri="{9D8B030D-6E8A-4147-A177-3AD203B41FA5}">
                      <a16:colId xmlns:a16="http://schemas.microsoft.com/office/drawing/2014/main" val="20000"/>
                    </a:ext>
                  </a:extLst>
                </a:gridCol>
                <a:gridCol w="7475175">
                  <a:extLst>
                    <a:ext uri="{9D8B030D-6E8A-4147-A177-3AD203B41FA5}">
                      <a16:colId xmlns:a16="http://schemas.microsoft.com/office/drawing/2014/main" val="20001"/>
                    </a:ext>
                  </a:extLst>
                </a:gridCol>
              </a:tblGrid>
              <a:tr h="636025">
                <a:tc>
                  <a:txBody>
                    <a:bodyPr/>
                    <a:lstStyle/>
                    <a:p>
                      <a:pPr marL="0" marR="0" lvl="0" indent="0" algn="l" rtl="0">
                        <a:lnSpc>
                          <a:spcPct val="93750"/>
                        </a:lnSpc>
                        <a:spcBef>
                          <a:spcPts val="0"/>
                        </a:spcBef>
                        <a:spcAft>
                          <a:spcPts val="0"/>
                        </a:spcAft>
                        <a:buClr>
                          <a:schemeClr val="lt1"/>
                        </a:buClr>
                        <a:buSzPts val="2000"/>
                        <a:buFont typeface="Arial"/>
                        <a:buNone/>
                      </a:pPr>
                      <a:r>
                        <a:rPr lang="sv-SE" sz="2000" b="0" u="none" strike="noStrike" cap="none">
                          <a:solidFill>
                            <a:schemeClr val="lt1"/>
                          </a:solidFill>
                          <a:latin typeface="Arial"/>
                          <a:ea typeface="Arial"/>
                          <a:cs typeface="Arial"/>
                          <a:sym typeface="Arial"/>
                        </a:rPr>
                        <a:t>Verktyg</a:t>
                      </a:r>
                      <a:endParaRPr/>
                    </a:p>
                  </a:txBody>
                  <a:tcPr marL="169000" marR="216675" marT="130000" marB="130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0" marR="0" lvl="0" indent="0" algn="l" rtl="0">
                        <a:lnSpc>
                          <a:spcPct val="93750"/>
                        </a:lnSpc>
                        <a:spcBef>
                          <a:spcPts val="0"/>
                        </a:spcBef>
                        <a:spcAft>
                          <a:spcPts val="0"/>
                        </a:spcAft>
                        <a:buClr>
                          <a:schemeClr val="lt1"/>
                        </a:buClr>
                        <a:buSzPts val="2000"/>
                        <a:buFont typeface="Arial"/>
                        <a:buNone/>
                      </a:pPr>
                      <a:r>
                        <a:rPr lang="sv-SE" sz="2000" b="0" u="none" strike="noStrike" cap="none">
                          <a:solidFill>
                            <a:schemeClr val="lt1"/>
                          </a:solidFill>
                          <a:latin typeface="Arial"/>
                          <a:ea typeface="Arial"/>
                          <a:cs typeface="Arial"/>
                          <a:sym typeface="Arial"/>
                        </a:rPr>
                        <a:t>Syfte</a:t>
                      </a:r>
                      <a:endParaRPr/>
                    </a:p>
                  </a:txBody>
                  <a:tcPr marL="169000" marR="216675" marT="130000" marB="130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6360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SQL Server</a:t>
                      </a:r>
                      <a:endParaRPr sz="2000" b="0" u="none" strike="noStrike" cap="none">
                        <a:solidFill>
                          <a:schemeClr val="dk1"/>
                        </a:solidFill>
                        <a:latin typeface="Arial"/>
                        <a:ea typeface="Arial"/>
                        <a:cs typeface="Arial"/>
                        <a:sym typeface="Arial"/>
                      </a:endParaRPr>
                    </a:p>
                  </a:txBody>
                  <a:tcPr marL="169000" marR="216675" marT="130000" marB="130000" anchor="ctr">
                    <a:lnL w="9525" cap="flat" cmpd="sng">
                      <a:solidFill>
                        <a:srgbClr val="000000">
                          <a:alpha val="0"/>
                        </a:srgbClr>
                      </a:solidFill>
                      <a:prstDash val="solid"/>
                      <a:round/>
                      <a:headEnd type="none" w="sm" len="sm"/>
                      <a:tailEnd type="none" w="sm" len="sm"/>
                    </a:lnL>
                    <a:lnR w="9525" cap="flat" cmpd="sng">
                      <a:solidFill>
                        <a:srgbClr val="3F3F3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Lagrar all data (rådata och ML-resultat)</a:t>
                      </a:r>
                      <a:endParaRPr/>
                    </a:p>
                  </a:txBody>
                  <a:tcPr marL="169000" marR="130000" marT="130000" marB="130000" anchor="ctr">
                    <a:lnL w="9525" cap="flat" cmpd="sng">
                      <a:solidFill>
                        <a:srgbClr val="3F3F3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extLst>
                  <a:ext uri="{0D108BD9-81ED-4DB2-BD59-A6C34878D82A}">
                    <a16:rowId xmlns:a16="http://schemas.microsoft.com/office/drawing/2014/main" val="10001"/>
                  </a:ext>
                </a:extLst>
              </a:tr>
              <a:tr h="6360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SSMS</a:t>
                      </a:r>
                      <a:endParaRPr sz="2000" b="0" u="none" strike="noStrike" cap="none">
                        <a:solidFill>
                          <a:schemeClr val="dk1"/>
                        </a:solidFill>
                        <a:latin typeface="Arial"/>
                        <a:ea typeface="Arial"/>
                        <a:cs typeface="Arial"/>
                        <a:sym typeface="Arial"/>
                      </a:endParaRPr>
                    </a:p>
                  </a:txBody>
                  <a:tcPr marL="169000" marR="216675" marT="130000" marB="130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Hanterar databasen och skapar tabeller</a:t>
                      </a:r>
                      <a:endParaRPr/>
                    </a:p>
                  </a:txBody>
                  <a:tcPr marL="169000" marR="130000" marT="130000" marB="130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6360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Python</a:t>
                      </a:r>
                      <a:endParaRPr sz="2000" b="0" u="none" strike="noStrike" cap="none">
                        <a:solidFill>
                          <a:schemeClr val="dk1"/>
                        </a:solidFill>
                        <a:latin typeface="Arial"/>
                        <a:ea typeface="Arial"/>
                        <a:cs typeface="Arial"/>
                        <a:sym typeface="Arial"/>
                      </a:endParaRPr>
                    </a:p>
                  </a:txBody>
                  <a:tcPr marL="169000" marR="216675" marT="130000" marB="130000" anchor="ctr">
                    <a:lnL w="9525" cap="flat" cmpd="sng">
                      <a:solidFill>
                        <a:srgbClr val="000000">
                          <a:alpha val="0"/>
                        </a:srgbClr>
                      </a:solidFill>
                      <a:prstDash val="solid"/>
                      <a:round/>
                      <a:headEnd type="none" w="sm" len="sm"/>
                      <a:tailEnd type="none" w="sm" len="sm"/>
                    </a:lnL>
                    <a:lnR w="9525" cap="flat" cmpd="sng">
                      <a:solidFill>
                        <a:srgbClr val="3F3F3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Programmeringsspråk för ML-modellen</a:t>
                      </a:r>
                      <a:endParaRPr/>
                    </a:p>
                  </a:txBody>
                  <a:tcPr marL="169000" marR="130000" marT="130000" marB="130000" anchor="ctr">
                    <a:lnL w="9525" cap="flat" cmpd="sng">
                      <a:solidFill>
                        <a:srgbClr val="3F3F3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extLst>
                  <a:ext uri="{0D108BD9-81ED-4DB2-BD59-A6C34878D82A}">
                    <a16:rowId xmlns:a16="http://schemas.microsoft.com/office/drawing/2014/main" val="10003"/>
                  </a:ext>
                </a:extLst>
              </a:tr>
              <a:tr h="6360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Google Colab</a:t>
                      </a:r>
                      <a:endParaRPr sz="2000" b="0" u="none" strike="noStrike" cap="none">
                        <a:solidFill>
                          <a:schemeClr val="dk1"/>
                        </a:solidFill>
                        <a:latin typeface="Arial"/>
                        <a:ea typeface="Arial"/>
                        <a:cs typeface="Arial"/>
                        <a:sym typeface="Arial"/>
                      </a:endParaRPr>
                    </a:p>
                  </a:txBody>
                  <a:tcPr marL="169000" marR="216675" marT="130000" marB="130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Träningsmiljö för ML-modellen (gratis GPU)</a:t>
                      </a:r>
                      <a:endParaRPr/>
                    </a:p>
                  </a:txBody>
                  <a:tcPr marL="169000" marR="130000" marT="130000" marB="130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6360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VS Code</a:t>
                      </a:r>
                      <a:endParaRPr sz="2000" b="0" u="none" strike="noStrike" cap="none">
                        <a:solidFill>
                          <a:schemeClr val="dk1"/>
                        </a:solidFill>
                        <a:latin typeface="Arial"/>
                        <a:ea typeface="Arial"/>
                        <a:cs typeface="Arial"/>
                        <a:sym typeface="Arial"/>
                      </a:endParaRPr>
                    </a:p>
                  </a:txBody>
                  <a:tcPr marL="169000" marR="216675" marT="130000" marB="130000" anchor="ctr">
                    <a:lnL w="9525" cap="flat" cmpd="sng">
                      <a:solidFill>
                        <a:srgbClr val="000000">
                          <a:alpha val="0"/>
                        </a:srgbClr>
                      </a:solidFill>
                      <a:prstDash val="solid"/>
                      <a:round/>
                      <a:headEnd type="none" w="sm" len="sm"/>
                      <a:tailEnd type="none" w="sm" len="sm"/>
                    </a:lnL>
                    <a:lnR w="9525" cap="flat" cmpd="sng">
                      <a:solidFill>
                        <a:srgbClr val="3F3F3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Utvecklingsmiljö för produktionsskript</a:t>
                      </a:r>
                      <a:endParaRPr/>
                    </a:p>
                  </a:txBody>
                  <a:tcPr marL="169000" marR="130000" marT="130000" marB="130000" anchor="ctr">
                    <a:lnL w="9525" cap="flat" cmpd="sng">
                      <a:solidFill>
                        <a:srgbClr val="3F3F3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extLst>
                  <a:ext uri="{0D108BD9-81ED-4DB2-BD59-A6C34878D82A}">
                    <a16:rowId xmlns:a16="http://schemas.microsoft.com/office/drawing/2014/main" val="10005"/>
                  </a:ext>
                </a:extLst>
              </a:tr>
              <a:tr h="6360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Power BI</a:t>
                      </a:r>
                      <a:endParaRPr sz="2000" b="0" u="none" strike="noStrike" cap="none">
                        <a:solidFill>
                          <a:schemeClr val="dk1"/>
                        </a:solidFill>
                        <a:latin typeface="Arial"/>
                        <a:ea typeface="Arial"/>
                        <a:cs typeface="Arial"/>
                        <a:sym typeface="Arial"/>
                      </a:endParaRPr>
                    </a:p>
                  </a:txBody>
                  <a:tcPr marL="169000" marR="216675" marT="130000" marB="130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Visualisering av resultat</a:t>
                      </a:r>
                      <a:endParaRPr/>
                    </a:p>
                  </a:txBody>
                  <a:tcPr marL="169000" marR="130000" marT="130000" marB="130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1"/>
        <p:cNvGrpSpPr/>
        <p:nvPr/>
      </p:nvGrpSpPr>
      <p:grpSpPr>
        <a:xfrm>
          <a:off x="0" y="0"/>
          <a:ext cx="0" cy="0"/>
          <a:chOff x="0" y="0"/>
          <a:chExt cx="0" cy="0"/>
        </a:xfrm>
      </p:grpSpPr>
      <p:sp>
        <p:nvSpPr>
          <p:cNvPr id="142" name="Google Shape;142;p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3" name="Google Shape;143;p5"/>
          <p:cNvSpPr/>
          <p:nvPr/>
        </p:nvSpPr>
        <p:spPr>
          <a:xfrm>
            <a:off x="0" y="-427"/>
            <a:ext cx="12192001" cy="6858000"/>
          </a:xfrm>
          <a:prstGeom prst="rect">
            <a:avLst/>
          </a:prstGeom>
          <a:gradFill>
            <a:gsLst>
              <a:gs pos="0">
                <a:srgbClr val="000000"/>
              </a:gs>
              <a:gs pos="100000">
                <a:srgbClr val="0F486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4" name="Google Shape;144;p5"/>
          <p:cNvSpPr/>
          <p:nvPr/>
        </p:nvSpPr>
        <p:spPr>
          <a:xfrm rot="10800000" flipH="1">
            <a:off x="455521" y="-1720"/>
            <a:ext cx="11750040" cy="6840685"/>
          </a:xfrm>
          <a:prstGeom prst="rect">
            <a:avLst/>
          </a:prstGeom>
          <a:gradFill>
            <a:gsLst>
              <a:gs pos="0">
                <a:srgbClr val="0A3041">
                  <a:alpha val="61176"/>
                </a:srgbClr>
              </a:gs>
              <a:gs pos="21000">
                <a:srgbClr val="0A3041">
                  <a:alpha val="61176"/>
                </a:srgbClr>
              </a:gs>
              <a:gs pos="100000">
                <a:srgbClr val="156082">
                  <a:alpha val="0"/>
                </a:srgbClr>
              </a:gs>
            </a:gsLst>
            <a:lin ang="21593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5" name="Google Shape;145;p5"/>
          <p:cNvSpPr/>
          <p:nvPr/>
        </p:nvSpPr>
        <p:spPr>
          <a:xfrm>
            <a:off x="8606054" y="-1291"/>
            <a:ext cx="3608179" cy="6858864"/>
          </a:xfrm>
          <a:prstGeom prst="rect">
            <a:avLst/>
          </a:prstGeom>
          <a:gradFill>
            <a:gsLst>
              <a:gs pos="0">
                <a:srgbClr val="0F4861">
                  <a:alpha val="0"/>
                </a:srgbClr>
              </a:gs>
              <a:gs pos="99000">
                <a:srgbClr val="000000">
                  <a:alpha val="41176"/>
                </a:srgbClr>
              </a:gs>
              <a:gs pos="100000">
                <a:srgbClr val="000000">
                  <a:alpha val="41176"/>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6" name="Google Shape;146;p5"/>
          <p:cNvSpPr/>
          <p:nvPr/>
        </p:nvSpPr>
        <p:spPr>
          <a:xfrm rot="-6325827">
            <a:off x="6059728" y="779270"/>
            <a:ext cx="4967533" cy="4988390"/>
          </a:xfrm>
          <a:prstGeom prst="ellipse">
            <a:avLst/>
          </a:prstGeom>
          <a:gradFill>
            <a:gsLst>
              <a:gs pos="0">
                <a:srgbClr val="156082">
                  <a:alpha val="23921"/>
                </a:srgbClr>
              </a:gs>
              <a:gs pos="79000">
                <a:srgbClr val="43AFE2">
                  <a:alpha val="0"/>
                </a:srgbClr>
              </a:gs>
              <a:gs pos="100000">
                <a:srgbClr val="43AFE2">
                  <a:alpha val="0"/>
                </a:srgbClr>
              </a:gs>
            </a:gsLst>
            <a:lin ang="14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7" name="Google Shape;147;p5"/>
          <p:cNvSpPr txBox="1">
            <a:spLocks noGrp="1"/>
          </p:cNvSpPr>
          <p:nvPr>
            <p:ph type="title"/>
          </p:nvPr>
        </p:nvSpPr>
        <p:spPr>
          <a:xfrm>
            <a:off x="1386865" y="818984"/>
            <a:ext cx="6596245" cy="3268520"/>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4800"/>
              <a:buFont typeface="Play"/>
              <a:buNone/>
            </a:pPr>
            <a:r>
              <a:rPr lang="sv-SE" sz="4800">
                <a:solidFill>
                  <a:srgbClr val="FFFFFF"/>
                </a:solidFill>
                <a:latin typeface="Play"/>
                <a:ea typeface="Play"/>
                <a:cs typeface="Play"/>
                <a:sym typeface="Play"/>
              </a:rPr>
              <a:t>Projektets 12 steg – från installation till färdig rapport</a:t>
            </a:r>
            <a:endParaRPr/>
          </a:p>
        </p:txBody>
      </p:sp>
      <p:sp>
        <p:nvSpPr>
          <p:cNvPr id="148" name="Google Shape;148;p5"/>
          <p:cNvSpPr/>
          <p:nvPr/>
        </p:nvSpPr>
        <p:spPr>
          <a:xfrm rot="10800000" flipH="1">
            <a:off x="6314" y="4480038"/>
            <a:ext cx="12179371" cy="2377962"/>
          </a:xfrm>
          <a:prstGeom prst="rect">
            <a:avLst/>
          </a:prstGeom>
          <a:gradFill>
            <a:gsLst>
              <a:gs pos="0">
                <a:srgbClr val="0F4861">
                  <a:alpha val="50196"/>
                </a:srgbClr>
              </a:gs>
              <a:gs pos="99000">
                <a:srgbClr val="000000">
                  <a:alpha val="34117"/>
                </a:srgbClr>
              </a:gs>
              <a:gs pos="100000">
                <a:srgbClr val="000000">
                  <a:alpha val="34117"/>
                </a:srgbClr>
              </a:gs>
            </a:gsLst>
            <a:lin ang="17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9" name="Google Shape;149;p5"/>
          <p:cNvSpPr/>
          <p:nvPr/>
        </p:nvSpPr>
        <p:spPr>
          <a:xfrm rot="-5400000" flipH="1">
            <a:off x="6967085" y="1632660"/>
            <a:ext cx="6857572" cy="3592258"/>
          </a:xfrm>
          <a:prstGeom prst="rect">
            <a:avLst/>
          </a:prstGeom>
          <a:gradFill>
            <a:gsLst>
              <a:gs pos="0">
                <a:srgbClr val="0F4861">
                  <a:alpha val="50196"/>
                </a:srgbClr>
              </a:gs>
              <a:gs pos="99000">
                <a:srgbClr val="000000">
                  <a:alpha val="0"/>
                </a:srgbClr>
              </a:gs>
              <a:gs pos="100000">
                <a:srgbClr val="000000">
                  <a:alpha val="0"/>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3"/>
        <p:cNvGrpSpPr/>
        <p:nvPr/>
      </p:nvGrpSpPr>
      <p:grpSpPr>
        <a:xfrm>
          <a:off x="0" y="0"/>
          <a:ext cx="0" cy="0"/>
          <a:chOff x="0" y="0"/>
          <a:chExt cx="0" cy="0"/>
        </a:xfrm>
      </p:grpSpPr>
      <p:sp>
        <p:nvSpPr>
          <p:cNvPr id="154" name="Google Shape;154;p6"/>
          <p:cNvSpPr/>
          <p:nvPr/>
        </p:nvSpPr>
        <p:spPr>
          <a:xfrm>
            <a:off x="0" y="0"/>
            <a:ext cx="12192000"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5" name="Google Shape;155;p6"/>
          <p:cNvSpPr/>
          <p:nvPr/>
        </p:nvSpPr>
        <p:spPr>
          <a:xfrm>
            <a:off x="477012" y="480060"/>
            <a:ext cx="11237976" cy="5897880"/>
          </a:xfrm>
          <a:prstGeom prst="rect">
            <a:avLst/>
          </a:prstGeom>
          <a:solidFill>
            <a:srgbClr val="FFFFFF"/>
          </a:solidFill>
          <a:ln>
            <a:noFill/>
          </a:ln>
          <a:effectLst>
            <a:outerShdw blurRad="63500" dist="17780" dir="5400000" algn="t" rotWithShape="0">
              <a:srgbClr val="000000">
                <a:alpha val="4313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aphicFrame>
        <p:nvGraphicFramePr>
          <p:cNvPr id="156" name="Google Shape;156;p6"/>
          <p:cNvGraphicFramePr/>
          <p:nvPr/>
        </p:nvGraphicFramePr>
        <p:xfrm>
          <a:off x="488830" y="445698"/>
          <a:ext cx="3000000" cy="3000000"/>
        </p:xfrm>
        <a:graphic>
          <a:graphicData uri="http://schemas.openxmlformats.org/drawingml/2006/table">
            <a:tbl>
              <a:tblPr firstRow="1" bandRow="1">
                <a:solidFill>
                  <a:srgbClr val="F7F7F7"/>
                </a:solidFill>
                <a:tableStyleId>{822C3B93-EF79-491A-80E4-DA79D8C4CF44}</a:tableStyleId>
              </a:tblPr>
              <a:tblGrid>
                <a:gridCol w="361925">
                  <a:extLst>
                    <a:ext uri="{9D8B030D-6E8A-4147-A177-3AD203B41FA5}">
                      <a16:colId xmlns:a16="http://schemas.microsoft.com/office/drawing/2014/main" val="20000"/>
                    </a:ext>
                  </a:extLst>
                </a:gridCol>
                <a:gridCol w="1801650">
                  <a:extLst>
                    <a:ext uri="{9D8B030D-6E8A-4147-A177-3AD203B41FA5}">
                      <a16:colId xmlns:a16="http://schemas.microsoft.com/office/drawing/2014/main" val="20001"/>
                    </a:ext>
                  </a:extLst>
                </a:gridCol>
                <a:gridCol w="3397075">
                  <a:extLst>
                    <a:ext uri="{9D8B030D-6E8A-4147-A177-3AD203B41FA5}">
                      <a16:colId xmlns:a16="http://schemas.microsoft.com/office/drawing/2014/main" val="20002"/>
                    </a:ext>
                  </a:extLst>
                </a:gridCol>
                <a:gridCol w="3324600">
                  <a:extLst>
                    <a:ext uri="{9D8B030D-6E8A-4147-A177-3AD203B41FA5}">
                      <a16:colId xmlns:a16="http://schemas.microsoft.com/office/drawing/2014/main" val="20003"/>
                    </a:ext>
                  </a:extLst>
                </a:gridCol>
                <a:gridCol w="2378625">
                  <a:extLst>
                    <a:ext uri="{9D8B030D-6E8A-4147-A177-3AD203B41FA5}">
                      <a16:colId xmlns:a16="http://schemas.microsoft.com/office/drawing/2014/main" val="20004"/>
                    </a:ext>
                  </a:extLst>
                </a:gridCol>
              </a:tblGrid>
              <a:tr h="330400">
                <a:tc>
                  <a:txBody>
                    <a:bodyPr/>
                    <a:lstStyle/>
                    <a:p>
                      <a:pPr marL="0" marR="0" lvl="0" indent="0" algn="ctr" rtl="0">
                        <a:lnSpc>
                          <a:spcPct val="100000"/>
                        </a:lnSpc>
                        <a:spcBef>
                          <a:spcPts val="0"/>
                        </a:spcBef>
                        <a:spcAft>
                          <a:spcPts val="0"/>
                        </a:spcAft>
                        <a:buClr>
                          <a:schemeClr val="dk1"/>
                        </a:buClr>
                        <a:buSzPts val="1000"/>
                        <a:buFont typeface="Arial"/>
                        <a:buNone/>
                      </a:pPr>
                      <a:r>
                        <a:rPr lang="sv-SE" sz="1000" b="1" u="none" strike="noStrike" cap="none">
                          <a:solidFill>
                            <a:schemeClr val="dk1"/>
                          </a:solidFill>
                          <a:latin typeface="Arial"/>
                          <a:ea typeface="Arial"/>
                          <a:cs typeface="Arial"/>
                          <a:sym typeface="Arial"/>
                        </a:rPr>
                        <a:t>N</a:t>
                      </a:r>
                      <a:endParaRPr/>
                    </a:p>
                  </a:txBody>
                  <a:tcPr marL="87175" marR="87175" marT="87175" marB="871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000"/>
                        <a:buFont typeface="Arial"/>
                        <a:buNone/>
                      </a:pPr>
                      <a:r>
                        <a:rPr lang="sv-SE" sz="1000" b="1" u="none" strike="noStrike" cap="none">
                          <a:solidFill>
                            <a:schemeClr val="dk1"/>
                          </a:solidFill>
                          <a:latin typeface="Arial"/>
                          <a:ea typeface="Arial"/>
                          <a:cs typeface="Arial"/>
                          <a:sym typeface="Arial"/>
                        </a:rPr>
                        <a:t>NAMN</a:t>
                      </a:r>
                      <a:endParaRPr/>
                    </a:p>
                  </a:txBody>
                  <a:tcPr marL="87175" marR="87175" marT="87175" marB="871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000"/>
                        <a:buFont typeface="Arial"/>
                        <a:buNone/>
                      </a:pPr>
                      <a:r>
                        <a:rPr lang="sv-SE" sz="1000" b="1" u="none" strike="noStrike" cap="none">
                          <a:solidFill>
                            <a:schemeClr val="dk1"/>
                          </a:solidFill>
                          <a:latin typeface="Arial"/>
                          <a:ea typeface="Arial"/>
                          <a:cs typeface="Arial"/>
                          <a:sym typeface="Arial"/>
                        </a:rPr>
                        <a:t>VAD GÖR VI?</a:t>
                      </a:r>
                      <a:endParaRPr/>
                    </a:p>
                  </a:txBody>
                  <a:tcPr marL="87175" marR="87175" marT="87175" marB="871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000"/>
                        <a:buFont typeface="Arial"/>
                        <a:buNone/>
                      </a:pPr>
                      <a:r>
                        <a:rPr lang="sv-SE" sz="1000" b="1" u="none" strike="noStrike" cap="none">
                          <a:solidFill>
                            <a:schemeClr val="dk1"/>
                          </a:solidFill>
                          <a:latin typeface="Arial"/>
                          <a:ea typeface="Arial"/>
                          <a:cs typeface="Arial"/>
                          <a:sym typeface="Arial"/>
                        </a:rPr>
                        <a:t>VARFÖR?</a:t>
                      </a:r>
                      <a:endParaRPr/>
                    </a:p>
                  </a:txBody>
                  <a:tcPr marL="87175" marR="87175" marT="87175" marB="871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000"/>
                        <a:buFont typeface="Arial"/>
                        <a:buNone/>
                      </a:pPr>
                      <a:r>
                        <a:rPr lang="sv-SE" sz="1000" b="1" u="none" strike="noStrike" cap="none">
                          <a:solidFill>
                            <a:schemeClr val="dk1"/>
                          </a:solidFill>
                          <a:latin typeface="Arial"/>
                          <a:ea typeface="Arial"/>
                          <a:cs typeface="Arial"/>
                          <a:sym typeface="Arial"/>
                        </a:rPr>
                        <a:t>KOPPLING TILL NÄSTA STEG</a:t>
                      </a:r>
                      <a:endParaRPr/>
                    </a:p>
                  </a:txBody>
                  <a:tcPr marL="87175" marR="87175" marT="87175" marB="871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55225">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1</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Installera SQL Server</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Installerar databasmotorn där all data ska lagras.</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Utan en databas har vi ingen plats att spara varken rådata eller resultat.</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Ger oss en grund att bygga vidare på.</a:t>
                      </a:r>
                      <a:endParaRPr/>
                    </a:p>
                  </a:txBody>
                  <a:tcPr marL="50975" marR="26000"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1"/>
                  </a:ext>
                </a:extLst>
              </a:tr>
              <a:tr h="455225">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2</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Installera SSMS</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Installerar det grafiska verktyget för att hantera SQL Server.</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För att enkelt kunna skapa tabeller, skriva frågor och se datan.</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Gör att vi kan arbeta med databasen utan att skriva kod.</a:t>
                      </a:r>
                      <a:endParaRPr/>
                    </a:p>
                  </a:txBody>
                  <a:tcPr marL="50975" marR="26000"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455225">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3</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Koppla SSMS till SQL Server</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Ansluter verktyget till databasmotorn.</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För att kunna börja bygga vår databasstruktur.</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Nu är vi redo att skapa själva databasen.</a:t>
                      </a:r>
                      <a:endParaRPr/>
                    </a:p>
                  </a:txBody>
                  <a:tcPr marL="50975" marR="26000"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3"/>
                  </a:ext>
                </a:extLst>
              </a:tr>
              <a:tr h="455225">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4</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Installera Python</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Installerar programmeringsspråket som används för ML-modellen.</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Python har alla bibliotek vi behöver för maskininlärning.</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Grunden för all kod vi ska skriva.</a:t>
                      </a:r>
                      <a:endParaRPr/>
                    </a:p>
                  </a:txBody>
                  <a:tcPr marL="50975" marR="26000"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455225">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5</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Installera VS Code</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Installerar en avancerad textredigerare för att skriva Python-kod.</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Ger oss en bekväm miljö att utveckla och köra våra skript i.</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Här kommer vi att skriva produktionskoden.</a:t>
                      </a:r>
                      <a:endParaRPr/>
                    </a:p>
                  </a:txBody>
                  <a:tcPr marL="50975" marR="26000"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5"/>
                  </a:ext>
                </a:extLst>
              </a:tr>
              <a:tr h="455225">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6</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Installera Python-tillägg i VS Code</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Lägger till stöd för Python i VS Code.</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Får färgkodning, felmarkering och möjlighet att köra Python direkt.</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Gör utvecklingen mycket enklare.</a:t>
                      </a:r>
                      <a:endParaRPr/>
                    </a:p>
                  </a:txBody>
                  <a:tcPr marL="50975" marR="26000"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455225">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7</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Skapa databasen</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Skapar en tom databas med namnet NetworkSecurityML.</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För att organisera all data på en plats.</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Nu har vi en tom hylla att fylla med tabeller.</a:t>
                      </a:r>
                      <a:endParaRPr/>
                    </a:p>
                  </a:txBody>
                  <a:tcPr marL="50975" marR="26000"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7"/>
                  </a:ext>
                </a:extLst>
              </a:tr>
              <a:tr h="631425">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8</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Skapa tabeller</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Skapar tre tabeller: NetworkTrafficLogs, ThreatDetections, SecurityMetrics.</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Varje tabell är som ett Excel-ark som lagrar olika typer av data.</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Datan har nu en struktur att lagras i.</a:t>
                      </a:r>
                      <a:endParaRPr/>
                    </a:p>
                  </a:txBody>
                  <a:tcPr marL="50975" marR="26000"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8"/>
                  </a:ext>
                </a:extLst>
              </a:tr>
              <a:tr h="455225">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9</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Träna ML-modell i Google Colab</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Bygger och tränar en Random Forest-modell på simulerad nätverkstrafik.</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Modellen lär sig känna igen mönster för attacker.</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Resultatet blir en tränad modellfil (.pkl).</a:t>
                      </a:r>
                      <a:endParaRPr/>
                    </a:p>
                  </a:txBody>
                  <a:tcPr marL="50975" marR="26000"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9"/>
                  </a:ext>
                </a:extLst>
              </a:tr>
              <a:tr h="455225">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10</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Koppla modell till databas</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Skapar ett Python-skript som hämtar ny data, analyserar den och sparar resultat.</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Automatiserar hela analysprocessen från rådata till resultat.</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Databasen fylls nu med ML-resultat.</a:t>
                      </a:r>
                      <a:endParaRPr/>
                    </a:p>
                  </a:txBody>
                  <a:tcPr marL="50975" marR="26000"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10"/>
                  </a:ext>
                </a:extLst>
              </a:tr>
              <a:tr h="455225">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11</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Koppla Power BI till SQL Server</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Ansluter Power BI till databasen för att hämta data.</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För att kunna visualisera ML-resultaten.</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Datan är nu tillgänglig för rapportskapande.</a:t>
                      </a:r>
                      <a:endParaRPr/>
                    </a:p>
                  </a:txBody>
                  <a:tcPr marL="50975" marR="26000"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11"/>
                  </a:ext>
                </a:extLst>
              </a:tr>
              <a:tr h="455225">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12</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Skapa Power BI-rapport</a:t>
                      </a:r>
                      <a:endParaRPr sz="1100" b="0" u="none" strike="noStrike" cap="none">
                        <a:solidFill>
                          <a:schemeClr val="dk1"/>
                        </a:solidFill>
                        <a:latin typeface="Arial"/>
                        <a:ea typeface="Arial"/>
                        <a:cs typeface="Arial"/>
                        <a:sym typeface="Arial"/>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Bygger diagram och tabeller som visar attackstatistik, trender och modellens säkerhet.</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Gör resultaten begripliga och användbara för en analytiker.</a:t>
                      </a:r>
                      <a:endParaRPr/>
                    </a:p>
                  </a:txBody>
                  <a:tcPr marL="50975" marR="43325"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Projektet är klart – från rådata till insikt!</a:t>
                      </a:r>
                      <a:endParaRPr/>
                    </a:p>
                  </a:txBody>
                  <a:tcPr marL="50975" marR="26000" marT="39200" marB="58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0"/>
        <p:cNvGrpSpPr/>
        <p:nvPr/>
      </p:nvGrpSpPr>
      <p:grpSpPr>
        <a:xfrm>
          <a:off x="0" y="0"/>
          <a:ext cx="0" cy="0"/>
          <a:chOff x="0" y="0"/>
          <a:chExt cx="0" cy="0"/>
        </a:xfrm>
      </p:grpSpPr>
      <p:sp>
        <p:nvSpPr>
          <p:cNvPr id="161" name="Google Shape;161;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2" name="Google Shape;162;p7"/>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3" name="Google Shape;163;p7"/>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4" name="Google Shape;164;p7"/>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5" name="Google Shape;165;p7"/>
          <p:cNvSpPr/>
          <p:nvPr/>
        </p:nvSpPr>
        <p:spPr>
          <a:xfrm rot="5400000" flipH="1">
            <a:off x="767923" y="3588085"/>
            <a:ext cx="2501979" cy="403784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6" name="Google Shape;166;p7"/>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7" name="Google Shape;167;p7"/>
          <p:cNvSpPr/>
          <p:nvPr/>
        </p:nvSpPr>
        <p:spPr>
          <a:xfrm rot="5400000" flipH="1">
            <a:off x="-1410093" y="1399943"/>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8" name="Google Shape;168;p7"/>
          <p:cNvSpPr txBox="1">
            <a:spLocks noGrp="1"/>
          </p:cNvSpPr>
          <p:nvPr>
            <p:ph type="title"/>
          </p:nvPr>
        </p:nvSpPr>
        <p:spPr>
          <a:xfrm>
            <a:off x="466722" y="586855"/>
            <a:ext cx="3201366" cy="338749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4000"/>
              <a:buFont typeface="Play"/>
              <a:buNone/>
            </a:pPr>
            <a:r>
              <a:rPr lang="sv-SE" sz="4000">
                <a:solidFill>
                  <a:srgbClr val="FFFFFF"/>
                </a:solidFill>
              </a:rPr>
              <a:t>Flödet i projektet – så hänger allt ihop</a:t>
            </a:r>
            <a:endParaRPr/>
          </a:p>
        </p:txBody>
      </p:sp>
      <p:sp>
        <p:nvSpPr>
          <p:cNvPr id="169" name="Google Shape;169;p7"/>
          <p:cNvSpPr txBox="1">
            <a:spLocks noGrp="1"/>
          </p:cNvSpPr>
          <p:nvPr>
            <p:ph type="body" idx="1"/>
          </p:nvPr>
        </p:nvSpPr>
        <p:spPr>
          <a:xfrm>
            <a:off x="4810259" y="649480"/>
            <a:ext cx="6555347" cy="5546047"/>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sv-SE" sz="2000"/>
              <a:t>[Steg 1-6] Installation</a:t>
            </a:r>
            <a:endParaRPr sz="2000"/>
          </a:p>
          <a:p>
            <a:pPr marL="228600" lvl="0" indent="-228600" algn="l" rtl="0">
              <a:lnSpc>
                <a:spcPct val="90000"/>
              </a:lnSpc>
              <a:spcBef>
                <a:spcPts val="1000"/>
              </a:spcBef>
              <a:spcAft>
                <a:spcPts val="0"/>
              </a:spcAft>
              <a:buClr>
                <a:schemeClr val="dk1"/>
              </a:buClr>
              <a:buSzPts val="2000"/>
              <a:buChar char="•"/>
            </a:pPr>
            <a:r>
              <a:rPr lang="sv-SE" sz="2000"/>
              <a:t>    ↓</a:t>
            </a:r>
            <a:endParaRPr sz="2000"/>
          </a:p>
          <a:p>
            <a:pPr marL="228600" lvl="0" indent="-228600" algn="l" rtl="0">
              <a:lnSpc>
                <a:spcPct val="90000"/>
              </a:lnSpc>
              <a:spcBef>
                <a:spcPts val="1000"/>
              </a:spcBef>
              <a:spcAft>
                <a:spcPts val="0"/>
              </a:spcAft>
              <a:buClr>
                <a:schemeClr val="dk1"/>
              </a:buClr>
              <a:buSzPts val="2000"/>
              <a:buChar char="•"/>
            </a:pPr>
            <a:r>
              <a:rPr lang="sv-SE" sz="2000"/>
              <a:t>[Steg 7-8] Databas med tabeller (SQL Server)</a:t>
            </a:r>
            <a:endParaRPr sz="2000"/>
          </a:p>
          <a:p>
            <a:pPr marL="228600" lvl="0" indent="-228600" algn="l" rtl="0">
              <a:lnSpc>
                <a:spcPct val="90000"/>
              </a:lnSpc>
              <a:spcBef>
                <a:spcPts val="1000"/>
              </a:spcBef>
              <a:spcAft>
                <a:spcPts val="0"/>
              </a:spcAft>
              <a:buClr>
                <a:schemeClr val="dk1"/>
              </a:buClr>
              <a:buSzPts val="2000"/>
              <a:buChar char="•"/>
            </a:pPr>
            <a:r>
              <a:rPr lang="sv-SE" sz="2000"/>
              <a:t>    ↓</a:t>
            </a:r>
            <a:endParaRPr sz="2000"/>
          </a:p>
          <a:p>
            <a:pPr marL="228600" lvl="0" indent="-228600" algn="l" rtl="0">
              <a:lnSpc>
                <a:spcPct val="90000"/>
              </a:lnSpc>
              <a:spcBef>
                <a:spcPts val="1000"/>
              </a:spcBef>
              <a:spcAft>
                <a:spcPts val="0"/>
              </a:spcAft>
              <a:buClr>
                <a:schemeClr val="dk1"/>
              </a:buClr>
              <a:buSzPts val="2000"/>
              <a:buChar char="•"/>
            </a:pPr>
            <a:r>
              <a:rPr lang="sv-SE" sz="2000"/>
              <a:t>[Steg 9] Träna ML-modell (Google Colab) → .pkl-fil</a:t>
            </a:r>
            <a:endParaRPr sz="2000"/>
          </a:p>
          <a:p>
            <a:pPr marL="228600" lvl="0" indent="-228600" algn="l" rtl="0">
              <a:lnSpc>
                <a:spcPct val="90000"/>
              </a:lnSpc>
              <a:spcBef>
                <a:spcPts val="1000"/>
              </a:spcBef>
              <a:spcAft>
                <a:spcPts val="0"/>
              </a:spcAft>
              <a:buClr>
                <a:schemeClr val="dk1"/>
              </a:buClr>
              <a:buSzPts val="2000"/>
              <a:buChar char="•"/>
            </a:pPr>
            <a:r>
              <a:rPr lang="sv-SE" sz="2000"/>
              <a:t>    ↓</a:t>
            </a:r>
            <a:endParaRPr sz="2000"/>
          </a:p>
          <a:p>
            <a:pPr marL="228600" lvl="0" indent="-228600" algn="l" rtl="0">
              <a:lnSpc>
                <a:spcPct val="90000"/>
              </a:lnSpc>
              <a:spcBef>
                <a:spcPts val="1000"/>
              </a:spcBef>
              <a:spcAft>
                <a:spcPts val="0"/>
              </a:spcAft>
              <a:buClr>
                <a:schemeClr val="dk1"/>
              </a:buClr>
              <a:buSzPts val="2000"/>
              <a:buChar char="•"/>
            </a:pPr>
            <a:r>
              <a:rPr lang="sv-SE" sz="2000"/>
              <a:t>[Steg 10] Python-skript läser ny data från SQL, analyserar med .pkl-fil, sparar resultat i SQL</a:t>
            </a:r>
            <a:endParaRPr sz="2000"/>
          </a:p>
          <a:p>
            <a:pPr marL="228600" lvl="0" indent="-228600" algn="l" rtl="0">
              <a:lnSpc>
                <a:spcPct val="90000"/>
              </a:lnSpc>
              <a:spcBef>
                <a:spcPts val="1000"/>
              </a:spcBef>
              <a:spcAft>
                <a:spcPts val="0"/>
              </a:spcAft>
              <a:buClr>
                <a:schemeClr val="dk1"/>
              </a:buClr>
              <a:buSzPts val="2000"/>
              <a:buChar char="•"/>
            </a:pPr>
            <a:r>
              <a:rPr lang="sv-SE" sz="2000"/>
              <a:t>    ↓</a:t>
            </a:r>
            <a:endParaRPr sz="2000"/>
          </a:p>
          <a:p>
            <a:pPr marL="228600" lvl="0" indent="-228600" algn="l" rtl="0">
              <a:lnSpc>
                <a:spcPct val="90000"/>
              </a:lnSpc>
              <a:spcBef>
                <a:spcPts val="1000"/>
              </a:spcBef>
              <a:spcAft>
                <a:spcPts val="0"/>
              </a:spcAft>
              <a:buClr>
                <a:schemeClr val="dk1"/>
              </a:buClr>
              <a:buSzPts val="2000"/>
              <a:buChar char="•"/>
            </a:pPr>
            <a:r>
              <a:rPr lang="sv-SE" sz="2000"/>
              <a:t>[Steg 11] Power BI hämtar data från SQL Server</a:t>
            </a:r>
            <a:endParaRPr sz="2000"/>
          </a:p>
          <a:p>
            <a:pPr marL="228600" lvl="0" indent="-228600" algn="l" rtl="0">
              <a:lnSpc>
                <a:spcPct val="90000"/>
              </a:lnSpc>
              <a:spcBef>
                <a:spcPts val="1000"/>
              </a:spcBef>
              <a:spcAft>
                <a:spcPts val="0"/>
              </a:spcAft>
              <a:buClr>
                <a:schemeClr val="dk1"/>
              </a:buClr>
              <a:buSzPts val="2000"/>
              <a:buChar char="•"/>
            </a:pPr>
            <a:r>
              <a:rPr lang="sv-SE" sz="2000"/>
              <a:t>    ↓</a:t>
            </a:r>
            <a:endParaRPr sz="2000"/>
          </a:p>
          <a:p>
            <a:pPr marL="228600" lvl="0" indent="-228600" algn="l" rtl="0">
              <a:lnSpc>
                <a:spcPct val="90000"/>
              </a:lnSpc>
              <a:spcBef>
                <a:spcPts val="1000"/>
              </a:spcBef>
              <a:spcAft>
                <a:spcPts val="0"/>
              </a:spcAft>
              <a:buClr>
                <a:schemeClr val="dk1"/>
              </a:buClr>
              <a:buSzPts val="2000"/>
              <a:buChar char="•"/>
            </a:pPr>
            <a:r>
              <a:rPr lang="sv-SE" sz="2000"/>
              <a:t>[Steg 12] Rapport visualiserar attacker, trender och modellens prestanda</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3"/>
        <p:cNvGrpSpPr/>
        <p:nvPr/>
      </p:nvGrpSpPr>
      <p:grpSpPr>
        <a:xfrm>
          <a:off x="0" y="0"/>
          <a:ext cx="0" cy="0"/>
          <a:chOff x="0" y="0"/>
          <a:chExt cx="0" cy="0"/>
        </a:xfrm>
      </p:grpSpPr>
      <p:sp>
        <p:nvSpPr>
          <p:cNvPr id="174" name="Google Shape;174;p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5" name="Google Shape;175;p8"/>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6" name="Google Shape;176;p8"/>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7" name="Google Shape;177;p8"/>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8" name="Google Shape;178;p8"/>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Sammanfattning</a:t>
            </a:r>
            <a:endParaRPr/>
          </a:p>
        </p:txBody>
      </p:sp>
      <p:graphicFrame>
        <p:nvGraphicFramePr>
          <p:cNvPr id="179" name="Google Shape;179;p8"/>
          <p:cNvGraphicFramePr/>
          <p:nvPr/>
        </p:nvGraphicFramePr>
        <p:xfrm>
          <a:off x="965663" y="1966293"/>
          <a:ext cx="3000000" cy="3000000"/>
        </p:xfrm>
        <a:graphic>
          <a:graphicData uri="http://schemas.openxmlformats.org/drawingml/2006/table">
            <a:tbl>
              <a:tblPr firstRow="1" bandRow="1">
                <a:solidFill>
                  <a:srgbClr val="F2F2F2">
                    <a:alpha val="45098"/>
                  </a:srgbClr>
                </a:solidFill>
                <a:tableStyleId>{822C3B93-EF79-491A-80E4-DA79D8C4CF44}</a:tableStyleId>
              </a:tblPr>
              <a:tblGrid>
                <a:gridCol w="2753525">
                  <a:extLst>
                    <a:ext uri="{9D8B030D-6E8A-4147-A177-3AD203B41FA5}">
                      <a16:colId xmlns:a16="http://schemas.microsoft.com/office/drawing/2014/main" val="20000"/>
                    </a:ext>
                  </a:extLst>
                </a:gridCol>
                <a:gridCol w="7507150">
                  <a:extLst>
                    <a:ext uri="{9D8B030D-6E8A-4147-A177-3AD203B41FA5}">
                      <a16:colId xmlns:a16="http://schemas.microsoft.com/office/drawing/2014/main" val="20001"/>
                    </a:ext>
                  </a:extLst>
                </a:gridCol>
              </a:tblGrid>
              <a:tr h="644175">
                <a:tc>
                  <a:txBody>
                    <a:bodyPr/>
                    <a:lstStyle/>
                    <a:p>
                      <a:pPr marL="0" marR="0" lvl="0" indent="0" algn="l" rtl="0">
                        <a:lnSpc>
                          <a:spcPct val="93750"/>
                        </a:lnSpc>
                        <a:spcBef>
                          <a:spcPts val="0"/>
                        </a:spcBef>
                        <a:spcAft>
                          <a:spcPts val="0"/>
                        </a:spcAft>
                        <a:buClr>
                          <a:schemeClr val="lt1"/>
                        </a:buClr>
                        <a:buSzPts val="2000"/>
                        <a:buFont typeface="Arial"/>
                        <a:buNone/>
                      </a:pPr>
                      <a:r>
                        <a:rPr lang="sv-SE" sz="2000" b="0" u="none" strike="noStrike" cap="none">
                          <a:solidFill>
                            <a:schemeClr val="lt1"/>
                          </a:solidFill>
                          <a:latin typeface="Arial"/>
                          <a:ea typeface="Arial"/>
                          <a:cs typeface="Arial"/>
                          <a:sym typeface="Arial"/>
                        </a:rPr>
                        <a:t>Område</a:t>
                      </a:r>
                      <a:endParaRPr/>
                    </a:p>
                  </a:txBody>
                  <a:tcPr marL="130550" marR="21760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93750"/>
                        </a:lnSpc>
                        <a:spcBef>
                          <a:spcPts val="0"/>
                        </a:spcBef>
                        <a:spcAft>
                          <a:spcPts val="0"/>
                        </a:spcAft>
                        <a:buClr>
                          <a:schemeClr val="lt1"/>
                        </a:buClr>
                        <a:buSzPts val="2000"/>
                        <a:buFont typeface="Arial"/>
                        <a:buNone/>
                      </a:pPr>
                      <a:r>
                        <a:rPr lang="sv-SE" sz="2000" b="0" u="none" strike="noStrike" cap="none">
                          <a:solidFill>
                            <a:schemeClr val="lt1"/>
                          </a:solidFill>
                          <a:latin typeface="Arial"/>
                          <a:ea typeface="Arial"/>
                          <a:cs typeface="Arial"/>
                          <a:sym typeface="Arial"/>
                        </a:rPr>
                        <a:t>Förklaring</a:t>
                      </a:r>
                      <a:endParaRPr/>
                    </a:p>
                  </a:txBody>
                  <a:tcPr marL="217600" marR="21760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634675">
                <a:tc>
                  <a:txBody>
                    <a:bodyPr/>
                    <a:lstStyle/>
                    <a:p>
                      <a:pPr marL="0" marR="0" lvl="0" indent="0" algn="l" rtl="0">
                        <a:lnSpc>
                          <a:spcPct val="110294"/>
                        </a:lnSpc>
                        <a:spcBef>
                          <a:spcPts val="0"/>
                        </a:spcBef>
                        <a:spcAft>
                          <a:spcPts val="0"/>
                        </a:spcAft>
                        <a:buClr>
                          <a:schemeClr val="dk1"/>
                        </a:buClr>
                        <a:buSzPts val="1700"/>
                        <a:buFont typeface="Arial"/>
                        <a:buNone/>
                      </a:pPr>
                      <a:r>
                        <a:rPr lang="sv-SE" sz="1700" b="1" u="none" strike="noStrike" cap="none">
                          <a:solidFill>
                            <a:schemeClr val="dk1"/>
                          </a:solidFill>
                          <a:latin typeface="Arial"/>
                          <a:ea typeface="Arial"/>
                          <a:cs typeface="Arial"/>
                          <a:sym typeface="Arial"/>
                        </a:rPr>
                        <a:t>Målet</a:t>
                      </a:r>
                      <a:endParaRPr sz="1700" b="0" u="none" strike="noStrike" cap="none">
                        <a:solidFill>
                          <a:schemeClr val="dk1"/>
                        </a:solidFill>
                        <a:latin typeface="Arial"/>
                        <a:ea typeface="Arial"/>
                        <a:cs typeface="Arial"/>
                        <a:sym typeface="Arial"/>
                      </a:endParaRPr>
                    </a:p>
                  </a:txBody>
                  <a:tcPr marL="130550" marR="21760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BFBFBF"/>
                      </a:solidFill>
                      <a:prstDash val="solid"/>
                      <a:round/>
                      <a:headEnd type="none" w="sm" len="sm"/>
                      <a:tailEnd type="none" w="sm" len="sm"/>
                    </a:lnB>
                    <a:solidFill>
                      <a:srgbClr val="F2F2F2">
                        <a:alpha val="45098"/>
                      </a:srgbClr>
                    </a:solidFill>
                  </a:tcPr>
                </a:tc>
                <a:tc>
                  <a:txBody>
                    <a:bodyPr/>
                    <a:lstStyle/>
                    <a:p>
                      <a:pPr marL="0" marR="0" lvl="0" indent="0" algn="l" rtl="0">
                        <a:lnSpc>
                          <a:spcPct val="110294"/>
                        </a:lnSpc>
                        <a:spcBef>
                          <a:spcPts val="0"/>
                        </a:spcBef>
                        <a:spcAft>
                          <a:spcPts val="0"/>
                        </a:spcAft>
                        <a:buClr>
                          <a:schemeClr val="dk1"/>
                        </a:buClr>
                        <a:buSzPts val="1700"/>
                        <a:buFont typeface="Arial"/>
                        <a:buNone/>
                      </a:pPr>
                      <a:r>
                        <a:rPr lang="sv-SE" sz="1700" b="0" u="none" strike="noStrike" cap="none">
                          <a:solidFill>
                            <a:schemeClr val="dk1"/>
                          </a:solidFill>
                          <a:latin typeface="Arial"/>
                          <a:ea typeface="Arial"/>
                          <a:cs typeface="Arial"/>
                          <a:sym typeface="Arial"/>
                        </a:rPr>
                        <a:t>Bygga ett automatiskt system för att upptäcka nätverksattacker med ML</a:t>
                      </a:r>
                      <a:endParaRPr/>
                    </a:p>
                  </a:txBody>
                  <a:tcPr marL="217600" marR="13055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BFBFBF"/>
                      </a:solidFill>
                      <a:prstDash val="solid"/>
                      <a:round/>
                      <a:headEnd type="none" w="sm" len="sm"/>
                      <a:tailEnd type="none" w="sm" len="sm"/>
                    </a:lnB>
                    <a:solidFill>
                      <a:srgbClr val="F2F2F2">
                        <a:alpha val="45098"/>
                      </a:srgbClr>
                    </a:solidFill>
                  </a:tcPr>
                </a:tc>
                <a:extLst>
                  <a:ext uri="{0D108BD9-81ED-4DB2-BD59-A6C34878D82A}">
                    <a16:rowId xmlns:a16="http://schemas.microsoft.com/office/drawing/2014/main" val="10001"/>
                  </a:ext>
                </a:extLst>
              </a:tr>
              <a:tr h="634675">
                <a:tc>
                  <a:txBody>
                    <a:bodyPr/>
                    <a:lstStyle/>
                    <a:p>
                      <a:pPr marL="0" marR="0" lvl="0" indent="0" algn="l" rtl="0">
                        <a:lnSpc>
                          <a:spcPct val="110294"/>
                        </a:lnSpc>
                        <a:spcBef>
                          <a:spcPts val="0"/>
                        </a:spcBef>
                        <a:spcAft>
                          <a:spcPts val="0"/>
                        </a:spcAft>
                        <a:buClr>
                          <a:schemeClr val="dk1"/>
                        </a:buClr>
                        <a:buSzPts val="1700"/>
                        <a:buFont typeface="Arial"/>
                        <a:buNone/>
                      </a:pPr>
                      <a:r>
                        <a:rPr lang="sv-SE" sz="1700" b="1" u="none" strike="noStrike" cap="none">
                          <a:solidFill>
                            <a:schemeClr val="dk1"/>
                          </a:solidFill>
                          <a:latin typeface="Arial"/>
                          <a:ea typeface="Arial"/>
                          <a:cs typeface="Arial"/>
                          <a:sym typeface="Arial"/>
                        </a:rPr>
                        <a:t>Databasen</a:t>
                      </a:r>
                      <a:endParaRPr sz="1700" b="0" u="none" strike="noStrike" cap="none">
                        <a:solidFill>
                          <a:schemeClr val="dk1"/>
                        </a:solidFill>
                        <a:latin typeface="Arial"/>
                        <a:ea typeface="Arial"/>
                        <a:cs typeface="Arial"/>
                        <a:sym typeface="Arial"/>
                      </a:endParaRPr>
                    </a:p>
                  </a:txBody>
                  <a:tcPr marL="130550" marR="21760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BFBFBF">
                        <a:alpha val="34901"/>
                      </a:srgbClr>
                    </a:solidFill>
                  </a:tcPr>
                </a:tc>
                <a:tc>
                  <a:txBody>
                    <a:bodyPr/>
                    <a:lstStyle/>
                    <a:p>
                      <a:pPr marL="0" marR="0" lvl="0" indent="0" algn="l" rtl="0">
                        <a:lnSpc>
                          <a:spcPct val="110294"/>
                        </a:lnSpc>
                        <a:spcBef>
                          <a:spcPts val="0"/>
                        </a:spcBef>
                        <a:spcAft>
                          <a:spcPts val="0"/>
                        </a:spcAft>
                        <a:buClr>
                          <a:schemeClr val="dk1"/>
                        </a:buClr>
                        <a:buSzPts val="1700"/>
                        <a:buFont typeface="Arial"/>
                        <a:buNone/>
                      </a:pPr>
                      <a:r>
                        <a:rPr lang="sv-SE" sz="1700" b="0" u="none" strike="noStrike" cap="none">
                          <a:solidFill>
                            <a:schemeClr val="dk1"/>
                          </a:solidFill>
                          <a:latin typeface="Arial"/>
                          <a:ea typeface="Arial"/>
                          <a:cs typeface="Arial"/>
                          <a:sym typeface="Arial"/>
                        </a:rPr>
                        <a:t>Lagrar både rådata och resultat (SQL Server)</a:t>
                      </a:r>
                      <a:endParaRPr/>
                    </a:p>
                  </a:txBody>
                  <a:tcPr marL="217600" marR="13055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BFBFBF">
                        <a:alpha val="34901"/>
                      </a:srgbClr>
                    </a:solidFill>
                  </a:tcPr>
                </a:tc>
                <a:extLst>
                  <a:ext uri="{0D108BD9-81ED-4DB2-BD59-A6C34878D82A}">
                    <a16:rowId xmlns:a16="http://schemas.microsoft.com/office/drawing/2014/main" val="10002"/>
                  </a:ext>
                </a:extLst>
              </a:tr>
              <a:tr h="634675">
                <a:tc>
                  <a:txBody>
                    <a:bodyPr/>
                    <a:lstStyle/>
                    <a:p>
                      <a:pPr marL="0" marR="0" lvl="0" indent="0" algn="l" rtl="0">
                        <a:lnSpc>
                          <a:spcPct val="110294"/>
                        </a:lnSpc>
                        <a:spcBef>
                          <a:spcPts val="0"/>
                        </a:spcBef>
                        <a:spcAft>
                          <a:spcPts val="0"/>
                        </a:spcAft>
                        <a:buClr>
                          <a:schemeClr val="dk1"/>
                        </a:buClr>
                        <a:buSzPts val="1700"/>
                        <a:buFont typeface="Arial"/>
                        <a:buNone/>
                      </a:pPr>
                      <a:r>
                        <a:rPr lang="sv-SE" sz="1700" b="1" u="none" strike="noStrike" cap="none">
                          <a:solidFill>
                            <a:schemeClr val="dk1"/>
                          </a:solidFill>
                          <a:latin typeface="Arial"/>
                          <a:ea typeface="Arial"/>
                          <a:cs typeface="Arial"/>
                          <a:sym typeface="Arial"/>
                        </a:rPr>
                        <a:t>ML-modellen</a:t>
                      </a:r>
                      <a:endParaRPr sz="1700" b="0" u="none" strike="noStrike" cap="none">
                        <a:solidFill>
                          <a:schemeClr val="dk1"/>
                        </a:solidFill>
                        <a:latin typeface="Arial"/>
                        <a:ea typeface="Arial"/>
                        <a:cs typeface="Arial"/>
                        <a:sym typeface="Arial"/>
                      </a:endParaRPr>
                    </a:p>
                  </a:txBody>
                  <a:tcPr marL="130550" marR="21760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BFBFBF"/>
                      </a:solidFill>
                      <a:prstDash val="solid"/>
                      <a:round/>
                      <a:headEnd type="none" w="sm" len="sm"/>
                      <a:tailEnd type="none" w="sm" len="sm"/>
                    </a:lnB>
                    <a:solidFill>
                      <a:srgbClr val="F2F2F2">
                        <a:alpha val="45098"/>
                      </a:srgbClr>
                    </a:solidFill>
                  </a:tcPr>
                </a:tc>
                <a:tc>
                  <a:txBody>
                    <a:bodyPr/>
                    <a:lstStyle/>
                    <a:p>
                      <a:pPr marL="0" marR="0" lvl="0" indent="0" algn="l" rtl="0">
                        <a:lnSpc>
                          <a:spcPct val="97058"/>
                        </a:lnSpc>
                        <a:spcBef>
                          <a:spcPts val="0"/>
                        </a:spcBef>
                        <a:spcAft>
                          <a:spcPts val="0"/>
                        </a:spcAft>
                        <a:buClr>
                          <a:schemeClr val="dk1"/>
                        </a:buClr>
                        <a:buSzPts val="1700"/>
                        <a:buFont typeface="Arial"/>
                        <a:buNone/>
                      </a:pPr>
                      <a:r>
                        <a:rPr lang="sv-SE" sz="1700" b="0" u="none" strike="noStrike" cap="none">
                          <a:solidFill>
                            <a:schemeClr val="dk1"/>
                          </a:solidFill>
                          <a:latin typeface="Arial"/>
                          <a:ea typeface="Arial"/>
                          <a:cs typeface="Arial"/>
                          <a:sym typeface="Arial"/>
                        </a:rPr>
                        <a:t>Tränas i Google Colab och sparas som en .pkl-fil</a:t>
                      </a:r>
                      <a:endParaRPr/>
                    </a:p>
                  </a:txBody>
                  <a:tcPr marL="217600" marR="13055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BFBFBF"/>
                      </a:solidFill>
                      <a:prstDash val="solid"/>
                      <a:round/>
                      <a:headEnd type="none" w="sm" len="sm"/>
                      <a:tailEnd type="none" w="sm" len="sm"/>
                    </a:lnB>
                    <a:solidFill>
                      <a:srgbClr val="F2F2F2">
                        <a:alpha val="45098"/>
                      </a:srgbClr>
                    </a:solidFill>
                  </a:tcPr>
                </a:tc>
                <a:extLst>
                  <a:ext uri="{0D108BD9-81ED-4DB2-BD59-A6C34878D82A}">
                    <a16:rowId xmlns:a16="http://schemas.microsoft.com/office/drawing/2014/main" val="10003"/>
                  </a:ext>
                </a:extLst>
              </a:tr>
              <a:tr h="634675">
                <a:tc>
                  <a:txBody>
                    <a:bodyPr/>
                    <a:lstStyle/>
                    <a:p>
                      <a:pPr marL="0" marR="0" lvl="0" indent="0" algn="l" rtl="0">
                        <a:lnSpc>
                          <a:spcPct val="110294"/>
                        </a:lnSpc>
                        <a:spcBef>
                          <a:spcPts val="0"/>
                        </a:spcBef>
                        <a:spcAft>
                          <a:spcPts val="0"/>
                        </a:spcAft>
                        <a:buClr>
                          <a:schemeClr val="dk1"/>
                        </a:buClr>
                        <a:buSzPts val="1700"/>
                        <a:buFont typeface="Arial"/>
                        <a:buNone/>
                      </a:pPr>
                      <a:r>
                        <a:rPr lang="sv-SE" sz="1700" b="1" u="none" strike="noStrike" cap="none">
                          <a:solidFill>
                            <a:schemeClr val="dk1"/>
                          </a:solidFill>
                          <a:latin typeface="Arial"/>
                          <a:ea typeface="Arial"/>
                          <a:cs typeface="Arial"/>
                          <a:sym typeface="Arial"/>
                        </a:rPr>
                        <a:t>Automation</a:t>
                      </a:r>
                      <a:endParaRPr sz="1700" b="0" u="none" strike="noStrike" cap="none">
                        <a:solidFill>
                          <a:schemeClr val="dk1"/>
                        </a:solidFill>
                        <a:latin typeface="Arial"/>
                        <a:ea typeface="Arial"/>
                        <a:cs typeface="Arial"/>
                        <a:sym typeface="Arial"/>
                      </a:endParaRPr>
                    </a:p>
                  </a:txBody>
                  <a:tcPr marL="130550" marR="21760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BFBFBF">
                        <a:alpha val="34901"/>
                      </a:srgbClr>
                    </a:solidFill>
                  </a:tcPr>
                </a:tc>
                <a:tc>
                  <a:txBody>
                    <a:bodyPr/>
                    <a:lstStyle/>
                    <a:p>
                      <a:pPr marL="0" marR="0" lvl="0" indent="0" algn="l" rtl="0">
                        <a:lnSpc>
                          <a:spcPct val="110294"/>
                        </a:lnSpc>
                        <a:spcBef>
                          <a:spcPts val="0"/>
                        </a:spcBef>
                        <a:spcAft>
                          <a:spcPts val="0"/>
                        </a:spcAft>
                        <a:buClr>
                          <a:schemeClr val="dk1"/>
                        </a:buClr>
                        <a:buSzPts val="1700"/>
                        <a:buFont typeface="Arial"/>
                        <a:buNone/>
                      </a:pPr>
                      <a:r>
                        <a:rPr lang="sv-SE" sz="1700" b="0" u="none" strike="noStrike" cap="none">
                          <a:solidFill>
                            <a:schemeClr val="dk1"/>
                          </a:solidFill>
                          <a:latin typeface="Arial"/>
                          <a:ea typeface="Arial"/>
                          <a:cs typeface="Arial"/>
                          <a:sym typeface="Arial"/>
                        </a:rPr>
                        <a:t>Python-skript körs regelbundet (manuellt eller schemalagt)</a:t>
                      </a:r>
                      <a:endParaRPr/>
                    </a:p>
                  </a:txBody>
                  <a:tcPr marL="217600" marR="13055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BFBFBF">
                        <a:alpha val="34901"/>
                      </a:srgbClr>
                    </a:solidFill>
                  </a:tcPr>
                </a:tc>
                <a:extLst>
                  <a:ext uri="{0D108BD9-81ED-4DB2-BD59-A6C34878D82A}">
                    <a16:rowId xmlns:a16="http://schemas.microsoft.com/office/drawing/2014/main" val="10004"/>
                  </a:ext>
                </a:extLst>
              </a:tr>
              <a:tr h="634675">
                <a:tc>
                  <a:txBody>
                    <a:bodyPr/>
                    <a:lstStyle/>
                    <a:p>
                      <a:pPr marL="0" marR="0" lvl="0" indent="0" algn="l" rtl="0">
                        <a:lnSpc>
                          <a:spcPct val="110294"/>
                        </a:lnSpc>
                        <a:spcBef>
                          <a:spcPts val="0"/>
                        </a:spcBef>
                        <a:spcAft>
                          <a:spcPts val="0"/>
                        </a:spcAft>
                        <a:buClr>
                          <a:schemeClr val="dk1"/>
                        </a:buClr>
                        <a:buSzPts val="1700"/>
                        <a:buFont typeface="Arial"/>
                        <a:buNone/>
                      </a:pPr>
                      <a:r>
                        <a:rPr lang="sv-SE" sz="1700" b="1" u="none" strike="noStrike" cap="none">
                          <a:solidFill>
                            <a:schemeClr val="dk1"/>
                          </a:solidFill>
                          <a:latin typeface="Arial"/>
                          <a:ea typeface="Arial"/>
                          <a:cs typeface="Arial"/>
                          <a:sym typeface="Arial"/>
                        </a:rPr>
                        <a:t>Visualisering</a:t>
                      </a:r>
                      <a:endParaRPr sz="1700" b="0" u="none" strike="noStrike" cap="none">
                        <a:solidFill>
                          <a:schemeClr val="dk1"/>
                        </a:solidFill>
                        <a:latin typeface="Arial"/>
                        <a:ea typeface="Arial"/>
                        <a:cs typeface="Arial"/>
                        <a:sym typeface="Arial"/>
                      </a:endParaRPr>
                    </a:p>
                  </a:txBody>
                  <a:tcPr marL="130550" marR="21760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BFBFBF"/>
                      </a:solidFill>
                      <a:prstDash val="solid"/>
                      <a:round/>
                      <a:headEnd type="none" w="sm" len="sm"/>
                      <a:tailEnd type="none" w="sm" len="sm"/>
                    </a:lnB>
                    <a:solidFill>
                      <a:srgbClr val="F2F2F2">
                        <a:alpha val="45098"/>
                      </a:srgbClr>
                    </a:solidFill>
                  </a:tcPr>
                </a:tc>
                <a:tc>
                  <a:txBody>
                    <a:bodyPr/>
                    <a:lstStyle/>
                    <a:p>
                      <a:pPr marL="0" marR="0" lvl="0" indent="0" algn="l" rtl="0">
                        <a:lnSpc>
                          <a:spcPct val="110294"/>
                        </a:lnSpc>
                        <a:spcBef>
                          <a:spcPts val="0"/>
                        </a:spcBef>
                        <a:spcAft>
                          <a:spcPts val="0"/>
                        </a:spcAft>
                        <a:buClr>
                          <a:schemeClr val="dk1"/>
                        </a:buClr>
                        <a:buSzPts val="1700"/>
                        <a:buFont typeface="Arial"/>
                        <a:buNone/>
                      </a:pPr>
                      <a:r>
                        <a:rPr lang="sv-SE" sz="1700" b="0" u="none" strike="noStrike" cap="none">
                          <a:solidFill>
                            <a:schemeClr val="dk1"/>
                          </a:solidFill>
                          <a:latin typeface="Arial"/>
                          <a:ea typeface="Arial"/>
                          <a:cs typeface="Arial"/>
                          <a:sym typeface="Arial"/>
                        </a:rPr>
                        <a:t>Power BI visar resultaten i en interaktiv rapport</a:t>
                      </a:r>
                      <a:endParaRPr/>
                    </a:p>
                  </a:txBody>
                  <a:tcPr marL="217600" marR="13055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BFBFBF"/>
                      </a:solidFill>
                      <a:prstDash val="solid"/>
                      <a:round/>
                      <a:headEnd type="none" w="sm" len="sm"/>
                      <a:tailEnd type="none" w="sm" len="sm"/>
                    </a:lnB>
                    <a:solidFill>
                      <a:srgbClr val="F2F2F2">
                        <a:alpha val="45098"/>
                      </a:srgbClr>
                    </a:solidFill>
                  </a:tcPr>
                </a:tc>
                <a:extLst>
                  <a:ext uri="{0D108BD9-81ED-4DB2-BD59-A6C34878D82A}">
                    <a16:rowId xmlns:a16="http://schemas.microsoft.com/office/drawing/2014/main" val="10005"/>
                  </a:ext>
                </a:extLst>
              </a:tr>
              <a:tr h="634675">
                <a:tc>
                  <a:txBody>
                    <a:bodyPr/>
                    <a:lstStyle/>
                    <a:p>
                      <a:pPr marL="0" marR="0" lvl="0" indent="0" algn="l" rtl="0">
                        <a:lnSpc>
                          <a:spcPct val="110294"/>
                        </a:lnSpc>
                        <a:spcBef>
                          <a:spcPts val="0"/>
                        </a:spcBef>
                        <a:spcAft>
                          <a:spcPts val="0"/>
                        </a:spcAft>
                        <a:buClr>
                          <a:schemeClr val="dk1"/>
                        </a:buClr>
                        <a:buSzPts val="1700"/>
                        <a:buFont typeface="Arial"/>
                        <a:buNone/>
                      </a:pPr>
                      <a:r>
                        <a:rPr lang="sv-SE" sz="1700" b="1" u="none" strike="noStrike" cap="none">
                          <a:solidFill>
                            <a:schemeClr val="dk1"/>
                          </a:solidFill>
                          <a:latin typeface="Arial"/>
                          <a:ea typeface="Arial"/>
                          <a:cs typeface="Arial"/>
                          <a:sym typeface="Arial"/>
                        </a:rPr>
                        <a:t>Resultat</a:t>
                      </a:r>
                      <a:endParaRPr sz="1700" b="0" u="none" strike="noStrike" cap="none">
                        <a:solidFill>
                          <a:schemeClr val="dk1"/>
                        </a:solidFill>
                        <a:latin typeface="Arial"/>
                        <a:ea typeface="Arial"/>
                        <a:cs typeface="Arial"/>
                        <a:sym typeface="Arial"/>
                      </a:endParaRPr>
                    </a:p>
                  </a:txBody>
                  <a:tcPr marL="130550" marR="21760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BFBFBF">
                        <a:alpha val="34901"/>
                      </a:srgbClr>
                    </a:solidFill>
                  </a:tcPr>
                </a:tc>
                <a:tc>
                  <a:txBody>
                    <a:bodyPr/>
                    <a:lstStyle/>
                    <a:p>
                      <a:pPr marL="0" marR="0" lvl="0" indent="0" algn="l" rtl="0">
                        <a:lnSpc>
                          <a:spcPct val="110294"/>
                        </a:lnSpc>
                        <a:spcBef>
                          <a:spcPts val="0"/>
                        </a:spcBef>
                        <a:spcAft>
                          <a:spcPts val="0"/>
                        </a:spcAft>
                        <a:buClr>
                          <a:schemeClr val="dk1"/>
                        </a:buClr>
                        <a:buSzPts val="1700"/>
                        <a:buFont typeface="Arial"/>
                        <a:buNone/>
                      </a:pPr>
                      <a:r>
                        <a:rPr lang="sv-SE" sz="1700" b="0" u="none" strike="noStrike" cap="none">
                          <a:solidFill>
                            <a:schemeClr val="dk1"/>
                          </a:solidFill>
                          <a:latin typeface="Arial"/>
                          <a:ea typeface="Arial"/>
                          <a:cs typeface="Arial"/>
                          <a:sym typeface="Arial"/>
                        </a:rPr>
                        <a:t>Ett komplett produktionsflöde från rådata till insikt</a:t>
                      </a:r>
                      <a:endParaRPr/>
                    </a:p>
                  </a:txBody>
                  <a:tcPr marL="217600" marR="130550" marT="130550" marB="1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BFBFBF">
                        <a:alpha val="34901"/>
                      </a:srgb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3"/>
        <p:cNvGrpSpPr/>
        <p:nvPr/>
      </p:nvGrpSpPr>
      <p:grpSpPr>
        <a:xfrm>
          <a:off x="0" y="0"/>
          <a:ext cx="0" cy="0"/>
          <a:chOff x="0" y="0"/>
          <a:chExt cx="0" cy="0"/>
        </a:xfrm>
      </p:grpSpPr>
      <p:sp>
        <p:nvSpPr>
          <p:cNvPr id="184" name="Google Shape;184;p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5" name="Google Shape;185;p9"/>
          <p:cNvSpPr/>
          <p:nvPr/>
        </p:nvSpPr>
        <p:spPr>
          <a:xfrm flipH="1">
            <a:off x="2" y="0"/>
            <a:ext cx="12191998" cy="1575955"/>
          </a:xfrm>
          <a:prstGeom prst="rect">
            <a:avLst/>
          </a:prstGeom>
          <a:gradFill>
            <a:gsLst>
              <a:gs pos="0">
                <a:srgbClr val="000000">
                  <a:alpha val="96078"/>
                </a:srgbClr>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6" name="Google Shape;186;p9"/>
          <p:cNvSpPr/>
          <p:nvPr/>
        </p:nvSpPr>
        <p:spPr>
          <a:xfrm rot="10800000" flipH="1">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7" name="Google Shape;187;p9"/>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8" name="Google Shape;188;p9"/>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100"/>
              <a:buFont typeface="Play"/>
              <a:buNone/>
            </a:pPr>
            <a:r>
              <a:rPr lang="sv-SE" sz="3100">
                <a:solidFill>
                  <a:srgbClr val="FFFFFF"/>
                </a:solidFill>
              </a:rPr>
              <a:t>Steg 1: Installera SQL Server (Databasmotorn). Vanliga frågor </a:t>
            </a:r>
            <a:endParaRPr/>
          </a:p>
        </p:txBody>
      </p:sp>
      <p:graphicFrame>
        <p:nvGraphicFramePr>
          <p:cNvPr id="189" name="Google Shape;189;p9"/>
          <p:cNvGraphicFramePr/>
          <p:nvPr/>
        </p:nvGraphicFramePr>
        <p:xfrm>
          <a:off x="106180" y="1705131"/>
          <a:ext cx="3000000" cy="3000000"/>
        </p:xfrm>
        <a:graphic>
          <a:graphicData uri="http://schemas.openxmlformats.org/drawingml/2006/table">
            <a:tbl>
              <a:tblPr firstRow="1" bandRow="1">
                <a:noFill/>
                <a:tableStyleId>{7C427A64-D489-4A59-8F93-1E52C87C3D23}</a:tableStyleId>
              </a:tblPr>
              <a:tblGrid>
                <a:gridCol w="3671450">
                  <a:extLst>
                    <a:ext uri="{9D8B030D-6E8A-4147-A177-3AD203B41FA5}">
                      <a16:colId xmlns:a16="http://schemas.microsoft.com/office/drawing/2014/main" val="20000"/>
                    </a:ext>
                  </a:extLst>
                </a:gridCol>
                <a:gridCol w="8316025">
                  <a:extLst>
                    <a:ext uri="{9D8B030D-6E8A-4147-A177-3AD203B41FA5}">
                      <a16:colId xmlns:a16="http://schemas.microsoft.com/office/drawing/2014/main" val="20001"/>
                    </a:ext>
                  </a:extLst>
                </a:gridCol>
              </a:tblGrid>
              <a:tr h="599700">
                <a:tc>
                  <a:txBody>
                    <a:bodyPr/>
                    <a:lstStyle/>
                    <a:p>
                      <a:pPr marL="0" marR="0" lvl="0" indent="0" algn="l" rtl="0">
                        <a:lnSpc>
                          <a:spcPct val="66964"/>
                        </a:lnSpc>
                        <a:spcBef>
                          <a:spcPts val="0"/>
                        </a:spcBef>
                        <a:spcAft>
                          <a:spcPts val="0"/>
                        </a:spcAft>
                        <a:buClr>
                          <a:schemeClr val="dk1"/>
                        </a:buClr>
                        <a:buSzPts val="2800"/>
                        <a:buFont typeface="Arial"/>
                        <a:buNone/>
                      </a:pPr>
                      <a:r>
                        <a:rPr lang="sv-SE" sz="2800" b="1" u="none" strike="noStrike" cap="none"/>
                        <a:t>Fråga</a:t>
                      </a:r>
                      <a:endParaRPr sz="2800" b="0" u="none" strike="noStrike" cap="none">
                        <a:latin typeface="Arial"/>
                        <a:ea typeface="Arial"/>
                        <a:cs typeface="Arial"/>
                        <a:sym typeface="Arial"/>
                      </a:endParaRPr>
                    </a:p>
                  </a:txBody>
                  <a:tcPr marL="94750" marR="157925" marT="98700" marB="98700" anchor="ctr"/>
                </a:tc>
                <a:tc>
                  <a:txBody>
                    <a:bodyPr/>
                    <a:lstStyle/>
                    <a:p>
                      <a:pPr marL="0" marR="0" lvl="0" indent="0" algn="l" rtl="0">
                        <a:lnSpc>
                          <a:spcPct val="66964"/>
                        </a:lnSpc>
                        <a:spcBef>
                          <a:spcPts val="0"/>
                        </a:spcBef>
                        <a:spcAft>
                          <a:spcPts val="0"/>
                        </a:spcAft>
                        <a:buClr>
                          <a:schemeClr val="dk1"/>
                        </a:buClr>
                        <a:buSzPts val="2800"/>
                        <a:buFont typeface="Arial"/>
                        <a:buNone/>
                      </a:pPr>
                      <a:r>
                        <a:rPr lang="sv-SE" sz="2800" b="1" u="none" strike="noStrike" cap="none"/>
                        <a:t>Svar</a:t>
                      </a:r>
                      <a:endParaRPr sz="2800" b="0" u="none" strike="noStrike" cap="none">
                        <a:latin typeface="Arial"/>
                        <a:ea typeface="Arial"/>
                        <a:cs typeface="Arial"/>
                        <a:sym typeface="Arial"/>
                      </a:endParaRPr>
                    </a:p>
                  </a:txBody>
                  <a:tcPr marL="157925" marR="157925" marT="98700" marB="98700" anchor="ctr"/>
                </a:tc>
                <a:extLst>
                  <a:ext uri="{0D108BD9-81ED-4DB2-BD59-A6C34878D82A}">
                    <a16:rowId xmlns:a16="http://schemas.microsoft.com/office/drawing/2014/main" val="10000"/>
                  </a:ext>
                </a:extLst>
              </a:tr>
              <a:tr h="1224925">
                <a:tc>
                  <a:txBody>
                    <a:bodyPr/>
                    <a:lstStyle/>
                    <a:p>
                      <a:pPr marL="0" marR="0" lvl="0" indent="0" algn="l" rtl="0">
                        <a:lnSpc>
                          <a:spcPct val="98684"/>
                        </a:lnSpc>
                        <a:spcBef>
                          <a:spcPts val="0"/>
                        </a:spcBef>
                        <a:spcAft>
                          <a:spcPts val="0"/>
                        </a:spcAft>
                        <a:buClr>
                          <a:schemeClr val="dk1"/>
                        </a:buClr>
                        <a:buSzPts val="1900"/>
                        <a:buFont typeface="Arial"/>
                        <a:buNone/>
                      </a:pPr>
                      <a:r>
                        <a:rPr lang="sv-SE" sz="1900" b="1" u="none" strike="noStrike" cap="none"/>
                        <a:t>Vad är skillnaden på SQL Server och SSMS?</a:t>
                      </a:r>
                      <a:endParaRPr sz="1900" b="0" u="none" strike="noStrike" cap="none">
                        <a:latin typeface="Arial"/>
                        <a:ea typeface="Arial"/>
                        <a:cs typeface="Arial"/>
                        <a:sym typeface="Arial"/>
                      </a:endParaRPr>
                    </a:p>
                  </a:txBody>
                  <a:tcPr marL="94750" marR="157925" marT="98700" marB="98700" anchor="ctr"/>
                </a:tc>
                <a:tc>
                  <a:txBody>
                    <a:bodyPr/>
                    <a:lstStyle/>
                    <a:p>
                      <a:pPr marL="0" marR="0" lvl="0" indent="0" algn="l" rtl="0">
                        <a:lnSpc>
                          <a:spcPct val="98684"/>
                        </a:lnSpc>
                        <a:spcBef>
                          <a:spcPts val="0"/>
                        </a:spcBef>
                        <a:spcAft>
                          <a:spcPts val="0"/>
                        </a:spcAft>
                        <a:buClr>
                          <a:schemeClr val="dk1"/>
                        </a:buClr>
                        <a:buSzPts val="1900"/>
                        <a:buFont typeface="Arial"/>
                        <a:buNone/>
                      </a:pPr>
                      <a:r>
                        <a:rPr lang="sv-SE" sz="1900" b="0" u="none" strike="noStrike" cap="none"/>
                        <a:t>SQL Server är </a:t>
                      </a:r>
                      <a:r>
                        <a:rPr lang="sv-SE" sz="1900" b="1" u="none" strike="noStrike" cap="none"/>
                        <a:t>motorn</a:t>
                      </a:r>
                      <a:r>
                        <a:rPr lang="sv-SE" sz="1900" b="0" u="none" strike="noStrike" cap="none"/>
                        <a:t> (databasen). SSMS är </a:t>
                      </a:r>
                      <a:r>
                        <a:rPr lang="sv-SE" sz="1900" b="1" u="none" strike="noStrike" cap="none"/>
                        <a:t>kontrollpanelen</a:t>
                      </a:r>
                      <a:r>
                        <a:rPr lang="sv-SE" sz="1900" b="0" u="none" strike="noStrike" cap="none"/>
                        <a:t> (verktyget) som du använder för att prata med motorn. De installeras separat.</a:t>
                      </a:r>
                      <a:endParaRPr sz="1900" b="0" u="none" strike="noStrike" cap="none">
                        <a:latin typeface="Arial"/>
                        <a:ea typeface="Arial"/>
                        <a:cs typeface="Arial"/>
                        <a:sym typeface="Arial"/>
                      </a:endParaRPr>
                    </a:p>
                  </a:txBody>
                  <a:tcPr marL="157925" marR="94750" marT="98700" marB="98700" anchor="ctr"/>
                </a:tc>
                <a:extLst>
                  <a:ext uri="{0D108BD9-81ED-4DB2-BD59-A6C34878D82A}">
                    <a16:rowId xmlns:a16="http://schemas.microsoft.com/office/drawing/2014/main" val="10001"/>
                  </a:ext>
                </a:extLst>
              </a:tr>
              <a:tr h="918675">
                <a:tc>
                  <a:txBody>
                    <a:bodyPr/>
                    <a:lstStyle/>
                    <a:p>
                      <a:pPr marL="0" marR="0" lvl="0" indent="0" algn="l" rtl="0">
                        <a:lnSpc>
                          <a:spcPct val="98684"/>
                        </a:lnSpc>
                        <a:spcBef>
                          <a:spcPts val="0"/>
                        </a:spcBef>
                        <a:spcAft>
                          <a:spcPts val="0"/>
                        </a:spcAft>
                        <a:buClr>
                          <a:schemeClr val="dk1"/>
                        </a:buClr>
                        <a:buSzPts val="1900"/>
                        <a:buFont typeface="Arial"/>
                        <a:buNone/>
                      </a:pPr>
                      <a:r>
                        <a:rPr lang="sv-SE" sz="1900" b="1" u="none" strike="noStrike" cap="none"/>
                        <a:t>Behöver jag betala för SQL Server?</a:t>
                      </a:r>
                      <a:endParaRPr sz="1900" b="0" u="none" strike="noStrike" cap="none">
                        <a:latin typeface="Arial"/>
                        <a:ea typeface="Arial"/>
                        <a:cs typeface="Arial"/>
                        <a:sym typeface="Arial"/>
                      </a:endParaRPr>
                    </a:p>
                  </a:txBody>
                  <a:tcPr marL="94750" marR="157925" marT="98700" marB="98700" anchor="ctr"/>
                </a:tc>
                <a:tc>
                  <a:txBody>
                    <a:bodyPr/>
                    <a:lstStyle/>
                    <a:p>
                      <a:pPr marL="0" marR="0" lvl="0" indent="0" algn="l" rtl="0">
                        <a:lnSpc>
                          <a:spcPct val="98684"/>
                        </a:lnSpc>
                        <a:spcBef>
                          <a:spcPts val="0"/>
                        </a:spcBef>
                        <a:spcAft>
                          <a:spcPts val="0"/>
                        </a:spcAft>
                        <a:buClr>
                          <a:schemeClr val="dk1"/>
                        </a:buClr>
                        <a:buSzPts val="1900"/>
                        <a:buFont typeface="Arial"/>
                        <a:buNone/>
                      </a:pPr>
                      <a:r>
                        <a:rPr lang="sv-SE" sz="1900" b="0" u="none" strike="noStrike" cap="none"/>
                        <a:t>Nej, </a:t>
                      </a:r>
                      <a:r>
                        <a:rPr lang="sv-SE" sz="1900" b="1" u="none" strike="noStrike" cap="none"/>
                        <a:t>SQL Server Developer Edition</a:t>
                      </a:r>
                      <a:r>
                        <a:rPr lang="sv-SE" sz="1900" b="0" u="none" strike="noStrike" cap="none"/>
                        <a:t> är helt gratis för utveckling och testning.</a:t>
                      </a:r>
                      <a:endParaRPr sz="1900" b="0" u="none" strike="noStrike" cap="none">
                        <a:latin typeface="Arial"/>
                        <a:ea typeface="Arial"/>
                        <a:cs typeface="Arial"/>
                        <a:sym typeface="Arial"/>
                      </a:endParaRPr>
                    </a:p>
                  </a:txBody>
                  <a:tcPr marL="157925" marR="94750" marT="98700" marB="98700" anchor="ctr"/>
                </a:tc>
                <a:extLst>
                  <a:ext uri="{0D108BD9-81ED-4DB2-BD59-A6C34878D82A}">
                    <a16:rowId xmlns:a16="http://schemas.microsoft.com/office/drawing/2014/main" val="10002"/>
                  </a:ext>
                </a:extLst>
              </a:tr>
              <a:tr h="1135600">
                <a:tc>
                  <a:txBody>
                    <a:bodyPr/>
                    <a:lstStyle/>
                    <a:p>
                      <a:pPr marL="0" marR="0" lvl="0" indent="0" algn="l" rtl="0">
                        <a:lnSpc>
                          <a:spcPct val="98684"/>
                        </a:lnSpc>
                        <a:spcBef>
                          <a:spcPts val="0"/>
                        </a:spcBef>
                        <a:spcAft>
                          <a:spcPts val="0"/>
                        </a:spcAft>
                        <a:buClr>
                          <a:schemeClr val="dk1"/>
                        </a:buClr>
                        <a:buSzPts val="1900"/>
                        <a:buFont typeface="Arial"/>
                        <a:buNone/>
                      </a:pPr>
                      <a:r>
                        <a:rPr lang="sv-SE" sz="1900" b="1" u="none" strike="noStrike" cap="none"/>
                        <a:t>Vad är "localhost"?</a:t>
                      </a:r>
                      <a:endParaRPr sz="1900" b="0" u="none" strike="noStrike" cap="none">
                        <a:latin typeface="Arial"/>
                        <a:ea typeface="Arial"/>
                        <a:cs typeface="Arial"/>
                        <a:sym typeface="Arial"/>
                      </a:endParaRPr>
                    </a:p>
                  </a:txBody>
                  <a:tcPr marL="94750" marR="157925" marT="98700" marB="98700" anchor="ctr"/>
                </a:tc>
                <a:tc>
                  <a:txBody>
                    <a:bodyPr/>
                    <a:lstStyle/>
                    <a:p>
                      <a:pPr marL="0" marR="0" lvl="0" indent="0" algn="l" rtl="0">
                        <a:lnSpc>
                          <a:spcPct val="86842"/>
                        </a:lnSpc>
                        <a:spcBef>
                          <a:spcPts val="0"/>
                        </a:spcBef>
                        <a:spcAft>
                          <a:spcPts val="0"/>
                        </a:spcAft>
                        <a:buClr>
                          <a:schemeClr val="dk1"/>
                        </a:buClr>
                        <a:buSzPts val="1900"/>
                        <a:buFont typeface="Arial"/>
                        <a:buNone/>
                      </a:pPr>
                      <a:r>
                        <a:rPr lang="sv-SE" sz="1900" b="0" u="none" strike="noStrike" cap="none"/>
                        <a:t>localhost är en speciell adress som alltid pekar på din egen dator. Det är det enklaste sättet att ansluta till en lokalt installerad SQL Server.</a:t>
                      </a:r>
                      <a:endParaRPr sz="1900" b="0" u="none" strike="noStrike" cap="none">
                        <a:latin typeface="Arial"/>
                        <a:ea typeface="Arial"/>
                        <a:cs typeface="Arial"/>
                        <a:sym typeface="Arial"/>
                      </a:endParaRPr>
                    </a:p>
                  </a:txBody>
                  <a:tcPr marL="157925" marR="94750" marT="98700" marB="98700" anchor="ctr"/>
                </a:tc>
                <a:extLst>
                  <a:ext uri="{0D108BD9-81ED-4DB2-BD59-A6C34878D82A}">
                    <a16:rowId xmlns:a16="http://schemas.microsoft.com/office/drawing/2014/main" val="10003"/>
                  </a:ext>
                </a:extLst>
              </a:tr>
              <a:tr h="1135600">
                <a:tc>
                  <a:txBody>
                    <a:bodyPr/>
                    <a:lstStyle/>
                    <a:p>
                      <a:pPr marL="0" marR="0" lvl="0" indent="0" algn="l" rtl="0">
                        <a:lnSpc>
                          <a:spcPct val="98684"/>
                        </a:lnSpc>
                        <a:spcBef>
                          <a:spcPts val="0"/>
                        </a:spcBef>
                        <a:spcAft>
                          <a:spcPts val="0"/>
                        </a:spcAft>
                        <a:buClr>
                          <a:schemeClr val="dk1"/>
                        </a:buClr>
                        <a:buSzPts val="1900"/>
                        <a:buFont typeface="Arial"/>
                        <a:buNone/>
                      </a:pPr>
                      <a:r>
                        <a:rPr lang="sv-SE" sz="1900" b="1" u="none" strike="noStrike" cap="none"/>
                        <a:t>Vad gör jag om jag tappar bort servernamnet?</a:t>
                      </a:r>
                      <a:endParaRPr sz="1900" b="0" u="none" strike="noStrike" cap="none">
                        <a:latin typeface="Arial"/>
                        <a:ea typeface="Arial"/>
                        <a:cs typeface="Arial"/>
                        <a:sym typeface="Arial"/>
                      </a:endParaRPr>
                    </a:p>
                  </a:txBody>
                  <a:tcPr marL="94750" marR="157925" marT="98700" marB="98700" anchor="ctr"/>
                </a:tc>
                <a:tc>
                  <a:txBody>
                    <a:bodyPr/>
                    <a:lstStyle/>
                    <a:p>
                      <a:pPr marL="0" marR="0" lvl="0" indent="0" algn="l" rtl="0">
                        <a:lnSpc>
                          <a:spcPct val="86842"/>
                        </a:lnSpc>
                        <a:spcBef>
                          <a:spcPts val="0"/>
                        </a:spcBef>
                        <a:spcAft>
                          <a:spcPts val="0"/>
                        </a:spcAft>
                        <a:buClr>
                          <a:schemeClr val="dk1"/>
                        </a:buClr>
                        <a:buSzPts val="1900"/>
                        <a:buFont typeface="Arial"/>
                        <a:buNone/>
                      </a:pPr>
                      <a:r>
                        <a:rPr lang="sv-SE" sz="1900" b="0" u="none" strike="noStrike" cap="none"/>
                        <a:t>Du kan alltid hitta det senare i </a:t>
                      </a:r>
                      <a:r>
                        <a:rPr lang="sv-SE" sz="1900" b="1" u="none" strike="noStrike" cap="none"/>
                        <a:t>SQL Server Configuration Manager</a:t>
                      </a:r>
                      <a:r>
                        <a:rPr lang="sv-SE" sz="1900" b="0" u="none" strike="noStrike" cap="none"/>
                        <a:t> eller genom att öppna kommandotolken och skriva hostname.</a:t>
                      </a:r>
                      <a:endParaRPr sz="1900" b="0" u="none" strike="noStrike" cap="none">
                        <a:latin typeface="Arial"/>
                        <a:ea typeface="Arial"/>
                        <a:cs typeface="Arial"/>
                        <a:sym typeface="Arial"/>
                      </a:endParaRPr>
                    </a:p>
                  </a:txBody>
                  <a:tcPr marL="157925" marR="94750" marT="98700" marB="9870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3"/>
        <p:cNvGrpSpPr/>
        <p:nvPr/>
      </p:nvGrpSpPr>
      <p:grpSpPr>
        <a:xfrm>
          <a:off x="0" y="0"/>
          <a:ext cx="0" cy="0"/>
          <a:chOff x="0" y="0"/>
          <a:chExt cx="0" cy="0"/>
        </a:xfrm>
      </p:grpSpPr>
      <p:sp>
        <p:nvSpPr>
          <p:cNvPr id="194" name="Google Shape;194;p1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5" name="Google Shape;195;p10"/>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6" name="Google Shape;196;p10"/>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7" name="Google Shape;197;p10"/>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8" name="Google Shape;198;p10"/>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2500"/>
              <a:buFont typeface="Play"/>
              <a:buNone/>
            </a:pPr>
            <a:r>
              <a:rPr lang="sv-SE" sz="2500">
                <a:solidFill>
                  <a:srgbClr val="FFFFFF"/>
                </a:solidFill>
                <a:latin typeface="Play"/>
                <a:ea typeface="Play"/>
                <a:cs typeface="Play"/>
                <a:sym typeface="Play"/>
              </a:rPr>
              <a:t>Steg 1: Installera SQL Server (Databasmotorn)</a:t>
            </a:r>
            <a:br>
              <a:rPr lang="sv-SE" sz="2500">
                <a:solidFill>
                  <a:srgbClr val="FFFFFF"/>
                </a:solidFill>
                <a:latin typeface="Play"/>
                <a:ea typeface="Play"/>
                <a:cs typeface="Play"/>
                <a:sym typeface="Play"/>
              </a:rPr>
            </a:br>
            <a:r>
              <a:rPr lang="sv-SE" sz="2500">
                <a:solidFill>
                  <a:srgbClr val="FFFFFF"/>
                </a:solidFill>
                <a:latin typeface="Play"/>
                <a:ea typeface="Play"/>
                <a:cs typeface="Play"/>
                <a:sym typeface="Play"/>
              </a:rPr>
              <a:t>SQL Server är själva motorn som lagrar och hanterar all data.</a:t>
            </a:r>
            <a:endParaRPr/>
          </a:p>
        </p:txBody>
      </p:sp>
      <p:graphicFrame>
        <p:nvGraphicFramePr>
          <p:cNvPr id="199" name="Google Shape;199;p10"/>
          <p:cNvGraphicFramePr/>
          <p:nvPr/>
        </p:nvGraphicFramePr>
        <p:xfrm>
          <a:off x="1258" y="1576181"/>
          <a:ext cx="3000000" cy="3000000"/>
        </p:xfrm>
        <a:graphic>
          <a:graphicData uri="http://schemas.openxmlformats.org/drawingml/2006/table">
            <a:tbl>
              <a:tblPr firstRow="1" bandRow="1">
                <a:noFill/>
                <a:tableStyleId>{7C427A64-D489-4A59-8F93-1E52C87C3D23}</a:tableStyleId>
              </a:tblPr>
              <a:tblGrid>
                <a:gridCol w="601125">
                  <a:extLst>
                    <a:ext uri="{9D8B030D-6E8A-4147-A177-3AD203B41FA5}">
                      <a16:colId xmlns:a16="http://schemas.microsoft.com/office/drawing/2014/main" val="20000"/>
                    </a:ext>
                  </a:extLst>
                </a:gridCol>
                <a:gridCol w="2115475">
                  <a:extLst>
                    <a:ext uri="{9D8B030D-6E8A-4147-A177-3AD203B41FA5}">
                      <a16:colId xmlns:a16="http://schemas.microsoft.com/office/drawing/2014/main" val="20001"/>
                    </a:ext>
                  </a:extLst>
                </a:gridCol>
                <a:gridCol w="9459700">
                  <a:extLst>
                    <a:ext uri="{9D8B030D-6E8A-4147-A177-3AD203B41FA5}">
                      <a16:colId xmlns:a16="http://schemas.microsoft.com/office/drawing/2014/main" val="20002"/>
                    </a:ext>
                  </a:extLst>
                </a:gridCol>
              </a:tblGrid>
              <a:tr h="368975">
                <a:tc>
                  <a:txBody>
                    <a:bodyPr/>
                    <a:lstStyle/>
                    <a:p>
                      <a:pPr marL="0" marR="0" lvl="0" indent="0" algn="ctr" rtl="0">
                        <a:lnSpc>
                          <a:spcPct val="100000"/>
                        </a:lnSpc>
                        <a:spcBef>
                          <a:spcPts val="0"/>
                        </a:spcBef>
                        <a:spcAft>
                          <a:spcPts val="0"/>
                        </a:spcAft>
                        <a:buClr>
                          <a:schemeClr val="dk1"/>
                        </a:buClr>
                        <a:buSzPts val="1600"/>
                        <a:buFont typeface="Arial"/>
                        <a:buNone/>
                      </a:pPr>
                      <a:r>
                        <a:rPr lang="sv-SE" sz="1600" b="1" u="none" strike="noStrike" cap="none"/>
                        <a:t>Steg</a:t>
                      </a:r>
                      <a:endParaRPr sz="1600" b="0" u="none" strike="noStrike" cap="none">
                        <a:latin typeface="Arial"/>
                        <a:ea typeface="Arial"/>
                        <a:cs typeface="Arial"/>
                        <a:sym typeface="Arial"/>
                      </a:endParaRPr>
                    </a:p>
                  </a:txBody>
                  <a:tcPr marL="63825" marR="106375" marT="66475" marB="66475" anchor="ctr"/>
                </a:tc>
                <a:tc>
                  <a:txBody>
                    <a:bodyPr/>
                    <a:lstStyle/>
                    <a:p>
                      <a:pPr marL="0" marR="0" lvl="0" indent="0" algn="ctr" rtl="0">
                        <a:lnSpc>
                          <a:spcPct val="100000"/>
                        </a:lnSpc>
                        <a:spcBef>
                          <a:spcPts val="0"/>
                        </a:spcBef>
                        <a:spcAft>
                          <a:spcPts val="0"/>
                        </a:spcAft>
                        <a:buClr>
                          <a:schemeClr val="dk1"/>
                        </a:buClr>
                        <a:buSzPts val="1600"/>
                        <a:buFont typeface="Arial"/>
                        <a:buNone/>
                      </a:pPr>
                      <a:r>
                        <a:rPr lang="sv-SE" sz="1600" b="1" u="none" strike="noStrike" cap="none"/>
                        <a:t>Vad ska du göra?</a:t>
                      </a:r>
                      <a:endParaRPr sz="1600" b="0" u="none" strike="noStrike" cap="none">
                        <a:latin typeface="Arial"/>
                        <a:ea typeface="Arial"/>
                        <a:cs typeface="Arial"/>
                        <a:sym typeface="Arial"/>
                      </a:endParaRPr>
                    </a:p>
                  </a:txBody>
                  <a:tcPr marL="106375" marR="106375" marT="66475" marB="66475" anchor="ctr"/>
                </a:tc>
                <a:tc>
                  <a:txBody>
                    <a:bodyPr/>
                    <a:lstStyle/>
                    <a:p>
                      <a:pPr marL="0" marR="0" lvl="0" indent="0" algn="ctr" rtl="0">
                        <a:lnSpc>
                          <a:spcPct val="100000"/>
                        </a:lnSpc>
                        <a:spcBef>
                          <a:spcPts val="0"/>
                        </a:spcBef>
                        <a:spcAft>
                          <a:spcPts val="0"/>
                        </a:spcAft>
                        <a:buClr>
                          <a:schemeClr val="dk1"/>
                        </a:buClr>
                        <a:buSzPts val="1600"/>
                        <a:buFont typeface="Arial"/>
                        <a:buNone/>
                      </a:pPr>
                      <a:r>
                        <a:rPr lang="sv-SE" sz="1600" b="1" u="none" strike="noStrike" cap="none"/>
                        <a:t>Instruktioner (anpassat för nybörjare)</a:t>
                      </a:r>
                      <a:endParaRPr sz="1600" b="0" u="none" strike="noStrike" cap="none">
                        <a:latin typeface="Arial"/>
                        <a:ea typeface="Arial"/>
                        <a:cs typeface="Arial"/>
                        <a:sym typeface="Arial"/>
                      </a:endParaRPr>
                    </a:p>
                  </a:txBody>
                  <a:tcPr marL="106375" marR="106375" marT="66475" marB="66475" anchor="ctr"/>
                </a:tc>
                <a:extLst>
                  <a:ext uri="{0D108BD9-81ED-4DB2-BD59-A6C34878D82A}">
                    <a16:rowId xmlns:a16="http://schemas.microsoft.com/office/drawing/2014/main" val="10000"/>
                  </a:ext>
                </a:extLst>
              </a:tr>
              <a:tr h="617500">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1</a:t>
                      </a:r>
                      <a:endParaRPr sz="1400" b="0" u="none" strike="noStrike" cap="none">
                        <a:latin typeface="Arial"/>
                        <a:ea typeface="Arial"/>
                        <a:cs typeface="Arial"/>
                        <a:sym typeface="Arial"/>
                      </a:endParaRPr>
                    </a:p>
                  </a:txBody>
                  <a:tcPr marL="63825" marR="106375" marT="66475" marB="66475" anchor="ctr"/>
                </a:tc>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Ladda ner installationsfilen</a:t>
                      </a:r>
                      <a:endParaRPr sz="1400" b="0" u="none" strike="noStrike" cap="none">
                        <a:latin typeface="Arial"/>
                        <a:ea typeface="Arial"/>
                        <a:cs typeface="Arial"/>
                        <a:sym typeface="Arial"/>
                      </a:endParaRPr>
                    </a:p>
                  </a:txBody>
                  <a:tcPr marL="106375" marR="106375" marT="66475" marB="66475" anchor="ct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t>Gå till </a:t>
                      </a:r>
                      <a:r>
                        <a:rPr lang="sv-SE" sz="1400" b="0" u="sng" strike="noStrike" cap="none">
                          <a:solidFill>
                            <a:srgbClr val="3964FE"/>
                          </a:solidFill>
                          <a:hlinkClick r:id="rId3">
                            <a:extLst>
                              <a:ext uri="{A12FA001-AC4F-418D-AE19-62706E023703}">
                                <ahyp:hlinkClr xmlns:ahyp="http://schemas.microsoft.com/office/drawing/2018/hyperlinkcolor" val="tx"/>
                              </a:ext>
                            </a:extLst>
                          </a:hlinkClick>
                        </a:rPr>
                        <a:t>Microsofts officiella sida för SQL Server</a:t>
                      </a:r>
                      <a:r>
                        <a:rPr lang="sv-SE" sz="1400" b="0" u="none" strike="noStrike" cap="none"/>
                        <a:t>. Klicka på knappen </a:t>
                      </a:r>
                      <a:r>
                        <a:rPr lang="sv-SE" sz="1400" b="1" u="none" strike="noStrike" cap="none"/>
                        <a:t>"Ladda ner nu"</a:t>
                      </a:r>
                      <a:r>
                        <a:rPr lang="sv-SE" sz="1400" b="0" u="none" strike="noStrike" cap="none"/>
                        <a:t> för </a:t>
                      </a:r>
                      <a:r>
                        <a:rPr lang="sv-SE" sz="1400" b="1" u="none" strike="noStrike" cap="none"/>
                        <a:t>SQL Server 2022 Developer</a:t>
                      </a:r>
                      <a:r>
                        <a:rPr lang="sv-SE" sz="1400" b="0" u="none" strike="noStrike" cap="none"/>
                        <a:t>. Developer-versionen är </a:t>
                      </a:r>
                      <a:r>
                        <a:rPr lang="sv-SE" sz="1400" b="1" u="none" strike="noStrike" cap="none"/>
                        <a:t>helt gratis</a:t>
                      </a:r>
                      <a:r>
                        <a:rPr lang="sv-SE" sz="1400" b="0" u="none" strike="noStrike" cap="none"/>
                        <a:t> för utveckling och testning.</a:t>
                      </a:r>
                      <a:endParaRPr sz="1400" b="0" u="none" strike="noStrike" cap="none">
                        <a:latin typeface="Arial"/>
                        <a:ea typeface="Arial"/>
                        <a:cs typeface="Arial"/>
                        <a:sym typeface="Arial"/>
                      </a:endParaRPr>
                    </a:p>
                  </a:txBody>
                  <a:tcPr marL="106375" marR="106375" marT="66475" marB="66475" anchor="ctr"/>
                </a:tc>
                <a:extLst>
                  <a:ext uri="{0D108BD9-81ED-4DB2-BD59-A6C34878D82A}">
                    <a16:rowId xmlns:a16="http://schemas.microsoft.com/office/drawing/2014/main" val="10001"/>
                  </a:ext>
                </a:extLst>
              </a:tr>
              <a:tr h="594900">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2</a:t>
                      </a:r>
                      <a:endParaRPr sz="1400" b="0" u="none" strike="noStrike" cap="none">
                        <a:latin typeface="Arial"/>
                        <a:ea typeface="Arial"/>
                        <a:cs typeface="Arial"/>
                        <a:sym typeface="Arial"/>
                      </a:endParaRPr>
                    </a:p>
                  </a:txBody>
                  <a:tcPr marL="63825" marR="106375" marT="66475" marB="66475" anchor="ctr"/>
                </a:tc>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Starta installationen</a:t>
                      </a:r>
                      <a:endParaRPr sz="1400" b="0" u="none" strike="noStrike" cap="none">
                        <a:latin typeface="Arial"/>
                        <a:ea typeface="Arial"/>
                        <a:cs typeface="Arial"/>
                        <a:sym typeface="Arial"/>
                      </a:endParaRPr>
                    </a:p>
                  </a:txBody>
                  <a:tcPr marL="106375" marR="106375" marT="66475" marB="66475" anchor="ct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t>Öppna den nedladdade filen (den heter något i stil med SQL2022-SSEI-Dev.exe). Välj installationsläget </a:t>
                      </a:r>
                      <a:r>
                        <a:rPr lang="sv-SE" sz="1400" b="1" u="none" strike="noStrike" cap="none"/>
                        <a:t>"Grundläggande"</a:t>
                      </a:r>
                      <a:r>
                        <a:rPr lang="sv-SE" sz="1400" b="0" u="none" strike="noStrike" cap="none"/>
                        <a:t> (Basic). Detta är enklast för nybörjare och kräver minst antal val.</a:t>
                      </a:r>
                      <a:endParaRPr sz="1400" b="0" u="none" strike="noStrike" cap="none">
                        <a:latin typeface="Arial"/>
                        <a:ea typeface="Arial"/>
                        <a:cs typeface="Arial"/>
                        <a:sym typeface="Arial"/>
                      </a:endParaRPr>
                    </a:p>
                  </a:txBody>
                  <a:tcPr marL="106375" marR="106375" marT="66475" marB="66475" anchor="ctr"/>
                </a:tc>
                <a:extLst>
                  <a:ext uri="{0D108BD9-81ED-4DB2-BD59-A6C34878D82A}">
                    <a16:rowId xmlns:a16="http://schemas.microsoft.com/office/drawing/2014/main" val="10002"/>
                  </a:ext>
                </a:extLst>
              </a:tr>
              <a:tr h="594900">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3</a:t>
                      </a:r>
                      <a:endParaRPr sz="1400" b="0" u="none" strike="noStrike" cap="none">
                        <a:latin typeface="Arial"/>
                        <a:ea typeface="Arial"/>
                        <a:cs typeface="Arial"/>
                        <a:sym typeface="Arial"/>
                      </a:endParaRPr>
                    </a:p>
                  </a:txBody>
                  <a:tcPr marL="63825" marR="106375" marT="66475" marB="66475" anchor="ctr"/>
                </a:tc>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Godkänn licensvillkoren</a:t>
                      </a:r>
                      <a:endParaRPr sz="1400" b="0" u="none" strike="noStrike" cap="none">
                        <a:latin typeface="Arial"/>
                        <a:ea typeface="Arial"/>
                        <a:cs typeface="Arial"/>
                        <a:sym typeface="Arial"/>
                      </a:endParaRPr>
                    </a:p>
                  </a:txBody>
                  <a:tcPr marL="106375" marR="106375" marT="66475" marB="66475" anchor="ct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t>Läs igenom och klicka på </a:t>
                      </a:r>
                      <a:r>
                        <a:rPr lang="sv-SE" sz="1400" b="1" u="none" strike="noStrike" cap="none"/>
                        <a:t>"Acceptera"</a:t>
                      </a:r>
                      <a:r>
                        <a:rPr lang="sv-SE" sz="1400" b="0" u="none" strike="noStrike" cap="none"/>
                        <a:t> för att godkänna licensvillkoren.</a:t>
                      </a:r>
                      <a:endParaRPr sz="1400" b="0" u="none" strike="noStrike" cap="none">
                        <a:latin typeface="Arial"/>
                        <a:ea typeface="Arial"/>
                        <a:cs typeface="Arial"/>
                        <a:sym typeface="Arial"/>
                      </a:endParaRPr>
                    </a:p>
                  </a:txBody>
                  <a:tcPr marL="106375" marR="106375" marT="66475" marB="66475" anchor="ctr"/>
                </a:tc>
                <a:extLst>
                  <a:ext uri="{0D108BD9-81ED-4DB2-BD59-A6C34878D82A}">
                    <a16:rowId xmlns:a16="http://schemas.microsoft.com/office/drawing/2014/main" val="10003"/>
                  </a:ext>
                </a:extLst>
              </a:tr>
              <a:tr h="594900">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4</a:t>
                      </a:r>
                      <a:endParaRPr sz="1400" b="0" u="none" strike="noStrike" cap="none">
                        <a:latin typeface="Arial"/>
                        <a:ea typeface="Arial"/>
                        <a:cs typeface="Arial"/>
                        <a:sym typeface="Arial"/>
                      </a:endParaRPr>
                    </a:p>
                  </a:txBody>
                  <a:tcPr marL="63825" marR="106375" marT="66475" marB="66475" anchor="ctr"/>
                </a:tc>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Välj installationsplats</a:t>
                      </a:r>
                      <a:endParaRPr sz="1400" b="0" u="none" strike="noStrike" cap="none">
                        <a:latin typeface="Arial"/>
                        <a:ea typeface="Arial"/>
                        <a:cs typeface="Arial"/>
                        <a:sym typeface="Arial"/>
                      </a:endParaRPr>
                    </a:p>
                  </a:txBody>
                  <a:tcPr marL="106375" marR="106375" marT="66475" marB="66475" anchor="ct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t>Välj var på datorn SQL Server ska installeras. Standardinställningen (C:\Program Files\Microsoft SQL Server\) är oftast bäst för nybörjare.</a:t>
                      </a:r>
                      <a:endParaRPr sz="1400" b="0" u="none" strike="noStrike" cap="none">
                        <a:latin typeface="Arial"/>
                        <a:ea typeface="Arial"/>
                        <a:cs typeface="Arial"/>
                        <a:sym typeface="Arial"/>
                      </a:endParaRPr>
                    </a:p>
                  </a:txBody>
                  <a:tcPr marL="106375" marR="106375" marT="66475" marB="66475" anchor="ctr"/>
                </a:tc>
                <a:extLst>
                  <a:ext uri="{0D108BD9-81ED-4DB2-BD59-A6C34878D82A}">
                    <a16:rowId xmlns:a16="http://schemas.microsoft.com/office/drawing/2014/main" val="10004"/>
                  </a:ext>
                </a:extLst>
              </a:tr>
              <a:tr h="368975">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5</a:t>
                      </a:r>
                      <a:endParaRPr sz="1400" b="0" u="none" strike="noStrike" cap="none">
                        <a:latin typeface="Arial"/>
                        <a:ea typeface="Arial"/>
                        <a:cs typeface="Arial"/>
                        <a:sym typeface="Arial"/>
                      </a:endParaRPr>
                    </a:p>
                  </a:txBody>
                  <a:tcPr marL="63825" marR="106375" marT="66475" marB="66475" anchor="ctr"/>
                </a:tc>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Installera</a:t>
                      </a:r>
                      <a:endParaRPr sz="1400" b="0" u="none" strike="noStrike" cap="none">
                        <a:latin typeface="Arial"/>
                        <a:ea typeface="Arial"/>
                        <a:cs typeface="Arial"/>
                        <a:sym typeface="Arial"/>
                      </a:endParaRPr>
                    </a:p>
                  </a:txBody>
                  <a:tcPr marL="106375" marR="106375" marT="66475" marB="66475" anchor="ct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t>Klicka på knappen </a:t>
                      </a:r>
                      <a:r>
                        <a:rPr lang="sv-SE" sz="1400" b="1" u="none" strike="noStrike" cap="none"/>
                        <a:t>"Installera"</a:t>
                      </a:r>
                      <a:r>
                        <a:rPr lang="sv-SE" sz="1400" b="0" u="none" strike="noStrike" cap="none"/>
                        <a:t>. Installationen tar några minuter. Du ser en grön förloppsindikator.</a:t>
                      </a:r>
                      <a:endParaRPr sz="1400" b="0" u="none" strike="noStrike" cap="none">
                        <a:latin typeface="Arial"/>
                        <a:ea typeface="Arial"/>
                        <a:cs typeface="Arial"/>
                        <a:sym typeface="Arial"/>
                      </a:endParaRPr>
                    </a:p>
                  </a:txBody>
                  <a:tcPr marL="106375" marR="106375" marT="66475" marB="66475" anchor="ctr"/>
                </a:tc>
                <a:extLst>
                  <a:ext uri="{0D108BD9-81ED-4DB2-BD59-A6C34878D82A}">
                    <a16:rowId xmlns:a16="http://schemas.microsoft.com/office/drawing/2014/main" val="10005"/>
                  </a:ext>
                </a:extLst>
              </a:tr>
              <a:tr h="1754575">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6</a:t>
                      </a:r>
                      <a:endParaRPr sz="1400" b="0" u="none" strike="noStrike" cap="none">
                        <a:latin typeface="Arial"/>
                        <a:ea typeface="Arial"/>
                        <a:cs typeface="Arial"/>
                        <a:sym typeface="Arial"/>
                      </a:endParaRPr>
                    </a:p>
                  </a:txBody>
                  <a:tcPr marL="63825" marR="106375" marT="66475" marB="66475" anchor="ctr"/>
                </a:tc>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Notera servernamnet!</a:t>
                      </a:r>
                      <a:endParaRPr sz="1400" b="0" u="none" strike="noStrike" cap="none">
                        <a:latin typeface="Arial"/>
                        <a:ea typeface="Arial"/>
                        <a:cs typeface="Arial"/>
                        <a:sym typeface="Arial"/>
                      </a:endParaRPr>
                    </a:p>
                  </a:txBody>
                  <a:tcPr marL="106375" marR="106375" marT="66475" marB="66475" anchor="ct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t>När installationen är klar visas ett fönster med information. </a:t>
                      </a:r>
                      <a:r>
                        <a:rPr lang="sv-SE" sz="1400" b="1" u="none" strike="noStrike" cap="none"/>
                        <a:t>Det viktigaste här är servernamnet</a:t>
                      </a:r>
                      <a:r>
                        <a:rPr lang="sv-SE" sz="1400" b="0" u="none" strike="noStrike" cap="none"/>
                        <a:t>. Det ser oftast ut som din dators namn, till exempel:</a:t>
                      </a:r>
                      <a:br>
                        <a:rPr lang="sv-SE" sz="1400" b="0" u="none" strike="noStrike" cap="none"/>
                      </a:br>
                      <a:r>
                        <a:rPr lang="sv-SE" sz="1400" b="0" u="none" strike="noStrike" cap="none"/>
                        <a:t>•</a:t>
                      </a:r>
                      <a:r>
                        <a:rPr lang="sv-SE" sz="1800" b="0" u="none" strike="noStrike" cap="none"/>
                        <a:t> </a:t>
                      </a:r>
                      <a:r>
                        <a:rPr lang="sv-SE" sz="1800" b="1" u="none" strike="noStrike" cap="none">
                          <a:highlight>
                            <a:srgbClr val="FF0000"/>
                          </a:highlight>
                        </a:rPr>
                        <a:t>localhost</a:t>
                      </a:r>
                      <a:br>
                        <a:rPr lang="sv-SE" sz="1400" b="0" u="none" strike="noStrike" cap="none"/>
                      </a:br>
                      <a:r>
                        <a:rPr lang="sv-SE" sz="1400" b="0" u="none" strike="noStrike" cap="none"/>
                        <a:t>• DESKTOP-ABC123</a:t>
                      </a:r>
                      <a:br>
                        <a:rPr lang="sv-SE" sz="1400" b="0" u="none" strike="noStrike" cap="none"/>
                      </a:br>
                      <a:r>
                        <a:rPr lang="sv-SE" sz="1400" b="0" u="none" strike="noStrike" cap="none"/>
                        <a:t>• (localdb)\MSSQLLocalDB (om du valde LocalDB)</a:t>
                      </a:r>
                      <a:br>
                        <a:rPr lang="sv-SE" sz="1400" b="0" u="none" strike="noStrike" cap="none"/>
                      </a:br>
                      <a:br>
                        <a:rPr lang="sv-SE" sz="1400" b="0" u="none" strike="noStrike" cap="none"/>
                      </a:br>
                      <a:r>
                        <a:rPr lang="sv-SE" sz="1400" b="1" u="none" strike="noStrike" cap="none"/>
                        <a:t>Spara detta namn!</a:t>
                      </a:r>
                      <a:r>
                        <a:rPr lang="sv-SE" sz="1400" b="0" u="none" strike="noStrike" cap="none"/>
                        <a:t> Du kommer att behöva det för att ansluta till databasen senare.</a:t>
                      </a:r>
                      <a:endParaRPr sz="1400" b="0" u="none" strike="noStrike" cap="none">
                        <a:latin typeface="Arial"/>
                        <a:ea typeface="Arial"/>
                        <a:cs typeface="Arial"/>
                        <a:sym typeface="Arial"/>
                      </a:endParaRPr>
                    </a:p>
                  </a:txBody>
                  <a:tcPr marL="106375" marR="106375" marT="66475" marB="66475" anchor="ctr"/>
                </a:tc>
                <a:extLst>
                  <a:ext uri="{0D108BD9-81ED-4DB2-BD59-A6C34878D82A}">
                    <a16:rowId xmlns:a16="http://schemas.microsoft.com/office/drawing/2014/main" val="10006"/>
                  </a:ext>
                </a:extLst>
              </a:tr>
              <a:tr h="368975">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7</a:t>
                      </a:r>
                      <a:endParaRPr sz="1400" b="0" u="none" strike="noStrike" cap="none">
                        <a:latin typeface="Arial"/>
                        <a:ea typeface="Arial"/>
                        <a:cs typeface="Arial"/>
                        <a:sym typeface="Arial"/>
                      </a:endParaRPr>
                    </a:p>
                  </a:txBody>
                  <a:tcPr marL="63825" marR="106375" marT="66475" marB="66475" anchor="ctr"/>
                </a:tc>
                <a:tc>
                  <a:txBody>
                    <a:bodyPr/>
                    <a:lstStyle/>
                    <a:p>
                      <a:pPr marL="0" marR="0" lvl="0" indent="0" algn="ctr" rtl="0">
                        <a:lnSpc>
                          <a:spcPct val="100000"/>
                        </a:lnSpc>
                        <a:spcBef>
                          <a:spcPts val="0"/>
                        </a:spcBef>
                        <a:spcAft>
                          <a:spcPts val="0"/>
                        </a:spcAft>
                        <a:buClr>
                          <a:schemeClr val="dk1"/>
                        </a:buClr>
                        <a:buSzPts val="1400"/>
                        <a:buFont typeface="Arial"/>
                        <a:buNone/>
                      </a:pPr>
                      <a:r>
                        <a:rPr lang="sv-SE" sz="1400" b="1" u="none" strike="noStrike" cap="none"/>
                        <a:t>Installation klar!</a:t>
                      </a:r>
                      <a:endParaRPr sz="1400" b="0" u="none" strike="noStrike" cap="none">
                        <a:latin typeface="Arial"/>
                        <a:ea typeface="Arial"/>
                        <a:cs typeface="Arial"/>
                        <a:sym typeface="Arial"/>
                      </a:endParaRPr>
                    </a:p>
                  </a:txBody>
                  <a:tcPr marL="106375" marR="106375" marT="66475" marB="66475" anchor="ct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t>Klicka på </a:t>
                      </a:r>
                      <a:r>
                        <a:rPr lang="sv-SE" sz="1400" b="1" u="none" strike="noStrike" cap="none"/>
                        <a:t>"Stäng"</a:t>
                      </a:r>
                      <a:r>
                        <a:rPr lang="sv-SE" sz="1400" b="0" u="none" strike="noStrike" cap="none"/>
                        <a:t> (Close). SQL Server är nu installerat och körs som en tjänst i bakgrunden.</a:t>
                      </a:r>
                      <a:endParaRPr sz="1400" b="0" u="none" strike="noStrike" cap="none">
                        <a:latin typeface="Arial"/>
                        <a:ea typeface="Arial"/>
                        <a:cs typeface="Arial"/>
                        <a:sym typeface="Arial"/>
                      </a:endParaRPr>
                    </a:p>
                  </a:txBody>
                  <a:tcPr marL="106375" marR="106375" marT="66475" marB="66475"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3"/>
        <p:cNvGrpSpPr/>
        <p:nvPr/>
      </p:nvGrpSpPr>
      <p:grpSpPr>
        <a:xfrm>
          <a:off x="0" y="0"/>
          <a:ext cx="0" cy="0"/>
          <a:chOff x="0" y="0"/>
          <a:chExt cx="0" cy="0"/>
        </a:xfrm>
      </p:grpSpPr>
      <p:sp>
        <p:nvSpPr>
          <p:cNvPr id="204" name="Google Shape;204;p11"/>
          <p:cNvSpPr/>
          <p:nvPr/>
        </p:nvSpPr>
        <p:spPr>
          <a:xfrm>
            <a:off x="0" y="0"/>
            <a:ext cx="1218894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5" name="Google Shape;205;p11"/>
          <p:cNvSpPr/>
          <p:nvPr/>
        </p:nvSpPr>
        <p:spPr>
          <a:xfrm>
            <a:off x="0" y="0"/>
            <a:ext cx="12188949"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206" name="Google Shape;206;p11"/>
          <p:cNvGrpSpPr/>
          <p:nvPr/>
        </p:nvGrpSpPr>
        <p:grpSpPr>
          <a:xfrm>
            <a:off x="0" y="0"/>
            <a:ext cx="6064235" cy="6858000"/>
            <a:chOff x="651279" y="598259"/>
            <a:chExt cx="10889442" cy="5680742"/>
          </a:xfrm>
        </p:grpSpPr>
        <p:sp>
          <p:nvSpPr>
            <p:cNvPr id="207" name="Google Shape;207;p11"/>
            <p:cNvSpPr/>
            <p:nvPr/>
          </p:nvSpPr>
          <p:spPr>
            <a:xfrm>
              <a:off x="651279" y="598259"/>
              <a:ext cx="10889442" cy="56807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8" name="Google Shape;208;p11"/>
            <p:cNvSpPr/>
            <p:nvPr/>
          </p:nvSpPr>
          <p:spPr>
            <a:xfrm>
              <a:off x="651279" y="598259"/>
              <a:ext cx="10889442" cy="5680742"/>
            </a:xfrm>
            <a:prstGeom prst="rect">
              <a:avLst/>
            </a:prstGeom>
            <a:solidFill>
              <a:schemeClr val="accent6">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209" name="Google Shape;209;p11"/>
          <p:cNvGrpSpPr/>
          <p:nvPr/>
        </p:nvGrpSpPr>
        <p:grpSpPr>
          <a:xfrm>
            <a:off x="1524" y="0"/>
            <a:ext cx="12188952" cy="6858000"/>
            <a:chOff x="0" y="0"/>
            <a:chExt cx="12188952" cy="6858000"/>
          </a:xfrm>
        </p:grpSpPr>
        <p:sp>
          <p:nvSpPr>
            <p:cNvPr id="210" name="Google Shape;210;p11"/>
            <p:cNvSpPr/>
            <p:nvPr/>
          </p:nvSpPr>
          <p:spPr>
            <a:xfrm>
              <a:off x="26122" y="6015669"/>
              <a:ext cx="2605762" cy="842331"/>
            </a:xfrm>
            <a:custGeom>
              <a:avLst/>
              <a:gdLst/>
              <a:ahLst/>
              <a:cxnLst/>
              <a:rect l="l" t="t" r="r" b="b"/>
              <a:pathLst>
                <a:path w="3180577" h="1033951" extrusionOk="0">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lt1">
                <a:alpha val="1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11" name="Google Shape;211;p11"/>
            <p:cNvSpPr/>
            <p:nvPr/>
          </p:nvSpPr>
          <p:spPr>
            <a:xfrm>
              <a:off x="655184" y="5798001"/>
              <a:ext cx="2485581" cy="1059999"/>
            </a:xfrm>
            <a:custGeom>
              <a:avLst/>
              <a:gdLst/>
              <a:ahLst/>
              <a:cxnLst/>
              <a:rect l="l" t="t" r="r" b="b"/>
              <a:pathLst>
                <a:path w="2449768" h="1050628" extrusionOk="0">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l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12" name="Google Shape;212;p11"/>
            <p:cNvSpPr/>
            <p:nvPr/>
          </p:nvSpPr>
          <p:spPr>
            <a:xfrm>
              <a:off x="3474720" y="0"/>
              <a:ext cx="6177282" cy="1778750"/>
            </a:xfrm>
            <a:custGeom>
              <a:avLst/>
              <a:gdLst/>
              <a:ahLst/>
              <a:cxnLst/>
              <a:rect l="l" t="t" r="r" b="b"/>
              <a:pathLst>
                <a:path w="6386648" h="1849426" extrusionOk="0">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lt1">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13" name="Google Shape;213;p11"/>
            <p:cNvSpPr/>
            <p:nvPr/>
          </p:nvSpPr>
          <p:spPr>
            <a:xfrm>
              <a:off x="0" y="2390523"/>
              <a:ext cx="611491" cy="1421482"/>
            </a:xfrm>
            <a:custGeom>
              <a:avLst/>
              <a:gdLst/>
              <a:ahLst/>
              <a:cxnLst/>
              <a:rect l="l" t="t" r="r" b="b"/>
              <a:pathLst>
                <a:path w="611491" h="1429512" extrusionOk="0">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14" name="Google Shape;214;p11"/>
            <p:cNvSpPr/>
            <p:nvPr/>
          </p:nvSpPr>
          <p:spPr>
            <a:xfrm>
              <a:off x="3792772" y="0"/>
              <a:ext cx="2423863" cy="1343767"/>
            </a:xfrm>
            <a:custGeom>
              <a:avLst/>
              <a:gdLst/>
              <a:ahLst/>
              <a:cxnLst/>
              <a:rect l="l" t="t" r="r" b="b"/>
              <a:pathLst>
                <a:path w="3015964" h="1681468" extrusionOk="0">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lt1">
                <a:alpha val="1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15" name="Google Shape;215;p11"/>
            <p:cNvSpPr/>
            <p:nvPr/>
          </p:nvSpPr>
          <p:spPr>
            <a:xfrm>
              <a:off x="10946850" y="0"/>
              <a:ext cx="1242102" cy="2620884"/>
            </a:xfrm>
            <a:custGeom>
              <a:avLst/>
              <a:gdLst/>
              <a:ahLst/>
              <a:cxnLst/>
              <a:rect l="l" t="t" r="r" b="b"/>
              <a:pathLst>
                <a:path w="1242102" h="2635689" extrusionOk="0">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lt1">
                <a:alpha val="1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16" name="Google Shape;216;p11"/>
            <p:cNvSpPr/>
            <p:nvPr/>
          </p:nvSpPr>
          <p:spPr>
            <a:xfrm>
              <a:off x="0" y="0"/>
              <a:ext cx="1577788" cy="980141"/>
            </a:xfrm>
            <a:custGeom>
              <a:avLst/>
              <a:gdLst/>
              <a:ahLst/>
              <a:cxnLst/>
              <a:rect l="l" t="t" r="r" b="b"/>
              <a:pathLst>
                <a:path w="1471018" h="795676" extrusionOk="0">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217" name="Google Shape;217;p11"/>
          <p:cNvSpPr txBox="1">
            <a:spLocks noGrp="1"/>
          </p:cNvSpPr>
          <p:nvPr>
            <p:ph type="title"/>
          </p:nvPr>
        </p:nvSpPr>
        <p:spPr>
          <a:xfrm>
            <a:off x="786385" y="841248"/>
            <a:ext cx="5129600" cy="534009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800"/>
              <a:buFont typeface="Play"/>
              <a:buNone/>
            </a:pPr>
            <a:r>
              <a:rPr lang="sv-SE" sz="4800">
                <a:solidFill>
                  <a:schemeClr val="lt1"/>
                </a:solidFill>
              </a:rPr>
              <a:t>Steg 2: Installera SSMS (SQL Server Management Studio).</a:t>
            </a:r>
            <a:endParaRPr sz="4800">
              <a:solidFill>
                <a:schemeClr val="lt1"/>
              </a:solidFill>
            </a:endParaRPr>
          </a:p>
        </p:txBody>
      </p:sp>
      <p:sp>
        <p:nvSpPr>
          <p:cNvPr id="218" name="Google Shape;218;p11"/>
          <p:cNvSpPr txBox="1">
            <a:spLocks noGrp="1"/>
          </p:cNvSpPr>
          <p:nvPr>
            <p:ph type="body" idx="1"/>
          </p:nvPr>
        </p:nvSpPr>
        <p:spPr>
          <a:xfrm>
            <a:off x="6464410" y="841247"/>
            <a:ext cx="4484536" cy="5340097"/>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2"/>
              </a:buClr>
              <a:buSzPts val="1800"/>
              <a:buChar char="•"/>
            </a:pPr>
            <a:r>
              <a:rPr lang="sv-SE" sz="1800">
                <a:solidFill>
                  <a:schemeClr val="dk2"/>
                </a:solidFill>
              </a:rPr>
              <a:t>SSMS är kontrollpanelen eller verktyget för att prata med din databas.</a:t>
            </a:r>
            <a:endParaRPr sz="1800">
              <a:solidFill>
                <a:schemeClr val="dk2"/>
              </a:solidFill>
            </a:endParaRPr>
          </a:p>
          <a:p>
            <a:pPr marL="0" lvl="0" indent="0" algn="l" rtl="0">
              <a:lnSpc>
                <a:spcPct val="90000"/>
              </a:lnSpc>
              <a:spcBef>
                <a:spcPts val="1000"/>
              </a:spcBef>
              <a:spcAft>
                <a:spcPts val="0"/>
              </a:spcAft>
              <a:buClr>
                <a:schemeClr val="dk2"/>
              </a:buClr>
              <a:buSzPts val="1800"/>
              <a:buNone/>
            </a:pPr>
            <a:r>
              <a:rPr lang="sv-SE" sz="1800">
                <a:solidFill>
                  <a:schemeClr val="dk2"/>
                </a:solidFill>
                <a:highlight>
                  <a:srgbClr val="FFFFFF"/>
                </a:highlight>
              </a:rPr>
              <a:t>Med SSMS får du ett grafiskt fönster där du kan:</a:t>
            </a:r>
            <a:endParaRPr sz="1800">
              <a:solidFill>
                <a:schemeClr val="dk2"/>
              </a:solidFill>
            </a:endParaRPr>
          </a:p>
          <a:p>
            <a:pPr marL="228600" lvl="0" indent="-228600" algn="l" rtl="0">
              <a:lnSpc>
                <a:spcPct val="90000"/>
              </a:lnSpc>
              <a:spcBef>
                <a:spcPts val="1000"/>
              </a:spcBef>
              <a:spcAft>
                <a:spcPts val="0"/>
              </a:spcAft>
              <a:buClr>
                <a:schemeClr val="dk2"/>
              </a:buClr>
              <a:buSzPts val="1800"/>
              <a:buChar char="•"/>
            </a:pPr>
            <a:r>
              <a:rPr lang="sv-SE" sz="1800">
                <a:solidFill>
                  <a:schemeClr val="dk2"/>
                </a:solidFill>
                <a:highlight>
                  <a:srgbClr val="FFFFFF"/>
                </a:highlight>
              </a:rPr>
              <a:t>Skapa nya databaser</a:t>
            </a:r>
            <a:endParaRPr sz="1800">
              <a:solidFill>
                <a:schemeClr val="dk2"/>
              </a:solidFill>
            </a:endParaRPr>
          </a:p>
          <a:p>
            <a:pPr marL="228600" lvl="0" indent="-228600" algn="l" rtl="0">
              <a:lnSpc>
                <a:spcPct val="90000"/>
              </a:lnSpc>
              <a:spcBef>
                <a:spcPts val="1000"/>
              </a:spcBef>
              <a:spcAft>
                <a:spcPts val="0"/>
              </a:spcAft>
              <a:buClr>
                <a:schemeClr val="dk2"/>
              </a:buClr>
              <a:buSzPts val="1800"/>
              <a:buChar char="•"/>
            </a:pPr>
            <a:r>
              <a:rPr lang="sv-SE" sz="1800">
                <a:solidFill>
                  <a:schemeClr val="dk2"/>
                </a:solidFill>
                <a:highlight>
                  <a:srgbClr val="FFFFFF"/>
                </a:highlight>
              </a:rPr>
              <a:t>Bygga tabeller (som Excel-ark)</a:t>
            </a:r>
            <a:endParaRPr sz="1800">
              <a:solidFill>
                <a:schemeClr val="dk2"/>
              </a:solidFill>
            </a:endParaRPr>
          </a:p>
          <a:p>
            <a:pPr marL="228600" lvl="0" indent="-228600" algn="l" rtl="0">
              <a:lnSpc>
                <a:spcPct val="90000"/>
              </a:lnSpc>
              <a:spcBef>
                <a:spcPts val="1000"/>
              </a:spcBef>
              <a:spcAft>
                <a:spcPts val="0"/>
              </a:spcAft>
              <a:buClr>
                <a:schemeClr val="dk2"/>
              </a:buClr>
              <a:buSzPts val="1800"/>
              <a:buChar char="•"/>
            </a:pPr>
            <a:r>
              <a:rPr lang="sv-SE" sz="1800">
                <a:solidFill>
                  <a:schemeClr val="dk2"/>
                </a:solidFill>
                <a:highlight>
                  <a:srgbClr val="FFFFFF"/>
                </a:highlight>
              </a:rPr>
              <a:t>Skriva och köra frågor</a:t>
            </a:r>
            <a:endParaRPr sz="1800">
              <a:solidFill>
                <a:schemeClr val="dk2"/>
              </a:solidFill>
            </a:endParaRPr>
          </a:p>
          <a:p>
            <a:pPr marL="228600" lvl="0" indent="-228600" algn="l" rtl="0">
              <a:lnSpc>
                <a:spcPct val="90000"/>
              </a:lnSpc>
              <a:spcBef>
                <a:spcPts val="1000"/>
              </a:spcBef>
              <a:spcAft>
                <a:spcPts val="0"/>
              </a:spcAft>
              <a:buClr>
                <a:schemeClr val="dk2"/>
              </a:buClr>
              <a:buSzPts val="1800"/>
              <a:buChar char="•"/>
            </a:pPr>
            <a:r>
              <a:rPr lang="sv-SE" sz="1800">
                <a:solidFill>
                  <a:schemeClr val="dk2"/>
                </a:solidFill>
                <a:highlight>
                  <a:srgbClr val="FFFFFF"/>
                </a:highlight>
              </a:rPr>
              <a:t>Se och redigera data</a:t>
            </a:r>
            <a:endParaRPr sz="1800">
              <a:solidFill>
                <a:schemeClr val="dk2"/>
              </a:solidFill>
            </a:endParaRPr>
          </a:p>
          <a:p>
            <a:pPr marL="228600" lvl="0" indent="-228600" algn="l" rtl="0">
              <a:lnSpc>
                <a:spcPct val="90000"/>
              </a:lnSpc>
              <a:spcBef>
                <a:spcPts val="1000"/>
              </a:spcBef>
              <a:spcAft>
                <a:spcPts val="0"/>
              </a:spcAft>
              <a:buClr>
                <a:schemeClr val="dk2"/>
              </a:buClr>
              <a:buSzPts val="1800"/>
              <a:buChar char="•"/>
            </a:pPr>
            <a:r>
              <a:rPr lang="sv-SE" sz="1800">
                <a:solidFill>
                  <a:schemeClr val="dk2"/>
                </a:solidFill>
                <a:highlight>
                  <a:srgbClr val="FFFFFF"/>
                </a:highlight>
              </a:rPr>
              <a:t>Hantera säkerhet och användare</a:t>
            </a:r>
            <a:endParaRPr sz="1800">
              <a:solidFill>
                <a:schemeClr val="dk2"/>
              </a:solidFill>
            </a:endParaRPr>
          </a:p>
          <a:p>
            <a:pPr marL="228600" lvl="0" indent="-228600" algn="l" rtl="0">
              <a:lnSpc>
                <a:spcPct val="90000"/>
              </a:lnSpc>
              <a:spcBef>
                <a:spcPts val="1000"/>
              </a:spcBef>
              <a:spcAft>
                <a:spcPts val="0"/>
              </a:spcAft>
              <a:buClr>
                <a:schemeClr val="dk2"/>
              </a:buClr>
              <a:buSzPts val="1800"/>
              <a:buChar char="•"/>
            </a:pPr>
            <a:r>
              <a:rPr lang="sv-SE" sz="1800">
                <a:solidFill>
                  <a:schemeClr val="dk2"/>
                </a:solidFill>
              </a:rPr>
              <a:t>Vi behöver ett användarvänligt sätt att bygga vår databasstruktur. SSMS är bron mellan dig som utvecklare och den underliggande datamotorn. Utan SSMS kan vi inte skapa de tabeller som vårt nätverkssäkerhetsprojekt behöver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2"/>
        <p:cNvGrpSpPr/>
        <p:nvPr/>
      </p:nvGrpSpPr>
      <p:grpSpPr>
        <a:xfrm>
          <a:off x="0" y="0"/>
          <a:ext cx="0" cy="0"/>
          <a:chOff x="0" y="0"/>
          <a:chExt cx="0" cy="0"/>
        </a:xfrm>
      </p:grpSpPr>
      <p:sp>
        <p:nvSpPr>
          <p:cNvPr id="223" name="Google Shape;223;p1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4" name="Google Shape;224;p12"/>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5" name="Google Shape;225;p12"/>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6" name="Google Shape;226;p12"/>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7" name="Google Shape;227;p12"/>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700"/>
              <a:buFont typeface="Play"/>
              <a:buNone/>
            </a:pPr>
            <a:r>
              <a:rPr lang="sv-SE" sz="3700">
                <a:solidFill>
                  <a:srgbClr val="FFFFFF"/>
                </a:solidFill>
                <a:latin typeface="Play"/>
                <a:ea typeface="Play"/>
                <a:cs typeface="Play"/>
                <a:sym typeface="Play"/>
              </a:rPr>
              <a:t>Steg-för-steg instruktioner för SSMS-installation</a:t>
            </a:r>
            <a:endParaRPr/>
          </a:p>
        </p:txBody>
      </p:sp>
      <p:graphicFrame>
        <p:nvGraphicFramePr>
          <p:cNvPr id="228" name="Google Shape;228;p12"/>
          <p:cNvGraphicFramePr/>
          <p:nvPr/>
        </p:nvGraphicFramePr>
        <p:xfrm>
          <a:off x="-1" y="1424065"/>
          <a:ext cx="3000000" cy="3000000"/>
        </p:xfrm>
        <a:graphic>
          <a:graphicData uri="http://schemas.openxmlformats.org/drawingml/2006/table">
            <a:tbl>
              <a:tblPr firstRow="1" bandRow="1">
                <a:solidFill>
                  <a:srgbClr val="F2F2F2"/>
                </a:solidFill>
                <a:tableStyleId>{822C3B93-EF79-491A-80E4-DA79D8C4CF44}</a:tableStyleId>
              </a:tblPr>
              <a:tblGrid>
                <a:gridCol w="751700">
                  <a:extLst>
                    <a:ext uri="{9D8B030D-6E8A-4147-A177-3AD203B41FA5}">
                      <a16:colId xmlns:a16="http://schemas.microsoft.com/office/drawing/2014/main" val="20000"/>
                    </a:ext>
                  </a:extLst>
                </a:gridCol>
                <a:gridCol w="2478275">
                  <a:extLst>
                    <a:ext uri="{9D8B030D-6E8A-4147-A177-3AD203B41FA5}">
                      <a16:colId xmlns:a16="http://schemas.microsoft.com/office/drawing/2014/main" val="20001"/>
                    </a:ext>
                  </a:extLst>
                </a:gridCol>
                <a:gridCol w="8984550">
                  <a:extLst>
                    <a:ext uri="{9D8B030D-6E8A-4147-A177-3AD203B41FA5}">
                      <a16:colId xmlns:a16="http://schemas.microsoft.com/office/drawing/2014/main" val="20002"/>
                    </a:ext>
                  </a:extLst>
                </a:gridCol>
              </a:tblGrid>
              <a:tr h="469125">
                <a:tc>
                  <a:txBody>
                    <a:bodyPr/>
                    <a:lstStyle/>
                    <a:p>
                      <a:pPr marL="0" marR="0" lvl="0" indent="0" algn="ctr" rtl="0">
                        <a:lnSpc>
                          <a:spcPct val="100000"/>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Steg</a:t>
                      </a:r>
                      <a:endParaRPr/>
                    </a:p>
                  </a:txBody>
                  <a:tcPr marL="58075" marR="138275" marT="16600" marB="12445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Vad ska du göra?</a:t>
                      </a:r>
                      <a:endParaRPr/>
                    </a:p>
                  </a:txBody>
                  <a:tcPr marL="58075" marR="138275" marT="16600" marB="12445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Instruktioner (anpassat för nybörjare)</a:t>
                      </a:r>
                      <a:endParaRPr/>
                    </a:p>
                  </a:txBody>
                  <a:tcPr marL="58075" marR="138275" marT="16600" marB="12445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599875">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1</a:t>
                      </a:r>
                      <a:endParaRPr sz="1200" b="0" u="none" strike="noStrike" cap="none">
                        <a:solidFill>
                          <a:schemeClr val="dk1"/>
                        </a:solidFill>
                        <a:latin typeface="Arial"/>
                        <a:ea typeface="Arial"/>
                        <a:cs typeface="Arial"/>
                        <a:sym typeface="Arial"/>
                      </a:endParaRPr>
                    </a:p>
                  </a:txBody>
                  <a:tcPr marL="58075" marR="138275" marT="16600" marB="1244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Ladda ner installationsfilen</a:t>
                      </a:r>
                      <a:endParaRPr sz="1200" b="0" u="none" strike="noStrike" cap="none">
                        <a:solidFill>
                          <a:schemeClr val="dk1"/>
                        </a:solidFill>
                        <a:latin typeface="Arial"/>
                        <a:ea typeface="Arial"/>
                        <a:cs typeface="Arial"/>
                        <a:sym typeface="Arial"/>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Gå till </a:t>
                      </a:r>
                      <a:r>
                        <a:rPr lang="sv-SE" sz="1200" b="0" u="sng" strike="noStrike" cap="none">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Microsofts officiella sida för SSMS</a:t>
                      </a:r>
                      <a:r>
                        <a:rPr lang="sv-SE" sz="1200" b="0" u="none" strike="noStrike" cap="none">
                          <a:solidFill>
                            <a:schemeClr val="dk1"/>
                          </a:solidFill>
                          <a:latin typeface="Arial"/>
                          <a:ea typeface="Arial"/>
                          <a:cs typeface="Arial"/>
                          <a:sym typeface="Arial"/>
                        </a:rPr>
                        <a:t>. Klicka på länken för att ladda ner den senaste versionen (filen heter något i stil med SSMS-Setup-SVE.exe).</a:t>
                      </a:r>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407600">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2</a:t>
                      </a:r>
                      <a:endParaRPr sz="1200" b="0" u="none" strike="noStrike" cap="none">
                        <a:solidFill>
                          <a:schemeClr val="dk1"/>
                        </a:solidFill>
                        <a:latin typeface="Arial"/>
                        <a:ea typeface="Arial"/>
                        <a:cs typeface="Arial"/>
                        <a:sym typeface="Arial"/>
                      </a:endParaRPr>
                    </a:p>
                  </a:txBody>
                  <a:tcPr marL="58075" marR="138275" marT="16600" marB="1244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Starta installationen</a:t>
                      </a:r>
                      <a:endParaRPr sz="1200" b="0" u="none" strike="noStrike" cap="none">
                        <a:solidFill>
                          <a:schemeClr val="dk1"/>
                        </a:solidFill>
                        <a:latin typeface="Arial"/>
                        <a:ea typeface="Arial"/>
                        <a:cs typeface="Arial"/>
                        <a:sym typeface="Arial"/>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Öppna den nedladdade filen. Ett fönster med installationen startar automatiskt.</a:t>
                      </a:r>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599875">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3</a:t>
                      </a:r>
                      <a:endParaRPr sz="1200" b="0" u="none" strike="noStrike" cap="none">
                        <a:solidFill>
                          <a:schemeClr val="dk1"/>
                        </a:solidFill>
                        <a:latin typeface="Arial"/>
                        <a:ea typeface="Arial"/>
                        <a:cs typeface="Arial"/>
                        <a:sym typeface="Arial"/>
                      </a:endParaRPr>
                    </a:p>
                  </a:txBody>
                  <a:tcPr marL="58075" marR="138275" marT="16600" marB="1244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Välj installationsplats</a:t>
                      </a:r>
                      <a:endParaRPr sz="1200" b="0" u="none" strike="noStrike" cap="none">
                        <a:solidFill>
                          <a:schemeClr val="dk1"/>
                        </a:solidFill>
                        <a:latin typeface="Arial"/>
                        <a:ea typeface="Arial"/>
                        <a:cs typeface="Arial"/>
                        <a:sym typeface="Arial"/>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Du får frågan var SSMS ska installeras. Standardinställningen (C:\Program Files (x86)\Microsoft SQL Server Management Studio 19\) är oftast bäst för nybörjare. Klicka på </a:t>
                      </a:r>
                      <a:r>
                        <a:rPr lang="sv-SE" sz="1200" b="1" u="none" strike="noStrike" cap="none">
                          <a:solidFill>
                            <a:schemeClr val="dk1"/>
                          </a:solidFill>
                          <a:latin typeface="Arial"/>
                          <a:ea typeface="Arial"/>
                          <a:cs typeface="Arial"/>
                          <a:sym typeface="Arial"/>
                        </a:rPr>
                        <a:t>"Installera"</a:t>
                      </a:r>
                      <a:r>
                        <a:rPr lang="sv-SE" sz="1200" b="0" u="none" strike="noStrike" cap="none">
                          <a:solidFill>
                            <a:schemeClr val="dk1"/>
                          </a:solidFill>
                          <a:latin typeface="Arial"/>
                          <a:ea typeface="Arial"/>
                          <a:cs typeface="Arial"/>
                          <a:sym typeface="Arial"/>
                        </a:rPr>
                        <a:t>.</a:t>
                      </a:r>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r h="407600">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4</a:t>
                      </a:r>
                      <a:endParaRPr sz="1200" b="0" u="none" strike="noStrike" cap="none">
                        <a:solidFill>
                          <a:schemeClr val="dk1"/>
                        </a:solidFill>
                        <a:latin typeface="Arial"/>
                        <a:ea typeface="Arial"/>
                        <a:cs typeface="Arial"/>
                        <a:sym typeface="Arial"/>
                      </a:endParaRPr>
                    </a:p>
                  </a:txBody>
                  <a:tcPr marL="58075" marR="138275" marT="16600" marB="1244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Vänta medan installationen pågår</a:t>
                      </a:r>
                      <a:endParaRPr sz="1200" b="0" u="none" strike="noStrike" cap="none">
                        <a:solidFill>
                          <a:schemeClr val="dk1"/>
                        </a:solidFill>
                        <a:latin typeface="Arial"/>
                        <a:ea typeface="Arial"/>
                        <a:cs typeface="Arial"/>
                        <a:sym typeface="Arial"/>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Installationen tar några minuter. Du ser en förloppsindikator som visar hur långt det har kommit.</a:t>
                      </a:r>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407600">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5</a:t>
                      </a:r>
                      <a:endParaRPr sz="1200" b="0" u="none" strike="noStrike" cap="none">
                        <a:solidFill>
                          <a:schemeClr val="dk1"/>
                        </a:solidFill>
                        <a:latin typeface="Arial"/>
                        <a:ea typeface="Arial"/>
                        <a:cs typeface="Arial"/>
                        <a:sym typeface="Arial"/>
                      </a:endParaRPr>
                    </a:p>
                  </a:txBody>
                  <a:tcPr marL="58075" marR="138275" marT="16600" marB="1244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Starta om datorn (rekommenderas)</a:t>
                      </a:r>
                      <a:endParaRPr sz="1200" b="0" u="none" strike="noStrike" cap="none">
                        <a:solidFill>
                          <a:schemeClr val="dk1"/>
                        </a:solidFill>
                        <a:latin typeface="Arial"/>
                        <a:ea typeface="Arial"/>
                        <a:cs typeface="Arial"/>
                        <a:sym typeface="Arial"/>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När installationen är klar får du en fråga om att starta om datorn. </a:t>
                      </a:r>
                      <a:r>
                        <a:rPr lang="sv-SE" sz="1200" b="1" u="none" strike="noStrike" cap="none">
                          <a:solidFill>
                            <a:schemeClr val="dk1"/>
                          </a:solidFill>
                          <a:latin typeface="Arial"/>
                          <a:ea typeface="Arial"/>
                          <a:cs typeface="Arial"/>
                          <a:sym typeface="Arial"/>
                        </a:rPr>
                        <a:t>Gör det!</a:t>
                      </a:r>
                      <a:r>
                        <a:rPr lang="sv-SE" sz="1200" b="0" u="none" strike="noStrike" cap="none">
                          <a:solidFill>
                            <a:schemeClr val="dk1"/>
                          </a:solidFill>
                          <a:latin typeface="Arial"/>
                          <a:ea typeface="Arial"/>
                          <a:cs typeface="Arial"/>
                          <a:sym typeface="Arial"/>
                        </a:rPr>
                        <a:t> Det säkerställer att alla inställningar blir korrekta.</a:t>
                      </a:r>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r h="407600">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6</a:t>
                      </a:r>
                      <a:endParaRPr sz="1200" b="0" u="none" strike="noStrike" cap="none">
                        <a:solidFill>
                          <a:schemeClr val="dk1"/>
                        </a:solidFill>
                        <a:latin typeface="Arial"/>
                        <a:ea typeface="Arial"/>
                        <a:cs typeface="Arial"/>
                        <a:sym typeface="Arial"/>
                      </a:endParaRPr>
                    </a:p>
                  </a:txBody>
                  <a:tcPr marL="58075" marR="138275" marT="16600" marB="1244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Öppna SSMS</a:t>
                      </a:r>
                      <a:endParaRPr sz="1200" b="0" u="none" strike="noStrike" cap="none">
                        <a:solidFill>
                          <a:schemeClr val="dk1"/>
                        </a:solidFill>
                        <a:latin typeface="Arial"/>
                        <a:ea typeface="Arial"/>
                        <a:cs typeface="Arial"/>
                        <a:sym typeface="Arial"/>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Efter omstart, sök efter </a:t>
                      </a:r>
                      <a:r>
                        <a:rPr lang="sv-SE" sz="1200" b="1" u="none" strike="noStrike" cap="none">
                          <a:solidFill>
                            <a:schemeClr val="dk1"/>
                          </a:solidFill>
                          <a:latin typeface="Arial"/>
                          <a:ea typeface="Arial"/>
                          <a:cs typeface="Arial"/>
                          <a:sym typeface="Arial"/>
                        </a:rPr>
                        <a:t>"SQL Server Management Studio"</a:t>
                      </a:r>
                      <a:r>
                        <a:rPr lang="sv-SE" sz="1200" b="0" u="none" strike="noStrike" cap="none">
                          <a:solidFill>
                            <a:schemeClr val="dk1"/>
                          </a:solidFill>
                          <a:latin typeface="Arial"/>
                          <a:ea typeface="Arial"/>
                          <a:cs typeface="Arial"/>
                          <a:sym typeface="Arial"/>
                        </a:rPr>
                        <a:t> i Windows startmeny. Klicka för att öppna programmet.</a:t>
                      </a:r>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1022850">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7</a:t>
                      </a:r>
                      <a:endParaRPr sz="1200" b="0" u="none" strike="noStrike" cap="none">
                        <a:solidFill>
                          <a:schemeClr val="dk1"/>
                        </a:solidFill>
                        <a:latin typeface="Arial"/>
                        <a:ea typeface="Arial"/>
                        <a:cs typeface="Arial"/>
                        <a:sym typeface="Arial"/>
                      </a:endParaRPr>
                    </a:p>
                  </a:txBody>
                  <a:tcPr marL="58075" marR="138275" marT="16600" marB="1244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Anslutningsfönstret öppnas</a:t>
                      </a:r>
                      <a:endParaRPr sz="1200" b="0" u="none" strike="noStrike" cap="none">
                        <a:solidFill>
                          <a:schemeClr val="dk1"/>
                        </a:solidFill>
                        <a:latin typeface="Arial"/>
                        <a:ea typeface="Arial"/>
                        <a:cs typeface="Arial"/>
                        <a:sym typeface="Arial"/>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Ett fönster med rubriken </a:t>
                      </a:r>
                      <a:r>
                        <a:rPr lang="sv-SE" sz="1200" b="1" u="none" strike="noStrike" cap="none">
                          <a:solidFill>
                            <a:schemeClr val="dk1"/>
                          </a:solidFill>
                          <a:latin typeface="Arial"/>
                          <a:ea typeface="Arial"/>
                          <a:cs typeface="Arial"/>
                          <a:sym typeface="Arial"/>
                        </a:rPr>
                        <a:t>"Anslut till server"</a:t>
                      </a:r>
                      <a:r>
                        <a:rPr lang="sv-SE" sz="1200" b="0" u="none" strike="noStrike" cap="none">
                          <a:solidFill>
                            <a:schemeClr val="dk1"/>
                          </a:solidFill>
                          <a:latin typeface="Arial"/>
                          <a:ea typeface="Arial"/>
                          <a:cs typeface="Arial"/>
                          <a:sym typeface="Arial"/>
                        </a:rPr>
                        <a:t> (Connect to Server) öppnas automatiskt. Här ser du:</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a:t>
                      </a:r>
                      <a:r>
                        <a:rPr lang="sv-SE" sz="1200" b="1" u="none" strike="noStrike" cap="none">
                          <a:solidFill>
                            <a:schemeClr val="dk1"/>
                          </a:solidFill>
                          <a:latin typeface="Arial"/>
                          <a:ea typeface="Arial"/>
                          <a:cs typeface="Arial"/>
                          <a:sym typeface="Arial"/>
                        </a:rPr>
                        <a:t>Servertyp:</a:t>
                      </a:r>
                      <a:r>
                        <a:rPr lang="sv-SE" sz="1200" b="0" u="none" strike="noStrike" cap="none">
                          <a:solidFill>
                            <a:schemeClr val="dk1"/>
                          </a:solidFill>
                          <a:latin typeface="Arial"/>
                          <a:ea typeface="Arial"/>
                          <a:cs typeface="Arial"/>
                          <a:sym typeface="Arial"/>
                        </a:rPr>
                        <a:t> Databasmotor (ska vara förvalt)</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a:t>
                      </a:r>
                      <a:r>
                        <a:rPr lang="sv-SE" sz="1200" b="1" u="none" strike="noStrike" cap="none">
                          <a:solidFill>
                            <a:schemeClr val="dk1"/>
                          </a:solidFill>
                          <a:latin typeface="Arial"/>
                          <a:ea typeface="Arial"/>
                          <a:cs typeface="Arial"/>
                          <a:sym typeface="Arial"/>
                        </a:rPr>
                        <a:t>Servernamn:</a:t>
                      </a:r>
                      <a:r>
                        <a:rPr lang="sv-SE" sz="1200" b="0" u="none" strike="noStrike" cap="none">
                          <a:solidFill>
                            <a:schemeClr val="dk1"/>
                          </a:solidFill>
                          <a:latin typeface="Arial"/>
                          <a:ea typeface="Arial"/>
                          <a:cs typeface="Arial"/>
                          <a:sym typeface="Arial"/>
                        </a:rPr>
                        <a:t> Här ska du skriva namnet på din SQL Server (från Steg 1)</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a:t>
                      </a:r>
                      <a:r>
                        <a:rPr lang="sv-SE" sz="1200" b="1" u="none" strike="noStrike" cap="none">
                          <a:solidFill>
                            <a:schemeClr val="dk1"/>
                          </a:solidFill>
                          <a:latin typeface="Arial"/>
                          <a:ea typeface="Arial"/>
                          <a:cs typeface="Arial"/>
                          <a:sym typeface="Arial"/>
                        </a:rPr>
                        <a:t>Autentisering:</a:t>
                      </a:r>
                      <a:r>
                        <a:rPr lang="sv-SE" sz="1200" b="0" u="none" strike="noStrike" cap="none">
                          <a:solidFill>
                            <a:schemeClr val="dk1"/>
                          </a:solidFill>
                          <a:latin typeface="Arial"/>
                          <a:ea typeface="Arial"/>
                          <a:cs typeface="Arial"/>
                          <a:sym typeface="Arial"/>
                        </a:rPr>
                        <a:t> Windows-autentisering (förvalt)</a:t>
                      </a:r>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7"/>
                  </a:ext>
                </a:extLst>
              </a:tr>
              <a:tr h="407600">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8</a:t>
                      </a:r>
                      <a:endParaRPr sz="1200" b="0" u="none" strike="noStrike" cap="none">
                        <a:solidFill>
                          <a:schemeClr val="dk1"/>
                        </a:solidFill>
                        <a:latin typeface="Arial"/>
                        <a:ea typeface="Arial"/>
                        <a:cs typeface="Arial"/>
                        <a:sym typeface="Arial"/>
                      </a:endParaRPr>
                    </a:p>
                  </a:txBody>
                  <a:tcPr marL="58075" marR="138275" marT="16600" marB="1244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Anslut till servern</a:t>
                      </a:r>
                      <a:endParaRPr sz="1200" b="0" u="none" strike="noStrike" cap="none">
                        <a:solidFill>
                          <a:schemeClr val="dk1"/>
                        </a:solidFill>
                        <a:latin typeface="Arial"/>
                        <a:ea typeface="Arial"/>
                        <a:cs typeface="Arial"/>
                        <a:sym typeface="Arial"/>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Skriv in ditt servernamn (t.ex. localhost, DESKTOP-ABC123 eller (localdb)\MSSQLLocalDB). Klicka på </a:t>
                      </a:r>
                      <a:r>
                        <a:rPr lang="sv-SE" sz="1200" b="1" u="none" strike="noStrike" cap="none">
                          <a:solidFill>
                            <a:schemeClr val="dk1"/>
                          </a:solidFill>
                          <a:latin typeface="Arial"/>
                          <a:ea typeface="Arial"/>
                          <a:cs typeface="Arial"/>
                          <a:sym typeface="Arial"/>
                        </a:rPr>
                        <a:t>"Anslut"</a:t>
                      </a:r>
                      <a:r>
                        <a:rPr lang="sv-SE" sz="1200" b="0" u="none" strike="noStrike" cap="none">
                          <a:solidFill>
                            <a:schemeClr val="dk1"/>
                          </a:solidFill>
                          <a:latin typeface="Arial"/>
                          <a:ea typeface="Arial"/>
                          <a:cs typeface="Arial"/>
                          <a:sym typeface="Arial"/>
                        </a:rPr>
                        <a:t> (Connect).</a:t>
                      </a:r>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8"/>
                  </a:ext>
                </a:extLst>
              </a:tr>
              <a:tr h="599875">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9</a:t>
                      </a:r>
                      <a:endParaRPr sz="1200" b="0" u="none" strike="noStrike" cap="none">
                        <a:solidFill>
                          <a:schemeClr val="dk1"/>
                        </a:solidFill>
                        <a:latin typeface="Arial"/>
                        <a:ea typeface="Arial"/>
                        <a:cs typeface="Arial"/>
                        <a:sym typeface="Arial"/>
                      </a:endParaRPr>
                    </a:p>
                  </a:txBody>
                  <a:tcPr marL="58075" marR="138275" marT="16600" marB="1244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Klart!</a:t>
                      </a:r>
                      <a:endParaRPr sz="1200" b="0" u="none" strike="noStrike" cap="none">
                        <a:solidFill>
                          <a:schemeClr val="dk1"/>
                        </a:solidFill>
                        <a:latin typeface="Arial"/>
                        <a:ea typeface="Arial"/>
                        <a:cs typeface="Arial"/>
                        <a:sym typeface="Arial"/>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Om allt är rätt försvinner inloggningsfönstret och du ser </a:t>
                      </a:r>
                      <a:r>
                        <a:rPr lang="sv-SE" sz="1200" b="1" u="none" strike="noStrike" cap="none">
                          <a:solidFill>
                            <a:schemeClr val="dk1"/>
                          </a:solidFill>
                          <a:latin typeface="Arial"/>
                          <a:ea typeface="Arial"/>
                          <a:cs typeface="Arial"/>
                          <a:sym typeface="Arial"/>
                        </a:rPr>
                        <a:t>Objektutforskaren</a:t>
                      </a:r>
                      <a:r>
                        <a:rPr lang="sv-SE" sz="1200" b="0" u="none" strike="noStrike" cap="none">
                          <a:solidFill>
                            <a:schemeClr val="dk1"/>
                          </a:solidFill>
                          <a:latin typeface="Arial"/>
                          <a:ea typeface="Arial"/>
                          <a:cs typeface="Arial"/>
                          <a:sym typeface="Arial"/>
                        </a:rPr>
                        <a:t> (Object Explorer) till vänster. Det betyder att du nu är ansluten och kan börja arbeta med din databas!</a:t>
                      </a:r>
                      <a:endParaRPr/>
                    </a:p>
                  </a:txBody>
                  <a:tcPr marL="58075" marR="138275" marT="16600" marB="124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2"/>
        <p:cNvGrpSpPr/>
        <p:nvPr/>
      </p:nvGrpSpPr>
      <p:grpSpPr>
        <a:xfrm>
          <a:off x="0" y="0"/>
          <a:ext cx="0" cy="0"/>
          <a:chOff x="0" y="0"/>
          <a:chExt cx="0" cy="0"/>
        </a:xfrm>
      </p:grpSpPr>
      <p:sp>
        <p:nvSpPr>
          <p:cNvPr id="233" name="Google Shape;233;p1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4" name="Google Shape;234;p13"/>
          <p:cNvSpPr/>
          <p:nvPr/>
        </p:nvSpPr>
        <p:spPr>
          <a:xfrm flipH="1">
            <a:off x="-1" y="-1"/>
            <a:ext cx="12191998" cy="1590742"/>
          </a:xfrm>
          <a:prstGeom prst="rect">
            <a:avLst/>
          </a:prstGeom>
          <a:gradFill>
            <a:gsLst>
              <a:gs pos="0">
                <a:srgbClr val="000000"/>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5" name="Google Shape;235;p13"/>
          <p:cNvSpPr/>
          <p:nvPr/>
        </p:nvSpPr>
        <p:spPr>
          <a:xfrm rot="10800000" flipH="1">
            <a:off x="-3" y="0"/>
            <a:ext cx="8115306" cy="1590742"/>
          </a:xfrm>
          <a:prstGeom prst="rect">
            <a:avLst/>
          </a:prstGeom>
          <a:gradFill>
            <a:gsLst>
              <a:gs pos="0">
                <a:srgbClr val="156082">
                  <a:alpha val="0"/>
                </a:srgbClr>
              </a:gs>
              <a:gs pos="20000">
                <a:srgbClr val="156082">
                  <a:alpha val="0"/>
                </a:srgbClr>
              </a:gs>
              <a:gs pos="100000">
                <a:srgbClr val="0A3041">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6" name="Google Shape;236;p13"/>
          <p:cNvSpPr/>
          <p:nvPr/>
        </p:nvSpPr>
        <p:spPr>
          <a:xfrm flipH="1">
            <a:off x="8115299" y="-1"/>
            <a:ext cx="4076698" cy="1590742"/>
          </a:xfrm>
          <a:prstGeom prst="rect">
            <a:avLst/>
          </a:prstGeom>
          <a:gradFill>
            <a:gsLst>
              <a:gs pos="0">
                <a:srgbClr val="156082">
                  <a:alpha val="65882"/>
                </a:srgbClr>
              </a:gs>
              <a:gs pos="100000">
                <a:srgbClr val="000000">
                  <a:alpha val="30196"/>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7" name="Google Shape;237;p13"/>
          <p:cNvSpPr/>
          <p:nvPr/>
        </p:nvSpPr>
        <p:spPr>
          <a:xfrm>
            <a:off x="459350" y="-1"/>
            <a:ext cx="11732646" cy="1597433"/>
          </a:xfrm>
          <a:prstGeom prst="rect">
            <a:avLst/>
          </a:prstGeom>
          <a:gradFill>
            <a:gsLst>
              <a:gs pos="0">
                <a:srgbClr val="000000">
                  <a:alpha val="0"/>
                </a:srgbClr>
              </a:gs>
              <a:gs pos="50000">
                <a:srgbClr val="000000">
                  <a:alpha val="0"/>
                </a:srgbClr>
              </a:gs>
              <a:gs pos="99000">
                <a:srgbClr val="0A3041">
                  <a:alpha val="52156"/>
                </a:srgbClr>
              </a:gs>
              <a:gs pos="100000">
                <a:srgbClr val="0A3041">
                  <a:alpha val="52156"/>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8" name="Google Shape;238;p13"/>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rPr>
              <a:t>Så här ser det ut när du är ansluten</a:t>
            </a:r>
            <a:endParaRPr sz="4000">
              <a:solidFill>
                <a:srgbClr val="FFFFFF"/>
              </a:solidFill>
            </a:endParaRPr>
          </a:p>
        </p:txBody>
      </p:sp>
      <p:sp>
        <p:nvSpPr>
          <p:cNvPr id="239" name="Google Shape;239;p13"/>
          <p:cNvSpPr txBox="1">
            <a:spLocks noGrp="1"/>
          </p:cNvSpPr>
          <p:nvPr>
            <p:ph type="body" idx="1"/>
          </p:nvPr>
        </p:nvSpPr>
        <p:spPr>
          <a:xfrm>
            <a:off x="3748" y="2318197"/>
            <a:ext cx="12184913" cy="4245489"/>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200"/>
              <a:buChar char="•"/>
            </a:pPr>
            <a:r>
              <a:rPr lang="sv-SE" sz="2200">
                <a:latin typeface="Consolas"/>
                <a:ea typeface="Consolas"/>
                <a:cs typeface="Consolas"/>
                <a:sym typeface="Consolas"/>
              </a:rPr>
              <a:t>Objektutforskaren</a:t>
            </a:r>
            <a:br>
              <a:rPr lang="sv-SE" sz="2200">
                <a:latin typeface="Consolas"/>
                <a:ea typeface="Consolas"/>
                <a:cs typeface="Consolas"/>
                <a:sym typeface="Consolas"/>
              </a:rPr>
            </a:br>
            <a:r>
              <a:rPr lang="sv-SE" sz="2200">
                <a:latin typeface="Consolas"/>
                <a:ea typeface="Consolas"/>
                <a:cs typeface="Consolas"/>
                <a:sym typeface="Consolas"/>
              </a:rPr>
              <a:t>└── [Ditt servernamn] (SQL Server x.x.x)</a:t>
            </a:r>
            <a:br>
              <a:rPr lang="sv-SE" sz="2200">
                <a:latin typeface="Consolas"/>
                <a:ea typeface="Consolas"/>
                <a:cs typeface="Consolas"/>
                <a:sym typeface="Consolas"/>
              </a:rPr>
            </a:br>
            <a:r>
              <a:rPr lang="sv-SE" sz="2200">
                <a:latin typeface="Consolas"/>
                <a:ea typeface="Consolas"/>
                <a:cs typeface="Consolas"/>
                <a:sym typeface="Consolas"/>
              </a:rPr>
              <a:t>    ├── Databaser</a:t>
            </a:r>
            <a:br>
              <a:rPr lang="sv-SE" sz="2200">
                <a:latin typeface="Consolas"/>
                <a:ea typeface="Consolas"/>
                <a:cs typeface="Consolas"/>
                <a:sym typeface="Consolas"/>
              </a:rPr>
            </a:br>
            <a:r>
              <a:rPr lang="sv-SE" sz="2200">
                <a:latin typeface="Consolas"/>
                <a:ea typeface="Consolas"/>
                <a:cs typeface="Consolas"/>
                <a:sym typeface="Consolas"/>
              </a:rPr>
              <a:t>    │   ├── Systemdatabaser</a:t>
            </a:r>
            <a:br>
              <a:rPr lang="sv-SE" sz="2200">
                <a:latin typeface="Consolas"/>
                <a:ea typeface="Consolas"/>
                <a:cs typeface="Consolas"/>
                <a:sym typeface="Consolas"/>
              </a:rPr>
            </a:br>
            <a:r>
              <a:rPr lang="sv-SE" sz="2200">
                <a:latin typeface="Consolas"/>
                <a:ea typeface="Consolas"/>
                <a:cs typeface="Consolas"/>
                <a:sym typeface="Consolas"/>
              </a:rPr>
              <a:t>    │   └── </a:t>
            </a:r>
            <a:r>
              <a:rPr lang="sv-SE" sz="2200" b="1">
                <a:highlight>
                  <a:srgbClr val="FF0000"/>
                </a:highlight>
                <a:latin typeface="Consolas"/>
                <a:ea typeface="Consolas"/>
                <a:cs typeface="Consolas"/>
                <a:sym typeface="Consolas"/>
              </a:rPr>
              <a:t>(Här kommer vår databas "NetworkSecurityML" att synas snart)</a:t>
            </a:r>
            <a:br>
              <a:rPr lang="sv-SE" sz="2200">
                <a:latin typeface="Consolas"/>
                <a:ea typeface="Consolas"/>
                <a:cs typeface="Consolas"/>
                <a:sym typeface="Consolas"/>
              </a:rPr>
            </a:br>
            <a:r>
              <a:rPr lang="sv-SE" sz="2200">
                <a:latin typeface="Consolas"/>
                <a:ea typeface="Consolas"/>
                <a:cs typeface="Consolas"/>
                <a:sym typeface="Consolas"/>
              </a:rPr>
              <a:t>    ├── Säkerhet</a:t>
            </a:r>
            <a:br>
              <a:rPr lang="sv-SE" sz="2200">
                <a:latin typeface="Consolas"/>
                <a:ea typeface="Consolas"/>
                <a:cs typeface="Consolas"/>
                <a:sym typeface="Consolas"/>
              </a:rPr>
            </a:br>
            <a:r>
              <a:rPr lang="sv-SE" sz="2200">
                <a:latin typeface="Consolas"/>
                <a:ea typeface="Consolas"/>
                <a:cs typeface="Consolas"/>
                <a:sym typeface="Consolas"/>
              </a:rPr>
              <a:t>    └── Serverobjekt</a:t>
            </a:r>
            <a:endParaRPr sz="20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3"/>
        <p:cNvGrpSpPr/>
        <p:nvPr/>
      </p:nvGrpSpPr>
      <p:grpSpPr>
        <a:xfrm>
          <a:off x="0" y="0"/>
          <a:ext cx="0" cy="0"/>
          <a:chOff x="0" y="0"/>
          <a:chExt cx="0" cy="0"/>
        </a:xfrm>
      </p:grpSpPr>
      <p:sp>
        <p:nvSpPr>
          <p:cNvPr id="244" name="Google Shape;244;p1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5" name="Google Shape;245;p14"/>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6" name="Google Shape;246;p14"/>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7" name="Google Shape;247;p14"/>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8" name="Google Shape;248;p14"/>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Vanliga frågor</a:t>
            </a:r>
            <a:endParaRPr/>
          </a:p>
        </p:txBody>
      </p:sp>
      <p:graphicFrame>
        <p:nvGraphicFramePr>
          <p:cNvPr id="249" name="Google Shape;249;p14"/>
          <p:cNvGraphicFramePr/>
          <p:nvPr/>
        </p:nvGraphicFramePr>
        <p:xfrm>
          <a:off x="24983" y="1680147"/>
          <a:ext cx="3000000" cy="3000000"/>
        </p:xfrm>
        <a:graphic>
          <a:graphicData uri="http://schemas.openxmlformats.org/drawingml/2006/table">
            <a:tbl>
              <a:tblPr firstRow="1" bandRow="1">
                <a:noFill/>
                <a:tableStyleId>{FC5630A3-10B3-40D5-8C3A-4DB2008A8BC0}</a:tableStyleId>
              </a:tblPr>
              <a:tblGrid>
                <a:gridCol w="3247450">
                  <a:extLst>
                    <a:ext uri="{9D8B030D-6E8A-4147-A177-3AD203B41FA5}">
                      <a16:colId xmlns:a16="http://schemas.microsoft.com/office/drawing/2014/main" val="20000"/>
                    </a:ext>
                  </a:extLst>
                </a:gridCol>
                <a:gridCol w="8910775">
                  <a:extLst>
                    <a:ext uri="{9D8B030D-6E8A-4147-A177-3AD203B41FA5}">
                      <a16:colId xmlns:a16="http://schemas.microsoft.com/office/drawing/2014/main" val="20001"/>
                    </a:ext>
                  </a:extLst>
                </a:gridCol>
              </a:tblGrid>
              <a:tr h="47437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t>Fråga</a:t>
                      </a:r>
                      <a:endParaRPr sz="1600" b="0" u="none" strike="noStrike" cap="none">
                        <a:latin typeface="Arial"/>
                        <a:ea typeface="Arial"/>
                        <a:cs typeface="Arial"/>
                        <a:sym typeface="Arial"/>
                      </a:endParaRPr>
                    </a:p>
                  </a:txBody>
                  <a:tcPr marL="80475" marR="134150" marT="83850" marB="83850" anchor="ctr"/>
                </a:tc>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t>Svar</a:t>
                      </a:r>
                      <a:endParaRPr sz="1600" b="0" u="none" strike="noStrike" cap="none">
                        <a:latin typeface="Arial"/>
                        <a:ea typeface="Arial"/>
                        <a:cs typeface="Arial"/>
                        <a:sym typeface="Arial"/>
                      </a:endParaRPr>
                    </a:p>
                  </a:txBody>
                  <a:tcPr marL="134150" marR="134150" marT="83850" marB="83850" anchor="ctr"/>
                </a:tc>
                <a:extLst>
                  <a:ext uri="{0D108BD9-81ED-4DB2-BD59-A6C34878D82A}">
                    <a16:rowId xmlns:a16="http://schemas.microsoft.com/office/drawing/2014/main" val="10000"/>
                  </a:ext>
                </a:extLst>
              </a:tr>
              <a:tr h="119200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t>Vad är skillnaden på SQL Server och SSMS?</a:t>
                      </a:r>
                      <a:endParaRPr sz="1600" b="0" u="none" strike="noStrike" cap="none">
                        <a:latin typeface="Arial"/>
                        <a:ea typeface="Arial"/>
                        <a:cs typeface="Arial"/>
                        <a:sym typeface="Arial"/>
                      </a:endParaRPr>
                    </a:p>
                  </a:txBody>
                  <a:tcPr marL="80475" marR="134150" marT="83850" marB="83850" anchor="ct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t>SQL Server är </a:t>
                      </a:r>
                      <a:r>
                        <a:rPr lang="sv-SE" sz="1600" b="1" u="none" strike="noStrike" cap="none"/>
                        <a:t>motorn</a:t>
                      </a:r>
                      <a:r>
                        <a:rPr lang="sv-SE" sz="1600" b="0" u="none" strike="noStrike" cap="none"/>
                        <a:t> (databasen) som körs i bakgrunden. SSMS är </a:t>
                      </a:r>
                      <a:r>
                        <a:rPr lang="sv-SE" sz="1600" b="1" u="none" strike="noStrike" cap="none"/>
                        <a:t>verktyget</a:t>
                      </a:r>
                      <a:r>
                        <a:rPr lang="sv-SE" sz="1600" b="0" u="none" strike="noStrike" cap="none"/>
                        <a:t> du använder för att prata med motorn. Tänk på det som bilen (SQL Server) och ratten (SSMS).</a:t>
                      </a:r>
                      <a:endParaRPr sz="1600" b="0" u="none" strike="noStrike" cap="none">
                        <a:latin typeface="Arial"/>
                        <a:ea typeface="Arial"/>
                        <a:cs typeface="Arial"/>
                        <a:sym typeface="Arial"/>
                      </a:endParaRPr>
                    </a:p>
                  </a:txBody>
                  <a:tcPr marL="134150" marR="80475" marT="83850" marB="83850" anchor="ctr"/>
                </a:tc>
                <a:extLst>
                  <a:ext uri="{0D108BD9-81ED-4DB2-BD59-A6C34878D82A}">
                    <a16:rowId xmlns:a16="http://schemas.microsoft.com/office/drawing/2014/main" val="10001"/>
                  </a:ext>
                </a:extLst>
              </a:tr>
              <a:tr h="72980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t>Måste jag starta om datorn?</a:t>
                      </a:r>
                      <a:endParaRPr sz="1600" b="0" u="none" strike="noStrike" cap="none">
                        <a:latin typeface="Arial"/>
                        <a:ea typeface="Arial"/>
                        <a:cs typeface="Arial"/>
                        <a:sym typeface="Arial"/>
                      </a:endParaRPr>
                    </a:p>
                  </a:txBody>
                  <a:tcPr marL="80475" marR="134150" marT="83850" marB="83850" anchor="ct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t>Det rekommenderas starkt. Det säkerställer att alla inställningar och sökvägar blir korrekta.</a:t>
                      </a:r>
                      <a:endParaRPr sz="1600" b="0" u="none" strike="noStrike" cap="none">
                        <a:latin typeface="Arial"/>
                        <a:ea typeface="Arial"/>
                        <a:cs typeface="Arial"/>
                        <a:sym typeface="Arial"/>
                      </a:endParaRPr>
                    </a:p>
                  </a:txBody>
                  <a:tcPr marL="134150" marR="80475" marT="83850" marB="83850" anchor="ctr"/>
                </a:tc>
                <a:extLst>
                  <a:ext uri="{0D108BD9-81ED-4DB2-BD59-A6C34878D82A}">
                    <a16:rowId xmlns:a16="http://schemas.microsoft.com/office/drawing/2014/main" val="10002"/>
                  </a:ext>
                </a:extLst>
              </a:tr>
              <a:tr h="137447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t>Jag kommer inte ihåg mitt servernamn – vad gör jag?</a:t>
                      </a:r>
                      <a:endParaRPr sz="1600" b="0" u="none" strike="noStrike" cap="none">
                        <a:latin typeface="Arial"/>
                        <a:ea typeface="Arial"/>
                        <a:cs typeface="Arial"/>
                        <a:sym typeface="Arial"/>
                      </a:endParaRPr>
                    </a:p>
                  </a:txBody>
                  <a:tcPr marL="80475" marR="134150" marT="83850" marB="83850" anchor="ctr"/>
                </a:tc>
                <a:tc>
                  <a:txBody>
                    <a:bodyPr/>
                    <a:lstStyle/>
                    <a:p>
                      <a:pPr marL="0" marR="0" lvl="0" indent="0" algn="l" rtl="0">
                        <a:lnSpc>
                          <a:spcPct val="103125"/>
                        </a:lnSpc>
                        <a:spcBef>
                          <a:spcPts val="0"/>
                        </a:spcBef>
                        <a:spcAft>
                          <a:spcPts val="0"/>
                        </a:spcAft>
                        <a:buClr>
                          <a:schemeClr val="dk1"/>
                        </a:buClr>
                        <a:buSzPts val="1600"/>
                        <a:buFont typeface="Arial"/>
                        <a:buNone/>
                      </a:pPr>
                      <a:r>
                        <a:rPr lang="sv-SE" sz="1600" b="0" u="none" strike="noStrike" cap="none"/>
                        <a:t>Inga problem! Du kan hitta det på flera sätt:</a:t>
                      </a:r>
                      <a:br>
                        <a:rPr lang="sv-SE" sz="1600" b="0" u="none" strike="noStrike" cap="none"/>
                      </a:br>
                      <a:r>
                        <a:rPr lang="sv-SE" sz="1600" b="0" u="none" strike="noStrike" cap="none"/>
                        <a:t>• Öppna kommandotolken och skriv </a:t>
                      </a:r>
                      <a:r>
                        <a:rPr lang="sv-SE" sz="1600" b="1" u="none" strike="noStrike" cap="none">
                          <a:highlight>
                            <a:srgbClr val="FF0000"/>
                          </a:highlight>
                        </a:rPr>
                        <a:t>hostname</a:t>
                      </a:r>
                      <a:br>
                        <a:rPr lang="sv-SE" sz="1600" b="0" u="none" strike="noStrike" cap="none"/>
                      </a:br>
                      <a:r>
                        <a:rPr lang="sv-SE" sz="1600" b="0" u="none" strike="noStrike" cap="none"/>
                        <a:t>• Öppna SQL Server Configuration Manager</a:t>
                      </a:r>
                      <a:br>
                        <a:rPr lang="sv-SE" sz="1600" b="0" u="none" strike="noStrike" cap="none"/>
                      </a:br>
                      <a:r>
                        <a:rPr lang="sv-SE" sz="1600" b="0" u="none" strike="noStrike" cap="none"/>
                        <a:t>• Testa </a:t>
                      </a:r>
                      <a:r>
                        <a:rPr lang="sv-SE" sz="1600" b="1" u="none" strike="noStrike" cap="none">
                          <a:highlight>
                            <a:srgbClr val="FF0000"/>
                          </a:highlight>
                        </a:rPr>
                        <a:t>localhost </a:t>
                      </a:r>
                      <a:r>
                        <a:rPr lang="sv-SE" sz="1600" b="0" u="none" strike="noStrike" cap="none"/>
                        <a:t>– det fungerar oftast om du installerade SQL Server på din egen dator</a:t>
                      </a:r>
                      <a:endParaRPr sz="1600" b="0" u="none" strike="noStrike" cap="none">
                        <a:latin typeface="Arial"/>
                        <a:ea typeface="Arial"/>
                        <a:cs typeface="Arial"/>
                        <a:sym typeface="Arial"/>
                      </a:endParaRPr>
                    </a:p>
                  </a:txBody>
                  <a:tcPr marL="134150" marR="80475" marT="83850" marB="83850" anchor="ctr"/>
                </a:tc>
                <a:extLst>
                  <a:ext uri="{0D108BD9-81ED-4DB2-BD59-A6C34878D82A}">
                    <a16:rowId xmlns:a16="http://schemas.microsoft.com/office/drawing/2014/main" val="10003"/>
                  </a:ext>
                </a:extLst>
              </a:tr>
              <a:tr h="72980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t>Vad är Windows-autentisering?</a:t>
                      </a:r>
                      <a:endParaRPr sz="1600" b="0" u="none" strike="noStrike" cap="none">
                        <a:latin typeface="Arial"/>
                        <a:ea typeface="Arial"/>
                        <a:cs typeface="Arial"/>
                        <a:sym typeface="Arial"/>
                      </a:endParaRPr>
                    </a:p>
                  </a:txBody>
                  <a:tcPr marL="80475" marR="134150" marT="83850" marB="83850" anchor="ct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t>Det innebär att du loggar in med ditt eget Windows-konto. Det är enklast och säkrast för lokal utveckling .</a:t>
                      </a:r>
                      <a:endParaRPr sz="1600" b="0" u="none" strike="noStrike" cap="none">
                        <a:latin typeface="Arial"/>
                        <a:ea typeface="Arial"/>
                        <a:cs typeface="Arial"/>
                        <a:sym typeface="Arial"/>
                      </a:endParaRPr>
                    </a:p>
                  </a:txBody>
                  <a:tcPr marL="134150" marR="80475" marT="83850" marB="83850" anchor="ctr"/>
                </a:tc>
                <a:extLst>
                  <a:ext uri="{0D108BD9-81ED-4DB2-BD59-A6C34878D82A}">
                    <a16:rowId xmlns:a16="http://schemas.microsoft.com/office/drawing/2014/main" val="10004"/>
                  </a:ext>
                </a:extLst>
              </a:tr>
              <a:tr h="66897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t>Varför ser jag inga databaser?</a:t>
                      </a:r>
                      <a:endParaRPr sz="1600" b="0" u="none" strike="noStrike" cap="none">
                        <a:latin typeface="Arial"/>
                        <a:ea typeface="Arial"/>
                        <a:cs typeface="Arial"/>
                        <a:sym typeface="Arial"/>
                      </a:endParaRPr>
                    </a:p>
                  </a:txBody>
                  <a:tcPr marL="80475" marR="134150" marT="83850" marB="83850" anchor="ctr"/>
                </a:tc>
                <a:tc>
                  <a:txBody>
                    <a:bodyPr/>
                    <a:lstStyle/>
                    <a:p>
                      <a:pPr marL="0" marR="0" lvl="0" indent="0" algn="l" rtl="0">
                        <a:lnSpc>
                          <a:spcPct val="103125"/>
                        </a:lnSpc>
                        <a:spcBef>
                          <a:spcPts val="0"/>
                        </a:spcBef>
                        <a:spcAft>
                          <a:spcPts val="0"/>
                        </a:spcAft>
                        <a:buClr>
                          <a:schemeClr val="dk1"/>
                        </a:buClr>
                        <a:buSzPts val="1600"/>
                        <a:buFont typeface="Arial"/>
                        <a:buNone/>
                      </a:pPr>
                      <a:r>
                        <a:rPr lang="sv-SE" sz="1600" b="0" u="none" strike="noStrike" cap="none"/>
                        <a:t>För att vi inte har skapat någon än! I nästa steg (</a:t>
                      </a:r>
                      <a:r>
                        <a:rPr lang="sv-SE" sz="1600" b="1" u="none" strike="noStrike" cap="none">
                          <a:highlight>
                            <a:srgbClr val="FF0000"/>
                          </a:highlight>
                        </a:rPr>
                        <a:t>Steg 7</a:t>
                      </a:r>
                      <a:r>
                        <a:rPr lang="sv-SE" sz="1600" b="0" u="none" strike="noStrike" cap="none"/>
                        <a:t>) skapar vi vår egen databas </a:t>
                      </a:r>
                      <a:r>
                        <a:rPr lang="sv-SE" sz="1600" b="1" u="none" strike="noStrike" cap="none">
                          <a:highlight>
                            <a:srgbClr val="FF0000"/>
                          </a:highlight>
                        </a:rPr>
                        <a:t>NetworkSecurityML</a:t>
                      </a:r>
                      <a:r>
                        <a:rPr lang="sv-SE" sz="1600" b="0" u="none" strike="noStrike" cap="none"/>
                        <a:t>.</a:t>
                      </a:r>
                      <a:endParaRPr sz="1600" b="0" u="none" strike="noStrike" cap="none">
                        <a:latin typeface="Arial"/>
                        <a:ea typeface="Arial"/>
                        <a:cs typeface="Arial"/>
                        <a:sym typeface="Arial"/>
                      </a:endParaRPr>
                    </a:p>
                  </a:txBody>
                  <a:tcPr marL="134150" marR="80475" marT="83850" marB="8385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3"/>
        <p:cNvGrpSpPr/>
        <p:nvPr/>
      </p:nvGrpSpPr>
      <p:grpSpPr>
        <a:xfrm>
          <a:off x="0" y="0"/>
          <a:ext cx="0" cy="0"/>
          <a:chOff x="0" y="0"/>
          <a:chExt cx="0" cy="0"/>
        </a:xfrm>
      </p:grpSpPr>
      <p:sp>
        <p:nvSpPr>
          <p:cNvPr id="254" name="Google Shape;254;p1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5" name="Google Shape;255;p15"/>
          <p:cNvSpPr/>
          <p:nvPr/>
        </p:nvSpPr>
        <p:spPr>
          <a:xfrm flipH="1">
            <a:off x="2" y="0"/>
            <a:ext cx="12191998" cy="1575955"/>
          </a:xfrm>
          <a:prstGeom prst="rect">
            <a:avLst/>
          </a:prstGeom>
          <a:gradFill>
            <a:gsLst>
              <a:gs pos="0">
                <a:srgbClr val="000000">
                  <a:alpha val="96078"/>
                </a:srgbClr>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6" name="Google Shape;256;p15"/>
          <p:cNvSpPr/>
          <p:nvPr/>
        </p:nvSpPr>
        <p:spPr>
          <a:xfrm rot="10800000" flipH="1">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7" name="Google Shape;257;p15"/>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8" name="Google Shape;258;p15"/>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rPr>
              <a:t>Felsökning – om du inte kan ansluta</a:t>
            </a:r>
            <a:endParaRPr sz="4000">
              <a:solidFill>
                <a:srgbClr val="FFFFFF"/>
              </a:solidFill>
            </a:endParaRPr>
          </a:p>
        </p:txBody>
      </p:sp>
      <p:graphicFrame>
        <p:nvGraphicFramePr>
          <p:cNvPr id="259" name="Google Shape;259;p15"/>
          <p:cNvGraphicFramePr/>
          <p:nvPr/>
        </p:nvGraphicFramePr>
        <p:xfrm>
          <a:off x="256081" y="1780081"/>
          <a:ext cx="3000000" cy="3000000"/>
        </p:xfrm>
        <a:graphic>
          <a:graphicData uri="http://schemas.openxmlformats.org/drawingml/2006/table">
            <a:tbl>
              <a:tblPr firstRow="1" bandRow="1">
                <a:noFill/>
                <a:tableStyleId>{822C3B93-EF79-491A-80E4-DA79D8C4CF44}</a:tableStyleId>
              </a:tblPr>
              <a:tblGrid>
                <a:gridCol w="4823725">
                  <a:extLst>
                    <a:ext uri="{9D8B030D-6E8A-4147-A177-3AD203B41FA5}">
                      <a16:colId xmlns:a16="http://schemas.microsoft.com/office/drawing/2014/main" val="20000"/>
                    </a:ext>
                  </a:extLst>
                </a:gridCol>
                <a:gridCol w="6863750">
                  <a:extLst>
                    <a:ext uri="{9D8B030D-6E8A-4147-A177-3AD203B41FA5}">
                      <a16:colId xmlns:a16="http://schemas.microsoft.com/office/drawing/2014/main" val="20001"/>
                    </a:ext>
                  </a:extLst>
                </a:gridCol>
              </a:tblGrid>
              <a:tr h="829375">
                <a:tc>
                  <a:txBody>
                    <a:bodyPr/>
                    <a:lstStyle/>
                    <a:p>
                      <a:pPr marL="0" marR="0" lvl="0" indent="0" algn="l" rtl="0">
                        <a:lnSpc>
                          <a:spcPct val="69444"/>
                        </a:lnSpc>
                        <a:spcBef>
                          <a:spcPts val="0"/>
                        </a:spcBef>
                        <a:spcAft>
                          <a:spcPts val="0"/>
                        </a:spcAft>
                        <a:buClr>
                          <a:schemeClr val="dk1"/>
                        </a:buClr>
                        <a:buSzPts val="2700"/>
                        <a:buFont typeface="Arial"/>
                        <a:buNone/>
                      </a:pPr>
                      <a:r>
                        <a:rPr lang="sv-SE" sz="2700" b="1" u="none" strike="noStrike" cap="none">
                          <a:latin typeface="Arial"/>
                          <a:ea typeface="Arial"/>
                          <a:cs typeface="Arial"/>
                          <a:sym typeface="Arial"/>
                        </a:rPr>
                        <a:t>Problem</a:t>
                      </a:r>
                      <a:endParaRPr sz="2700" b="0" u="none" strike="noStrike" cap="none">
                        <a:latin typeface="Arial"/>
                        <a:ea typeface="Arial"/>
                        <a:cs typeface="Arial"/>
                        <a:sym typeface="Arial"/>
                      </a:endParaRPr>
                    </a:p>
                  </a:txBody>
                  <a:tcPr marL="137200" marR="228675" marT="142925" marB="142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69444"/>
                        </a:lnSpc>
                        <a:spcBef>
                          <a:spcPts val="0"/>
                        </a:spcBef>
                        <a:spcAft>
                          <a:spcPts val="0"/>
                        </a:spcAft>
                        <a:buClr>
                          <a:schemeClr val="dk1"/>
                        </a:buClr>
                        <a:buSzPts val="2700"/>
                        <a:buFont typeface="Arial"/>
                        <a:buNone/>
                      </a:pPr>
                      <a:r>
                        <a:rPr lang="sv-SE" sz="2700" b="1" u="none" strike="noStrike" cap="none">
                          <a:latin typeface="Arial"/>
                          <a:ea typeface="Arial"/>
                          <a:cs typeface="Arial"/>
                          <a:sym typeface="Arial"/>
                        </a:rPr>
                        <a:t>Lösning</a:t>
                      </a:r>
                      <a:endParaRPr sz="2700" b="0" u="none" strike="noStrike" cap="none">
                        <a:latin typeface="Arial"/>
                        <a:ea typeface="Arial"/>
                        <a:cs typeface="Arial"/>
                        <a:sym typeface="Arial"/>
                      </a:endParaRPr>
                    </a:p>
                  </a:txBody>
                  <a:tcPr marL="228675" marR="228675" marT="142925" marB="142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175975">
                <a:tc>
                  <a:txBody>
                    <a:bodyPr/>
                    <a:lstStyle/>
                    <a:p>
                      <a:pPr marL="0" marR="0" lvl="0" indent="0" algn="l" rtl="0">
                        <a:lnSpc>
                          <a:spcPct val="100000"/>
                        </a:lnSpc>
                        <a:spcBef>
                          <a:spcPts val="0"/>
                        </a:spcBef>
                        <a:spcAft>
                          <a:spcPts val="0"/>
                        </a:spcAft>
                        <a:buClr>
                          <a:schemeClr val="dk1"/>
                        </a:buClr>
                        <a:buSzPts val="2700"/>
                        <a:buFont typeface="Arial"/>
                        <a:buNone/>
                      </a:pPr>
                      <a:r>
                        <a:rPr lang="sv-SE" sz="2700" b="1" u="none" strike="noStrike" cap="none">
                          <a:latin typeface="Arial"/>
                          <a:ea typeface="Arial"/>
                          <a:cs typeface="Arial"/>
                          <a:sym typeface="Arial"/>
                        </a:rPr>
                        <a:t>"Cannot connect to server"</a:t>
                      </a:r>
                      <a:endParaRPr sz="2700" b="0" u="none" strike="noStrike" cap="none">
                        <a:latin typeface="Arial"/>
                        <a:ea typeface="Arial"/>
                        <a:cs typeface="Arial"/>
                        <a:sym typeface="Arial"/>
                      </a:endParaRPr>
                    </a:p>
                  </a:txBody>
                  <a:tcPr marL="137200" marR="228675" marT="142925" marB="142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700"/>
                        <a:buFont typeface="Arial"/>
                        <a:buNone/>
                      </a:pPr>
                      <a:r>
                        <a:rPr lang="sv-SE" sz="2700" b="0" u="none" strike="noStrike" cap="none">
                          <a:latin typeface="Arial"/>
                          <a:ea typeface="Arial"/>
                          <a:cs typeface="Arial"/>
                          <a:sym typeface="Arial"/>
                        </a:rPr>
                        <a:t>Kontrollera att du skrivit servernamnet korrekt. Prova localhost om du är osäker.</a:t>
                      </a:r>
                      <a:endParaRPr/>
                    </a:p>
                  </a:txBody>
                  <a:tcPr marL="228675" marR="137200" marT="142925" marB="142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250250">
                <a:tc>
                  <a:txBody>
                    <a:bodyPr/>
                    <a:lstStyle/>
                    <a:p>
                      <a:pPr marL="0" marR="0" lvl="0" indent="0" algn="l" rtl="0">
                        <a:lnSpc>
                          <a:spcPct val="100000"/>
                        </a:lnSpc>
                        <a:spcBef>
                          <a:spcPts val="0"/>
                        </a:spcBef>
                        <a:spcAft>
                          <a:spcPts val="0"/>
                        </a:spcAft>
                        <a:buClr>
                          <a:schemeClr val="dk1"/>
                        </a:buClr>
                        <a:buSzPts val="2700"/>
                        <a:buFont typeface="Arial"/>
                        <a:buNone/>
                      </a:pPr>
                      <a:r>
                        <a:rPr lang="sv-SE" sz="2700" b="1" u="none" strike="noStrike" cap="none">
                          <a:latin typeface="Arial"/>
                          <a:ea typeface="Arial"/>
                          <a:cs typeface="Arial"/>
                          <a:sym typeface="Arial"/>
                        </a:rPr>
                        <a:t>SQL Server är stoppad</a:t>
                      </a:r>
                      <a:endParaRPr sz="2700" b="0" u="none" strike="noStrike" cap="none">
                        <a:latin typeface="Arial"/>
                        <a:ea typeface="Arial"/>
                        <a:cs typeface="Arial"/>
                        <a:sym typeface="Arial"/>
                      </a:endParaRPr>
                    </a:p>
                  </a:txBody>
                  <a:tcPr marL="137200" marR="228675" marT="142925" marB="142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700"/>
                        <a:buFont typeface="Arial"/>
                        <a:buNone/>
                      </a:pPr>
                      <a:r>
                        <a:rPr lang="sv-SE" sz="2700" b="0" u="none" strike="noStrike" cap="none">
                          <a:latin typeface="Arial"/>
                          <a:ea typeface="Arial"/>
                          <a:cs typeface="Arial"/>
                          <a:sym typeface="Arial"/>
                        </a:rPr>
                        <a:t>Öppna </a:t>
                      </a:r>
                      <a:r>
                        <a:rPr lang="sv-SE" sz="2700" b="1" u="none" strike="noStrike" cap="none">
                          <a:latin typeface="Arial"/>
                          <a:ea typeface="Arial"/>
                          <a:cs typeface="Arial"/>
                          <a:sym typeface="Arial"/>
                        </a:rPr>
                        <a:t>SQL Server Configuration Manager</a:t>
                      </a:r>
                      <a:r>
                        <a:rPr lang="sv-SE" sz="2700" b="0" u="none" strike="noStrike" cap="none">
                          <a:latin typeface="Arial"/>
                          <a:ea typeface="Arial"/>
                          <a:cs typeface="Arial"/>
                          <a:sym typeface="Arial"/>
                        </a:rPr>
                        <a:t> och starta tjänsten.</a:t>
                      </a:r>
                      <a:endParaRPr/>
                    </a:p>
                  </a:txBody>
                  <a:tcPr marL="228675" marR="137200" marT="142925" marB="142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695900">
                <a:tc>
                  <a:txBody>
                    <a:bodyPr/>
                    <a:lstStyle/>
                    <a:p>
                      <a:pPr marL="0" marR="0" lvl="0" indent="0" algn="l" rtl="0">
                        <a:lnSpc>
                          <a:spcPct val="100000"/>
                        </a:lnSpc>
                        <a:spcBef>
                          <a:spcPts val="0"/>
                        </a:spcBef>
                        <a:spcAft>
                          <a:spcPts val="0"/>
                        </a:spcAft>
                        <a:buClr>
                          <a:schemeClr val="dk1"/>
                        </a:buClr>
                        <a:buSzPts val="2700"/>
                        <a:buFont typeface="Arial"/>
                        <a:buNone/>
                      </a:pPr>
                      <a:r>
                        <a:rPr lang="sv-SE" sz="2700" b="1" u="none" strike="noStrike" cap="none">
                          <a:latin typeface="Arial"/>
                          <a:ea typeface="Arial"/>
                          <a:cs typeface="Arial"/>
                          <a:sym typeface="Arial"/>
                        </a:rPr>
                        <a:t>Brandväggen blockerar</a:t>
                      </a:r>
                      <a:endParaRPr sz="2700" b="0" u="none" strike="noStrike" cap="none">
                        <a:latin typeface="Arial"/>
                        <a:ea typeface="Arial"/>
                        <a:cs typeface="Arial"/>
                        <a:sym typeface="Arial"/>
                      </a:endParaRPr>
                    </a:p>
                  </a:txBody>
                  <a:tcPr marL="137200" marR="228675" marT="142925" marB="142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700"/>
                        <a:buFont typeface="Arial"/>
                        <a:buNone/>
                      </a:pPr>
                      <a:r>
                        <a:rPr lang="sv-SE" sz="2700" b="0" u="none" strike="noStrike" cap="none">
                          <a:latin typeface="Arial"/>
                          <a:ea typeface="Arial"/>
                          <a:cs typeface="Arial"/>
                          <a:sym typeface="Arial"/>
                        </a:rPr>
                        <a:t>För lokal utveckling behövs oftast inget. Kontrollera att SQL Server tillåts i brandväggen.</a:t>
                      </a:r>
                      <a:endParaRPr/>
                    </a:p>
                  </a:txBody>
                  <a:tcPr marL="228675" marR="137200" marT="142925" marB="142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3"/>
        <p:cNvGrpSpPr/>
        <p:nvPr/>
      </p:nvGrpSpPr>
      <p:grpSpPr>
        <a:xfrm>
          <a:off x="0" y="0"/>
          <a:ext cx="0" cy="0"/>
          <a:chOff x="0" y="0"/>
          <a:chExt cx="0" cy="0"/>
        </a:xfrm>
      </p:grpSpPr>
      <p:sp>
        <p:nvSpPr>
          <p:cNvPr id="264" name="Google Shape;264;p1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5" name="Google Shape;265;p16"/>
          <p:cNvSpPr/>
          <p:nvPr/>
        </p:nvSpPr>
        <p:spPr>
          <a:xfrm rot="5400000" flipH="1">
            <a:off x="-638515" y="639280"/>
            <a:ext cx="6858000" cy="5579440"/>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6" name="Google Shape;266;p16"/>
          <p:cNvSpPr/>
          <p:nvPr/>
        </p:nvSpPr>
        <p:spPr>
          <a:xfrm rot="5400000" flipH="1">
            <a:off x="-393206" y="395206"/>
            <a:ext cx="6346209" cy="5576080"/>
          </a:xfrm>
          <a:prstGeom prst="rect">
            <a:avLst/>
          </a:prstGeom>
          <a:gradFill>
            <a:gsLst>
              <a:gs pos="0">
                <a:srgbClr val="000000">
                  <a:alpha val="0"/>
                </a:srgbClr>
              </a:gs>
              <a:gs pos="99000">
                <a:srgbClr val="156082">
                  <a:alpha val="0"/>
                </a:srgbClr>
              </a:gs>
              <a:gs pos="100000">
                <a:srgbClr val="156082">
                  <a:alpha val="0"/>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7" name="Google Shape;267;p16"/>
          <p:cNvSpPr/>
          <p:nvPr/>
        </p:nvSpPr>
        <p:spPr>
          <a:xfrm rot="5400000" flipH="1">
            <a:off x="1528907" y="2818967"/>
            <a:ext cx="2501979" cy="5576080"/>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8" name="Google Shape;268;p16"/>
          <p:cNvSpPr/>
          <p:nvPr/>
        </p:nvSpPr>
        <p:spPr>
          <a:xfrm rot="5400000" flipH="1">
            <a:off x="-425002" y="852793"/>
            <a:ext cx="6858001" cy="5152412"/>
          </a:xfrm>
          <a:prstGeom prst="rect">
            <a:avLst/>
          </a:prstGeom>
          <a:gradFill>
            <a:gsLst>
              <a:gs pos="0">
                <a:srgbClr val="000000">
                  <a:alpha val="0"/>
                </a:srgbClr>
              </a:gs>
              <a:gs pos="99000">
                <a:srgbClr val="156082">
                  <a:alpha val="10980"/>
                </a:srgbClr>
              </a:gs>
              <a:gs pos="100000">
                <a:srgbClr val="156082">
                  <a:alpha val="10980"/>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9" name="Google Shape;269;p16"/>
          <p:cNvSpPr/>
          <p:nvPr/>
        </p:nvSpPr>
        <p:spPr>
          <a:xfrm rot="6097846">
            <a:off x="818753" y="1128497"/>
            <a:ext cx="4318303" cy="4318303"/>
          </a:xfrm>
          <a:prstGeom prst="ellipse">
            <a:avLst/>
          </a:prstGeom>
          <a:gradFill>
            <a:gsLst>
              <a:gs pos="0">
                <a:srgbClr val="156082">
                  <a:alpha val="0"/>
                </a:srgbClr>
              </a:gs>
              <a:gs pos="39000">
                <a:srgbClr val="156082">
                  <a:alpha val="0"/>
                </a:srgbClr>
              </a:gs>
              <a:gs pos="100000">
                <a:srgbClr val="43AFE2">
                  <a:alpha val="14901"/>
                </a:srgbClr>
              </a:gs>
            </a:gsLst>
            <a:lin ang="17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0" name="Google Shape;270;p16"/>
          <p:cNvSpPr txBox="1">
            <a:spLocks noGrp="1"/>
          </p:cNvSpPr>
          <p:nvPr>
            <p:ph type="title"/>
          </p:nvPr>
        </p:nvSpPr>
        <p:spPr>
          <a:xfrm>
            <a:off x="826396" y="586855"/>
            <a:ext cx="4230100" cy="338749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4000"/>
              <a:buFont typeface="Play"/>
              <a:buNone/>
            </a:pPr>
            <a:r>
              <a:rPr lang="sv-SE" sz="4000">
                <a:solidFill>
                  <a:srgbClr val="FFFFFF"/>
                </a:solidFill>
              </a:rPr>
              <a:t>Steg 3: Koppla ihop SSMS med SQL Server</a:t>
            </a:r>
            <a:endParaRPr sz="4000">
              <a:solidFill>
                <a:srgbClr val="FFFFFF"/>
              </a:solidFill>
            </a:endParaRPr>
          </a:p>
        </p:txBody>
      </p:sp>
      <p:sp>
        <p:nvSpPr>
          <p:cNvPr id="271" name="Google Shape;271;p16"/>
          <p:cNvSpPr txBox="1">
            <a:spLocks noGrp="1"/>
          </p:cNvSpPr>
          <p:nvPr>
            <p:ph type="body" idx="1"/>
          </p:nvPr>
        </p:nvSpPr>
        <p:spPr>
          <a:xfrm>
            <a:off x="6503158" y="649480"/>
            <a:ext cx="4862447" cy="5546047"/>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sv-SE" sz="2000"/>
              <a:t>Nu ska vi sätta ihop motorn (SQL Server) med kontrollpanelen (SSMS). Vi måste tala om för SSMS var vår specifika "garagehylla" finns så att de kan börja prata med varandra .</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5"/>
        <p:cNvGrpSpPr/>
        <p:nvPr/>
      </p:nvGrpSpPr>
      <p:grpSpPr>
        <a:xfrm>
          <a:off x="0" y="0"/>
          <a:ext cx="0" cy="0"/>
          <a:chOff x="0" y="0"/>
          <a:chExt cx="0" cy="0"/>
        </a:xfrm>
      </p:grpSpPr>
      <p:sp>
        <p:nvSpPr>
          <p:cNvPr id="276" name="Google Shape;276;p1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7" name="Google Shape;277;p17"/>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8" name="Google Shape;278;p17"/>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9" name="Google Shape;279;p17"/>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80" name="Google Shape;280;p17"/>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700"/>
              <a:buFont typeface="Play"/>
              <a:buNone/>
            </a:pPr>
            <a:r>
              <a:rPr lang="sv-SE" sz="3700">
                <a:solidFill>
                  <a:srgbClr val="FFFFFF"/>
                </a:solidFill>
                <a:latin typeface="Play"/>
                <a:ea typeface="Play"/>
                <a:cs typeface="Play"/>
                <a:sym typeface="Play"/>
              </a:rPr>
              <a:t>Koppla ihop SSMS med SQL Server</a:t>
            </a:r>
            <a:endParaRPr/>
          </a:p>
        </p:txBody>
      </p:sp>
      <p:graphicFrame>
        <p:nvGraphicFramePr>
          <p:cNvPr id="281" name="Google Shape;281;p17"/>
          <p:cNvGraphicFramePr/>
          <p:nvPr/>
        </p:nvGraphicFramePr>
        <p:xfrm>
          <a:off x="-1" y="1380344"/>
          <a:ext cx="3000000" cy="3000000"/>
        </p:xfrm>
        <a:graphic>
          <a:graphicData uri="http://schemas.openxmlformats.org/drawingml/2006/table">
            <a:tbl>
              <a:tblPr firstRow="1" bandRow="1">
                <a:noFill/>
                <a:tableStyleId>{822C3B93-EF79-491A-80E4-DA79D8C4CF44}</a:tableStyleId>
              </a:tblPr>
              <a:tblGrid>
                <a:gridCol w="733525">
                  <a:extLst>
                    <a:ext uri="{9D8B030D-6E8A-4147-A177-3AD203B41FA5}">
                      <a16:colId xmlns:a16="http://schemas.microsoft.com/office/drawing/2014/main" val="20000"/>
                    </a:ext>
                  </a:extLst>
                </a:gridCol>
                <a:gridCol w="1438550">
                  <a:extLst>
                    <a:ext uri="{9D8B030D-6E8A-4147-A177-3AD203B41FA5}">
                      <a16:colId xmlns:a16="http://schemas.microsoft.com/office/drawing/2014/main" val="20001"/>
                    </a:ext>
                  </a:extLst>
                </a:gridCol>
                <a:gridCol w="9988925">
                  <a:extLst>
                    <a:ext uri="{9D8B030D-6E8A-4147-A177-3AD203B41FA5}">
                      <a16:colId xmlns:a16="http://schemas.microsoft.com/office/drawing/2014/main" val="20002"/>
                    </a:ext>
                  </a:extLst>
                </a:gridCol>
              </a:tblGrid>
              <a:tr h="463975">
                <a:tc>
                  <a:txBody>
                    <a:bodyPr/>
                    <a:lstStyle/>
                    <a:p>
                      <a:pPr marL="0" marR="0" lvl="0" indent="0" algn="l" rtl="0">
                        <a:lnSpc>
                          <a:spcPct val="100000"/>
                        </a:lnSpc>
                        <a:spcBef>
                          <a:spcPts val="0"/>
                        </a:spcBef>
                        <a:spcAft>
                          <a:spcPts val="0"/>
                        </a:spcAft>
                        <a:buClr>
                          <a:schemeClr val="lt1"/>
                        </a:buClr>
                        <a:buSzPts val="1100"/>
                        <a:buFont typeface="Arial"/>
                        <a:buNone/>
                      </a:pPr>
                      <a:r>
                        <a:rPr lang="sv-SE" sz="1100" b="0" u="none" strike="noStrike" cap="none">
                          <a:solidFill>
                            <a:schemeClr val="lt1"/>
                          </a:solidFill>
                          <a:latin typeface="Arial"/>
                          <a:ea typeface="Arial"/>
                          <a:cs typeface="Arial"/>
                          <a:sym typeface="Arial"/>
                        </a:rPr>
                        <a:t>STEG</a:t>
                      </a:r>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05356"/>
                    </a:solidFill>
                  </a:tcPr>
                </a:tc>
                <a:tc>
                  <a:txBody>
                    <a:bodyPr/>
                    <a:lstStyle/>
                    <a:p>
                      <a:pPr marL="0" marR="0" lvl="0" indent="0" algn="l" rtl="0">
                        <a:lnSpc>
                          <a:spcPct val="100000"/>
                        </a:lnSpc>
                        <a:spcBef>
                          <a:spcPts val="0"/>
                        </a:spcBef>
                        <a:spcAft>
                          <a:spcPts val="0"/>
                        </a:spcAft>
                        <a:buClr>
                          <a:schemeClr val="lt1"/>
                        </a:buClr>
                        <a:buSzPts val="1100"/>
                        <a:buFont typeface="Arial"/>
                        <a:buNone/>
                      </a:pPr>
                      <a:r>
                        <a:rPr lang="sv-SE" sz="1100" b="0" u="none" strike="noStrike" cap="none">
                          <a:solidFill>
                            <a:schemeClr val="lt1"/>
                          </a:solidFill>
                          <a:latin typeface="Arial"/>
                          <a:ea typeface="Arial"/>
                          <a:cs typeface="Arial"/>
                          <a:sym typeface="Arial"/>
                        </a:rPr>
                        <a:t>VAD SKA DU GÖRA?</a:t>
                      </a:r>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05356"/>
                    </a:solidFill>
                  </a:tcPr>
                </a:tc>
                <a:tc>
                  <a:txBody>
                    <a:bodyPr/>
                    <a:lstStyle/>
                    <a:p>
                      <a:pPr marL="0" marR="0" lvl="0" indent="0" algn="l" rtl="0">
                        <a:lnSpc>
                          <a:spcPct val="100000"/>
                        </a:lnSpc>
                        <a:spcBef>
                          <a:spcPts val="0"/>
                        </a:spcBef>
                        <a:spcAft>
                          <a:spcPts val="0"/>
                        </a:spcAft>
                        <a:buClr>
                          <a:schemeClr val="lt1"/>
                        </a:buClr>
                        <a:buSzPts val="1100"/>
                        <a:buFont typeface="Arial"/>
                        <a:buNone/>
                      </a:pPr>
                      <a:r>
                        <a:rPr lang="sv-SE" sz="1100" b="0" u="none" strike="noStrike" cap="none">
                          <a:solidFill>
                            <a:schemeClr val="lt1"/>
                          </a:solidFill>
                          <a:latin typeface="Arial"/>
                          <a:ea typeface="Arial"/>
                          <a:cs typeface="Arial"/>
                          <a:sym typeface="Arial"/>
                        </a:rPr>
                        <a:t>INSTRUKTIONER (ANPASSAT FÖR NYBÖRJARE)</a:t>
                      </a:r>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05356"/>
                    </a:solidFill>
                  </a:tcPr>
                </a:tc>
                <a:extLst>
                  <a:ext uri="{0D108BD9-81ED-4DB2-BD59-A6C34878D82A}">
                    <a16:rowId xmlns:a16="http://schemas.microsoft.com/office/drawing/2014/main" val="10000"/>
                  </a:ext>
                </a:extLst>
              </a:tr>
              <a:tr h="42532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1</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Öppna SSMS</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Sök efter </a:t>
                      </a:r>
                      <a:r>
                        <a:rPr lang="sv-SE" sz="1100" b="1" u="none" strike="noStrike" cap="none">
                          <a:solidFill>
                            <a:schemeClr val="dk1"/>
                          </a:solidFill>
                          <a:latin typeface="Arial"/>
                          <a:ea typeface="Arial"/>
                          <a:cs typeface="Arial"/>
                          <a:sym typeface="Arial"/>
                        </a:rPr>
                        <a:t>"SQL Server Management Studio"</a:t>
                      </a:r>
                      <a:r>
                        <a:rPr lang="sv-SE" sz="1100" b="0" u="none" strike="noStrike" cap="none">
                          <a:solidFill>
                            <a:schemeClr val="dk1"/>
                          </a:solidFill>
                          <a:latin typeface="Arial"/>
                          <a:ea typeface="Arial"/>
                          <a:cs typeface="Arial"/>
                          <a:sym typeface="Arial"/>
                        </a:rPr>
                        <a:t> i Windows startmeny. Klicka för att öppna programmet.</a:t>
                      </a:r>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2532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2</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alpha val="7843"/>
                      </a:srgbClr>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Anslutningsfönstret öppnas automatiskt</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alpha val="7843"/>
                      </a:srgbClr>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Ett fönster som heter </a:t>
                      </a:r>
                      <a:r>
                        <a:rPr lang="sv-SE" sz="1100" b="1" u="none" strike="noStrike" cap="none">
                          <a:solidFill>
                            <a:schemeClr val="dk1"/>
                          </a:solidFill>
                          <a:latin typeface="Arial"/>
                          <a:ea typeface="Arial"/>
                          <a:cs typeface="Arial"/>
                          <a:sym typeface="Arial"/>
                        </a:rPr>
                        <a:t>"Anslut till server"</a:t>
                      </a:r>
                      <a:r>
                        <a:rPr lang="sv-SE" sz="1100" b="0" u="none" strike="noStrike" cap="none">
                          <a:solidFill>
                            <a:schemeClr val="dk1"/>
                          </a:solidFill>
                          <a:latin typeface="Arial"/>
                          <a:ea typeface="Arial"/>
                          <a:cs typeface="Arial"/>
                          <a:sym typeface="Arial"/>
                        </a:rPr>
                        <a:t> (Connect to Server) dyker upp direkt. Det är här vi ska ange var vår SQL Server finns.</a:t>
                      </a:r>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alpha val="7843"/>
                      </a:srgbClr>
                    </a:solidFill>
                  </a:tcPr>
                </a:tc>
                <a:extLst>
                  <a:ext uri="{0D108BD9-81ED-4DB2-BD59-A6C34878D82A}">
                    <a16:rowId xmlns:a16="http://schemas.microsoft.com/office/drawing/2014/main" val="10002"/>
                  </a:ext>
                </a:extLst>
              </a:tr>
              <a:tr h="42532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3</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Välj servertyp</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I rullgardinsmenyn vid </a:t>
                      </a:r>
                      <a:r>
                        <a:rPr lang="sv-SE" sz="1100" b="1" u="none" strike="noStrike" cap="none">
                          <a:solidFill>
                            <a:schemeClr val="dk1"/>
                          </a:solidFill>
                          <a:latin typeface="Arial"/>
                          <a:ea typeface="Arial"/>
                          <a:cs typeface="Arial"/>
                          <a:sym typeface="Arial"/>
                        </a:rPr>
                        <a:t>Servertyp:</a:t>
                      </a:r>
                      <a:r>
                        <a:rPr lang="sv-SE" sz="1100" b="0" u="none" strike="noStrike" cap="none">
                          <a:solidFill>
                            <a:schemeClr val="dk1"/>
                          </a:solidFill>
                          <a:latin typeface="Arial"/>
                          <a:ea typeface="Arial"/>
                          <a:cs typeface="Arial"/>
                          <a:sym typeface="Arial"/>
                        </a:rPr>
                        <a:t> ska det stå </a:t>
                      </a:r>
                      <a:r>
                        <a:rPr lang="sv-SE" sz="1100" b="1" u="none" strike="noStrike" cap="none">
                          <a:solidFill>
                            <a:schemeClr val="dk1"/>
                          </a:solidFill>
                          <a:latin typeface="Arial"/>
                          <a:ea typeface="Arial"/>
                          <a:cs typeface="Arial"/>
                          <a:sym typeface="Arial"/>
                        </a:rPr>
                        <a:t>"Databasmotor"</a:t>
                      </a:r>
                      <a:r>
                        <a:rPr lang="sv-SE" sz="1100" b="0" u="none" strike="noStrike" cap="none">
                          <a:solidFill>
                            <a:schemeClr val="dk1"/>
                          </a:solidFill>
                          <a:latin typeface="Arial"/>
                          <a:ea typeface="Arial"/>
                          <a:cs typeface="Arial"/>
                          <a:sym typeface="Arial"/>
                        </a:rPr>
                        <a:t> (Database Engine). Detta är standard och ska vara förvalt.</a:t>
                      </a:r>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41515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4</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alpha val="7843"/>
                      </a:srgbClr>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Ange servernamn – VIKTIGASTE STEGET!</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alpha val="7843"/>
                      </a:srgbClr>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I rutan </a:t>
                      </a:r>
                      <a:r>
                        <a:rPr lang="sv-SE" sz="1100" b="1" u="none" strike="noStrike" cap="none">
                          <a:solidFill>
                            <a:schemeClr val="dk1"/>
                          </a:solidFill>
                          <a:latin typeface="Arial"/>
                          <a:ea typeface="Arial"/>
                          <a:cs typeface="Arial"/>
                          <a:sym typeface="Arial"/>
                        </a:rPr>
                        <a:t>"Servernamn:"</a:t>
                      </a:r>
                      <a:r>
                        <a:rPr lang="sv-SE" sz="1100" b="0" u="none" strike="noStrike" cap="none">
                          <a:solidFill>
                            <a:schemeClr val="dk1"/>
                          </a:solidFill>
                          <a:latin typeface="Arial"/>
                          <a:ea typeface="Arial"/>
                          <a:cs typeface="Arial"/>
                          <a:sym typeface="Arial"/>
                        </a:rPr>
                        <a:t> ska du skriva namnet på din SQL Server-instans. Använd det namn du sparade i Steg 1.</a:t>
                      </a:r>
                      <a:br>
                        <a:rPr lang="sv-SE" sz="1100" b="0" u="none" strike="noStrike" cap="none">
                          <a:solidFill>
                            <a:srgbClr val="000000"/>
                          </a:solidFill>
                          <a:latin typeface="Arial"/>
                          <a:ea typeface="Arial"/>
                          <a:cs typeface="Arial"/>
                          <a:sym typeface="Arial"/>
                        </a:rPr>
                      </a:br>
                      <a:br>
                        <a:rPr lang="sv-SE" sz="1100" b="0" u="none" strike="noStrike" cap="none">
                          <a:solidFill>
                            <a:srgbClr val="000000"/>
                          </a:solidFill>
                          <a:latin typeface="Arial"/>
                          <a:ea typeface="Arial"/>
                          <a:cs typeface="Arial"/>
                          <a:sym typeface="Arial"/>
                        </a:rPr>
                      </a:br>
                      <a:r>
                        <a:rPr lang="sv-SE" sz="1100" b="1" u="none" strike="noStrike" cap="none">
                          <a:solidFill>
                            <a:schemeClr val="dk1"/>
                          </a:solidFill>
                          <a:latin typeface="Arial"/>
                          <a:ea typeface="Arial"/>
                          <a:cs typeface="Arial"/>
                          <a:sym typeface="Arial"/>
                        </a:rPr>
                        <a:t>Vanliga exempel:</a:t>
                      </a: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 localhost (enklast, fungerar oftast)</a:t>
                      </a: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 DESKTOP-ABC123 (din dators namn)</a:t>
                      </a: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 DESKTOP-ABC123\SQLEXPRESS (om du installerade med instansnamn)</a:t>
                      </a: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 (localdb)\MSSQLLocalDB (om du valde LocalDB)</a:t>
                      </a:r>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alpha val="7843"/>
                      </a:srgbClr>
                    </a:solidFill>
                  </a:tcPr>
                </a:tc>
                <a:extLst>
                  <a:ext uri="{0D108BD9-81ED-4DB2-BD59-A6C34878D82A}">
                    <a16:rowId xmlns:a16="http://schemas.microsoft.com/office/drawing/2014/main" val="10004"/>
                  </a:ext>
                </a:extLst>
              </a:tr>
              <a:tr h="58770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5</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Välj autentiseringsmetod</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Vid </a:t>
                      </a:r>
                      <a:r>
                        <a:rPr lang="sv-SE" sz="1100" b="1" u="none" strike="noStrike" cap="none">
                          <a:solidFill>
                            <a:schemeClr val="dk1"/>
                          </a:solidFill>
                          <a:latin typeface="Arial"/>
                          <a:ea typeface="Arial"/>
                          <a:cs typeface="Arial"/>
                          <a:sym typeface="Arial"/>
                        </a:rPr>
                        <a:t>"Autentisering:"</a:t>
                      </a:r>
                      <a:r>
                        <a:rPr lang="sv-SE" sz="1100" b="0" u="none" strike="noStrike" cap="none">
                          <a:solidFill>
                            <a:schemeClr val="dk1"/>
                          </a:solidFill>
                          <a:latin typeface="Arial"/>
                          <a:ea typeface="Arial"/>
                          <a:cs typeface="Arial"/>
                          <a:sym typeface="Arial"/>
                        </a:rPr>
                        <a:t> väljer du </a:t>
                      </a:r>
                      <a:r>
                        <a:rPr lang="sv-SE" sz="1100" b="1" u="none" strike="noStrike" cap="none">
                          <a:solidFill>
                            <a:schemeClr val="dk1"/>
                          </a:solidFill>
                          <a:latin typeface="Arial"/>
                          <a:ea typeface="Arial"/>
                          <a:cs typeface="Arial"/>
                          <a:sym typeface="Arial"/>
                        </a:rPr>
                        <a:t>"Windows-autentisering"</a:t>
                      </a:r>
                      <a:r>
                        <a:rPr lang="sv-SE" sz="1100" b="0" u="none" strike="noStrike" cap="none">
                          <a:solidFill>
                            <a:schemeClr val="dk1"/>
                          </a:solidFill>
                          <a:latin typeface="Arial"/>
                          <a:ea typeface="Arial"/>
                          <a:cs typeface="Arial"/>
                          <a:sym typeface="Arial"/>
                        </a:rPr>
                        <a:t> (Windows Authentication). Detta innebär att du loggar in med ditt eget Windows-konto, vilket är enklast och säkrast för din lokala dator .</a:t>
                      </a:r>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2532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6</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alpha val="7843"/>
                      </a:srgbClr>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Anslut!</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alpha val="7843"/>
                      </a:srgbClr>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Klicka på knappen </a:t>
                      </a:r>
                      <a:r>
                        <a:rPr lang="sv-SE" sz="1100" b="1" u="none" strike="noStrike" cap="none">
                          <a:solidFill>
                            <a:schemeClr val="dk1"/>
                          </a:solidFill>
                          <a:latin typeface="Arial"/>
                          <a:ea typeface="Arial"/>
                          <a:cs typeface="Arial"/>
                          <a:sym typeface="Arial"/>
                        </a:rPr>
                        <a:t>"Anslut"</a:t>
                      </a:r>
                      <a:r>
                        <a:rPr lang="sv-SE" sz="1100" b="0" u="none" strike="noStrike" cap="none">
                          <a:solidFill>
                            <a:schemeClr val="dk1"/>
                          </a:solidFill>
                          <a:latin typeface="Arial"/>
                          <a:ea typeface="Arial"/>
                          <a:cs typeface="Arial"/>
                          <a:sym typeface="Arial"/>
                        </a:rPr>
                        <a:t> (Connect).</a:t>
                      </a:r>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alpha val="7843"/>
                      </a:srgbClr>
                    </a:solidFill>
                  </a:tcPr>
                </a:tc>
                <a:extLst>
                  <a:ext uri="{0D108BD9-81ED-4DB2-BD59-A6C34878D82A}">
                    <a16:rowId xmlns:a16="http://schemas.microsoft.com/office/drawing/2014/main" val="10006"/>
                  </a:ext>
                </a:extLst>
              </a:tr>
              <a:tr h="109037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7</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Kontrollera att det fungerade</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Om allt är rätt kommer inloggningsfönstret att försvinna och du ser ett nytt fönster med </a:t>
                      </a:r>
                      <a:r>
                        <a:rPr lang="sv-SE" sz="1100" b="1" u="none" strike="noStrike" cap="none">
                          <a:solidFill>
                            <a:schemeClr val="dk1"/>
                          </a:solidFill>
                          <a:latin typeface="Arial"/>
                          <a:ea typeface="Arial"/>
                          <a:cs typeface="Arial"/>
                          <a:sym typeface="Arial"/>
                        </a:rPr>
                        <a:t>"Objektutforskaren"</a:t>
                      </a:r>
                      <a:r>
                        <a:rPr lang="sv-SE" sz="1100" b="0" u="none" strike="noStrike" cap="none">
                          <a:solidFill>
                            <a:schemeClr val="dk1"/>
                          </a:solidFill>
                          <a:latin typeface="Arial"/>
                          <a:ea typeface="Arial"/>
                          <a:cs typeface="Arial"/>
                          <a:sym typeface="Arial"/>
                        </a:rPr>
                        <a:t> (Object Explorer) till vänster. Det ser ut ungefär så här:</a:t>
                      </a:r>
                      <a:br>
                        <a:rPr lang="sv-SE" sz="1100" b="0" u="none" strike="noStrike" cap="none">
                          <a:solidFill>
                            <a:srgbClr val="000000"/>
                          </a:solidFill>
                          <a:latin typeface="Arial"/>
                          <a:ea typeface="Arial"/>
                          <a:cs typeface="Arial"/>
                          <a:sym typeface="Arial"/>
                        </a:rPr>
                      </a:b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Objektutforskaren └── [Ditt servernamn] (SQL Server x.x.x) ├── Databaser │ ├── Systemdatabaser │ └── (Här kommer vår databas snart) ├── Säkerhet └── Serverobjekt</a:t>
                      </a:r>
                      <a:endParaRPr sz="1100" b="0" u="none" strike="noStrike" cap="none">
                        <a:solidFill>
                          <a:schemeClr val="dk1"/>
                        </a:solidFill>
                        <a:latin typeface="Arial"/>
                        <a:ea typeface="Arial"/>
                        <a:cs typeface="Arial"/>
                        <a:sym typeface="Arial"/>
                      </a:endParaRPr>
                    </a:p>
                  </a:txBody>
                  <a:tcPr marL="95025" marR="95025" marT="95025" marB="95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5"/>
        <p:cNvGrpSpPr/>
        <p:nvPr/>
      </p:nvGrpSpPr>
      <p:grpSpPr>
        <a:xfrm>
          <a:off x="0" y="0"/>
          <a:ext cx="0" cy="0"/>
          <a:chOff x="0" y="0"/>
          <a:chExt cx="0" cy="0"/>
        </a:xfrm>
      </p:grpSpPr>
      <p:sp>
        <p:nvSpPr>
          <p:cNvPr id="286" name="Google Shape;286;p1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87" name="Google Shape;287;p18"/>
          <p:cNvSpPr/>
          <p:nvPr/>
        </p:nvSpPr>
        <p:spPr>
          <a:xfrm flipH="1">
            <a:off x="2" y="0"/>
            <a:ext cx="12191998" cy="1575955"/>
          </a:xfrm>
          <a:prstGeom prst="rect">
            <a:avLst/>
          </a:prstGeom>
          <a:gradFill>
            <a:gsLst>
              <a:gs pos="0">
                <a:srgbClr val="000000">
                  <a:alpha val="96078"/>
                </a:srgbClr>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88" name="Google Shape;288;p18"/>
          <p:cNvSpPr/>
          <p:nvPr/>
        </p:nvSpPr>
        <p:spPr>
          <a:xfrm rot="10800000" flipH="1">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89" name="Google Shape;289;p18"/>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90" name="Google Shape;290;p18"/>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rPr>
              <a:t>Vanliga frågor</a:t>
            </a:r>
            <a:endParaRPr sz="4000">
              <a:solidFill>
                <a:srgbClr val="FFFFFF"/>
              </a:solidFill>
            </a:endParaRPr>
          </a:p>
        </p:txBody>
      </p:sp>
      <p:graphicFrame>
        <p:nvGraphicFramePr>
          <p:cNvPr id="291" name="Google Shape;291;p18"/>
          <p:cNvGraphicFramePr/>
          <p:nvPr/>
        </p:nvGraphicFramePr>
        <p:xfrm>
          <a:off x="49967" y="1717622"/>
          <a:ext cx="3000000" cy="3000000"/>
        </p:xfrm>
        <a:graphic>
          <a:graphicData uri="http://schemas.openxmlformats.org/drawingml/2006/table">
            <a:tbl>
              <a:tblPr firstRow="1" bandRow="1">
                <a:noFill/>
                <a:tableStyleId>{822C3B93-EF79-491A-80E4-DA79D8C4CF44}</a:tableStyleId>
              </a:tblPr>
              <a:tblGrid>
                <a:gridCol w="3475175">
                  <a:extLst>
                    <a:ext uri="{9D8B030D-6E8A-4147-A177-3AD203B41FA5}">
                      <a16:colId xmlns:a16="http://schemas.microsoft.com/office/drawing/2014/main" val="20000"/>
                    </a:ext>
                  </a:extLst>
                </a:gridCol>
                <a:gridCol w="8643275">
                  <a:extLst>
                    <a:ext uri="{9D8B030D-6E8A-4147-A177-3AD203B41FA5}">
                      <a16:colId xmlns:a16="http://schemas.microsoft.com/office/drawing/2014/main" val="20001"/>
                    </a:ext>
                  </a:extLst>
                </a:gridCol>
              </a:tblGrid>
              <a:tr h="398175">
                <a:tc>
                  <a:txBody>
                    <a:bodyPr/>
                    <a:lstStyle/>
                    <a:p>
                      <a:pPr marL="0" marR="0" lvl="0" indent="0" algn="l" rtl="0">
                        <a:lnSpc>
                          <a:spcPct val="58593"/>
                        </a:lnSpc>
                        <a:spcBef>
                          <a:spcPts val="0"/>
                        </a:spcBef>
                        <a:spcAft>
                          <a:spcPts val="0"/>
                        </a:spcAft>
                        <a:buClr>
                          <a:schemeClr val="dk1"/>
                        </a:buClr>
                        <a:buSzPts val="3200"/>
                        <a:buFont typeface="Arial"/>
                        <a:buNone/>
                      </a:pPr>
                      <a:r>
                        <a:rPr lang="sv-SE" sz="3200" b="1" u="none" strike="noStrike" cap="none">
                          <a:solidFill>
                            <a:schemeClr val="dk1"/>
                          </a:solidFill>
                          <a:latin typeface="Arial"/>
                          <a:ea typeface="Arial"/>
                          <a:cs typeface="Arial"/>
                          <a:sym typeface="Arial"/>
                        </a:rPr>
                        <a:t>Fråga</a:t>
                      </a:r>
                      <a:endParaRPr sz="3200" b="0" u="none" strike="noStrike" cap="none">
                        <a:solidFill>
                          <a:schemeClr val="dk1"/>
                        </a:solidFill>
                        <a:latin typeface="Arial"/>
                        <a:ea typeface="Arial"/>
                        <a:cs typeface="Arial"/>
                        <a:sym typeface="Arial"/>
                      </a:endParaRPr>
                    </a:p>
                  </a:txBody>
                  <a:tcPr marL="65800" marR="10965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58593"/>
                        </a:lnSpc>
                        <a:spcBef>
                          <a:spcPts val="0"/>
                        </a:spcBef>
                        <a:spcAft>
                          <a:spcPts val="0"/>
                        </a:spcAft>
                        <a:buClr>
                          <a:schemeClr val="dk1"/>
                        </a:buClr>
                        <a:buSzPts val="3200"/>
                        <a:buFont typeface="Arial"/>
                        <a:buNone/>
                      </a:pPr>
                      <a:r>
                        <a:rPr lang="sv-SE" sz="3200" b="1" u="none" strike="noStrike" cap="none">
                          <a:solidFill>
                            <a:schemeClr val="dk1"/>
                          </a:solidFill>
                          <a:latin typeface="Arial"/>
                          <a:ea typeface="Arial"/>
                          <a:cs typeface="Arial"/>
                          <a:sym typeface="Arial"/>
                        </a:rPr>
                        <a:t>Svar</a:t>
                      </a:r>
                      <a:endParaRPr sz="3200" b="0" u="none" strike="noStrike" cap="none">
                        <a:solidFill>
                          <a:schemeClr val="dk1"/>
                        </a:solidFill>
                        <a:latin typeface="Arial"/>
                        <a:ea typeface="Arial"/>
                        <a:cs typeface="Arial"/>
                        <a:sym typeface="Arial"/>
                      </a:endParaRPr>
                    </a:p>
                  </a:txBody>
                  <a:tcPr marL="109650" marR="10965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9207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Vad är skillnaden på SQL Server och SSMS?</a:t>
                      </a:r>
                      <a:endParaRPr sz="1800" b="0" u="none" strike="noStrike" cap="none">
                        <a:latin typeface="Arial"/>
                        <a:ea typeface="Arial"/>
                        <a:cs typeface="Arial"/>
                        <a:sym typeface="Arial"/>
                      </a:endParaRPr>
                    </a:p>
                  </a:txBody>
                  <a:tcPr marL="65800" marR="10965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SQL Server är </a:t>
                      </a:r>
                      <a:r>
                        <a:rPr lang="sv-SE" sz="1800" b="1" u="none" strike="noStrike" cap="none">
                          <a:latin typeface="Arial"/>
                          <a:ea typeface="Arial"/>
                          <a:cs typeface="Arial"/>
                          <a:sym typeface="Arial"/>
                        </a:rPr>
                        <a:t>motorn</a:t>
                      </a:r>
                      <a:r>
                        <a:rPr lang="sv-SE" sz="1800" b="0" u="none" strike="noStrike" cap="none">
                          <a:latin typeface="Arial"/>
                          <a:ea typeface="Arial"/>
                          <a:cs typeface="Arial"/>
                          <a:sym typeface="Arial"/>
                        </a:rPr>
                        <a:t> som körs i bakgrunden. SSMS är </a:t>
                      </a:r>
                      <a:r>
                        <a:rPr lang="sv-SE" sz="1800" b="1" u="none" strike="noStrike" cap="none">
                          <a:latin typeface="Arial"/>
                          <a:ea typeface="Arial"/>
                          <a:cs typeface="Arial"/>
                          <a:sym typeface="Arial"/>
                        </a:rPr>
                        <a:t>verktyget</a:t>
                      </a:r>
                      <a:r>
                        <a:rPr lang="sv-SE" sz="1800" b="0" u="none" strike="noStrike" cap="none">
                          <a:latin typeface="Arial"/>
                          <a:ea typeface="Arial"/>
                          <a:cs typeface="Arial"/>
                          <a:sym typeface="Arial"/>
                        </a:rPr>
                        <a:t> du använder för att prata med motorn. Det här steget handlar om att få dem att prata med varandra.</a:t>
                      </a:r>
                      <a:endParaRPr/>
                    </a:p>
                  </a:txBody>
                  <a:tcPr marL="109650" marR="6580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972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Vad är "localhost"?</a:t>
                      </a:r>
                      <a:endParaRPr sz="1800" b="0" u="none" strike="noStrike" cap="none">
                        <a:latin typeface="Arial"/>
                        <a:ea typeface="Arial"/>
                        <a:cs typeface="Arial"/>
                        <a:sym typeface="Arial"/>
                      </a:endParaRPr>
                    </a:p>
                  </a:txBody>
                  <a:tcPr marL="65800" marR="10965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localhost är en speciell adress som alltid pekar på din egen dator. Det är det enklaste sättet att ansluta till en lokalt installerad SQL Server.</a:t>
                      </a:r>
                      <a:endParaRPr/>
                    </a:p>
                  </a:txBody>
                  <a:tcPr marL="109650" marR="6580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594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Vad är Windows-autentisering?</a:t>
                      </a:r>
                      <a:endParaRPr sz="1800" b="0" u="none" strike="noStrike" cap="none">
                        <a:latin typeface="Arial"/>
                        <a:ea typeface="Arial"/>
                        <a:cs typeface="Arial"/>
                        <a:sym typeface="Arial"/>
                      </a:endParaRPr>
                    </a:p>
                  </a:txBody>
                  <a:tcPr marL="65800" marR="10965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Det betyder att du använder ditt vanliga Windows-konto för att logga in. Inget extra lösenord att komma ihåg!</a:t>
                      </a:r>
                      <a:endParaRPr/>
                    </a:p>
                  </a:txBody>
                  <a:tcPr marL="109650" marR="6580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2816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Jag får felmeddelande – vad gör jag?</a:t>
                      </a:r>
                      <a:endParaRPr sz="1800" b="0" u="none" strike="noStrike" cap="none">
                        <a:latin typeface="Arial"/>
                        <a:ea typeface="Arial"/>
                        <a:cs typeface="Arial"/>
                        <a:sym typeface="Arial"/>
                      </a:endParaRPr>
                    </a:p>
                  </a:txBody>
                  <a:tcPr marL="65800" marR="10965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Lugn! Prova följande:</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1. Kontrollera att du stavat servernamnet rätt</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2. Testa localhost om du inte är säker</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3. Starta om SQL Server-tjänsten i SQL Server Configuration Manager</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4. Starta om datorn</a:t>
                      </a:r>
                      <a:endParaRPr/>
                    </a:p>
                  </a:txBody>
                  <a:tcPr marL="109650" marR="6580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6594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Vad är "Systemdatabaser" som syns?</a:t>
                      </a:r>
                      <a:endParaRPr sz="1800" b="0" u="none" strike="noStrike" cap="none">
                        <a:latin typeface="Arial"/>
                        <a:ea typeface="Arial"/>
                        <a:cs typeface="Arial"/>
                        <a:sym typeface="Arial"/>
                      </a:endParaRPr>
                    </a:p>
                  </a:txBody>
                  <a:tcPr marL="65800" marR="10965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Det är fyra databaser som SQL Server skapar automatiskt för att hantera sig själv. Vi ska </a:t>
                      </a:r>
                      <a:r>
                        <a:rPr lang="sv-SE" sz="1800" b="1" u="none" strike="noStrike" cap="none">
                          <a:latin typeface="Arial"/>
                          <a:ea typeface="Arial"/>
                          <a:cs typeface="Arial"/>
                          <a:sym typeface="Arial"/>
                        </a:rPr>
                        <a:t>inte</a:t>
                      </a:r>
                      <a:r>
                        <a:rPr lang="sv-SE" sz="1800" b="0" u="none" strike="noStrike" cap="none">
                          <a:latin typeface="Arial"/>
                          <a:ea typeface="Arial"/>
                          <a:cs typeface="Arial"/>
                          <a:sym typeface="Arial"/>
                        </a:rPr>
                        <a:t> röra dem. Vår egen databas skapar vi i nästa steg.</a:t>
                      </a:r>
                      <a:endParaRPr/>
                    </a:p>
                  </a:txBody>
                  <a:tcPr marL="109650" marR="6580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5972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Varför ser jag inga egna databaser?</a:t>
                      </a:r>
                      <a:endParaRPr sz="1800" b="0" u="none" strike="noStrike" cap="none">
                        <a:latin typeface="Arial"/>
                        <a:ea typeface="Arial"/>
                        <a:cs typeface="Arial"/>
                        <a:sym typeface="Arial"/>
                      </a:endParaRPr>
                    </a:p>
                  </a:txBody>
                  <a:tcPr marL="65800" marR="10965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För att vi inte har skapat någon än! I Steg 7 skapar vi vår databas NetworkSecurityML.</a:t>
                      </a:r>
                      <a:endParaRPr/>
                    </a:p>
                  </a:txBody>
                  <a:tcPr marL="109650" marR="65800" marT="68525" marB="68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5"/>
        <p:cNvGrpSpPr/>
        <p:nvPr/>
      </p:nvGrpSpPr>
      <p:grpSpPr>
        <a:xfrm>
          <a:off x="0" y="0"/>
          <a:ext cx="0" cy="0"/>
          <a:chOff x="0" y="0"/>
          <a:chExt cx="0" cy="0"/>
        </a:xfrm>
      </p:grpSpPr>
      <p:sp>
        <p:nvSpPr>
          <p:cNvPr id="296" name="Google Shape;296;p1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97" name="Google Shape;297;p19"/>
          <p:cNvSpPr/>
          <p:nvPr/>
        </p:nvSpPr>
        <p:spPr>
          <a:xfrm flipH="1">
            <a:off x="2" y="0"/>
            <a:ext cx="12191998" cy="1575955"/>
          </a:xfrm>
          <a:prstGeom prst="rect">
            <a:avLst/>
          </a:prstGeom>
          <a:gradFill>
            <a:gsLst>
              <a:gs pos="0">
                <a:srgbClr val="000000">
                  <a:alpha val="96078"/>
                </a:srgbClr>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98" name="Google Shape;298;p19"/>
          <p:cNvSpPr/>
          <p:nvPr/>
        </p:nvSpPr>
        <p:spPr>
          <a:xfrm rot="10800000" flipH="1">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99" name="Google Shape;299;p19"/>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0" name="Google Shape;300;p19"/>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rPr>
              <a:t>Felsökning</a:t>
            </a:r>
            <a:endParaRPr sz="4000">
              <a:solidFill>
                <a:srgbClr val="FFFFFF"/>
              </a:solidFill>
            </a:endParaRPr>
          </a:p>
        </p:txBody>
      </p:sp>
      <p:graphicFrame>
        <p:nvGraphicFramePr>
          <p:cNvPr id="301" name="Google Shape;301;p19"/>
          <p:cNvGraphicFramePr/>
          <p:nvPr/>
        </p:nvGraphicFramePr>
        <p:xfrm>
          <a:off x="156147" y="1742606"/>
          <a:ext cx="3000000" cy="3000000"/>
        </p:xfrm>
        <a:graphic>
          <a:graphicData uri="http://schemas.openxmlformats.org/drawingml/2006/table">
            <a:tbl>
              <a:tblPr firstRow="1" bandRow="1">
                <a:solidFill>
                  <a:schemeClr val="lt1"/>
                </a:solidFill>
                <a:tableStyleId>{822C3B93-EF79-491A-80E4-DA79D8C4CF44}</a:tableStyleId>
              </a:tblPr>
              <a:tblGrid>
                <a:gridCol w="2516900">
                  <a:extLst>
                    <a:ext uri="{9D8B030D-6E8A-4147-A177-3AD203B41FA5}">
                      <a16:colId xmlns:a16="http://schemas.microsoft.com/office/drawing/2014/main" val="20000"/>
                    </a:ext>
                  </a:extLst>
                </a:gridCol>
                <a:gridCol w="3336625">
                  <a:extLst>
                    <a:ext uri="{9D8B030D-6E8A-4147-A177-3AD203B41FA5}">
                      <a16:colId xmlns:a16="http://schemas.microsoft.com/office/drawing/2014/main" val="20001"/>
                    </a:ext>
                  </a:extLst>
                </a:gridCol>
                <a:gridCol w="5991075">
                  <a:extLst>
                    <a:ext uri="{9D8B030D-6E8A-4147-A177-3AD203B41FA5}">
                      <a16:colId xmlns:a16="http://schemas.microsoft.com/office/drawing/2014/main" val="20002"/>
                    </a:ext>
                  </a:extLst>
                </a:gridCol>
              </a:tblGrid>
              <a:tr h="680050">
                <a:tc>
                  <a:txBody>
                    <a:bodyPr/>
                    <a:lstStyle/>
                    <a:p>
                      <a:pPr marL="0" marR="0" lvl="0" indent="0" algn="l" rtl="0">
                        <a:lnSpc>
                          <a:spcPct val="125000"/>
                        </a:lnSpc>
                        <a:spcBef>
                          <a:spcPts val="0"/>
                        </a:spcBef>
                        <a:spcAft>
                          <a:spcPts val="0"/>
                        </a:spcAft>
                        <a:buClr>
                          <a:schemeClr val="lt1"/>
                        </a:buClr>
                        <a:buSzPts val="1500"/>
                        <a:buFont typeface="Arial"/>
                        <a:buNone/>
                      </a:pPr>
                      <a:r>
                        <a:rPr lang="sv-SE" sz="1500" b="0" u="none" strike="noStrike" cap="none">
                          <a:solidFill>
                            <a:schemeClr val="lt1"/>
                          </a:solidFill>
                          <a:latin typeface="Arial"/>
                          <a:ea typeface="Arial"/>
                          <a:cs typeface="Arial"/>
                          <a:sym typeface="Arial"/>
                        </a:rPr>
                        <a:t>Problem</a:t>
                      </a:r>
                      <a:endParaRPr/>
                    </a:p>
                  </a:txBody>
                  <a:tcPr marL="124600" marR="159750" marT="95850" marB="95850"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125000"/>
                        </a:lnSpc>
                        <a:spcBef>
                          <a:spcPts val="0"/>
                        </a:spcBef>
                        <a:spcAft>
                          <a:spcPts val="0"/>
                        </a:spcAft>
                        <a:buClr>
                          <a:schemeClr val="lt1"/>
                        </a:buClr>
                        <a:buSzPts val="1500"/>
                        <a:buFont typeface="Arial"/>
                        <a:buNone/>
                      </a:pPr>
                      <a:r>
                        <a:rPr lang="sv-SE" sz="1500" b="0" u="none" strike="noStrike" cap="none">
                          <a:solidFill>
                            <a:schemeClr val="lt1"/>
                          </a:solidFill>
                          <a:latin typeface="Arial"/>
                          <a:ea typeface="Arial"/>
                          <a:cs typeface="Arial"/>
                          <a:sym typeface="Arial"/>
                        </a:rPr>
                        <a:t>Felmeddelande</a:t>
                      </a:r>
                      <a:endParaRPr/>
                    </a:p>
                  </a:txBody>
                  <a:tcPr marL="124600" marR="159750" marT="95850" marB="9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125000"/>
                        </a:lnSpc>
                        <a:spcBef>
                          <a:spcPts val="0"/>
                        </a:spcBef>
                        <a:spcAft>
                          <a:spcPts val="0"/>
                        </a:spcAft>
                        <a:buClr>
                          <a:schemeClr val="lt1"/>
                        </a:buClr>
                        <a:buSzPts val="1500"/>
                        <a:buFont typeface="Arial"/>
                        <a:buNone/>
                      </a:pPr>
                      <a:r>
                        <a:rPr lang="sv-SE" sz="1500" b="0" u="none" strike="noStrike" cap="none">
                          <a:solidFill>
                            <a:schemeClr val="lt1"/>
                          </a:solidFill>
                          <a:latin typeface="Arial"/>
                          <a:ea typeface="Arial"/>
                          <a:cs typeface="Arial"/>
                          <a:sym typeface="Arial"/>
                        </a:rPr>
                        <a:t>Lösning</a:t>
                      </a:r>
                      <a:endParaRPr/>
                    </a:p>
                  </a:txBody>
                  <a:tcPr marL="124600" marR="159750" marT="95850" marB="9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68005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Fel servernamn</a:t>
                      </a:r>
                      <a:endParaRPr sz="2000" b="0" u="none" strike="noStrike" cap="none">
                        <a:solidFill>
                          <a:schemeClr val="dk1"/>
                        </a:solidFill>
                        <a:latin typeface="Arial"/>
                        <a:ea typeface="Arial"/>
                        <a:cs typeface="Arial"/>
                        <a:sym typeface="Arial"/>
                      </a:endParaRPr>
                    </a:p>
                  </a:txBody>
                  <a:tcPr marL="124600" marR="159750" marT="95850" marB="95850"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"Cannot connect to server"</a:t>
                      </a:r>
                      <a:endParaRPr/>
                    </a:p>
                  </a:txBody>
                  <a:tcPr marL="124600" marR="159750" marT="95850" marB="9585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8250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Dubbelkolla stavningen. Prova localhost.</a:t>
                      </a:r>
                      <a:endParaRPr/>
                    </a:p>
                  </a:txBody>
                  <a:tcPr marL="124600" marR="95850" marT="95850" marB="95850"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r h="13868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SQL Server är stoppad</a:t>
                      </a:r>
                      <a:endParaRPr sz="2000" b="0" u="none" strike="noStrike" cap="none">
                        <a:solidFill>
                          <a:schemeClr val="dk1"/>
                        </a:solidFill>
                        <a:latin typeface="Arial"/>
                        <a:ea typeface="Arial"/>
                        <a:cs typeface="Arial"/>
                        <a:sym typeface="Arial"/>
                      </a:endParaRPr>
                    </a:p>
                  </a:txBody>
                  <a:tcPr marL="124600" marR="159750" marT="95850" marB="9585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"Network-related instance-specific error"</a:t>
                      </a:r>
                      <a:endParaRPr/>
                    </a:p>
                  </a:txBody>
                  <a:tcPr marL="124600" marR="159750" marT="95850" marB="9585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Öppna </a:t>
                      </a:r>
                      <a:r>
                        <a:rPr lang="sv-SE" sz="2000" b="1" u="none" strike="noStrike" cap="none">
                          <a:solidFill>
                            <a:schemeClr val="dk1"/>
                          </a:solidFill>
                          <a:latin typeface="Arial"/>
                          <a:ea typeface="Arial"/>
                          <a:cs typeface="Arial"/>
                          <a:sym typeface="Arial"/>
                        </a:rPr>
                        <a:t>SQL Server Configuration Manager</a:t>
                      </a:r>
                      <a:r>
                        <a:rPr lang="sv-SE" sz="2000" b="0" u="none" strike="noStrike" cap="none">
                          <a:solidFill>
                            <a:schemeClr val="dk1"/>
                          </a:solidFill>
                          <a:latin typeface="Arial"/>
                          <a:ea typeface="Arial"/>
                          <a:cs typeface="Arial"/>
                          <a:sym typeface="Arial"/>
                        </a:rPr>
                        <a:t> och starta tjänsten "SQL Server (MSSQLSERVER)".</a:t>
                      </a:r>
                      <a:endParaRPr/>
                    </a:p>
                  </a:txBody>
                  <a:tcPr marL="124600" marR="95850" marT="95850" marB="9585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10401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Brandväggen blockerar</a:t>
                      </a:r>
                      <a:endParaRPr sz="2000" b="0" u="none" strike="noStrike" cap="none">
                        <a:solidFill>
                          <a:schemeClr val="dk1"/>
                        </a:solidFill>
                        <a:latin typeface="Arial"/>
                        <a:ea typeface="Arial"/>
                        <a:cs typeface="Arial"/>
                        <a:sym typeface="Arial"/>
                      </a:endParaRPr>
                    </a:p>
                  </a:txBody>
                  <a:tcPr marL="124600" marR="159750" marT="95850" marB="95850"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"Connection timeout"</a:t>
                      </a:r>
                      <a:endParaRPr/>
                    </a:p>
                  </a:txBody>
                  <a:tcPr marL="124600" marR="159750" marT="95850" marB="9585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För lokal utveckling kan du tillfälligt stänga av brandväggen för att testa.</a:t>
                      </a:r>
                      <a:endParaRPr/>
                    </a:p>
                  </a:txBody>
                  <a:tcPr marL="124600" marR="95850" marT="95850" marB="95850"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3"/>
                  </a:ext>
                </a:extLst>
              </a:tr>
              <a:tr h="12801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Instansnamn fel</a:t>
                      </a:r>
                      <a:endParaRPr sz="2000" b="0" u="none" strike="noStrike" cap="none">
                        <a:solidFill>
                          <a:schemeClr val="dk1"/>
                        </a:solidFill>
                        <a:latin typeface="Arial"/>
                        <a:ea typeface="Arial"/>
                        <a:cs typeface="Arial"/>
                        <a:sym typeface="Arial"/>
                      </a:endParaRPr>
                    </a:p>
                  </a:txBody>
                  <a:tcPr marL="124600" marR="159750" marT="95850" marB="9585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"Cannot find server"</a:t>
                      </a:r>
                      <a:endParaRPr/>
                    </a:p>
                  </a:txBody>
                  <a:tcPr marL="124600" marR="159750" marT="95850" marB="9585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8250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Om du installerade med instansnamn (t.ex. SQLEXPRESS), måste du skriva DATORNAMN\SQLEXPRESS.</a:t>
                      </a:r>
                      <a:endParaRPr/>
                    </a:p>
                  </a:txBody>
                  <a:tcPr marL="124600" marR="95850" marT="95850" marB="9585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5"/>
        <p:cNvGrpSpPr/>
        <p:nvPr/>
      </p:nvGrpSpPr>
      <p:grpSpPr>
        <a:xfrm>
          <a:off x="0" y="0"/>
          <a:ext cx="0" cy="0"/>
          <a:chOff x="0" y="0"/>
          <a:chExt cx="0" cy="0"/>
        </a:xfrm>
      </p:grpSpPr>
      <p:sp>
        <p:nvSpPr>
          <p:cNvPr id="306" name="Google Shape;306;p2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7" name="Google Shape;307;p20"/>
          <p:cNvSpPr/>
          <p:nvPr/>
        </p:nvSpPr>
        <p:spPr>
          <a:xfrm flipH="1">
            <a:off x="-1" y="-1"/>
            <a:ext cx="12191998" cy="1590742"/>
          </a:xfrm>
          <a:prstGeom prst="rect">
            <a:avLst/>
          </a:prstGeom>
          <a:gradFill>
            <a:gsLst>
              <a:gs pos="0">
                <a:srgbClr val="000000"/>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8" name="Google Shape;308;p20"/>
          <p:cNvSpPr/>
          <p:nvPr/>
        </p:nvSpPr>
        <p:spPr>
          <a:xfrm rot="10800000" flipH="1">
            <a:off x="-3" y="0"/>
            <a:ext cx="8115306" cy="1590742"/>
          </a:xfrm>
          <a:prstGeom prst="rect">
            <a:avLst/>
          </a:prstGeom>
          <a:gradFill>
            <a:gsLst>
              <a:gs pos="0">
                <a:srgbClr val="156082">
                  <a:alpha val="0"/>
                </a:srgbClr>
              </a:gs>
              <a:gs pos="20000">
                <a:srgbClr val="156082">
                  <a:alpha val="0"/>
                </a:srgbClr>
              </a:gs>
              <a:gs pos="100000">
                <a:srgbClr val="0A3041">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9" name="Google Shape;309;p20"/>
          <p:cNvSpPr/>
          <p:nvPr/>
        </p:nvSpPr>
        <p:spPr>
          <a:xfrm flipH="1">
            <a:off x="8115299" y="-1"/>
            <a:ext cx="4076698" cy="1590742"/>
          </a:xfrm>
          <a:prstGeom prst="rect">
            <a:avLst/>
          </a:prstGeom>
          <a:gradFill>
            <a:gsLst>
              <a:gs pos="0">
                <a:srgbClr val="156082">
                  <a:alpha val="65882"/>
                </a:srgbClr>
              </a:gs>
              <a:gs pos="100000">
                <a:srgbClr val="000000">
                  <a:alpha val="30196"/>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10" name="Google Shape;310;p20"/>
          <p:cNvSpPr/>
          <p:nvPr/>
        </p:nvSpPr>
        <p:spPr>
          <a:xfrm>
            <a:off x="459350" y="-1"/>
            <a:ext cx="11732646" cy="1597433"/>
          </a:xfrm>
          <a:prstGeom prst="rect">
            <a:avLst/>
          </a:prstGeom>
          <a:gradFill>
            <a:gsLst>
              <a:gs pos="0">
                <a:srgbClr val="000000">
                  <a:alpha val="0"/>
                </a:srgbClr>
              </a:gs>
              <a:gs pos="50000">
                <a:srgbClr val="000000">
                  <a:alpha val="0"/>
                </a:srgbClr>
              </a:gs>
              <a:gs pos="99000">
                <a:srgbClr val="0A3041">
                  <a:alpha val="52156"/>
                </a:srgbClr>
              </a:gs>
              <a:gs pos="100000">
                <a:srgbClr val="0A3041">
                  <a:alpha val="52156"/>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11" name="Google Shape;311;p20"/>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400"/>
              <a:buFont typeface="Play"/>
              <a:buNone/>
            </a:pPr>
            <a:r>
              <a:rPr lang="sv-SE" sz="3400">
                <a:solidFill>
                  <a:srgbClr val="FFFFFF"/>
                </a:solidFill>
              </a:rPr>
              <a:t>Steg 4:   Installera Python. </a:t>
            </a:r>
            <a:br>
              <a:rPr lang="sv-SE" sz="3400">
                <a:solidFill>
                  <a:srgbClr val="FFFFFF"/>
                </a:solidFill>
              </a:rPr>
            </a:br>
            <a:r>
              <a:rPr lang="sv-SE" sz="3400">
                <a:solidFill>
                  <a:srgbClr val="FFFFFF"/>
                </a:solidFill>
              </a:rPr>
              <a:t>Python är språket som vår ML-modell talar. </a:t>
            </a:r>
            <a:endParaRPr sz="3400">
              <a:solidFill>
                <a:srgbClr val="FFFFFF"/>
              </a:solidFill>
            </a:endParaRPr>
          </a:p>
        </p:txBody>
      </p:sp>
      <p:sp>
        <p:nvSpPr>
          <p:cNvPr id="312" name="Google Shape;312;p20"/>
          <p:cNvSpPr txBox="1">
            <a:spLocks noGrp="1"/>
          </p:cNvSpPr>
          <p:nvPr>
            <p:ph type="body" idx="1"/>
          </p:nvPr>
        </p:nvSpPr>
        <p:spPr>
          <a:xfrm>
            <a:off x="1371599" y="2318197"/>
            <a:ext cx="9724031" cy="3683358"/>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sv-SE" sz="2000">
                <a:highlight>
                  <a:srgbClr val="FFFFFF"/>
                </a:highlight>
              </a:rPr>
              <a:t>Det är ett programmeringsspråk som vi använder för att skriva koden som:</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Tränar modellen att känna igen attacker</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Hämtar data från SQL Server</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Gör prediktioner på ny nätverkstrafik</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Sparar resultaten tillbaka i databasen</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Utan Python installerat kan vi inte köra någon ML-kod alls .</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6"/>
        <p:cNvGrpSpPr/>
        <p:nvPr/>
      </p:nvGrpSpPr>
      <p:grpSpPr>
        <a:xfrm>
          <a:off x="0" y="0"/>
          <a:ext cx="0" cy="0"/>
          <a:chOff x="0" y="0"/>
          <a:chExt cx="0" cy="0"/>
        </a:xfrm>
      </p:grpSpPr>
      <p:sp>
        <p:nvSpPr>
          <p:cNvPr id="317" name="Google Shape;317;p2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18" name="Google Shape;318;p21"/>
          <p:cNvSpPr/>
          <p:nvPr/>
        </p:nvSpPr>
        <p:spPr>
          <a:xfrm flipH="1">
            <a:off x="2" y="0"/>
            <a:ext cx="12191998" cy="1575955"/>
          </a:xfrm>
          <a:prstGeom prst="rect">
            <a:avLst/>
          </a:prstGeom>
          <a:gradFill>
            <a:gsLst>
              <a:gs pos="0">
                <a:srgbClr val="000000">
                  <a:alpha val="96078"/>
                </a:srgbClr>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19" name="Google Shape;319;p21"/>
          <p:cNvSpPr/>
          <p:nvPr/>
        </p:nvSpPr>
        <p:spPr>
          <a:xfrm rot="10800000" flipH="1">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20" name="Google Shape;320;p21"/>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21" name="Google Shape;321;p21"/>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rPr>
              <a:t>Python-installation</a:t>
            </a:r>
            <a:endParaRPr sz="4000">
              <a:solidFill>
                <a:srgbClr val="FFFFFF"/>
              </a:solidFill>
            </a:endParaRPr>
          </a:p>
        </p:txBody>
      </p:sp>
      <p:graphicFrame>
        <p:nvGraphicFramePr>
          <p:cNvPr id="322" name="Google Shape;322;p21"/>
          <p:cNvGraphicFramePr/>
          <p:nvPr/>
        </p:nvGraphicFramePr>
        <p:xfrm>
          <a:off x="12491" y="1573967"/>
          <a:ext cx="3000000" cy="3000000"/>
        </p:xfrm>
        <a:graphic>
          <a:graphicData uri="http://schemas.openxmlformats.org/drawingml/2006/table">
            <a:tbl>
              <a:tblPr firstRow="1" bandRow="1">
                <a:solidFill>
                  <a:schemeClr val="lt1"/>
                </a:solidFill>
                <a:tableStyleId>{822C3B93-EF79-491A-80E4-DA79D8C4CF44}</a:tableStyleId>
              </a:tblPr>
              <a:tblGrid>
                <a:gridCol w="427300">
                  <a:extLst>
                    <a:ext uri="{9D8B030D-6E8A-4147-A177-3AD203B41FA5}">
                      <a16:colId xmlns:a16="http://schemas.microsoft.com/office/drawing/2014/main" val="20000"/>
                    </a:ext>
                  </a:extLst>
                </a:gridCol>
                <a:gridCol w="2321600">
                  <a:extLst>
                    <a:ext uri="{9D8B030D-6E8A-4147-A177-3AD203B41FA5}">
                      <a16:colId xmlns:a16="http://schemas.microsoft.com/office/drawing/2014/main" val="20001"/>
                    </a:ext>
                  </a:extLst>
                </a:gridCol>
                <a:gridCol w="9429100">
                  <a:extLst>
                    <a:ext uri="{9D8B030D-6E8A-4147-A177-3AD203B41FA5}">
                      <a16:colId xmlns:a16="http://schemas.microsoft.com/office/drawing/2014/main" val="20002"/>
                    </a:ext>
                  </a:extLst>
                </a:gridCol>
              </a:tblGrid>
              <a:tr h="230950">
                <a:tc>
                  <a:txBody>
                    <a:bodyPr/>
                    <a:lstStyle/>
                    <a:p>
                      <a:pPr marL="0" marR="0" lvl="0" indent="0" algn="l" rtl="0">
                        <a:lnSpc>
                          <a:spcPct val="100000"/>
                        </a:lnSpc>
                        <a:spcBef>
                          <a:spcPts val="0"/>
                        </a:spcBef>
                        <a:spcAft>
                          <a:spcPts val="0"/>
                        </a:spcAft>
                        <a:buClr>
                          <a:schemeClr val="lt1"/>
                        </a:buClr>
                        <a:buSzPts val="900"/>
                        <a:buFont typeface="Arial"/>
                        <a:buNone/>
                      </a:pPr>
                      <a:r>
                        <a:rPr lang="sv-SE" sz="900" b="0" u="none" strike="noStrike" cap="none">
                          <a:solidFill>
                            <a:schemeClr val="lt1"/>
                          </a:solidFill>
                          <a:latin typeface="Arial"/>
                          <a:ea typeface="Arial"/>
                          <a:cs typeface="Arial"/>
                          <a:sym typeface="Arial"/>
                        </a:rPr>
                        <a:t>Steg</a:t>
                      </a:r>
                      <a:endParaRPr/>
                    </a:p>
                  </a:txBody>
                  <a:tcPr marL="74475" marR="95475" marT="57275" marB="57275"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chemeClr val="lt1"/>
                        </a:buClr>
                        <a:buSzPts val="900"/>
                        <a:buFont typeface="Arial"/>
                        <a:buNone/>
                      </a:pPr>
                      <a:r>
                        <a:rPr lang="sv-SE" sz="900" b="0" u="none" strike="noStrike" cap="none">
                          <a:solidFill>
                            <a:schemeClr val="lt1"/>
                          </a:solidFill>
                          <a:latin typeface="Arial"/>
                          <a:ea typeface="Arial"/>
                          <a:cs typeface="Arial"/>
                          <a:sym typeface="Arial"/>
                        </a:rPr>
                        <a:t>Vad ska du göra?</a:t>
                      </a:r>
                      <a:endParaRPr/>
                    </a:p>
                  </a:txBody>
                  <a:tcPr marL="74475" marR="95475" marT="57275" marB="57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chemeClr val="lt1"/>
                        </a:buClr>
                        <a:buSzPts val="900"/>
                        <a:buFont typeface="Arial"/>
                        <a:buNone/>
                      </a:pPr>
                      <a:r>
                        <a:rPr lang="sv-SE" sz="900" b="0" u="none" strike="noStrike" cap="none">
                          <a:solidFill>
                            <a:schemeClr val="lt1"/>
                          </a:solidFill>
                          <a:latin typeface="Arial"/>
                          <a:ea typeface="Arial"/>
                          <a:cs typeface="Arial"/>
                          <a:sym typeface="Arial"/>
                        </a:rPr>
                        <a:t>Instruktioner (anpassat för nybörjare)</a:t>
                      </a:r>
                      <a:endParaRPr/>
                    </a:p>
                  </a:txBody>
                  <a:tcPr marL="74475" marR="95475" marT="57275" marB="57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230950">
                <a:tc>
                  <a:txBody>
                    <a:bodyPr/>
                    <a:lstStyle/>
                    <a:p>
                      <a:pPr marL="0" marR="0" lvl="0" indent="0" algn="l" rtl="0">
                        <a:lnSpc>
                          <a:spcPct val="100000"/>
                        </a:lnSpc>
                        <a:spcBef>
                          <a:spcPts val="0"/>
                        </a:spcBef>
                        <a:spcAft>
                          <a:spcPts val="0"/>
                        </a:spcAft>
                        <a:buClr>
                          <a:schemeClr val="dk1"/>
                        </a:buClr>
                        <a:buSzPts val="900"/>
                        <a:buFont typeface="Arial"/>
                        <a:buNone/>
                      </a:pPr>
                      <a:r>
                        <a:rPr lang="sv-SE" sz="900" b="1" u="none" strike="noStrike" cap="none">
                          <a:solidFill>
                            <a:schemeClr val="dk1"/>
                          </a:solidFill>
                          <a:latin typeface="Arial"/>
                          <a:ea typeface="Arial"/>
                          <a:cs typeface="Arial"/>
                          <a:sym typeface="Arial"/>
                        </a:rPr>
                        <a:t>1</a:t>
                      </a:r>
                      <a:endParaRPr sz="900" b="0" u="none" strike="noStrike" cap="none">
                        <a:solidFill>
                          <a:schemeClr val="dk1"/>
                        </a:solidFill>
                        <a:latin typeface="Arial"/>
                        <a:ea typeface="Arial"/>
                        <a:cs typeface="Arial"/>
                        <a:sym typeface="Arial"/>
                      </a:endParaRPr>
                    </a:p>
                  </a:txBody>
                  <a:tcPr marL="74475" marR="95475" marT="57275" marB="57275"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Ladda ner Python</a:t>
                      </a:r>
                      <a:endParaRPr sz="11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Gå till </a:t>
                      </a:r>
                      <a:r>
                        <a:rPr lang="sv-SE" sz="1200" b="0" u="sng" strike="noStrike" cap="none">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python.org</a:t>
                      </a:r>
                      <a:r>
                        <a:rPr lang="sv-SE" sz="1200" b="0" u="none" strike="noStrike" cap="none">
                          <a:solidFill>
                            <a:schemeClr val="dk1"/>
                          </a:solidFill>
                          <a:latin typeface="Arial"/>
                          <a:ea typeface="Arial"/>
                          <a:cs typeface="Arial"/>
                          <a:sym typeface="Arial"/>
                        </a:rPr>
                        <a:t>. Klicka på den stora gula knappen </a:t>
                      </a:r>
                      <a:r>
                        <a:rPr lang="sv-SE" sz="1200" b="1" u="none" strike="noStrike" cap="none">
                          <a:solidFill>
                            <a:schemeClr val="dk1"/>
                          </a:solidFill>
                          <a:latin typeface="Arial"/>
                          <a:ea typeface="Arial"/>
                          <a:cs typeface="Arial"/>
                          <a:sym typeface="Arial"/>
                        </a:rPr>
                        <a:t>"Download Python"</a:t>
                      </a:r>
                      <a:r>
                        <a:rPr lang="sv-SE" sz="1200" b="0" u="none" strike="noStrike" cap="none">
                          <a:solidFill>
                            <a:schemeClr val="dk1"/>
                          </a:solidFill>
                          <a:latin typeface="Arial"/>
                          <a:ea typeface="Arial"/>
                          <a:cs typeface="Arial"/>
                          <a:sym typeface="Arial"/>
                        </a:rPr>
                        <a:t> (den visar senaste versionen, t.ex. 3.12 eller 3.13).</a:t>
                      </a:r>
                      <a:endParaRPr/>
                    </a:p>
                  </a:txBody>
                  <a:tcPr marL="74475" marR="95475" marT="57275" marB="57275"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r h="230950">
                <a:tc>
                  <a:txBody>
                    <a:bodyPr/>
                    <a:lstStyle/>
                    <a:p>
                      <a:pPr marL="0" marR="0" lvl="0" indent="0" algn="l" rtl="0">
                        <a:lnSpc>
                          <a:spcPct val="100000"/>
                        </a:lnSpc>
                        <a:spcBef>
                          <a:spcPts val="0"/>
                        </a:spcBef>
                        <a:spcAft>
                          <a:spcPts val="0"/>
                        </a:spcAft>
                        <a:buClr>
                          <a:schemeClr val="dk1"/>
                        </a:buClr>
                        <a:buSzPts val="900"/>
                        <a:buFont typeface="Arial"/>
                        <a:buNone/>
                      </a:pPr>
                      <a:r>
                        <a:rPr lang="sv-SE" sz="900" b="1" u="none" strike="noStrike" cap="none">
                          <a:solidFill>
                            <a:schemeClr val="dk1"/>
                          </a:solidFill>
                          <a:latin typeface="Arial"/>
                          <a:ea typeface="Arial"/>
                          <a:cs typeface="Arial"/>
                          <a:sym typeface="Arial"/>
                        </a:rPr>
                        <a:t>2</a:t>
                      </a:r>
                      <a:endParaRPr sz="9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Starta installationen</a:t>
                      </a:r>
                      <a:endParaRPr sz="11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Öppna den nedladdade filen (den heter något i stil med python-3.12.0-amd64.exe). Ett installationsfönster öppnas.</a:t>
                      </a:r>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343725">
                <a:tc>
                  <a:txBody>
                    <a:bodyPr/>
                    <a:lstStyle/>
                    <a:p>
                      <a:pPr marL="0" marR="0" lvl="0" indent="0" algn="l" rtl="0">
                        <a:lnSpc>
                          <a:spcPct val="100000"/>
                        </a:lnSpc>
                        <a:spcBef>
                          <a:spcPts val="0"/>
                        </a:spcBef>
                        <a:spcAft>
                          <a:spcPts val="0"/>
                        </a:spcAft>
                        <a:buClr>
                          <a:schemeClr val="dk1"/>
                        </a:buClr>
                        <a:buSzPts val="900"/>
                        <a:buFont typeface="Arial"/>
                        <a:buNone/>
                      </a:pPr>
                      <a:r>
                        <a:rPr lang="sv-SE" sz="900" b="1" u="none" strike="noStrike" cap="none">
                          <a:solidFill>
                            <a:schemeClr val="dk1"/>
                          </a:solidFill>
                          <a:latin typeface="Arial"/>
                          <a:ea typeface="Arial"/>
                          <a:cs typeface="Arial"/>
                          <a:sym typeface="Arial"/>
                        </a:rPr>
                        <a:t>3</a:t>
                      </a:r>
                      <a:endParaRPr sz="900" b="0" u="none" strike="noStrike" cap="none">
                        <a:solidFill>
                          <a:schemeClr val="dk1"/>
                        </a:solidFill>
                        <a:latin typeface="Arial"/>
                        <a:ea typeface="Arial"/>
                        <a:cs typeface="Arial"/>
                        <a:sym typeface="Arial"/>
                      </a:endParaRPr>
                    </a:p>
                  </a:txBody>
                  <a:tcPr marL="74475" marR="95475" marT="57275" marB="57275"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VIKTIGASTE STEGET! – Lägg till Python i PATH</a:t>
                      </a:r>
                      <a:endParaRPr sz="11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Längst ner i installationsfönstret finns en ruta som säger </a:t>
                      </a:r>
                      <a:r>
                        <a:rPr lang="sv-SE" sz="1200" b="1" u="none" strike="noStrike" cap="none">
                          <a:solidFill>
                            <a:schemeClr val="dk1"/>
                          </a:solidFill>
                          <a:latin typeface="Arial"/>
                          <a:ea typeface="Arial"/>
                          <a:cs typeface="Arial"/>
                          <a:sym typeface="Arial"/>
                        </a:rPr>
                        <a:t>"Add Python to PATH"</a:t>
                      </a:r>
                      <a:r>
                        <a:rPr lang="sv-SE" sz="1200" b="0" u="none" strike="noStrike" cap="none">
                          <a:solidFill>
                            <a:schemeClr val="dk1"/>
                          </a:solidFill>
                          <a:latin typeface="Arial"/>
                          <a:ea typeface="Arial"/>
                          <a:cs typeface="Arial"/>
                          <a:sym typeface="Arial"/>
                        </a:rPr>
                        <a:t>. </a:t>
                      </a:r>
                      <a:r>
                        <a:rPr lang="sv-SE" sz="1200" b="1" u="none" strike="noStrike" cap="none">
                          <a:solidFill>
                            <a:schemeClr val="dk1"/>
                          </a:solidFill>
                          <a:latin typeface="Arial"/>
                          <a:ea typeface="Arial"/>
                          <a:cs typeface="Arial"/>
                          <a:sym typeface="Arial"/>
                        </a:rPr>
                        <a:t>Du MÅSTE kryssa i den!</a:t>
                      </a:r>
                      <a:r>
                        <a:rPr lang="sv-SE" sz="1200" b="0" u="none" strike="noStrike" cap="none">
                          <a:solidFill>
                            <a:schemeClr val="dk1"/>
                          </a:solidFill>
                          <a:latin typeface="Arial"/>
                          <a:ea typeface="Arial"/>
                          <a:cs typeface="Arial"/>
                          <a:sym typeface="Arial"/>
                        </a:rPr>
                        <a:t> Om du glömmer detta kommer datorn inte att hitta Python när du försöker köra det senare .</a:t>
                      </a:r>
                      <a:endParaRPr/>
                    </a:p>
                  </a:txBody>
                  <a:tcPr marL="74475" marR="95475" marT="57275" marB="57275"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3"/>
                  </a:ext>
                </a:extLst>
              </a:tr>
              <a:tr h="230950">
                <a:tc>
                  <a:txBody>
                    <a:bodyPr/>
                    <a:lstStyle/>
                    <a:p>
                      <a:pPr marL="0" marR="0" lvl="0" indent="0" algn="l" rtl="0">
                        <a:lnSpc>
                          <a:spcPct val="100000"/>
                        </a:lnSpc>
                        <a:spcBef>
                          <a:spcPts val="0"/>
                        </a:spcBef>
                        <a:spcAft>
                          <a:spcPts val="0"/>
                        </a:spcAft>
                        <a:buClr>
                          <a:schemeClr val="dk1"/>
                        </a:buClr>
                        <a:buSzPts val="900"/>
                        <a:buFont typeface="Arial"/>
                        <a:buNone/>
                      </a:pPr>
                      <a:r>
                        <a:rPr lang="sv-SE" sz="900" b="1" u="none" strike="noStrike" cap="none">
                          <a:solidFill>
                            <a:schemeClr val="dk1"/>
                          </a:solidFill>
                          <a:latin typeface="Arial"/>
                          <a:ea typeface="Arial"/>
                          <a:cs typeface="Arial"/>
                          <a:sym typeface="Arial"/>
                        </a:rPr>
                        <a:t>4</a:t>
                      </a:r>
                      <a:endParaRPr sz="9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Välj installationstyp</a:t>
                      </a:r>
                      <a:endParaRPr sz="11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Klicka på </a:t>
                      </a:r>
                      <a:r>
                        <a:rPr lang="sv-SE" sz="1200" b="1" u="none" strike="noStrike" cap="none">
                          <a:solidFill>
                            <a:schemeClr val="dk1"/>
                          </a:solidFill>
                          <a:latin typeface="Arial"/>
                          <a:ea typeface="Arial"/>
                          <a:cs typeface="Arial"/>
                          <a:sym typeface="Arial"/>
                        </a:rPr>
                        <a:t>"Install Now"</a:t>
                      </a:r>
                      <a:r>
                        <a:rPr lang="sv-SE" sz="1200" b="0" u="none" strike="noStrike" cap="none">
                          <a:solidFill>
                            <a:schemeClr val="dk1"/>
                          </a:solidFill>
                          <a:latin typeface="Arial"/>
                          <a:ea typeface="Arial"/>
                          <a:cs typeface="Arial"/>
                          <a:sym typeface="Arial"/>
                        </a:rPr>
                        <a:t> (Installera nu). Detta är standard och enklast för nybörjare.</a:t>
                      </a:r>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230950">
                <a:tc>
                  <a:txBody>
                    <a:bodyPr/>
                    <a:lstStyle/>
                    <a:p>
                      <a:pPr marL="0" marR="0" lvl="0" indent="0" algn="l" rtl="0">
                        <a:lnSpc>
                          <a:spcPct val="100000"/>
                        </a:lnSpc>
                        <a:spcBef>
                          <a:spcPts val="0"/>
                        </a:spcBef>
                        <a:spcAft>
                          <a:spcPts val="0"/>
                        </a:spcAft>
                        <a:buClr>
                          <a:schemeClr val="dk1"/>
                        </a:buClr>
                        <a:buSzPts val="900"/>
                        <a:buFont typeface="Arial"/>
                        <a:buNone/>
                      </a:pPr>
                      <a:r>
                        <a:rPr lang="sv-SE" sz="900" b="1" u="none" strike="noStrike" cap="none">
                          <a:solidFill>
                            <a:schemeClr val="dk1"/>
                          </a:solidFill>
                          <a:latin typeface="Arial"/>
                          <a:ea typeface="Arial"/>
                          <a:cs typeface="Arial"/>
                          <a:sym typeface="Arial"/>
                        </a:rPr>
                        <a:t>5</a:t>
                      </a:r>
                      <a:endParaRPr sz="900" b="0" u="none" strike="noStrike" cap="none">
                        <a:solidFill>
                          <a:schemeClr val="dk1"/>
                        </a:solidFill>
                        <a:latin typeface="Arial"/>
                        <a:ea typeface="Arial"/>
                        <a:cs typeface="Arial"/>
                        <a:sym typeface="Arial"/>
                      </a:endParaRPr>
                    </a:p>
                  </a:txBody>
                  <a:tcPr marL="74475" marR="95475" marT="57275" marB="57275"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Vänta medan installationen pågår</a:t>
                      </a:r>
                      <a:endParaRPr sz="11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Installationen tar någon minut. Du ser en förloppsindikator som visar hur långt det har kommit.</a:t>
                      </a:r>
                      <a:endParaRPr/>
                    </a:p>
                  </a:txBody>
                  <a:tcPr marL="74475" marR="95475" marT="57275" marB="57275"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5"/>
                  </a:ext>
                </a:extLst>
              </a:tr>
              <a:tr h="230950">
                <a:tc>
                  <a:txBody>
                    <a:bodyPr/>
                    <a:lstStyle/>
                    <a:p>
                      <a:pPr marL="0" marR="0" lvl="0" indent="0" algn="l" rtl="0">
                        <a:lnSpc>
                          <a:spcPct val="100000"/>
                        </a:lnSpc>
                        <a:spcBef>
                          <a:spcPts val="0"/>
                        </a:spcBef>
                        <a:spcAft>
                          <a:spcPts val="0"/>
                        </a:spcAft>
                        <a:buClr>
                          <a:schemeClr val="dk1"/>
                        </a:buClr>
                        <a:buSzPts val="900"/>
                        <a:buFont typeface="Arial"/>
                        <a:buNone/>
                      </a:pPr>
                      <a:r>
                        <a:rPr lang="sv-SE" sz="900" b="1" u="none" strike="noStrike" cap="none">
                          <a:solidFill>
                            <a:schemeClr val="dk1"/>
                          </a:solidFill>
                          <a:latin typeface="Arial"/>
                          <a:ea typeface="Arial"/>
                          <a:cs typeface="Arial"/>
                          <a:sym typeface="Arial"/>
                        </a:rPr>
                        <a:t>6</a:t>
                      </a:r>
                      <a:endParaRPr sz="9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Installation klar!</a:t>
                      </a:r>
                      <a:endParaRPr sz="11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När installationen är klar visas en ruta med texten </a:t>
                      </a:r>
                      <a:r>
                        <a:rPr lang="sv-SE" sz="1200" b="1" u="none" strike="noStrike" cap="none">
                          <a:solidFill>
                            <a:schemeClr val="dk1"/>
                          </a:solidFill>
                          <a:latin typeface="Arial"/>
                          <a:ea typeface="Arial"/>
                          <a:cs typeface="Arial"/>
                          <a:sym typeface="Arial"/>
                        </a:rPr>
                        <a:t>"Setup was successful"</a:t>
                      </a:r>
                      <a:r>
                        <a:rPr lang="sv-SE" sz="1200" b="0" u="none" strike="noStrike" cap="none">
                          <a:solidFill>
                            <a:schemeClr val="dk1"/>
                          </a:solidFill>
                          <a:latin typeface="Arial"/>
                          <a:ea typeface="Arial"/>
                          <a:cs typeface="Arial"/>
                          <a:sym typeface="Arial"/>
                        </a:rPr>
                        <a:t>. Klicka på </a:t>
                      </a:r>
                      <a:r>
                        <a:rPr lang="sv-SE" sz="1200" b="1" u="none" strike="noStrike" cap="none">
                          <a:solidFill>
                            <a:schemeClr val="dk1"/>
                          </a:solidFill>
                          <a:latin typeface="Arial"/>
                          <a:ea typeface="Arial"/>
                          <a:cs typeface="Arial"/>
                          <a:sym typeface="Arial"/>
                        </a:rPr>
                        <a:t>"Close"</a:t>
                      </a:r>
                      <a:r>
                        <a:rPr lang="sv-SE" sz="1200" b="0" u="none" strike="noStrike" cap="none">
                          <a:solidFill>
                            <a:schemeClr val="dk1"/>
                          </a:solidFill>
                          <a:latin typeface="Arial"/>
                          <a:ea typeface="Arial"/>
                          <a:cs typeface="Arial"/>
                          <a:sym typeface="Arial"/>
                        </a:rPr>
                        <a:t> (Stäng).</a:t>
                      </a:r>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918400">
                <a:tc>
                  <a:txBody>
                    <a:bodyPr/>
                    <a:lstStyle/>
                    <a:p>
                      <a:pPr marL="0" marR="0" lvl="0" indent="0" algn="l" rtl="0">
                        <a:lnSpc>
                          <a:spcPct val="100000"/>
                        </a:lnSpc>
                        <a:spcBef>
                          <a:spcPts val="0"/>
                        </a:spcBef>
                        <a:spcAft>
                          <a:spcPts val="0"/>
                        </a:spcAft>
                        <a:buClr>
                          <a:schemeClr val="dk1"/>
                        </a:buClr>
                        <a:buSzPts val="900"/>
                        <a:buFont typeface="Arial"/>
                        <a:buNone/>
                      </a:pPr>
                      <a:r>
                        <a:rPr lang="sv-SE" sz="900" b="1" u="none" strike="noStrike" cap="none">
                          <a:solidFill>
                            <a:schemeClr val="dk1"/>
                          </a:solidFill>
                          <a:latin typeface="Arial"/>
                          <a:ea typeface="Arial"/>
                          <a:cs typeface="Arial"/>
                          <a:sym typeface="Arial"/>
                        </a:rPr>
                        <a:t>7</a:t>
                      </a:r>
                      <a:endParaRPr sz="900" b="0" u="none" strike="noStrike" cap="none">
                        <a:solidFill>
                          <a:schemeClr val="dk1"/>
                        </a:solidFill>
                        <a:latin typeface="Arial"/>
                        <a:ea typeface="Arial"/>
                        <a:cs typeface="Arial"/>
                        <a:sym typeface="Arial"/>
                      </a:endParaRPr>
                    </a:p>
                  </a:txBody>
                  <a:tcPr marL="74475" marR="95475" marT="57275" marB="57275"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Verifiera installationen – VIKTIGT!</a:t>
                      </a:r>
                      <a:endParaRPr sz="11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Öppna </a:t>
                      </a:r>
                      <a:r>
                        <a:rPr lang="sv-SE" sz="1200" b="1" u="none" strike="noStrike" cap="none">
                          <a:solidFill>
                            <a:schemeClr val="dk1"/>
                          </a:solidFill>
                          <a:latin typeface="Arial"/>
                          <a:ea typeface="Arial"/>
                          <a:cs typeface="Arial"/>
                          <a:sym typeface="Arial"/>
                        </a:rPr>
                        <a:t>PowerShell</a:t>
                      </a:r>
                      <a:r>
                        <a:rPr lang="sv-SE" sz="1200" b="0" u="none" strike="noStrike" cap="none">
                          <a:solidFill>
                            <a:schemeClr val="dk1"/>
                          </a:solidFill>
                          <a:latin typeface="Arial"/>
                          <a:ea typeface="Arial"/>
                          <a:cs typeface="Arial"/>
                          <a:sym typeface="Arial"/>
                        </a:rPr>
                        <a:t> eller </a:t>
                      </a:r>
                      <a:r>
                        <a:rPr lang="sv-SE" sz="1200" b="1" u="none" strike="noStrike" cap="none">
                          <a:solidFill>
                            <a:schemeClr val="dk1"/>
                          </a:solidFill>
                          <a:latin typeface="Arial"/>
                          <a:ea typeface="Arial"/>
                          <a:cs typeface="Arial"/>
                          <a:sym typeface="Arial"/>
                        </a:rPr>
                        <a:t>Kommandotolken</a:t>
                      </a:r>
                      <a:r>
                        <a:rPr lang="sv-SE" sz="1200" b="0" u="none" strike="noStrike" cap="none">
                          <a:solidFill>
                            <a:schemeClr val="dk1"/>
                          </a:solidFill>
                          <a:latin typeface="Arial"/>
                          <a:ea typeface="Arial"/>
                          <a:cs typeface="Arial"/>
                          <a:sym typeface="Arial"/>
                        </a:rPr>
                        <a:t> (sök efter "PowerShell" i startmenyn). Skriv följande kommando och tryck Enter:</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python --version</a:t>
                      </a:r>
                      <a:br>
                        <a:rPr lang="sv-SE" sz="1200" b="0" u="none" strike="noStrike" cap="none">
                          <a:solidFill>
                            <a:srgbClr val="000000"/>
                          </a:solidFill>
                          <a:latin typeface="Arial"/>
                          <a:ea typeface="Arial"/>
                          <a:cs typeface="Arial"/>
                          <a:sym typeface="Arial"/>
                        </a:rPr>
                      </a:b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Du bör se något i stil med:</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Python 3.12.0</a:t>
                      </a:r>
                      <a:br>
                        <a:rPr lang="sv-SE" sz="1200" b="0" u="none" strike="noStrike" cap="none">
                          <a:solidFill>
                            <a:srgbClr val="000000"/>
                          </a:solidFill>
                          <a:latin typeface="Arial"/>
                          <a:ea typeface="Arial"/>
                          <a:cs typeface="Arial"/>
                          <a:sym typeface="Arial"/>
                        </a:rPr>
                      </a:br>
                      <a:br>
                        <a:rPr lang="sv-SE" sz="1200" b="0" u="none" strike="noStrike" cap="none">
                          <a:solidFill>
                            <a:srgbClr val="000000"/>
                          </a:solidFill>
                          <a:latin typeface="Arial"/>
                          <a:ea typeface="Arial"/>
                          <a:cs typeface="Arial"/>
                          <a:sym typeface="Arial"/>
                        </a:rPr>
                      </a:br>
                      <a:r>
                        <a:rPr lang="sv-SE" sz="1200" b="1" u="none" strike="noStrike" cap="none">
                          <a:solidFill>
                            <a:schemeClr val="dk1"/>
                          </a:solidFill>
                          <a:latin typeface="Arial"/>
                          <a:ea typeface="Arial"/>
                          <a:cs typeface="Arial"/>
                          <a:sym typeface="Arial"/>
                        </a:rPr>
                        <a:t>Om du ser detta – GRATTIS! Python är installerat!</a:t>
                      </a:r>
                      <a:endParaRPr sz="12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7"/>
                  </a:ext>
                </a:extLst>
              </a:tr>
              <a:tr h="918400">
                <a:tc>
                  <a:txBody>
                    <a:bodyPr/>
                    <a:lstStyle/>
                    <a:p>
                      <a:pPr marL="0" marR="0" lvl="0" indent="0" algn="l" rtl="0">
                        <a:lnSpc>
                          <a:spcPct val="100000"/>
                        </a:lnSpc>
                        <a:spcBef>
                          <a:spcPts val="0"/>
                        </a:spcBef>
                        <a:spcAft>
                          <a:spcPts val="0"/>
                        </a:spcAft>
                        <a:buClr>
                          <a:schemeClr val="dk1"/>
                        </a:buClr>
                        <a:buSzPts val="900"/>
                        <a:buFont typeface="Arial"/>
                        <a:buNone/>
                      </a:pPr>
                      <a:r>
                        <a:rPr lang="sv-SE" sz="900" b="1" u="none" strike="noStrike" cap="none">
                          <a:solidFill>
                            <a:schemeClr val="dk1"/>
                          </a:solidFill>
                          <a:latin typeface="Arial"/>
                          <a:ea typeface="Arial"/>
                          <a:cs typeface="Arial"/>
                          <a:sym typeface="Arial"/>
                        </a:rPr>
                        <a:t>8</a:t>
                      </a:r>
                      <a:endParaRPr sz="9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Testa att pip fungerar</a:t>
                      </a:r>
                      <a:endParaRPr sz="1100" b="0" u="none" strike="noStrike" cap="none">
                        <a:solidFill>
                          <a:schemeClr val="dk1"/>
                        </a:solidFill>
                        <a:latin typeface="Arial"/>
                        <a:ea typeface="Arial"/>
                        <a:cs typeface="Arial"/>
                        <a:sym typeface="Arial"/>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I samma fönster, skriv:</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pip --version</a:t>
                      </a:r>
                      <a:br>
                        <a:rPr lang="sv-SE" sz="1200" b="0" u="none" strike="noStrike" cap="none">
                          <a:solidFill>
                            <a:srgbClr val="000000"/>
                          </a:solidFill>
                          <a:latin typeface="Arial"/>
                          <a:ea typeface="Arial"/>
                          <a:cs typeface="Arial"/>
                          <a:sym typeface="Arial"/>
                        </a:rPr>
                      </a:b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Du bör se något i stil med:</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pip 23.2.1 from ...</a:t>
                      </a:r>
                      <a:br>
                        <a:rPr lang="sv-SE" sz="1200" b="0" u="none" strike="noStrike" cap="none">
                          <a:solidFill>
                            <a:srgbClr val="000000"/>
                          </a:solidFill>
                          <a:latin typeface="Arial"/>
                          <a:ea typeface="Arial"/>
                          <a:cs typeface="Arial"/>
                          <a:sym typeface="Arial"/>
                        </a:rPr>
                      </a:b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Pip är Pythons pakethanterare – vi kommer att använda det för att installera ML-bibliotek.</a:t>
                      </a:r>
                      <a:endParaRPr/>
                    </a:p>
                  </a:txBody>
                  <a:tcPr marL="74475" marR="95475" marT="57275" marB="57275"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6"/>
        <p:cNvGrpSpPr/>
        <p:nvPr/>
      </p:nvGrpSpPr>
      <p:grpSpPr>
        <a:xfrm>
          <a:off x="0" y="0"/>
          <a:ext cx="0" cy="0"/>
          <a:chOff x="0" y="0"/>
          <a:chExt cx="0" cy="0"/>
        </a:xfrm>
      </p:grpSpPr>
      <p:sp>
        <p:nvSpPr>
          <p:cNvPr id="327" name="Google Shape;327;p2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28" name="Google Shape;328;p22"/>
          <p:cNvSpPr/>
          <p:nvPr/>
        </p:nvSpPr>
        <p:spPr>
          <a:xfrm flipH="1">
            <a:off x="-1" y="-1"/>
            <a:ext cx="12191998" cy="1590742"/>
          </a:xfrm>
          <a:prstGeom prst="rect">
            <a:avLst/>
          </a:prstGeom>
          <a:gradFill>
            <a:gsLst>
              <a:gs pos="0">
                <a:srgbClr val="000000"/>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29" name="Google Shape;329;p22"/>
          <p:cNvSpPr/>
          <p:nvPr/>
        </p:nvSpPr>
        <p:spPr>
          <a:xfrm rot="10800000" flipH="1">
            <a:off x="-3" y="0"/>
            <a:ext cx="8115306" cy="1590742"/>
          </a:xfrm>
          <a:prstGeom prst="rect">
            <a:avLst/>
          </a:prstGeom>
          <a:gradFill>
            <a:gsLst>
              <a:gs pos="0">
                <a:srgbClr val="156082">
                  <a:alpha val="0"/>
                </a:srgbClr>
              </a:gs>
              <a:gs pos="20000">
                <a:srgbClr val="156082">
                  <a:alpha val="0"/>
                </a:srgbClr>
              </a:gs>
              <a:gs pos="100000">
                <a:srgbClr val="0A3041">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30" name="Google Shape;330;p22"/>
          <p:cNvSpPr/>
          <p:nvPr/>
        </p:nvSpPr>
        <p:spPr>
          <a:xfrm flipH="1">
            <a:off x="8115299" y="-1"/>
            <a:ext cx="4076698" cy="1590742"/>
          </a:xfrm>
          <a:prstGeom prst="rect">
            <a:avLst/>
          </a:prstGeom>
          <a:gradFill>
            <a:gsLst>
              <a:gs pos="0">
                <a:srgbClr val="156082">
                  <a:alpha val="65882"/>
                </a:srgbClr>
              </a:gs>
              <a:gs pos="100000">
                <a:srgbClr val="000000">
                  <a:alpha val="30196"/>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31" name="Google Shape;331;p22"/>
          <p:cNvSpPr/>
          <p:nvPr/>
        </p:nvSpPr>
        <p:spPr>
          <a:xfrm>
            <a:off x="459350" y="-1"/>
            <a:ext cx="11732646" cy="1597433"/>
          </a:xfrm>
          <a:prstGeom prst="rect">
            <a:avLst/>
          </a:prstGeom>
          <a:gradFill>
            <a:gsLst>
              <a:gs pos="0">
                <a:srgbClr val="000000">
                  <a:alpha val="0"/>
                </a:srgbClr>
              </a:gs>
              <a:gs pos="50000">
                <a:srgbClr val="000000">
                  <a:alpha val="0"/>
                </a:srgbClr>
              </a:gs>
              <a:gs pos="99000">
                <a:srgbClr val="0A3041">
                  <a:alpha val="52156"/>
                </a:srgbClr>
              </a:gs>
              <a:gs pos="100000">
                <a:srgbClr val="0A3041">
                  <a:alpha val="52156"/>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32" name="Google Shape;332;p22"/>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rPr>
              <a:t>Installationsfönstret – VIKTIGA STEGET</a:t>
            </a:r>
            <a:endParaRPr sz="4000">
              <a:solidFill>
                <a:srgbClr val="FFFFFF"/>
              </a:solidFill>
            </a:endParaRPr>
          </a:p>
        </p:txBody>
      </p:sp>
      <p:sp>
        <p:nvSpPr>
          <p:cNvPr id="333" name="Google Shape;333;p22"/>
          <p:cNvSpPr txBox="1">
            <a:spLocks noGrp="1"/>
          </p:cNvSpPr>
          <p:nvPr>
            <p:ph type="body" idx="1"/>
          </p:nvPr>
        </p:nvSpPr>
        <p:spPr>
          <a:xfrm>
            <a:off x="1371599" y="2318197"/>
            <a:ext cx="9724031" cy="3683358"/>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sv-SE" sz="2000">
                <a:latin typeface="Consolas"/>
                <a:ea typeface="Consolas"/>
                <a:cs typeface="Consolas"/>
                <a:sym typeface="Consolas"/>
              </a:rPr>
              <a:t>┌─────────────────────────────────────┐</a:t>
            </a:r>
            <a:br>
              <a:rPr lang="sv-SE" sz="2000">
                <a:latin typeface="Consolas"/>
                <a:ea typeface="Consolas"/>
                <a:cs typeface="Consolas"/>
                <a:sym typeface="Consolas"/>
              </a:rPr>
            </a:br>
            <a:r>
              <a:rPr lang="sv-SE" sz="2000">
                <a:latin typeface="Consolas"/>
                <a:ea typeface="Consolas"/>
                <a:cs typeface="Consolas"/>
                <a:sym typeface="Consolas"/>
              </a:rPr>
              <a:t>│ Python 3.12.0 (64-bit) Setup         │</a:t>
            </a:r>
            <a:br>
              <a:rPr lang="sv-SE" sz="2000">
                <a:latin typeface="Consolas"/>
                <a:ea typeface="Consolas"/>
                <a:cs typeface="Consolas"/>
                <a:sym typeface="Consolas"/>
              </a:rPr>
            </a:br>
            <a:r>
              <a:rPr lang="sv-SE" sz="2000">
                <a:latin typeface="Consolas"/>
                <a:ea typeface="Consolas"/>
                <a:cs typeface="Consolas"/>
                <a:sym typeface="Consolas"/>
              </a:rPr>
              <a:t>├─────────────────────────────────────┤</a:t>
            </a:r>
            <a:br>
              <a:rPr lang="sv-SE" sz="2000">
                <a:latin typeface="Consolas"/>
                <a:ea typeface="Consolas"/>
                <a:cs typeface="Consolas"/>
                <a:sym typeface="Consolas"/>
              </a:rPr>
            </a:br>
            <a:r>
              <a:rPr lang="sv-SE" sz="2000">
                <a:latin typeface="Consolas"/>
                <a:ea typeface="Consolas"/>
                <a:cs typeface="Consolas"/>
                <a:sym typeface="Consolas"/>
              </a:rPr>
              <a:t>│ □ Install launcher for all users     │</a:t>
            </a:r>
            <a:br>
              <a:rPr lang="sv-SE" sz="2000">
                <a:latin typeface="Consolas"/>
                <a:ea typeface="Consolas"/>
                <a:cs typeface="Consolas"/>
                <a:sym typeface="Consolas"/>
              </a:rPr>
            </a:br>
            <a:r>
              <a:rPr lang="sv-SE" sz="2000">
                <a:latin typeface="Consolas"/>
                <a:ea typeface="Consolas"/>
                <a:cs typeface="Consolas"/>
                <a:sym typeface="Consolas"/>
              </a:rPr>
              <a:t>│ ☑ Add Python to PATH  &lt;─── KRYSSA I!│</a:t>
            </a:r>
            <a:br>
              <a:rPr lang="sv-SE" sz="2000">
                <a:latin typeface="Consolas"/>
                <a:ea typeface="Consolas"/>
                <a:cs typeface="Consolas"/>
                <a:sym typeface="Consolas"/>
              </a:rPr>
            </a:br>
            <a:r>
              <a:rPr lang="sv-SE" sz="2000">
                <a:latin typeface="Consolas"/>
                <a:ea typeface="Consolas"/>
                <a:cs typeface="Consolas"/>
                <a:sym typeface="Consolas"/>
              </a:rPr>
              <a:t>│                                      │</a:t>
            </a:r>
            <a:br>
              <a:rPr lang="sv-SE" sz="2000">
                <a:latin typeface="Consolas"/>
                <a:ea typeface="Consolas"/>
                <a:cs typeface="Consolas"/>
                <a:sym typeface="Consolas"/>
              </a:rPr>
            </a:br>
            <a:r>
              <a:rPr lang="sv-SE" sz="2000">
                <a:latin typeface="Consolas"/>
                <a:ea typeface="Consolas"/>
                <a:cs typeface="Consolas"/>
                <a:sym typeface="Consolas"/>
              </a:rPr>
              <a:t>│        [Install Now]                 │</a:t>
            </a:r>
            <a:br>
              <a:rPr lang="sv-SE" sz="2000">
                <a:latin typeface="Consolas"/>
                <a:ea typeface="Consolas"/>
                <a:cs typeface="Consolas"/>
                <a:sym typeface="Consolas"/>
              </a:rPr>
            </a:br>
            <a:r>
              <a:rPr lang="sv-SE" sz="2000">
                <a:latin typeface="Consolas"/>
                <a:ea typeface="Consolas"/>
                <a:cs typeface="Consolas"/>
                <a:sym typeface="Consolas"/>
              </a:rPr>
              <a:t>│        [Customize installation]      │</a:t>
            </a:r>
            <a:br>
              <a:rPr lang="sv-SE" sz="2000">
                <a:latin typeface="Consolas"/>
                <a:ea typeface="Consolas"/>
                <a:cs typeface="Consolas"/>
                <a:sym typeface="Consolas"/>
              </a:rPr>
            </a:br>
            <a:r>
              <a:rPr lang="sv-SE" sz="2000">
                <a:latin typeface="Consolas"/>
                <a:ea typeface="Consolas"/>
                <a:cs typeface="Consolas"/>
                <a:sym typeface="Consolas"/>
              </a:rPr>
              <a:t>└─────────────────────────────────────┘</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7"/>
        <p:cNvGrpSpPr/>
        <p:nvPr/>
      </p:nvGrpSpPr>
      <p:grpSpPr>
        <a:xfrm>
          <a:off x="0" y="0"/>
          <a:ext cx="0" cy="0"/>
          <a:chOff x="0" y="0"/>
          <a:chExt cx="0" cy="0"/>
        </a:xfrm>
      </p:grpSpPr>
      <p:sp>
        <p:nvSpPr>
          <p:cNvPr id="338" name="Google Shape;338;p2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39" name="Google Shape;339;p23"/>
          <p:cNvSpPr txBox="1">
            <a:spLocks noGrp="1"/>
          </p:cNvSpPr>
          <p:nvPr>
            <p:ph type="title"/>
          </p:nvPr>
        </p:nvSpPr>
        <p:spPr>
          <a:xfrm>
            <a:off x="1629751" y="934327"/>
            <a:ext cx="8924392" cy="105827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sv-SE"/>
              <a:t>Testa i PowerShell</a:t>
            </a:r>
            <a:endParaRPr/>
          </a:p>
        </p:txBody>
      </p:sp>
      <p:sp>
        <p:nvSpPr>
          <p:cNvPr id="340" name="Google Shape;340;p23"/>
          <p:cNvSpPr/>
          <p:nvPr/>
        </p:nvSpPr>
        <p:spPr>
          <a:xfrm>
            <a:off x="1293813" y="2337807"/>
            <a:ext cx="9604374" cy="3585866"/>
          </a:xfrm>
          <a:custGeom>
            <a:avLst/>
            <a:gdLst/>
            <a:ahLst/>
            <a:cxnLst/>
            <a:rect l="l" t="t" r="r" b="b"/>
            <a:pathLst>
              <a:path w="9604374" h="3585866" extrusionOk="0">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41" name="Google Shape;341;p23"/>
          <p:cNvSpPr/>
          <p:nvPr/>
        </p:nvSpPr>
        <p:spPr>
          <a:xfrm>
            <a:off x="5421727" y="2190741"/>
            <a:ext cx="1348547" cy="407804"/>
          </a:xfrm>
          <a:custGeom>
            <a:avLst/>
            <a:gdLst/>
            <a:ahLst/>
            <a:cxnLst/>
            <a:rect l="l" t="t" r="r" b="b"/>
            <a:pathLst>
              <a:path w="2201784" h="594531" extrusionOk="0">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42" name="Google Shape;342;p23"/>
          <p:cNvSpPr txBox="1">
            <a:spLocks noGrp="1"/>
          </p:cNvSpPr>
          <p:nvPr>
            <p:ph type="body" idx="1"/>
          </p:nvPr>
        </p:nvSpPr>
        <p:spPr>
          <a:xfrm>
            <a:off x="1941207" y="2752316"/>
            <a:ext cx="8309586" cy="275684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sv-SE" sz="2000">
                <a:latin typeface="Consolas"/>
                <a:ea typeface="Consolas"/>
                <a:cs typeface="Consolas"/>
                <a:sym typeface="Consolas"/>
              </a:rPr>
              <a:t>PS C:\Users\Arsen&gt; python --version</a:t>
            </a:r>
            <a:br>
              <a:rPr lang="sv-SE" sz="2000">
                <a:latin typeface="Consolas"/>
                <a:ea typeface="Consolas"/>
                <a:cs typeface="Consolas"/>
                <a:sym typeface="Consolas"/>
              </a:rPr>
            </a:br>
            <a:r>
              <a:rPr lang="sv-SE" sz="2000">
                <a:latin typeface="Consolas"/>
                <a:ea typeface="Consolas"/>
                <a:cs typeface="Consolas"/>
                <a:sym typeface="Consolas"/>
              </a:rPr>
              <a:t>Python 3.12.0</a:t>
            </a:r>
            <a:br>
              <a:rPr lang="sv-SE" sz="2000">
                <a:latin typeface="Consolas"/>
                <a:ea typeface="Consolas"/>
                <a:cs typeface="Consolas"/>
                <a:sym typeface="Consolas"/>
              </a:rPr>
            </a:br>
            <a:br>
              <a:rPr lang="sv-SE" sz="2000">
                <a:latin typeface="Consolas"/>
                <a:ea typeface="Consolas"/>
                <a:cs typeface="Consolas"/>
                <a:sym typeface="Consolas"/>
              </a:rPr>
            </a:br>
            <a:r>
              <a:rPr lang="sv-SE" sz="2000">
                <a:latin typeface="Consolas"/>
                <a:ea typeface="Consolas"/>
                <a:cs typeface="Consolas"/>
                <a:sym typeface="Consolas"/>
              </a:rPr>
              <a:t>PS C:\Users\Arsen&gt; pip --version</a:t>
            </a:r>
            <a:br>
              <a:rPr lang="sv-SE" sz="2000">
                <a:latin typeface="Consolas"/>
                <a:ea typeface="Consolas"/>
                <a:cs typeface="Consolas"/>
                <a:sym typeface="Consolas"/>
              </a:rPr>
            </a:br>
            <a:r>
              <a:rPr lang="sv-SE" sz="2000">
                <a:latin typeface="Consolas"/>
                <a:ea typeface="Consolas"/>
                <a:cs typeface="Consolas"/>
                <a:sym typeface="Consolas"/>
              </a:rPr>
              <a:t>pip 23.2.1 from C:\Users\Arsen\AppData\Local\Programs\Python\Python312\lib\site-packages\pip</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6"/>
        <p:cNvGrpSpPr/>
        <p:nvPr/>
      </p:nvGrpSpPr>
      <p:grpSpPr>
        <a:xfrm>
          <a:off x="0" y="0"/>
          <a:ext cx="0" cy="0"/>
          <a:chOff x="0" y="0"/>
          <a:chExt cx="0" cy="0"/>
        </a:xfrm>
      </p:grpSpPr>
      <p:sp>
        <p:nvSpPr>
          <p:cNvPr id="347" name="Google Shape;347;p2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48" name="Google Shape;348;p24"/>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49" name="Google Shape;349;p24"/>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50" name="Google Shape;350;p24"/>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51" name="Google Shape;351;p24"/>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Vad är pip?</a:t>
            </a:r>
            <a:endParaRPr/>
          </a:p>
        </p:txBody>
      </p:sp>
      <p:graphicFrame>
        <p:nvGraphicFramePr>
          <p:cNvPr id="352" name="Google Shape;352;p24"/>
          <p:cNvGraphicFramePr/>
          <p:nvPr/>
        </p:nvGraphicFramePr>
        <p:xfrm>
          <a:off x="674203" y="1966293"/>
          <a:ext cx="3000000" cy="3000000"/>
        </p:xfrm>
        <a:graphic>
          <a:graphicData uri="http://schemas.openxmlformats.org/drawingml/2006/table">
            <a:tbl>
              <a:tblPr firstRow="1" bandRow="1">
                <a:solidFill>
                  <a:srgbClr val="F7F7F7"/>
                </a:solidFill>
                <a:tableStyleId>{822C3B93-EF79-491A-80E4-DA79D8C4CF44}</a:tableStyleId>
              </a:tblPr>
              <a:tblGrid>
                <a:gridCol w="3138325">
                  <a:extLst>
                    <a:ext uri="{9D8B030D-6E8A-4147-A177-3AD203B41FA5}">
                      <a16:colId xmlns:a16="http://schemas.microsoft.com/office/drawing/2014/main" val="20000"/>
                    </a:ext>
                  </a:extLst>
                </a:gridCol>
                <a:gridCol w="7705275">
                  <a:extLst>
                    <a:ext uri="{9D8B030D-6E8A-4147-A177-3AD203B41FA5}">
                      <a16:colId xmlns:a16="http://schemas.microsoft.com/office/drawing/2014/main" val="20001"/>
                    </a:ext>
                  </a:extLst>
                </a:gridCol>
              </a:tblGrid>
              <a:tr h="773350">
                <a:tc>
                  <a:txBody>
                    <a:bodyPr/>
                    <a:lstStyle/>
                    <a:p>
                      <a:pPr marL="0" marR="0" lvl="0" indent="0" algn="l" rtl="0">
                        <a:lnSpc>
                          <a:spcPct val="100000"/>
                        </a:lnSpc>
                        <a:spcBef>
                          <a:spcPts val="0"/>
                        </a:spcBef>
                        <a:spcAft>
                          <a:spcPts val="0"/>
                        </a:spcAft>
                        <a:buClr>
                          <a:schemeClr val="dk1"/>
                        </a:buClr>
                        <a:buSzPts val="3200"/>
                        <a:buFont typeface="Arial"/>
                        <a:buNone/>
                      </a:pPr>
                      <a:r>
                        <a:rPr lang="sv-SE" sz="3200" b="1" u="none" strike="noStrike" cap="none">
                          <a:solidFill>
                            <a:schemeClr val="dk1"/>
                          </a:solidFill>
                          <a:latin typeface="Arial"/>
                          <a:ea typeface="Arial"/>
                          <a:cs typeface="Arial"/>
                          <a:sym typeface="Arial"/>
                        </a:rPr>
                        <a:t>BEGREPP</a:t>
                      </a:r>
                      <a:endParaRPr/>
                    </a:p>
                  </a:txBody>
                  <a:tcPr marL="199325" marR="199325" marT="199325" marB="1993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3200"/>
                        <a:buFont typeface="Arial"/>
                        <a:buNone/>
                      </a:pPr>
                      <a:r>
                        <a:rPr lang="sv-SE" sz="3200" b="1" u="none" strike="noStrike" cap="none">
                          <a:solidFill>
                            <a:schemeClr val="dk1"/>
                          </a:solidFill>
                          <a:latin typeface="Arial"/>
                          <a:ea typeface="Arial"/>
                          <a:cs typeface="Arial"/>
                          <a:sym typeface="Arial"/>
                        </a:rPr>
                        <a:t>FÖRKLARING</a:t>
                      </a:r>
                      <a:endParaRPr/>
                    </a:p>
                  </a:txBody>
                  <a:tcPr marL="199325" marR="199325" marT="199325" marB="1993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025825">
                <a:tc>
                  <a:txBody>
                    <a:bodyPr/>
                    <a:lstStyle/>
                    <a:p>
                      <a:pPr marL="0" marR="0" lvl="0" indent="0" algn="l" rtl="0">
                        <a:lnSpc>
                          <a:spcPct val="100000"/>
                        </a:lnSpc>
                        <a:spcBef>
                          <a:spcPts val="0"/>
                        </a:spcBef>
                        <a:spcAft>
                          <a:spcPts val="0"/>
                        </a:spcAft>
                        <a:buClr>
                          <a:schemeClr val="dk1"/>
                        </a:buClr>
                        <a:buSzPts val="2300"/>
                        <a:buFont typeface="Arial"/>
                        <a:buNone/>
                      </a:pPr>
                      <a:r>
                        <a:rPr lang="sv-SE" sz="2300" b="1" u="none" strike="noStrike" cap="none">
                          <a:solidFill>
                            <a:schemeClr val="dk1"/>
                          </a:solidFill>
                          <a:latin typeface="Arial"/>
                          <a:ea typeface="Arial"/>
                          <a:cs typeface="Arial"/>
                          <a:sym typeface="Arial"/>
                        </a:rPr>
                        <a:t>pip</a:t>
                      </a:r>
                      <a:endParaRPr sz="2300" b="0" u="none" strike="noStrike" cap="none">
                        <a:solidFill>
                          <a:schemeClr val="dk1"/>
                        </a:solidFill>
                        <a:latin typeface="Arial"/>
                        <a:ea typeface="Arial"/>
                        <a:cs typeface="Arial"/>
                        <a:sym typeface="Arial"/>
                      </a:endParaRPr>
                    </a:p>
                  </a:txBody>
                  <a:tcPr marL="132900" marR="221475" marT="138425" marB="1329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100000"/>
                        </a:lnSpc>
                        <a:spcBef>
                          <a:spcPts val="0"/>
                        </a:spcBef>
                        <a:spcAft>
                          <a:spcPts val="0"/>
                        </a:spcAft>
                        <a:buClr>
                          <a:schemeClr val="dk1"/>
                        </a:buClr>
                        <a:buSzPts val="2300"/>
                        <a:buFont typeface="Arial"/>
                        <a:buNone/>
                      </a:pPr>
                      <a:r>
                        <a:rPr lang="sv-SE" sz="2300" b="0" u="none" strike="noStrike" cap="none">
                          <a:solidFill>
                            <a:schemeClr val="dk1"/>
                          </a:solidFill>
                          <a:latin typeface="Arial"/>
                          <a:ea typeface="Arial"/>
                          <a:cs typeface="Arial"/>
                          <a:sym typeface="Arial"/>
                        </a:rPr>
                        <a:t>Pythons pakethanterare. Tänk på det som en "app store" för Python-bibliotek.</a:t>
                      </a:r>
                      <a:endParaRPr/>
                    </a:p>
                  </a:txBody>
                  <a:tcPr marL="221475" marR="132900" marT="138425" marB="1329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1"/>
                  </a:ext>
                </a:extLst>
              </a:tr>
              <a:tr h="1025825">
                <a:tc>
                  <a:txBody>
                    <a:bodyPr/>
                    <a:lstStyle/>
                    <a:p>
                      <a:pPr marL="0" marR="0" lvl="0" indent="0" algn="l" rtl="0">
                        <a:lnSpc>
                          <a:spcPct val="100000"/>
                        </a:lnSpc>
                        <a:spcBef>
                          <a:spcPts val="0"/>
                        </a:spcBef>
                        <a:spcAft>
                          <a:spcPts val="0"/>
                        </a:spcAft>
                        <a:buClr>
                          <a:schemeClr val="dk1"/>
                        </a:buClr>
                        <a:buSzPts val="2300"/>
                        <a:buFont typeface="Arial"/>
                        <a:buNone/>
                      </a:pPr>
                      <a:r>
                        <a:rPr lang="sv-SE" sz="2300" b="1" u="none" strike="noStrike" cap="none">
                          <a:solidFill>
                            <a:schemeClr val="dk1"/>
                          </a:solidFill>
                          <a:latin typeface="Arial"/>
                          <a:ea typeface="Arial"/>
                          <a:cs typeface="Arial"/>
                          <a:sym typeface="Arial"/>
                        </a:rPr>
                        <a:t>Bibliotek</a:t>
                      </a:r>
                      <a:endParaRPr sz="2300" b="0" u="none" strike="noStrike" cap="none">
                        <a:solidFill>
                          <a:schemeClr val="dk1"/>
                        </a:solidFill>
                        <a:latin typeface="Arial"/>
                        <a:ea typeface="Arial"/>
                        <a:cs typeface="Arial"/>
                        <a:sym typeface="Arial"/>
                      </a:endParaRPr>
                    </a:p>
                  </a:txBody>
                  <a:tcPr marL="132900" marR="221475" marT="138425" marB="1329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2300"/>
                        <a:buFont typeface="Arial"/>
                        <a:buNone/>
                      </a:pPr>
                      <a:r>
                        <a:rPr lang="sv-SE" sz="2300" b="0" u="none" strike="noStrike" cap="none">
                          <a:solidFill>
                            <a:schemeClr val="dk1"/>
                          </a:solidFill>
                          <a:latin typeface="Arial"/>
                          <a:ea typeface="Arial"/>
                          <a:cs typeface="Arial"/>
                          <a:sym typeface="Arial"/>
                        </a:rPr>
                        <a:t>Färdig kod som andra har skrivit så att vi slipper uppfinna hjulet igen.</a:t>
                      </a:r>
                      <a:endParaRPr/>
                    </a:p>
                  </a:txBody>
                  <a:tcPr marL="221475" marR="132900" marT="138425" marB="1329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952000">
                <a:tc>
                  <a:txBody>
                    <a:bodyPr/>
                    <a:lstStyle/>
                    <a:p>
                      <a:pPr marL="0" marR="0" lvl="0" indent="0" algn="l" rtl="0">
                        <a:lnSpc>
                          <a:spcPct val="100000"/>
                        </a:lnSpc>
                        <a:spcBef>
                          <a:spcPts val="0"/>
                        </a:spcBef>
                        <a:spcAft>
                          <a:spcPts val="0"/>
                        </a:spcAft>
                        <a:buClr>
                          <a:schemeClr val="dk1"/>
                        </a:buClr>
                        <a:buSzPts val="2300"/>
                        <a:buFont typeface="Arial"/>
                        <a:buNone/>
                      </a:pPr>
                      <a:r>
                        <a:rPr lang="sv-SE" sz="2300" b="1" u="none" strike="noStrike" cap="none">
                          <a:solidFill>
                            <a:schemeClr val="dk1"/>
                          </a:solidFill>
                          <a:latin typeface="Arial"/>
                          <a:ea typeface="Arial"/>
                          <a:cs typeface="Arial"/>
                          <a:sym typeface="Arial"/>
                        </a:rPr>
                        <a:t>Exempel</a:t>
                      </a:r>
                      <a:endParaRPr sz="2300" b="0" u="none" strike="noStrike" cap="none">
                        <a:solidFill>
                          <a:schemeClr val="dk1"/>
                        </a:solidFill>
                        <a:latin typeface="Arial"/>
                        <a:ea typeface="Arial"/>
                        <a:cs typeface="Arial"/>
                        <a:sym typeface="Arial"/>
                      </a:endParaRPr>
                    </a:p>
                  </a:txBody>
                  <a:tcPr marL="132900" marR="221475" marT="138425" marB="1329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100000"/>
                        </a:lnSpc>
                        <a:spcBef>
                          <a:spcPts val="0"/>
                        </a:spcBef>
                        <a:spcAft>
                          <a:spcPts val="0"/>
                        </a:spcAft>
                        <a:buClr>
                          <a:schemeClr val="dk1"/>
                        </a:buClr>
                        <a:buSzPts val="2300"/>
                        <a:buFont typeface="Arial"/>
                        <a:buNone/>
                      </a:pPr>
                      <a:r>
                        <a:rPr lang="sv-SE" sz="2300" b="0" u="none" strike="noStrike" cap="none">
                          <a:solidFill>
                            <a:schemeClr val="dk1"/>
                          </a:solidFill>
                          <a:latin typeface="Arial"/>
                          <a:ea typeface="Arial"/>
                          <a:cs typeface="Arial"/>
                          <a:sym typeface="Arial"/>
                        </a:rPr>
                        <a:t>pandas (för datahantering), scikit-learn (för maskininlärning), joblib (för att spara modeller).</a:t>
                      </a:r>
                      <a:endParaRPr/>
                    </a:p>
                  </a:txBody>
                  <a:tcPr marL="221475" marR="132900" marT="138425" marB="1329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3"/>
                  </a:ext>
                </a:extLst>
              </a:tr>
              <a:tr h="675150">
                <a:tc>
                  <a:txBody>
                    <a:bodyPr/>
                    <a:lstStyle/>
                    <a:p>
                      <a:pPr marL="0" marR="0" lvl="0" indent="0" algn="l" rtl="0">
                        <a:lnSpc>
                          <a:spcPct val="100000"/>
                        </a:lnSpc>
                        <a:spcBef>
                          <a:spcPts val="0"/>
                        </a:spcBef>
                        <a:spcAft>
                          <a:spcPts val="0"/>
                        </a:spcAft>
                        <a:buClr>
                          <a:schemeClr val="dk1"/>
                        </a:buClr>
                        <a:buSzPts val="2300"/>
                        <a:buFont typeface="Arial"/>
                        <a:buNone/>
                      </a:pPr>
                      <a:r>
                        <a:rPr lang="sv-SE" sz="2300" b="1" u="none" strike="noStrike" cap="none">
                          <a:solidFill>
                            <a:schemeClr val="dk1"/>
                          </a:solidFill>
                          <a:latin typeface="Arial"/>
                          <a:ea typeface="Arial"/>
                          <a:cs typeface="Arial"/>
                          <a:sym typeface="Arial"/>
                        </a:rPr>
                        <a:t>Kommando</a:t>
                      </a:r>
                      <a:endParaRPr sz="2300" b="0" u="none" strike="noStrike" cap="none">
                        <a:solidFill>
                          <a:schemeClr val="dk1"/>
                        </a:solidFill>
                        <a:latin typeface="Arial"/>
                        <a:ea typeface="Arial"/>
                        <a:cs typeface="Arial"/>
                        <a:sym typeface="Arial"/>
                      </a:endParaRPr>
                    </a:p>
                  </a:txBody>
                  <a:tcPr marL="132900" marR="221475" marT="138425" marB="1329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2300"/>
                        <a:buFont typeface="Arial"/>
                        <a:buNone/>
                      </a:pPr>
                      <a:r>
                        <a:rPr lang="sv-SE" sz="2300" b="0" u="none" strike="noStrike" cap="none">
                          <a:solidFill>
                            <a:schemeClr val="dk1"/>
                          </a:solidFill>
                          <a:latin typeface="Arial"/>
                          <a:ea typeface="Arial"/>
                          <a:cs typeface="Arial"/>
                          <a:sym typeface="Arial"/>
                        </a:rPr>
                        <a:t>pip install pandas – laddar ner och installerar pandas.</a:t>
                      </a:r>
                      <a:endParaRPr/>
                    </a:p>
                  </a:txBody>
                  <a:tcPr marL="221475" marR="132900" marT="138425" marB="1329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6"/>
        <p:cNvGrpSpPr/>
        <p:nvPr/>
      </p:nvGrpSpPr>
      <p:grpSpPr>
        <a:xfrm>
          <a:off x="0" y="0"/>
          <a:ext cx="0" cy="0"/>
          <a:chOff x="0" y="0"/>
          <a:chExt cx="0" cy="0"/>
        </a:xfrm>
      </p:grpSpPr>
      <p:sp>
        <p:nvSpPr>
          <p:cNvPr id="357" name="Google Shape;357;p2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58" name="Google Shape;358;p25"/>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59" name="Google Shape;359;p25"/>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0" name="Google Shape;360;p25"/>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1" name="Google Shape;361;p25"/>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Vanliga frågor</a:t>
            </a:r>
            <a:endParaRPr/>
          </a:p>
        </p:txBody>
      </p:sp>
      <p:graphicFrame>
        <p:nvGraphicFramePr>
          <p:cNvPr id="362" name="Google Shape;362;p25"/>
          <p:cNvGraphicFramePr/>
          <p:nvPr/>
        </p:nvGraphicFramePr>
        <p:xfrm>
          <a:off x="62459" y="1717622"/>
          <a:ext cx="3000000" cy="3000000"/>
        </p:xfrm>
        <a:graphic>
          <a:graphicData uri="http://schemas.openxmlformats.org/drawingml/2006/table">
            <a:tbl>
              <a:tblPr firstRow="1" bandRow="1">
                <a:noFill/>
                <a:tableStyleId>{822C3B93-EF79-491A-80E4-DA79D8C4CF44}</a:tableStyleId>
              </a:tblPr>
              <a:tblGrid>
                <a:gridCol w="5403275">
                  <a:extLst>
                    <a:ext uri="{9D8B030D-6E8A-4147-A177-3AD203B41FA5}">
                      <a16:colId xmlns:a16="http://schemas.microsoft.com/office/drawing/2014/main" val="20000"/>
                    </a:ext>
                  </a:extLst>
                </a:gridCol>
                <a:gridCol w="6591025">
                  <a:extLst>
                    <a:ext uri="{9D8B030D-6E8A-4147-A177-3AD203B41FA5}">
                      <a16:colId xmlns:a16="http://schemas.microsoft.com/office/drawing/2014/main" val="20001"/>
                    </a:ext>
                  </a:extLst>
                </a:gridCol>
              </a:tblGrid>
              <a:tr h="477675">
                <a:tc>
                  <a:txBody>
                    <a:bodyPr/>
                    <a:lstStyle/>
                    <a:p>
                      <a:pPr marL="0" marR="0" lvl="0" indent="0" algn="l" rtl="0">
                        <a:lnSpc>
                          <a:spcPct val="58593"/>
                        </a:lnSpc>
                        <a:spcBef>
                          <a:spcPts val="0"/>
                        </a:spcBef>
                        <a:spcAft>
                          <a:spcPts val="0"/>
                        </a:spcAft>
                        <a:buClr>
                          <a:schemeClr val="dk1"/>
                        </a:buClr>
                        <a:buSzPts val="3200"/>
                        <a:buFont typeface="Arial"/>
                        <a:buNone/>
                      </a:pPr>
                      <a:r>
                        <a:rPr lang="sv-SE" sz="3200" b="1" u="none" strike="noStrike" cap="none">
                          <a:solidFill>
                            <a:schemeClr val="dk1"/>
                          </a:solidFill>
                          <a:latin typeface="Arial"/>
                          <a:ea typeface="Arial"/>
                          <a:cs typeface="Arial"/>
                          <a:sym typeface="Arial"/>
                        </a:rPr>
                        <a:t>Fråga</a:t>
                      </a:r>
                      <a:endParaRPr/>
                    </a:p>
                  </a:txBody>
                  <a:tcPr marL="98500" marR="164175"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58593"/>
                        </a:lnSpc>
                        <a:spcBef>
                          <a:spcPts val="0"/>
                        </a:spcBef>
                        <a:spcAft>
                          <a:spcPts val="0"/>
                        </a:spcAft>
                        <a:buClr>
                          <a:schemeClr val="dk1"/>
                        </a:buClr>
                        <a:buSzPts val="3200"/>
                        <a:buFont typeface="Arial"/>
                        <a:buNone/>
                      </a:pPr>
                      <a:r>
                        <a:rPr lang="sv-SE" sz="3200" b="1" u="none" strike="noStrike" cap="none">
                          <a:solidFill>
                            <a:schemeClr val="dk1"/>
                          </a:solidFill>
                          <a:latin typeface="Arial"/>
                          <a:ea typeface="Arial"/>
                          <a:cs typeface="Arial"/>
                          <a:sym typeface="Arial"/>
                        </a:rPr>
                        <a:t>Svar</a:t>
                      </a:r>
                      <a:endParaRPr/>
                    </a:p>
                  </a:txBody>
                  <a:tcPr marL="164175" marR="164175"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2370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PATH? Varför måste jag kryssa i det?</a:t>
                      </a:r>
                      <a:endParaRPr sz="1800" b="0" u="none" strike="noStrike" cap="none">
                        <a:solidFill>
                          <a:schemeClr val="dk1"/>
                        </a:solidFill>
                        <a:latin typeface="Arial"/>
                        <a:ea typeface="Arial"/>
                        <a:cs typeface="Arial"/>
                        <a:sym typeface="Arial"/>
                      </a:endParaRPr>
                    </a:p>
                  </a:txBody>
                  <a:tcPr marL="98500" marR="164175"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PATH är en lista över mappar där Windows letar efter program. Om du inte lägger till Python i PATH vet inte datorn var Python finns när du skriver python i terminalen. </a:t>
                      </a:r>
                      <a:r>
                        <a:rPr lang="sv-SE" sz="1800" b="1" u="none" strike="noStrike" cap="none">
                          <a:solidFill>
                            <a:schemeClr val="dk1"/>
                          </a:solidFill>
                          <a:latin typeface="Arial"/>
                          <a:ea typeface="Arial"/>
                          <a:cs typeface="Arial"/>
                          <a:sym typeface="Arial"/>
                        </a:rPr>
                        <a:t>Detta är den vanligaste orsaken till problem för nybörjare!</a:t>
                      </a:r>
                      <a:endParaRPr sz="1800" b="0" u="none" strike="noStrike" cap="none">
                        <a:solidFill>
                          <a:schemeClr val="dk1"/>
                        </a:solidFill>
                        <a:latin typeface="Arial"/>
                        <a:ea typeface="Arial"/>
                        <a:cs typeface="Arial"/>
                        <a:sym typeface="Arial"/>
                      </a:endParaRPr>
                    </a:p>
                  </a:txBody>
                  <a:tcPr marL="164175" marR="98500"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7162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Jag glömde kryssa i "Add Python to PATH" – vad gör jag?</a:t>
                      </a:r>
                      <a:endParaRPr sz="1600" b="0" u="none" strike="noStrike" cap="none">
                        <a:solidFill>
                          <a:schemeClr val="dk1"/>
                        </a:solidFill>
                        <a:latin typeface="Arial"/>
                        <a:ea typeface="Arial"/>
                        <a:cs typeface="Arial"/>
                        <a:sym typeface="Arial"/>
                      </a:endParaRPr>
                    </a:p>
                  </a:txBody>
                  <a:tcPr marL="98500" marR="164175"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Avinstallera Python och installera om. Det är enklast. Eller lägg till sökvägen manuellt (krångligt för nybörjare).</a:t>
                      </a:r>
                      <a:endParaRPr/>
                    </a:p>
                  </a:txBody>
                  <a:tcPr marL="164175" marR="98500"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7716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skillnaden på Python och pip?</a:t>
                      </a:r>
                      <a:endParaRPr sz="1800" b="0" u="none" strike="noStrike" cap="none">
                        <a:solidFill>
                          <a:schemeClr val="dk1"/>
                        </a:solidFill>
                        <a:latin typeface="Arial"/>
                        <a:ea typeface="Arial"/>
                        <a:cs typeface="Arial"/>
                        <a:sym typeface="Arial"/>
                      </a:endParaRPr>
                    </a:p>
                  </a:txBody>
                  <a:tcPr marL="98500" marR="164175"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Python är själva språket. pip är ett verktyg som följer med Python och används för att installera tilläggsbibliotek.</a:t>
                      </a:r>
                      <a:endParaRPr/>
                    </a:p>
                  </a:txBody>
                  <a:tcPr marL="164175" marR="98500"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77162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Jag får "python är inte känt som ett kommando" – varför?</a:t>
                      </a:r>
                      <a:endParaRPr sz="1600" b="0" u="none" strike="noStrike" cap="none">
                        <a:solidFill>
                          <a:schemeClr val="dk1"/>
                        </a:solidFill>
                        <a:latin typeface="Arial"/>
                        <a:ea typeface="Arial"/>
                        <a:cs typeface="Arial"/>
                        <a:sym typeface="Arial"/>
                      </a:endParaRPr>
                    </a:p>
                  </a:txBody>
                  <a:tcPr marL="98500" marR="164175"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Du glömde kryssa i "Add Python to PATH" vid installationen. Installera om och kryssa i rutan!</a:t>
                      </a:r>
                      <a:endParaRPr/>
                    </a:p>
                  </a:txBody>
                  <a:tcPr marL="164175" marR="98500"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4776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Vilken Python-version ska jag välja?</a:t>
                      </a:r>
                      <a:endParaRPr sz="1800" b="0" u="none" strike="noStrike" cap="none">
                        <a:solidFill>
                          <a:schemeClr val="dk1"/>
                        </a:solidFill>
                        <a:latin typeface="Arial"/>
                        <a:ea typeface="Arial"/>
                        <a:cs typeface="Arial"/>
                        <a:sym typeface="Arial"/>
                      </a:endParaRPr>
                    </a:p>
                  </a:txBody>
                  <a:tcPr marL="98500" marR="164175"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Den senaste stabila (3.12 eller 3.13). Välj alltid 64-bitarsversionen.</a:t>
                      </a:r>
                      <a:endParaRPr/>
                    </a:p>
                  </a:txBody>
                  <a:tcPr marL="164175" marR="98500"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6542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Kan jag ha flera Python-versioner installerade?</a:t>
                      </a:r>
                      <a:endParaRPr sz="1600" b="0" u="none" strike="noStrike" cap="none">
                        <a:solidFill>
                          <a:schemeClr val="dk1"/>
                        </a:solidFill>
                        <a:latin typeface="Arial"/>
                        <a:ea typeface="Arial"/>
                        <a:cs typeface="Arial"/>
                        <a:sym typeface="Arial"/>
                      </a:endParaRPr>
                    </a:p>
                  </a:txBody>
                  <a:tcPr marL="98500" marR="164175"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Ja, men det kan bli krångligt för nybörjare. Börja med en version.</a:t>
                      </a:r>
                      <a:endParaRPr/>
                    </a:p>
                  </a:txBody>
                  <a:tcPr marL="164175" marR="98500" marT="68950" marB="68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6"/>
        <p:cNvGrpSpPr/>
        <p:nvPr/>
      </p:nvGrpSpPr>
      <p:grpSpPr>
        <a:xfrm>
          <a:off x="0" y="0"/>
          <a:ext cx="0" cy="0"/>
          <a:chOff x="0" y="0"/>
          <a:chExt cx="0" cy="0"/>
        </a:xfrm>
      </p:grpSpPr>
      <p:sp>
        <p:nvSpPr>
          <p:cNvPr id="367" name="Google Shape;367;p2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8" name="Google Shape;368;p26"/>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9" name="Google Shape;369;p26"/>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70" name="Google Shape;370;p26"/>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71" name="Google Shape;371;p26"/>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Felsökning </a:t>
            </a:r>
            <a:endParaRPr/>
          </a:p>
        </p:txBody>
      </p:sp>
      <p:graphicFrame>
        <p:nvGraphicFramePr>
          <p:cNvPr id="372" name="Google Shape;372;p26"/>
          <p:cNvGraphicFramePr/>
          <p:nvPr/>
        </p:nvGraphicFramePr>
        <p:xfrm>
          <a:off x="-6245" y="1592704"/>
          <a:ext cx="3000000" cy="3000000"/>
        </p:xfrm>
        <a:graphic>
          <a:graphicData uri="http://schemas.openxmlformats.org/drawingml/2006/table">
            <a:tbl>
              <a:tblPr firstRow="1" bandRow="1">
                <a:solidFill>
                  <a:schemeClr val="lt1"/>
                </a:solidFill>
                <a:tableStyleId>{822C3B93-EF79-491A-80E4-DA79D8C4CF44}</a:tableStyleId>
              </a:tblPr>
              <a:tblGrid>
                <a:gridCol w="2561975">
                  <a:extLst>
                    <a:ext uri="{9D8B030D-6E8A-4147-A177-3AD203B41FA5}">
                      <a16:colId xmlns:a16="http://schemas.microsoft.com/office/drawing/2014/main" val="20000"/>
                    </a:ext>
                  </a:extLst>
                </a:gridCol>
                <a:gridCol w="3776800">
                  <a:extLst>
                    <a:ext uri="{9D8B030D-6E8A-4147-A177-3AD203B41FA5}">
                      <a16:colId xmlns:a16="http://schemas.microsoft.com/office/drawing/2014/main" val="20001"/>
                    </a:ext>
                  </a:extLst>
                </a:gridCol>
                <a:gridCol w="5828700">
                  <a:extLst>
                    <a:ext uri="{9D8B030D-6E8A-4147-A177-3AD203B41FA5}">
                      <a16:colId xmlns:a16="http://schemas.microsoft.com/office/drawing/2014/main" val="20002"/>
                    </a:ext>
                  </a:extLst>
                </a:gridCol>
              </a:tblGrid>
              <a:tr h="620800">
                <a:tc>
                  <a:txBody>
                    <a:bodyPr/>
                    <a:lstStyle/>
                    <a:p>
                      <a:pPr marL="0" marR="0" lvl="0" indent="0" algn="l" rtl="0">
                        <a:lnSpc>
                          <a:spcPct val="66964"/>
                        </a:lnSpc>
                        <a:spcBef>
                          <a:spcPts val="0"/>
                        </a:spcBef>
                        <a:spcAft>
                          <a:spcPts val="0"/>
                        </a:spcAft>
                        <a:buClr>
                          <a:schemeClr val="lt1"/>
                        </a:buClr>
                        <a:buSzPts val="2800"/>
                        <a:buFont typeface="Arial"/>
                        <a:buNone/>
                      </a:pPr>
                      <a:r>
                        <a:rPr lang="sv-SE" sz="2800" b="1" u="none" strike="noStrike" cap="none">
                          <a:solidFill>
                            <a:schemeClr val="lt1"/>
                          </a:solidFill>
                          <a:latin typeface="Arial"/>
                          <a:ea typeface="Arial"/>
                          <a:cs typeface="Arial"/>
                          <a:sym typeface="Arial"/>
                        </a:rPr>
                        <a:t>Problem</a:t>
                      </a:r>
                      <a:endParaRPr/>
                    </a:p>
                  </a:txBody>
                  <a:tcPr marL="153700" marR="197050" marT="118225" marB="1182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66964"/>
                        </a:lnSpc>
                        <a:spcBef>
                          <a:spcPts val="0"/>
                        </a:spcBef>
                        <a:spcAft>
                          <a:spcPts val="0"/>
                        </a:spcAft>
                        <a:buClr>
                          <a:schemeClr val="lt1"/>
                        </a:buClr>
                        <a:buSzPts val="2800"/>
                        <a:buFont typeface="Arial"/>
                        <a:buNone/>
                      </a:pPr>
                      <a:r>
                        <a:rPr lang="sv-SE" sz="2800" b="1" u="none" strike="noStrike" cap="none">
                          <a:solidFill>
                            <a:schemeClr val="lt1"/>
                          </a:solidFill>
                          <a:latin typeface="Arial"/>
                          <a:ea typeface="Arial"/>
                          <a:cs typeface="Arial"/>
                          <a:sym typeface="Arial"/>
                        </a:rPr>
                        <a:t>Felmeddelande</a:t>
                      </a:r>
                      <a:endParaRPr/>
                    </a:p>
                  </a:txBody>
                  <a:tcPr marL="153700" marR="197050" marT="118225" marB="1182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66964"/>
                        </a:lnSpc>
                        <a:spcBef>
                          <a:spcPts val="0"/>
                        </a:spcBef>
                        <a:spcAft>
                          <a:spcPts val="0"/>
                        </a:spcAft>
                        <a:buClr>
                          <a:schemeClr val="lt1"/>
                        </a:buClr>
                        <a:buSzPts val="2800"/>
                        <a:buFont typeface="Arial"/>
                        <a:buNone/>
                      </a:pPr>
                      <a:r>
                        <a:rPr lang="sv-SE" sz="2800" b="1" u="none" strike="noStrike" cap="none">
                          <a:solidFill>
                            <a:schemeClr val="lt1"/>
                          </a:solidFill>
                          <a:latin typeface="Arial"/>
                          <a:ea typeface="Arial"/>
                          <a:cs typeface="Arial"/>
                          <a:sym typeface="Arial"/>
                        </a:rPr>
                        <a:t>Lösning</a:t>
                      </a:r>
                      <a:endParaRPr/>
                    </a:p>
                  </a:txBody>
                  <a:tcPr marL="153700" marR="197050" marT="118225" marB="118225"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1358450">
                <a:tc>
                  <a:txBody>
                    <a:bodyPr/>
                    <a:lstStyle/>
                    <a:p>
                      <a:pPr marL="0" marR="0" lvl="0" indent="0" algn="l" rtl="0">
                        <a:lnSpc>
                          <a:spcPct val="100000"/>
                        </a:lnSpc>
                        <a:spcBef>
                          <a:spcPts val="0"/>
                        </a:spcBef>
                        <a:spcAft>
                          <a:spcPts val="0"/>
                        </a:spcAft>
                        <a:buClr>
                          <a:schemeClr val="dk1"/>
                        </a:buClr>
                        <a:buSzPts val="2400"/>
                        <a:buFont typeface="Arial"/>
                        <a:buNone/>
                      </a:pPr>
                      <a:r>
                        <a:rPr lang="sv-SE" sz="2400" b="1" u="none" strike="noStrike" cap="none">
                          <a:solidFill>
                            <a:schemeClr val="dk1"/>
                          </a:solidFill>
                          <a:latin typeface="Arial"/>
                          <a:ea typeface="Arial"/>
                          <a:cs typeface="Arial"/>
                          <a:sym typeface="Arial"/>
                        </a:rPr>
                        <a:t>Python hittas inte</a:t>
                      </a:r>
                      <a:endParaRPr sz="2400" b="0" u="none" strike="noStrike" cap="none">
                        <a:solidFill>
                          <a:schemeClr val="dk1"/>
                        </a:solidFill>
                        <a:latin typeface="Arial"/>
                        <a:ea typeface="Arial"/>
                        <a:cs typeface="Arial"/>
                        <a:sym typeface="Arial"/>
                      </a:endParaRPr>
                    </a:p>
                  </a:txBody>
                  <a:tcPr marL="153700" marR="197050" marT="118225" marB="118225"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"python is not recognized as an internal or external command"</a:t>
                      </a:r>
                      <a:endParaRPr/>
                    </a:p>
                  </a:txBody>
                  <a:tcPr marL="153700" marR="197050" marT="118225" marB="1182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Du glömde kryssa i "Add Python to PATH". Installera om!</a:t>
                      </a:r>
                      <a:endParaRPr/>
                    </a:p>
                  </a:txBody>
                  <a:tcPr marL="153700" marR="118225" marT="118225" marB="118225"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85975">
                <a:tc>
                  <a:txBody>
                    <a:bodyPr/>
                    <a:lstStyle/>
                    <a:p>
                      <a:pPr marL="0" marR="0" lvl="0" indent="0" algn="l" rtl="0">
                        <a:lnSpc>
                          <a:spcPct val="100000"/>
                        </a:lnSpc>
                        <a:spcBef>
                          <a:spcPts val="0"/>
                        </a:spcBef>
                        <a:spcAft>
                          <a:spcPts val="0"/>
                        </a:spcAft>
                        <a:buClr>
                          <a:schemeClr val="dk1"/>
                        </a:buClr>
                        <a:buSzPts val="2400"/>
                        <a:buFont typeface="Arial"/>
                        <a:buNone/>
                      </a:pPr>
                      <a:r>
                        <a:rPr lang="sv-SE" sz="2400" b="1" u="none" strike="noStrike" cap="none">
                          <a:solidFill>
                            <a:schemeClr val="dk1"/>
                          </a:solidFill>
                          <a:latin typeface="Arial"/>
                          <a:ea typeface="Arial"/>
                          <a:cs typeface="Arial"/>
                          <a:sym typeface="Arial"/>
                        </a:rPr>
                        <a:t>Pip hittas inte</a:t>
                      </a:r>
                      <a:endParaRPr sz="2400" b="0" u="none" strike="noStrike" cap="none">
                        <a:solidFill>
                          <a:schemeClr val="dk1"/>
                        </a:solidFill>
                        <a:latin typeface="Arial"/>
                        <a:ea typeface="Arial"/>
                        <a:cs typeface="Arial"/>
                        <a:sym typeface="Arial"/>
                      </a:endParaRPr>
                    </a:p>
                  </a:txBody>
                  <a:tcPr marL="153700" marR="197050" marT="118225" marB="1182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"pip is not recognized..."</a:t>
                      </a:r>
                      <a:endParaRPr/>
                    </a:p>
                  </a:txBody>
                  <a:tcPr marL="153700" marR="197050" marT="118225" marB="1182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Installera om Python med "Add Python to PATH" ikryssad.</a:t>
                      </a:r>
                      <a:endParaRPr/>
                    </a:p>
                  </a:txBody>
                  <a:tcPr marL="153700" marR="118225" marT="118225" marB="118225"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1300025">
                <a:tc>
                  <a:txBody>
                    <a:bodyPr/>
                    <a:lstStyle/>
                    <a:p>
                      <a:pPr marL="0" marR="0" lvl="0" indent="0" algn="l" rtl="0">
                        <a:lnSpc>
                          <a:spcPct val="100000"/>
                        </a:lnSpc>
                        <a:spcBef>
                          <a:spcPts val="0"/>
                        </a:spcBef>
                        <a:spcAft>
                          <a:spcPts val="0"/>
                        </a:spcAft>
                        <a:buClr>
                          <a:schemeClr val="dk1"/>
                        </a:buClr>
                        <a:buSzPts val="2400"/>
                        <a:buFont typeface="Arial"/>
                        <a:buNone/>
                      </a:pPr>
                      <a:r>
                        <a:rPr lang="sv-SE" sz="2400" b="1" u="none" strike="noStrike" cap="none">
                          <a:solidFill>
                            <a:schemeClr val="dk1"/>
                          </a:solidFill>
                          <a:latin typeface="Arial"/>
                          <a:ea typeface="Arial"/>
                          <a:cs typeface="Arial"/>
                          <a:sym typeface="Arial"/>
                        </a:rPr>
                        <a:t>Fel version installerad</a:t>
                      </a:r>
                      <a:endParaRPr sz="2400" b="0" u="none" strike="noStrike" cap="none">
                        <a:solidFill>
                          <a:schemeClr val="dk1"/>
                        </a:solidFill>
                        <a:latin typeface="Arial"/>
                        <a:ea typeface="Arial"/>
                        <a:cs typeface="Arial"/>
                        <a:sym typeface="Arial"/>
                      </a:endParaRPr>
                    </a:p>
                  </a:txBody>
                  <a:tcPr marL="153700" marR="197050" marT="118225" marB="118225"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Python 2.x visas</a:t>
                      </a:r>
                      <a:endParaRPr/>
                    </a:p>
                  </a:txBody>
                  <a:tcPr marL="153700" marR="197050" marT="118225" marB="1182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Du kan ha en gammal version installerad. Installera Python 3.x från </a:t>
                      </a:r>
                      <a:r>
                        <a:rPr lang="sv-SE" sz="2400" b="0" u="sng" strike="noStrike" cap="none">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python.org</a:t>
                      </a:r>
                      <a:r>
                        <a:rPr lang="sv-SE" sz="2400" b="0" u="none" strike="noStrike" cap="none">
                          <a:solidFill>
                            <a:schemeClr val="dk1"/>
                          </a:solidFill>
                          <a:latin typeface="Arial"/>
                          <a:ea typeface="Arial"/>
                          <a:cs typeface="Arial"/>
                          <a:sym typeface="Arial"/>
                        </a:rPr>
                        <a:t>.</a:t>
                      </a:r>
                      <a:endParaRPr/>
                    </a:p>
                  </a:txBody>
                  <a:tcPr marL="153700" marR="118225" marT="118225" marB="118225"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985975">
                <a:tc>
                  <a:txBody>
                    <a:bodyPr/>
                    <a:lstStyle/>
                    <a:p>
                      <a:pPr marL="0" marR="0" lvl="0" indent="0" algn="l" rtl="0">
                        <a:lnSpc>
                          <a:spcPct val="100000"/>
                        </a:lnSpc>
                        <a:spcBef>
                          <a:spcPts val="0"/>
                        </a:spcBef>
                        <a:spcAft>
                          <a:spcPts val="0"/>
                        </a:spcAft>
                        <a:buClr>
                          <a:schemeClr val="dk1"/>
                        </a:buClr>
                        <a:buSzPts val="2400"/>
                        <a:buFont typeface="Arial"/>
                        <a:buNone/>
                      </a:pPr>
                      <a:r>
                        <a:rPr lang="sv-SE" sz="2400" b="1" u="none" strike="noStrike" cap="none">
                          <a:solidFill>
                            <a:schemeClr val="dk1"/>
                          </a:solidFill>
                          <a:latin typeface="Arial"/>
                          <a:ea typeface="Arial"/>
                          <a:cs typeface="Arial"/>
                          <a:sym typeface="Arial"/>
                        </a:rPr>
                        <a:t>Installationen fastnar</a:t>
                      </a:r>
                      <a:endParaRPr sz="2400" b="0" u="none" strike="noStrike" cap="none">
                        <a:solidFill>
                          <a:schemeClr val="dk1"/>
                        </a:solidFill>
                        <a:latin typeface="Arial"/>
                        <a:ea typeface="Arial"/>
                        <a:cs typeface="Arial"/>
                        <a:sym typeface="Arial"/>
                      </a:endParaRPr>
                    </a:p>
                  </a:txBody>
                  <a:tcPr marL="153700" marR="197050" marT="118225" marB="1182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a:t>
                      </a:r>
                      <a:endParaRPr/>
                    </a:p>
                  </a:txBody>
                  <a:tcPr marL="153700" marR="197050" marT="118225" marB="1182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Starta om datorn och försök igen. Stäng av brandväggen temporärt.</a:t>
                      </a:r>
                      <a:endParaRPr/>
                    </a:p>
                  </a:txBody>
                  <a:tcPr marL="153700" marR="118225" marT="118225" marB="118225"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6"/>
        <p:cNvGrpSpPr/>
        <p:nvPr/>
      </p:nvGrpSpPr>
      <p:grpSpPr>
        <a:xfrm>
          <a:off x="0" y="0"/>
          <a:ext cx="0" cy="0"/>
          <a:chOff x="0" y="0"/>
          <a:chExt cx="0" cy="0"/>
        </a:xfrm>
      </p:grpSpPr>
      <p:sp>
        <p:nvSpPr>
          <p:cNvPr id="377" name="Google Shape;377;p2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78" name="Google Shape;378;p27"/>
          <p:cNvSpPr/>
          <p:nvPr/>
        </p:nvSpPr>
        <p:spPr>
          <a:xfrm flipH="1">
            <a:off x="2" y="0"/>
            <a:ext cx="12191998" cy="1575955"/>
          </a:xfrm>
          <a:prstGeom prst="rect">
            <a:avLst/>
          </a:prstGeom>
          <a:gradFill>
            <a:gsLst>
              <a:gs pos="0">
                <a:srgbClr val="000000">
                  <a:alpha val="96078"/>
                </a:srgbClr>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79" name="Google Shape;379;p27"/>
          <p:cNvSpPr/>
          <p:nvPr/>
        </p:nvSpPr>
        <p:spPr>
          <a:xfrm rot="10800000" flipH="1">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80" name="Google Shape;380;p27"/>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81" name="Google Shape;381;p27"/>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2800"/>
              <a:buFont typeface="Play"/>
              <a:buNone/>
            </a:pPr>
            <a:r>
              <a:rPr lang="sv-SE" sz="2800">
                <a:solidFill>
                  <a:srgbClr val="FFFFFF"/>
                </a:solidFill>
              </a:rPr>
              <a:t>Steg 5: Installera VS Code (Visual Studio Code). VS Code är vår arbetsyta och textredigerare. </a:t>
            </a:r>
            <a:endParaRPr sz="2800">
              <a:solidFill>
                <a:srgbClr val="FFFFFF"/>
              </a:solidFill>
            </a:endParaRPr>
          </a:p>
        </p:txBody>
      </p:sp>
      <p:grpSp>
        <p:nvGrpSpPr>
          <p:cNvPr id="382" name="Google Shape;382;p27"/>
          <p:cNvGrpSpPr/>
          <p:nvPr/>
        </p:nvGrpSpPr>
        <p:grpSpPr>
          <a:xfrm>
            <a:off x="977970" y="3308861"/>
            <a:ext cx="10260000" cy="1800240"/>
            <a:chOff x="333914" y="1196282"/>
            <a:chExt cx="10260000" cy="1800240"/>
          </a:xfrm>
        </p:grpSpPr>
        <p:sp>
          <p:nvSpPr>
            <p:cNvPr id="383" name="Google Shape;383;p27"/>
            <p:cNvSpPr/>
            <p:nvPr/>
          </p:nvSpPr>
          <p:spPr>
            <a:xfrm>
              <a:off x="828914" y="1196282"/>
              <a:ext cx="810000" cy="81000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7"/>
            <p:cNvSpPr/>
            <p:nvPr/>
          </p:nvSpPr>
          <p:spPr>
            <a:xfrm>
              <a:off x="333914" y="2276522"/>
              <a:ext cx="1800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7"/>
            <p:cNvSpPr txBox="1"/>
            <p:nvPr/>
          </p:nvSpPr>
          <p:spPr>
            <a:xfrm>
              <a:off x="333914" y="2276522"/>
              <a:ext cx="18000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sv-SE" sz="1500" b="0" i="0" u="none" strike="noStrike" cap="none">
                  <a:solidFill>
                    <a:schemeClr val="dk1"/>
                  </a:solidFill>
                  <a:latin typeface="Arial"/>
                  <a:ea typeface="Arial"/>
                  <a:cs typeface="Arial"/>
                  <a:sym typeface="Arial"/>
                </a:rPr>
                <a:t>Skriva och redigera din Python-kod</a:t>
              </a:r>
              <a:endParaRPr/>
            </a:p>
          </p:txBody>
        </p:sp>
        <p:sp>
          <p:nvSpPr>
            <p:cNvPr id="386" name="Google Shape;386;p27"/>
            <p:cNvSpPr/>
            <p:nvPr/>
          </p:nvSpPr>
          <p:spPr>
            <a:xfrm>
              <a:off x="2943914" y="1196282"/>
              <a:ext cx="810000" cy="81000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7"/>
            <p:cNvSpPr/>
            <p:nvPr/>
          </p:nvSpPr>
          <p:spPr>
            <a:xfrm>
              <a:off x="2448914" y="2276522"/>
              <a:ext cx="1800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7"/>
            <p:cNvSpPr txBox="1"/>
            <p:nvPr/>
          </p:nvSpPr>
          <p:spPr>
            <a:xfrm>
              <a:off x="2448914" y="2276522"/>
              <a:ext cx="18000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sv-SE" sz="1500" b="0" i="0" u="none" strike="noStrike" cap="none">
                  <a:solidFill>
                    <a:schemeClr val="dk1"/>
                  </a:solidFill>
                  <a:latin typeface="Arial"/>
                  <a:ea typeface="Arial"/>
                  <a:cs typeface="Arial"/>
                  <a:sym typeface="Arial"/>
                </a:rPr>
                <a:t>Se koden i färg (så det blir lättare att läsa)</a:t>
              </a:r>
              <a:endParaRPr/>
            </a:p>
          </p:txBody>
        </p:sp>
        <p:sp>
          <p:nvSpPr>
            <p:cNvPr id="389" name="Google Shape;389;p27"/>
            <p:cNvSpPr/>
            <p:nvPr/>
          </p:nvSpPr>
          <p:spPr>
            <a:xfrm>
              <a:off x="5058914" y="1196282"/>
              <a:ext cx="810000" cy="81000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7"/>
            <p:cNvSpPr/>
            <p:nvPr/>
          </p:nvSpPr>
          <p:spPr>
            <a:xfrm>
              <a:off x="4563914" y="2276522"/>
              <a:ext cx="1800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7"/>
            <p:cNvSpPr txBox="1"/>
            <p:nvPr/>
          </p:nvSpPr>
          <p:spPr>
            <a:xfrm>
              <a:off x="4563914" y="2276522"/>
              <a:ext cx="18000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sv-SE" sz="1500" b="0" i="0" u="none" strike="noStrike" cap="none">
                  <a:solidFill>
                    <a:schemeClr val="dk1"/>
                  </a:solidFill>
                  <a:latin typeface="Arial"/>
                  <a:ea typeface="Arial"/>
                  <a:cs typeface="Arial"/>
                  <a:sym typeface="Arial"/>
                </a:rPr>
                <a:t>Få förslag på vad du ska skriva härnäst</a:t>
              </a:r>
              <a:endParaRPr/>
            </a:p>
          </p:txBody>
        </p:sp>
        <p:sp>
          <p:nvSpPr>
            <p:cNvPr id="392" name="Google Shape;392;p27"/>
            <p:cNvSpPr/>
            <p:nvPr/>
          </p:nvSpPr>
          <p:spPr>
            <a:xfrm>
              <a:off x="7173914" y="1196282"/>
              <a:ext cx="810000" cy="810000"/>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7"/>
            <p:cNvSpPr/>
            <p:nvPr/>
          </p:nvSpPr>
          <p:spPr>
            <a:xfrm>
              <a:off x="6678914" y="2276522"/>
              <a:ext cx="1800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7"/>
            <p:cNvSpPr txBox="1"/>
            <p:nvPr/>
          </p:nvSpPr>
          <p:spPr>
            <a:xfrm>
              <a:off x="6678914" y="2276522"/>
              <a:ext cx="18000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sv-SE" sz="1500" b="0" i="0" u="none" strike="noStrike" cap="none">
                  <a:solidFill>
                    <a:schemeClr val="dk1"/>
                  </a:solidFill>
                  <a:latin typeface="Arial"/>
                  <a:ea typeface="Arial"/>
                  <a:cs typeface="Arial"/>
                  <a:sym typeface="Arial"/>
                </a:rPr>
                <a:t>Upptäcka fel innan du kör koden</a:t>
              </a:r>
              <a:endParaRPr/>
            </a:p>
          </p:txBody>
        </p:sp>
        <p:sp>
          <p:nvSpPr>
            <p:cNvPr id="395" name="Google Shape;395;p27"/>
            <p:cNvSpPr/>
            <p:nvPr/>
          </p:nvSpPr>
          <p:spPr>
            <a:xfrm>
              <a:off x="9288914" y="1196282"/>
              <a:ext cx="810000" cy="810000"/>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7"/>
            <p:cNvSpPr/>
            <p:nvPr/>
          </p:nvSpPr>
          <p:spPr>
            <a:xfrm>
              <a:off x="8793914" y="2276522"/>
              <a:ext cx="1800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7"/>
            <p:cNvSpPr txBox="1"/>
            <p:nvPr/>
          </p:nvSpPr>
          <p:spPr>
            <a:xfrm>
              <a:off x="8793914" y="2276522"/>
              <a:ext cx="18000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sv-SE" sz="1500" b="0" i="0" u="none" strike="noStrike" cap="none">
                  <a:solidFill>
                    <a:schemeClr val="dk1"/>
                  </a:solidFill>
                  <a:latin typeface="Arial"/>
                  <a:ea typeface="Arial"/>
                  <a:cs typeface="Arial"/>
                  <a:sym typeface="Arial"/>
                </a:rPr>
                <a:t>Köra dina Python-skript med en knapptryckning</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1"/>
        <p:cNvGrpSpPr/>
        <p:nvPr/>
      </p:nvGrpSpPr>
      <p:grpSpPr>
        <a:xfrm>
          <a:off x="0" y="0"/>
          <a:ext cx="0" cy="0"/>
          <a:chOff x="0" y="0"/>
          <a:chExt cx="0" cy="0"/>
        </a:xfrm>
      </p:grpSpPr>
      <p:sp>
        <p:nvSpPr>
          <p:cNvPr id="402" name="Google Shape;402;p28"/>
          <p:cNvSpPr/>
          <p:nvPr/>
        </p:nvSpPr>
        <p:spPr>
          <a:xfrm>
            <a:off x="0" y="0"/>
            <a:ext cx="12192000" cy="6858000"/>
          </a:xfrm>
          <a:prstGeom prst="rect">
            <a:avLst/>
          </a:prstGeom>
          <a:gradFill>
            <a:gsLst>
              <a:gs pos="0">
                <a:schemeClr val="accent1"/>
              </a:gs>
              <a:gs pos="100000">
                <a:schemeClr val="accent2"/>
              </a:gs>
            </a:gsLst>
            <a:lin ang="81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403" name="Google Shape;403;p28"/>
          <p:cNvSpPr txBox="1">
            <a:spLocks noGrp="1"/>
          </p:cNvSpPr>
          <p:nvPr>
            <p:ph type="title"/>
          </p:nvPr>
        </p:nvSpPr>
        <p:spPr>
          <a:xfrm>
            <a:off x="3880430" y="583345"/>
            <a:ext cx="7160357" cy="4164820"/>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rgbClr val="FFFFFF"/>
              </a:buClr>
              <a:buSzPts val="8000"/>
              <a:buFont typeface="Play"/>
              <a:buNone/>
            </a:pPr>
            <a:r>
              <a:rPr lang="sv-SE" sz="8000">
                <a:solidFill>
                  <a:srgbClr val="FFFFFF"/>
                </a:solidFill>
                <a:latin typeface="Play"/>
                <a:ea typeface="Play"/>
                <a:cs typeface="Play"/>
                <a:sym typeface="Play"/>
              </a:rPr>
              <a:t>VS Code-installation</a:t>
            </a:r>
            <a:endParaRPr/>
          </a:p>
        </p:txBody>
      </p:sp>
      <p:sp>
        <p:nvSpPr>
          <p:cNvPr id="404" name="Google Shape;404;p28"/>
          <p:cNvSpPr/>
          <p:nvPr/>
        </p:nvSpPr>
        <p:spPr>
          <a:xfrm>
            <a:off x="3474359" y="583345"/>
            <a:ext cx="139039" cy="139039"/>
          </a:xfrm>
          <a:custGeom>
            <a:avLst/>
            <a:gdLst/>
            <a:ahLst/>
            <a:cxnLst/>
            <a:rect l="l" t="t" r="r" b="b"/>
            <a:pathLst>
              <a:path w="139039" h="139039" extrusionOk="0">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FFFFFF"/>
              </a:solidFill>
              <a:latin typeface="Arial"/>
              <a:ea typeface="Arial"/>
              <a:cs typeface="Arial"/>
              <a:sym typeface="Arial"/>
            </a:endParaRPr>
          </a:p>
        </p:txBody>
      </p:sp>
      <p:sp>
        <p:nvSpPr>
          <p:cNvPr id="405" name="Google Shape;405;p28"/>
          <p:cNvSpPr/>
          <p:nvPr/>
        </p:nvSpPr>
        <p:spPr>
          <a:xfrm>
            <a:off x="3833139" y="812640"/>
            <a:ext cx="91138" cy="91138"/>
          </a:xfrm>
          <a:custGeom>
            <a:avLst/>
            <a:gdLst/>
            <a:ahLst/>
            <a:cxnLst/>
            <a:rect l="l" t="t" r="r" b="b"/>
            <a:pathLst>
              <a:path w="91138" h="91138" extrusionOk="0">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FFFFFF"/>
              </a:solidFill>
              <a:latin typeface="Arial"/>
              <a:ea typeface="Arial"/>
              <a:cs typeface="Arial"/>
              <a:sym typeface="Arial"/>
            </a:endParaRPr>
          </a:p>
        </p:txBody>
      </p:sp>
      <p:sp>
        <p:nvSpPr>
          <p:cNvPr id="406" name="Google Shape;406;p28"/>
          <p:cNvSpPr/>
          <p:nvPr/>
        </p:nvSpPr>
        <p:spPr>
          <a:xfrm>
            <a:off x="3458819" y="1037066"/>
            <a:ext cx="127714" cy="127714"/>
          </a:xfrm>
          <a:custGeom>
            <a:avLst/>
            <a:gdLst/>
            <a:ahLst/>
            <a:cxnLst/>
            <a:rect l="l" t="t" r="r" b="b"/>
            <a:pathLst>
              <a:path w="127714" h="127714" extrusionOk="0">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FFFFFF"/>
              </a:solidFill>
              <a:latin typeface="Arial"/>
              <a:ea typeface="Arial"/>
              <a:cs typeface="Arial"/>
              <a:sym typeface="Arial"/>
            </a:endParaRPr>
          </a:p>
        </p:txBody>
      </p:sp>
      <p:cxnSp>
        <p:nvCxnSpPr>
          <p:cNvPr id="407" name="Google Shape;407;p28"/>
          <p:cNvCxnSpPr/>
          <p:nvPr/>
        </p:nvCxnSpPr>
        <p:spPr>
          <a:xfrm>
            <a:off x="856114" y="3503032"/>
            <a:ext cx="0" cy="3346090"/>
          </a:xfrm>
          <a:prstGeom prst="straightConnector1">
            <a:avLst/>
          </a:prstGeom>
          <a:noFill/>
          <a:ln w="25400" cap="sq" cmpd="sng">
            <a:solidFill>
              <a:srgbClr val="FFFFFF"/>
            </a:solidFill>
            <a:prstDash val="solid"/>
            <a:bevel/>
            <a:headEnd type="none" w="sm" len="sm"/>
            <a:tailEnd type="none" w="sm" len="sm"/>
          </a:ln>
        </p:spPr>
      </p:cxnSp>
      <p:sp>
        <p:nvSpPr>
          <p:cNvPr id="408" name="Google Shape;408;p28"/>
          <p:cNvSpPr/>
          <p:nvPr/>
        </p:nvSpPr>
        <p:spPr>
          <a:xfrm>
            <a:off x="10836425" y="5636680"/>
            <a:ext cx="151536" cy="151536"/>
          </a:xfrm>
          <a:custGeom>
            <a:avLst/>
            <a:gdLst/>
            <a:ahLst/>
            <a:cxnLst/>
            <a:rect l="l" t="t" r="r" b="b"/>
            <a:pathLst>
              <a:path w="151536" h="151536" extrusionOk="0">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FFFFFF"/>
              </a:solidFill>
              <a:latin typeface="Arial"/>
              <a:ea typeface="Arial"/>
              <a:cs typeface="Arial"/>
              <a:sym typeface="Arial"/>
            </a:endParaRPr>
          </a:p>
        </p:txBody>
      </p:sp>
      <p:sp>
        <p:nvSpPr>
          <p:cNvPr id="409" name="Google Shape;409;p28"/>
          <p:cNvSpPr/>
          <p:nvPr/>
        </p:nvSpPr>
        <p:spPr>
          <a:xfrm>
            <a:off x="11245175" y="6096759"/>
            <a:ext cx="108625" cy="108625"/>
          </a:xfrm>
          <a:custGeom>
            <a:avLst/>
            <a:gdLst/>
            <a:ahLst/>
            <a:cxnLst/>
            <a:rect l="l" t="t" r="r" b="b"/>
            <a:pathLst>
              <a:path w="108625" h="108625" extrusionOk="0">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FFFFFF"/>
              </a:solidFill>
              <a:latin typeface="Arial"/>
              <a:ea typeface="Arial"/>
              <a:cs typeface="Arial"/>
              <a:sym typeface="Arial"/>
            </a:endParaRPr>
          </a:p>
        </p:txBody>
      </p:sp>
      <p:sp>
        <p:nvSpPr>
          <p:cNvPr id="410" name="Google Shape;410;p28"/>
          <p:cNvSpPr/>
          <p:nvPr/>
        </p:nvSpPr>
        <p:spPr>
          <a:xfrm>
            <a:off x="10554288" y="6238029"/>
            <a:ext cx="95759" cy="95759"/>
          </a:xfrm>
          <a:custGeom>
            <a:avLst/>
            <a:gdLst/>
            <a:ahLst/>
            <a:cxnLst/>
            <a:rect l="l" t="t" r="r" b="b"/>
            <a:pathLst>
              <a:path w="95759" h="95759" extrusionOk="0">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FFFFFF"/>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4"/>
        <p:cNvGrpSpPr/>
        <p:nvPr/>
      </p:nvGrpSpPr>
      <p:grpSpPr>
        <a:xfrm>
          <a:off x="0" y="0"/>
          <a:ext cx="0" cy="0"/>
          <a:chOff x="0" y="0"/>
          <a:chExt cx="0" cy="0"/>
        </a:xfrm>
      </p:grpSpPr>
      <p:sp>
        <p:nvSpPr>
          <p:cNvPr id="415" name="Google Shape;415;p2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6" name="Google Shape;416;p29"/>
          <p:cNvSpPr/>
          <p:nvPr/>
        </p:nvSpPr>
        <p:spPr>
          <a:xfrm rot="-2700000" flipH="1">
            <a:off x="-376156" y="-253670"/>
            <a:ext cx="1827638" cy="1376989"/>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7" name="Google Shape;417;p29"/>
          <p:cNvSpPr/>
          <p:nvPr/>
        </p:nvSpPr>
        <p:spPr>
          <a:xfrm rot="-2700000" flipH="1">
            <a:off x="891641" y="422146"/>
            <a:ext cx="645368" cy="645368"/>
          </a:xfrm>
          <a:prstGeom prst="rect">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8" name="Google Shape;418;p29"/>
          <p:cNvSpPr/>
          <p:nvPr/>
        </p:nvSpPr>
        <p:spPr>
          <a:xfrm rot="-2700000" flipH="1">
            <a:off x="10043482" y="655140"/>
            <a:ext cx="687472" cy="687472"/>
          </a:xfrm>
          <a:prstGeom prst="rect">
            <a:avLst/>
          </a:pr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9" name="Google Shape;419;p29"/>
          <p:cNvSpPr/>
          <p:nvPr/>
        </p:nvSpPr>
        <p:spPr>
          <a:xfrm rot="10800000" flipH="1">
            <a:off x="9356643" y="0"/>
            <a:ext cx="2835357" cy="1480837"/>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0" name="Google Shape;420;p29"/>
          <p:cNvSpPr/>
          <p:nvPr/>
        </p:nvSpPr>
        <p:spPr>
          <a:xfrm flipH="1">
            <a:off x="7976344" y="6115501"/>
            <a:ext cx="1494513" cy="742499"/>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1" name="Google Shape;421;p29"/>
          <p:cNvSpPr/>
          <p:nvPr/>
        </p:nvSpPr>
        <p:spPr>
          <a:xfrm flipH="1">
            <a:off x="7604080" y="6453143"/>
            <a:ext cx="814903" cy="404857"/>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422" name="Google Shape;422;p29"/>
          <p:cNvGraphicFramePr/>
          <p:nvPr/>
        </p:nvGraphicFramePr>
        <p:xfrm>
          <a:off x="25830" y="710339"/>
          <a:ext cx="3000000" cy="3000000"/>
        </p:xfrm>
        <a:graphic>
          <a:graphicData uri="http://schemas.openxmlformats.org/drawingml/2006/table">
            <a:tbl>
              <a:tblPr firstRow="1" bandRow="1">
                <a:solidFill>
                  <a:schemeClr val="lt1"/>
                </a:solidFill>
                <a:tableStyleId>{822C3B93-EF79-491A-80E4-DA79D8C4CF44}</a:tableStyleId>
              </a:tblPr>
              <a:tblGrid>
                <a:gridCol w="555350">
                  <a:extLst>
                    <a:ext uri="{9D8B030D-6E8A-4147-A177-3AD203B41FA5}">
                      <a16:colId xmlns:a16="http://schemas.microsoft.com/office/drawing/2014/main" val="20000"/>
                    </a:ext>
                  </a:extLst>
                </a:gridCol>
                <a:gridCol w="1782300">
                  <a:extLst>
                    <a:ext uri="{9D8B030D-6E8A-4147-A177-3AD203B41FA5}">
                      <a16:colId xmlns:a16="http://schemas.microsoft.com/office/drawing/2014/main" val="20001"/>
                    </a:ext>
                  </a:extLst>
                </a:gridCol>
                <a:gridCol w="9797425">
                  <a:extLst>
                    <a:ext uri="{9D8B030D-6E8A-4147-A177-3AD203B41FA5}">
                      <a16:colId xmlns:a16="http://schemas.microsoft.com/office/drawing/2014/main" val="20002"/>
                    </a:ext>
                  </a:extLst>
                </a:gridCol>
              </a:tblGrid>
              <a:tr h="239300">
                <a:tc>
                  <a:txBody>
                    <a:bodyPr/>
                    <a:lstStyle/>
                    <a:p>
                      <a:pPr marL="0" marR="0" lvl="0" indent="0" algn="l" rtl="0">
                        <a:lnSpc>
                          <a:spcPct val="93750"/>
                        </a:lnSpc>
                        <a:spcBef>
                          <a:spcPts val="0"/>
                        </a:spcBef>
                        <a:spcAft>
                          <a:spcPts val="0"/>
                        </a:spcAft>
                        <a:buClr>
                          <a:schemeClr val="lt1"/>
                        </a:buClr>
                        <a:buSzPts val="2000"/>
                        <a:buFont typeface="Arial"/>
                        <a:buNone/>
                      </a:pPr>
                      <a:r>
                        <a:rPr lang="sv-SE" sz="2000" b="0" u="none" strike="noStrike" cap="none">
                          <a:solidFill>
                            <a:schemeClr val="lt1"/>
                          </a:solidFill>
                          <a:latin typeface="Arial"/>
                          <a:ea typeface="Arial"/>
                          <a:cs typeface="Arial"/>
                          <a:sym typeface="Arial"/>
                        </a:rPr>
                        <a:t>Steg</a:t>
                      </a:r>
                      <a:endParaRPr/>
                    </a:p>
                  </a:txBody>
                  <a:tcPr marL="97425" marR="0" marT="74950" marB="74950"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93750"/>
                        </a:lnSpc>
                        <a:spcBef>
                          <a:spcPts val="0"/>
                        </a:spcBef>
                        <a:spcAft>
                          <a:spcPts val="0"/>
                        </a:spcAft>
                        <a:buClr>
                          <a:schemeClr val="lt1"/>
                        </a:buClr>
                        <a:buSzPts val="2000"/>
                        <a:buFont typeface="Arial"/>
                        <a:buNone/>
                      </a:pPr>
                      <a:r>
                        <a:rPr lang="sv-SE" sz="2000" b="0" u="none" strike="noStrike" cap="none">
                          <a:solidFill>
                            <a:schemeClr val="lt1"/>
                          </a:solidFill>
                          <a:latin typeface="Arial"/>
                          <a:ea typeface="Arial"/>
                          <a:cs typeface="Arial"/>
                          <a:sym typeface="Arial"/>
                        </a:rPr>
                        <a:t>Vad ska du göra?</a:t>
                      </a:r>
                      <a:endParaRPr/>
                    </a:p>
                  </a:txBody>
                  <a:tcPr marL="97425" marR="0" marT="74950" marB="74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93750"/>
                        </a:lnSpc>
                        <a:spcBef>
                          <a:spcPts val="0"/>
                        </a:spcBef>
                        <a:spcAft>
                          <a:spcPts val="0"/>
                        </a:spcAft>
                        <a:buClr>
                          <a:schemeClr val="lt1"/>
                        </a:buClr>
                        <a:buSzPts val="2000"/>
                        <a:buFont typeface="Arial"/>
                        <a:buNone/>
                      </a:pPr>
                      <a:r>
                        <a:rPr lang="sv-SE" sz="2000" b="0" u="none" strike="noStrike" cap="none">
                          <a:solidFill>
                            <a:schemeClr val="lt1"/>
                          </a:solidFill>
                          <a:latin typeface="Arial"/>
                          <a:ea typeface="Arial"/>
                          <a:cs typeface="Arial"/>
                          <a:sym typeface="Arial"/>
                        </a:rPr>
                        <a:t>Instruktioner (anpassat för nybörjare)</a:t>
                      </a:r>
                      <a:endParaRPr/>
                    </a:p>
                  </a:txBody>
                  <a:tcPr marL="97425" marR="0" marT="74950" marB="74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90850">
                <a:tc>
                  <a:txBody>
                    <a:bodyPr/>
                    <a:lstStyle/>
                    <a:p>
                      <a:pPr marL="0" marR="0" lvl="0" indent="0" algn="l" rtl="0">
                        <a:lnSpc>
                          <a:spcPct val="15625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1</a:t>
                      </a:r>
                      <a:endParaRPr sz="12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Ladda ner VS Code</a:t>
                      </a:r>
                      <a:endParaRPr sz="14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latin typeface="Arial"/>
                          <a:ea typeface="Arial"/>
                          <a:cs typeface="Arial"/>
                          <a:sym typeface="Arial"/>
                        </a:rPr>
                        <a:t>Gå till </a:t>
                      </a:r>
                      <a:r>
                        <a:rPr lang="sv-SE" sz="1400" b="0" u="sng" strike="noStrike" cap="none">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code.visualstudio.com</a:t>
                      </a:r>
                      <a:r>
                        <a:rPr lang="sv-SE" sz="1400" b="0" u="none" strike="noStrike" cap="none">
                          <a:solidFill>
                            <a:schemeClr val="dk1"/>
                          </a:solidFill>
                          <a:latin typeface="Arial"/>
                          <a:ea typeface="Arial"/>
                          <a:cs typeface="Arial"/>
                          <a:sym typeface="Arial"/>
                        </a:rPr>
                        <a:t>. Sidan känner automatiskt av ditt operativsystem (Windows). Klicka på den stora gröna knappen </a:t>
                      </a:r>
                      <a:r>
                        <a:rPr lang="sv-SE" sz="1400" b="1" u="none" strike="noStrike" cap="none">
                          <a:solidFill>
                            <a:schemeClr val="dk1"/>
                          </a:solidFill>
                          <a:latin typeface="Arial"/>
                          <a:ea typeface="Arial"/>
                          <a:cs typeface="Arial"/>
                          <a:sym typeface="Arial"/>
                        </a:rPr>
                        <a:t>"Download for Windows"</a:t>
                      </a:r>
                      <a:r>
                        <a:rPr lang="sv-SE" sz="1400" b="0" u="none" strike="noStrike" cap="none">
                          <a:solidFill>
                            <a:schemeClr val="dk1"/>
                          </a:solidFill>
                          <a:latin typeface="Arial"/>
                          <a:ea typeface="Arial"/>
                          <a:cs typeface="Arial"/>
                          <a:sym typeface="Arial"/>
                        </a:rPr>
                        <a:t> .</a:t>
                      </a:r>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r h="335025">
                <a:tc>
                  <a:txBody>
                    <a:bodyPr/>
                    <a:lstStyle/>
                    <a:p>
                      <a:pPr marL="0" marR="0" lvl="0" indent="0" algn="l" rtl="0">
                        <a:lnSpc>
                          <a:spcPct val="15625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2</a:t>
                      </a:r>
                      <a:endParaRPr sz="12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Starta installationen</a:t>
                      </a:r>
                      <a:endParaRPr sz="14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latin typeface="Arial"/>
                          <a:ea typeface="Arial"/>
                          <a:cs typeface="Arial"/>
                          <a:sym typeface="Arial"/>
                        </a:rPr>
                        <a:t>Öppna den nedladdade filen (den heter något i stil med VSCodeUserSetup-x64-1.85.1.exe). Ett installationsfönster öppnas.</a:t>
                      </a:r>
                      <a:endParaRPr/>
                    </a:p>
                  </a:txBody>
                  <a:tcPr marL="97425" marR="0" marT="74950" marB="74950"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239300">
                <a:tc>
                  <a:txBody>
                    <a:bodyPr/>
                    <a:lstStyle/>
                    <a:p>
                      <a:pPr marL="0" marR="0" lvl="0" indent="0" algn="l" rtl="0">
                        <a:lnSpc>
                          <a:spcPct val="15625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3</a:t>
                      </a:r>
                      <a:endParaRPr sz="12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Acceptera licensavtalet</a:t>
                      </a:r>
                      <a:endParaRPr sz="14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latin typeface="Arial"/>
                          <a:ea typeface="Arial"/>
                          <a:cs typeface="Arial"/>
                          <a:sym typeface="Arial"/>
                        </a:rPr>
                        <a:t>Läs igenom och klicka på </a:t>
                      </a:r>
                      <a:r>
                        <a:rPr lang="sv-SE" sz="1400" b="1" u="none" strike="noStrike" cap="none">
                          <a:solidFill>
                            <a:schemeClr val="dk1"/>
                          </a:solidFill>
                          <a:latin typeface="Arial"/>
                          <a:ea typeface="Arial"/>
                          <a:cs typeface="Arial"/>
                          <a:sym typeface="Arial"/>
                        </a:rPr>
                        <a:t>"Jag accepterar avtalet"</a:t>
                      </a:r>
                      <a:r>
                        <a:rPr lang="sv-SE" sz="1400" b="0" u="none" strike="noStrike" cap="none">
                          <a:solidFill>
                            <a:schemeClr val="dk1"/>
                          </a:solidFill>
                          <a:latin typeface="Arial"/>
                          <a:ea typeface="Arial"/>
                          <a:cs typeface="Arial"/>
                          <a:sym typeface="Arial"/>
                        </a:rPr>
                        <a:t> (I accept the agreement). Klicka sedan på </a:t>
                      </a:r>
                      <a:r>
                        <a:rPr lang="sv-SE" sz="1400" b="1" u="none" strike="noStrike" cap="none">
                          <a:solidFill>
                            <a:schemeClr val="dk1"/>
                          </a:solidFill>
                          <a:latin typeface="Arial"/>
                          <a:ea typeface="Arial"/>
                          <a:cs typeface="Arial"/>
                          <a:sym typeface="Arial"/>
                        </a:rPr>
                        <a:t>"Nästa"</a:t>
                      </a:r>
                      <a:r>
                        <a:rPr lang="sv-SE" sz="1400" b="0" u="none" strike="noStrike" cap="none">
                          <a:solidFill>
                            <a:schemeClr val="dk1"/>
                          </a:solidFill>
                          <a:latin typeface="Arial"/>
                          <a:ea typeface="Arial"/>
                          <a:cs typeface="Arial"/>
                          <a:sym typeface="Arial"/>
                        </a:rPr>
                        <a:t> (Next).</a:t>
                      </a:r>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3"/>
                  </a:ext>
                </a:extLst>
              </a:tr>
              <a:tr h="358950">
                <a:tc>
                  <a:txBody>
                    <a:bodyPr/>
                    <a:lstStyle/>
                    <a:p>
                      <a:pPr marL="0" marR="0" lvl="0" indent="0" algn="l" rtl="0">
                        <a:lnSpc>
                          <a:spcPct val="15625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4</a:t>
                      </a:r>
                      <a:endParaRPr sz="12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Välj installationsmapp</a:t>
                      </a:r>
                      <a:endParaRPr sz="14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latin typeface="Arial"/>
                          <a:ea typeface="Arial"/>
                          <a:cs typeface="Arial"/>
                          <a:sym typeface="Arial"/>
                        </a:rPr>
                        <a:t>Du får frågan var VS Code ska installeras. Standardinställningen (C:\Users\DittNamn\AppData\Local\Programs\Microsoft VS Code) är oftast bäst. Klicka på </a:t>
                      </a:r>
                      <a:r>
                        <a:rPr lang="sv-SE" sz="1400" b="1" u="none" strike="noStrike" cap="none">
                          <a:solidFill>
                            <a:schemeClr val="dk1"/>
                          </a:solidFill>
                          <a:latin typeface="Arial"/>
                          <a:ea typeface="Arial"/>
                          <a:cs typeface="Arial"/>
                          <a:sym typeface="Arial"/>
                        </a:rPr>
                        <a:t>"Nästa"</a:t>
                      </a:r>
                      <a:r>
                        <a:rPr lang="sv-SE" sz="1400" b="0" u="none" strike="noStrike" cap="none">
                          <a:solidFill>
                            <a:schemeClr val="dk1"/>
                          </a:solidFill>
                          <a:latin typeface="Arial"/>
                          <a:ea typeface="Arial"/>
                          <a:cs typeface="Arial"/>
                          <a:sym typeface="Arial"/>
                        </a:rPr>
                        <a:t> .</a:t>
                      </a:r>
                      <a:endParaRPr/>
                    </a:p>
                  </a:txBody>
                  <a:tcPr marL="97425" marR="0" marT="74950" marB="74950"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239300">
                <a:tc>
                  <a:txBody>
                    <a:bodyPr/>
                    <a:lstStyle/>
                    <a:p>
                      <a:pPr marL="0" marR="0" lvl="0" indent="0" algn="l" rtl="0">
                        <a:lnSpc>
                          <a:spcPct val="15625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5</a:t>
                      </a:r>
                      <a:endParaRPr sz="12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Välj komponenter</a:t>
                      </a:r>
                      <a:endParaRPr sz="14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latin typeface="Arial"/>
                          <a:ea typeface="Arial"/>
                          <a:cs typeface="Arial"/>
                          <a:sym typeface="Arial"/>
                        </a:rPr>
                        <a:t>Här ser du en lista med valbara komponenter. </a:t>
                      </a:r>
                      <a:r>
                        <a:rPr lang="sv-SE" sz="1400" b="1" u="none" strike="noStrike" cap="none">
                          <a:solidFill>
                            <a:schemeClr val="dk1"/>
                          </a:solidFill>
                          <a:latin typeface="Arial"/>
                          <a:ea typeface="Arial"/>
                          <a:cs typeface="Arial"/>
                          <a:sym typeface="Arial"/>
                        </a:rPr>
                        <a:t>Låt alla vara ikryssade som standard</a:t>
                      </a:r>
                      <a:r>
                        <a:rPr lang="sv-SE" sz="1400" b="0" u="none" strike="noStrike" cap="none">
                          <a:solidFill>
                            <a:schemeClr val="dk1"/>
                          </a:solidFill>
                          <a:latin typeface="Arial"/>
                          <a:ea typeface="Arial"/>
                          <a:cs typeface="Arial"/>
                          <a:sym typeface="Arial"/>
                        </a:rPr>
                        <a:t>. Klicka på </a:t>
                      </a:r>
                      <a:r>
                        <a:rPr lang="sv-SE" sz="1400" b="1" u="none" strike="noStrike" cap="none">
                          <a:solidFill>
                            <a:schemeClr val="dk1"/>
                          </a:solidFill>
                          <a:latin typeface="Arial"/>
                          <a:ea typeface="Arial"/>
                          <a:cs typeface="Arial"/>
                          <a:sym typeface="Arial"/>
                        </a:rPr>
                        <a:t>"Nästa"</a:t>
                      </a:r>
                      <a:r>
                        <a:rPr lang="sv-SE" sz="1400" b="0" u="none" strike="noStrike" cap="none">
                          <a:solidFill>
                            <a:schemeClr val="dk1"/>
                          </a:solidFill>
                          <a:latin typeface="Arial"/>
                          <a:ea typeface="Arial"/>
                          <a:cs typeface="Arial"/>
                          <a:sym typeface="Arial"/>
                        </a:rPr>
                        <a:t> .</a:t>
                      </a:r>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5"/>
                  </a:ext>
                </a:extLst>
              </a:tr>
              <a:tr h="989100">
                <a:tc>
                  <a:txBody>
                    <a:bodyPr/>
                    <a:lstStyle/>
                    <a:p>
                      <a:pPr marL="0" marR="0" lvl="0" indent="0" algn="l" rtl="0">
                        <a:lnSpc>
                          <a:spcPct val="15625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6</a:t>
                      </a:r>
                      <a:endParaRPr sz="12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VIKTIGT! – Välj ytterligare uppgifter</a:t>
                      </a:r>
                      <a:endParaRPr sz="14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latin typeface="Arial"/>
                          <a:ea typeface="Arial"/>
                          <a:cs typeface="Arial"/>
                          <a:sym typeface="Arial"/>
                        </a:rPr>
                        <a:t>Detta är ett viktigt steg. Här kan du kryssa i några användbara rutor:</a:t>
                      </a:r>
                      <a:br>
                        <a:rPr lang="sv-SE" sz="1400" b="0" u="none" strike="noStrike" cap="none">
                          <a:solidFill>
                            <a:srgbClr val="000000"/>
                          </a:solidFill>
                          <a:latin typeface="Arial"/>
                          <a:ea typeface="Arial"/>
                          <a:cs typeface="Arial"/>
                          <a:sym typeface="Arial"/>
                        </a:rPr>
                      </a:br>
                      <a:r>
                        <a:rPr lang="sv-SE" sz="1400" b="0" u="none" strike="noStrike" cap="none">
                          <a:solidFill>
                            <a:schemeClr val="dk1"/>
                          </a:solidFill>
                          <a:latin typeface="Arial"/>
                          <a:ea typeface="Arial"/>
                          <a:cs typeface="Arial"/>
                          <a:sym typeface="Arial"/>
                        </a:rPr>
                        <a:t>☑ </a:t>
                      </a:r>
                      <a:r>
                        <a:rPr lang="sv-SE" sz="1400" b="1" u="none" strike="noStrike" cap="none">
                          <a:solidFill>
                            <a:schemeClr val="dk1"/>
                          </a:solidFill>
                          <a:latin typeface="Arial"/>
                          <a:ea typeface="Arial"/>
                          <a:cs typeface="Arial"/>
                          <a:sym typeface="Arial"/>
                        </a:rPr>
                        <a:t>"Lägg till "Open with Code"-åtgärd"</a:t>
                      </a:r>
                      <a:r>
                        <a:rPr lang="sv-SE" sz="1400" b="0" u="none" strike="noStrike" cap="none">
                          <a:solidFill>
                            <a:schemeClr val="dk1"/>
                          </a:solidFill>
                          <a:latin typeface="Arial"/>
                          <a:ea typeface="Arial"/>
                          <a:cs typeface="Arial"/>
                          <a:sym typeface="Arial"/>
                        </a:rPr>
                        <a:t> (Add "Open with Code" action) – gör det lättare att öppna mappar</a:t>
                      </a:r>
                      <a:br>
                        <a:rPr lang="sv-SE" sz="1400" b="0" u="none" strike="noStrike" cap="none">
                          <a:solidFill>
                            <a:srgbClr val="000000"/>
                          </a:solidFill>
                          <a:latin typeface="Arial"/>
                          <a:ea typeface="Arial"/>
                          <a:cs typeface="Arial"/>
                          <a:sym typeface="Arial"/>
                        </a:rPr>
                      </a:br>
                      <a:r>
                        <a:rPr lang="sv-SE" sz="1400" b="0" u="none" strike="noStrike" cap="none">
                          <a:solidFill>
                            <a:schemeClr val="dk1"/>
                          </a:solidFill>
                          <a:latin typeface="Arial"/>
                          <a:ea typeface="Arial"/>
                          <a:cs typeface="Arial"/>
                          <a:sym typeface="Arial"/>
                        </a:rPr>
                        <a:t>☑ </a:t>
                      </a:r>
                      <a:r>
                        <a:rPr lang="sv-SE" sz="1400" b="1" u="none" strike="noStrike" cap="none">
                          <a:solidFill>
                            <a:schemeClr val="dk1"/>
                          </a:solidFill>
                          <a:latin typeface="Arial"/>
                          <a:ea typeface="Arial"/>
                          <a:cs typeface="Arial"/>
                          <a:sym typeface="Arial"/>
                        </a:rPr>
                        <a:t>"Lägg till i PATH"</a:t>
                      </a:r>
                      <a:r>
                        <a:rPr lang="sv-SE" sz="1400" b="0" u="none" strike="noStrike" cap="none">
                          <a:solidFill>
                            <a:schemeClr val="dk1"/>
                          </a:solidFill>
                          <a:latin typeface="Arial"/>
                          <a:ea typeface="Arial"/>
                          <a:cs typeface="Arial"/>
                          <a:sym typeface="Arial"/>
                        </a:rPr>
                        <a:t> (Add to PATH) – viktigt för att kunna använda 'code' kommandot i terminalen</a:t>
                      </a:r>
                      <a:br>
                        <a:rPr lang="sv-SE" sz="1400" b="0" u="none" strike="noStrike" cap="none">
                          <a:solidFill>
                            <a:srgbClr val="000000"/>
                          </a:solidFill>
                          <a:latin typeface="Arial"/>
                          <a:ea typeface="Arial"/>
                          <a:cs typeface="Arial"/>
                          <a:sym typeface="Arial"/>
                        </a:rPr>
                      </a:br>
                      <a:r>
                        <a:rPr lang="sv-SE" sz="1400" b="0" u="none" strike="noStrike" cap="none">
                          <a:solidFill>
                            <a:schemeClr val="dk1"/>
                          </a:solidFill>
                          <a:latin typeface="Arial"/>
                          <a:ea typeface="Arial"/>
                          <a:cs typeface="Arial"/>
                          <a:sym typeface="Arial"/>
                        </a:rPr>
                        <a:t>☑ </a:t>
                      </a:r>
                      <a:r>
                        <a:rPr lang="sv-SE" sz="1400" b="1" u="none" strike="noStrike" cap="none">
                          <a:solidFill>
                            <a:schemeClr val="dk1"/>
                          </a:solidFill>
                          <a:latin typeface="Arial"/>
                          <a:ea typeface="Arial"/>
                          <a:cs typeface="Arial"/>
                          <a:sym typeface="Arial"/>
                        </a:rPr>
                        <a:t>"Registrera som kodredigerare för filtyper"</a:t>
                      </a:r>
                      <a:r>
                        <a:rPr lang="sv-SE" sz="1400" b="0" u="none" strike="noStrike" cap="none">
                          <a:solidFill>
                            <a:schemeClr val="dk1"/>
                          </a:solidFill>
                          <a:latin typeface="Arial"/>
                          <a:ea typeface="Arial"/>
                          <a:cs typeface="Arial"/>
                          <a:sym typeface="Arial"/>
                        </a:rPr>
                        <a:t> (Register as code editor for supported file types)</a:t>
                      </a:r>
                      <a:br>
                        <a:rPr lang="sv-SE" sz="1400" b="0" u="none" strike="noStrike" cap="none">
                          <a:solidFill>
                            <a:srgbClr val="000000"/>
                          </a:solidFill>
                          <a:latin typeface="Arial"/>
                          <a:ea typeface="Arial"/>
                          <a:cs typeface="Arial"/>
                          <a:sym typeface="Arial"/>
                        </a:rPr>
                      </a:br>
                      <a:br>
                        <a:rPr lang="sv-SE" sz="1400" b="0" u="none" strike="noStrike" cap="none">
                          <a:solidFill>
                            <a:srgbClr val="000000"/>
                          </a:solidFill>
                          <a:latin typeface="Arial"/>
                          <a:ea typeface="Arial"/>
                          <a:cs typeface="Arial"/>
                          <a:sym typeface="Arial"/>
                        </a:rPr>
                      </a:br>
                      <a:r>
                        <a:rPr lang="sv-SE" sz="1400" b="1" u="none" strike="noStrike" cap="none">
                          <a:solidFill>
                            <a:schemeClr val="dk1"/>
                          </a:solidFill>
                          <a:latin typeface="Arial"/>
                          <a:ea typeface="Arial"/>
                          <a:cs typeface="Arial"/>
                          <a:sym typeface="Arial"/>
                        </a:rPr>
                        <a:t>Kryssa i alla rutor</a:t>
                      </a:r>
                      <a:r>
                        <a:rPr lang="sv-SE" sz="1400" b="0" u="none" strike="noStrike" cap="none">
                          <a:solidFill>
                            <a:schemeClr val="dk1"/>
                          </a:solidFill>
                          <a:latin typeface="Arial"/>
                          <a:ea typeface="Arial"/>
                          <a:cs typeface="Arial"/>
                          <a:sym typeface="Arial"/>
                        </a:rPr>
                        <a:t> – de gör livet enklare!</a:t>
                      </a:r>
                      <a:endParaRPr/>
                    </a:p>
                  </a:txBody>
                  <a:tcPr marL="97425" marR="0" marT="74950" marB="74950"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239300">
                <a:tc>
                  <a:txBody>
                    <a:bodyPr/>
                    <a:lstStyle/>
                    <a:p>
                      <a:pPr marL="0" marR="0" lvl="0" indent="0" algn="l" rtl="0">
                        <a:lnSpc>
                          <a:spcPct val="15625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7</a:t>
                      </a:r>
                      <a:endParaRPr sz="12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Installera</a:t>
                      </a:r>
                      <a:endParaRPr sz="14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latin typeface="Arial"/>
                          <a:ea typeface="Arial"/>
                          <a:cs typeface="Arial"/>
                          <a:sym typeface="Arial"/>
                        </a:rPr>
                        <a:t>Klicka på </a:t>
                      </a:r>
                      <a:r>
                        <a:rPr lang="sv-SE" sz="1400" b="1" u="none" strike="noStrike" cap="none">
                          <a:solidFill>
                            <a:schemeClr val="dk1"/>
                          </a:solidFill>
                          <a:latin typeface="Arial"/>
                          <a:ea typeface="Arial"/>
                          <a:cs typeface="Arial"/>
                          <a:sym typeface="Arial"/>
                        </a:rPr>
                        <a:t>"Installera"</a:t>
                      </a:r>
                      <a:r>
                        <a:rPr lang="sv-SE" sz="1400" b="0" u="none" strike="noStrike" cap="none">
                          <a:solidFill>
                            <a:schemeClr val="dk1"/>
                          </a:solidFill>
                          <a:latin typeface="Arial"/>
                          <a:ea typeface="Arial"/>
                          <a:cs typeface="Arial"/>
                          <a:sym typeface="Arial"/>
                        </a:rPr>
                        <a:t> (Install). Installationen tar någon minut.</a:t>
                      </a:r>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7"/>
                  </a:ext>
                </a:extLst>
              </a:tr>
              <a:tr h="358950">
                <a:tc>
                  <a:txBody>
                    <a:bodyPr/>
                    <a:lstStyle/>
                    <a:p>
                      <a:pPr marL="0" marR="0" lvl="0" indent="0" algn="l" rtl="0">
                        <a:lnSpc>
                          <a:spcPct val="15625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8</a:t>
                      </a:r>
                      <a:endParaRPr sz="12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Starta VS Code</a:t>
                      </a:r>
                      <a:endParaRPr sz="14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latin typeface="Arial"/>
                          <a:ea typeface="Arial"/>
                          <a:cs typeface="Arial"/>
                          <a:sym typeface="Arial"/>
                        </a:rPr>
                        <a:t>När installationen är klar, se till att rutan </a:t>
                      </a:r>
                      <a:r>
                        <a:rPr lang="sv-SE" sz="1400" b="1" u="none" strike="noStrike" cap="none">
                          <a:solidFill>
                            <a:schemeClr val="dk1"/>
                          </a:solidFill>
                          <a:latin typeface="Arial"/>
                          <a:ea typeface="Arial"/>
                          <a:cs typeface="Arial"/>
                          <a:sym typeface="Arial"/>
                        </a:rPr>
                        <a:t>"Starta Visual Studio Code"</a:t>
                      </a:r>
                      <a:r>
                        <a:rPr lang="sv-SE" sz="1400" b="0" u="none" strike="noStrike" cap="none">
                          <a:solidFill>
                            <a:schemeClr val="dk1"/>
                          </a:solidFill>
                          <a:latin typeface="Arial"/>
                          <a:ea typeface="Arial"/>
                          <a:cs typeface="Arial"/>
                          <a:sym typeface="Arial"/>
                        </a:rPr>
                        <a:t> (Launch Visual Studio Code) är ikryssad. Klicka på </a:t>
                      </a:r>
                      <a:r>
                        <a:rPr lang="sv-SE" sz="1400" b="1" u="none" strike="noStrike" cap="none">
                          <a:solidFill>
                            <a:schemeClr val="dk1"/>
                          </a:solidFill>
                          <a:latin typeface="Arial"/>
                          <a:ea typeface="Arial"/>
                          <a:cs typeface="Arial"/>
                          <a:sym typeface="Arial"/>
                        </a:rPr>
                        <a:t>"Slutför"</a:t>
                      </a:r>
                      <a:r>
                        <a:rPr lang="sv-SE" sz="1400" b="0" u="none" strike="noStrike" cap="none">
                          <a:solidFill>
                            <a:schemeClr val="dk1"/>
                          </a:solidFill>
                          <a:latin typeface="Arial"/>
                          <a:ea typeface="Arial"/>
                          <a:cs typeface="Arial"/>
                          <a:sym typeface="Arial"/>
                        </a:rPr>
                        <a:t> (Finish).</a:t>
                      </a:r>
                      <a:endParaRPr/>
                    </a:p>
                  </a:txBody>
                  <a:tcPr marL="97425" marR="0" marT="74950" marB="74950"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8"/>
                  </a:ext>
                </a:extLst>
              </a:tr>
              <a:tr h="358950">
                <a:tc>
                  <a:txBody>
                    <a:bodyPr/>
                    <a:lstStyle/>
                    <a:p>
                      <a:pPr marL="0" marR="0" lvl="0" indent="0" algn="l" rtl="0">
                        <a:lnSpc>
                          <a:spcPct val="156250"/>
                        </a:lnSpc>
                        <a:spcBef>
                          <a:spcPts val="0"/>
                        </a:spcBef>
                        <a:spcAft>
                          <a:spcPts val="0"/>
                        </a:spcAft>
                        <a:buClr>
                          <a:schemeClr val="dk1"/>
                        </a:buClr>
                        <a:buSzPts val="1200"/>
                        <a:buFont typeface="Arial"/>
                        <a:buNone/>
                      </a:pPr>
                      <a:r>
                        <a:rPr lang="sv-SE" sz="1200" b="1" u="none" strike="noStrike" cap="none">
                          <a:solidFill>
                            <a:schemeClr val="dk1"/>
                          </a:solidFill>
                          <a:latin typeface="Arial"/>
                          <a:ea typeface="Arial"/>
                          <a:cs typeface="Arial"/>
                          <a:sym typeface="Arial"/>
                        </a:rPr>
                        <a:t>9</a:t>
                      </a:r>
                      <a:endParaRPr sz="12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VS Code öppnas</a:t>
                      </a:r>
                      <a:endParaRPr sz="1400" b="0" u="none" strike="noStrike" cap="none">
                        <a:solidFill>
                          <a:schemeClr val="dk1"/>
                        </a:solidFill>
                        <a:latin typeface="Arial"/>
                        <a:ea typeface="Arial"/>
                        <a:cs typeface="Arial"/>
                        <a:sym typeface="Arial"/>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latin typeface="Arial"/>
                          <a:ea typeface="Arial"/>
                          <a:cs typeface="Arial"/>
                          <a:sym typeface="Arial"/>
                        </a:rPr>
                        <a:t>Programmet startar automatiskt. Du möts av en startsida med olika alternativ. Du kan stänga startsidan genom att klicka på "X" på fliken.</a:t>
                      </a:r>
                      <a:endParaRPr/>
                    </a:p>
                  </a:txBody>
                  <a:tcPr marL="97425" marR="0" marT="74950" marB="749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6"/>
        <p:cNvGrpSpPr/>
        <p:nvPr/>
      </p:nvGrpSpPr>
      <p:grpSpPr>
        <a:xfrm>
          <a:off x="0" y="0"/>
          <a:ext cx="0" cy="0"/>
          <a:chOff x="0" y="0"/>
          <a:chExt cx="0" cy="0"/>
        </a:xfrm>
      </p:grpSpPr>
      <p:sp>
        <p:nvSpPr>
          <p:cNvPr id="427" name="Google Shape;427;p3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8" name="Google Shape;428;p30"/>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9" name="Google Shape;429;p30"/>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0" name="Google Shape;430;p30"/>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1" name="Google Shape;431;p30"/>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Vanliga frågor</a:t>
            </a:r>
            <a:endParaRPr/>
          </a:p>
        </p:txBody>
      </p:sp>
      <p:graphicFrame>
        <p:nvGraphicFramePr>
          <p:cNvPr id="432" name="Google Shape;432;p30"/>
          <p:cNvGraphicFramePr/>
          <p:nvPr/>
        </p:nvGraphicFramePr>
        <p:xfrm>
          <a:off x="0" y="1317885"/>
          <a:ext cx="3000000" cy="3000000"/>
        </p:xfrm>
        <a:graphic>
          <a:graphicData uri="http://schemas.openxmlformats.org/drawingml/2006/table">
            <a:tbl>
              <a:tblPr firstRow="1" bandRow="1">
                <a:solidFill>
                  <a:srgbClr val="F2F2F2"/>
                </a:solidFill>
                <a:tableStyleId>{822C3B93-EF79-491A-80E4-DA79D8C4CF44}</a:tableStyleId>
              </a:tblPr>
              <a:tblGrid>
                <a:gridCol w="4517500">
                  <a:extLst>
                    <a:ext uri="{9D8B030D-6E8A-4147-A177-3AD203B41FA5}">
                      <a16:colId xmlns:a16="http://schemas.microsoft.com/office/drawing/2014/main" val="20000"/>
                    </a:ext>
                  </a:extLst>
                </a:gridCol>
                <a:gridCol w="7667275">
                  <a:extLst>
                    <a:ext uri="{9D8B030D-6E8A-4147-A177-3AD203B41FA5}">
                      <a16:colId xmlns:a16="http://schemas.microsoft.com/office/drawing/2014/main" val="20001"/>
                    </a:ext>
                  </a:extLst>
                </a:gridCol>
              </a:tblGrid>
              <a:tr h="568400">
                <a:tc>
                  <a:txBody>
                    <a:bodyPr/>
                    <a:lstStyle/>
                    <a:p>
                      <a:pPr marL="0" marR="0" lvl="0" indent="0" algn="l" rtl="0">
                        <a:lnSpc>
                          <a:spcPct val="110294"/>
                        </a:lnSpc>
                        <a:spcBef>
                          <a:spcPts val="0"/>
                        </a:spcBef>
                        <a:spcAft>
                          <a:spcPts val="0"/>
                        </a:spcAft>
                        <a:buClr>
                          <a:schemeClr val="dk1"/>
                        </a:buClr>
                        <a:buSzPts val="1700"/>
                        <a:buFont typeface="Arial"/>
                        <a:buNone/>
                      </a:pPr>
                      <a:r>
                        <a:rPr lang="sv-SE" sz="1700" b="1" u="none" strike="noStrike" cap="none">
                          <a:solidFill>
                            <a:schemeClr val="dk1"/>
                          </a:solidFill>
                          <a:latin typeface="Arial"/>
                          <a:ea typeface="Arial"/>
                          <a:cs typeface="Arial"/>
                          <a:sym typeface="Arial"/>
                        </a:rPr>
                        <a:t>Fråga</a:t>
                      </a:r>
                      <a:endParaRPr/>
                    </a:p>
                  </a:txBody>
                  <a:tcPr marL="68950" marR="164175" marT="19700" marB="14775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10294"/>
                        </a:lnSpc>
                        <a:spcBef>
                          <a:spcPts val="0"/>
                        </a:spcBef>
                        <a:spcAft>
                          <a:spcPts val="0"/>
                        </a:spcAft>
                        <a:buClr>
                          <a:schemeClr val="dk1"/>
                        </a:buClr>
                        <a:buSzPts val="1700"/>
                        <a:buFont typeface="Arial"/>
                        <a:buNone/>
                      </a:pPr>
                      <a:r>
                        <a:rPr lang="sv-SE" sz="1700" b="1" u="none" strike="noStrike" cap="none">
                          <a:solidFill>
                            <a:schemeClr val="dk1"/>
                          </a:solidFill>
                          <a:latin typeface="Arial"/>
                          <a:ea typeface="Arial"/>
                          <a:cs typeface="Arial"/>
                          <a:sym typeface="Arial"/>
                        </a:rPr>
                        <a:t>Svar</a:t>
                      </a:r>
                      <a:endParaRPr/>
                    </a:p>
                  </a:txBody>
                  <a:tcPr marL="68950" marR="164175" marT="19700" marB="14775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117647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Vad är skillnaden på VS Code och vanlig Anteckningar?</a:t>
                      </a:r>
                      <a:endParaRPr sz="1600" b="0" u="none" strike="noStrike" cap="none">
                        <a:solidFill>
                          <a:schemeClr val="dk1"/>
                        </a:solidFill>
                        <a:latin typeface="Arial"/>
                        <a:ea typeface="Arial"/>
                        <a:cs typeface="Arial"/>
                        <a:sym typeface="Arial"/>
                      </a:endParaRPr>
                    </a:p>
                  </a:txBody>
                  <a:tcPr marL="68950" marR="164175" marT="19700" marB="1477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VS Code är som Anteckningar på steroider! Det färglägger koden, föreslår vad du ska skriva, hittar fel, och har en inbyggd terminal. Anteckningar visar bara vanlig text.</a:t>
                      </a:r>
                      <a:endParaRPr/>
                    </a:p>
                  </a:txBody>
                  <a:tcPr marL="68950" marR="98500" marT="19700" marB="1477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85922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Är VS Code verkligen gratis?</a:t>
                      </a:r>
                      <a:endParaRPr sz="1600" b="0" u="none" strike="noStrike" cap="none">
                        <a:solidFill>
                          <a:schemeClr val="dk1"/>
                        </a:solidFill>
                        <a:latin typeface="Arial"/>
                        <a:ea typeface="Arial"/>
                        <a:cs typeface="Arial"/>
                        <a:sym typeface="Arial"/>
                      </a:endParaRPr>
                    </a:p>
                  </a:txBody>
                  <a:tcPr marL="68950" marR="164175" marT="19700" marB="1477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Ja, det är 100% gratis och utvecklat av Microsoft. Det är ett av världens mest populära verktyg för programmering .</a:t>
                      </a:r>
                      <a:endParaRPr/>
                    </a:p>
                  </a:txBody>
                  <a:tcPr marL="68950" marR="98500" marT="19700" marB="1477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79312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Vad är "PATH" och varför är det viktigt?</a:t>
                      </a:r>
                      <a:endParaRPr sz="1600" b="0" u="none" strike="noStrike" cap="none">
                        <a:solidFill>
                          <a:schemeClr val="dk1"/>
                        </a:solidFill>
                        <a:latin typeface="Arial"/>
                        <a:ea typeface="Arial"/>
                        <a:cs typeface="Arial"/>
                        <a:sym typeface="Arial"/>
                      </a:endParaRPr>
                    </a:p>
                  </a:txBody>
                  <a:tcPr marL="68950" marR="164175" marT="19700" marB="1477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3125"/>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PATH är en lista över mappar där Windows letar efter program. Om du lägger till VS Code i PATH kan du öppna det från terminalen genom att bara skriva code.</a:t>
                      </a:r>
                      <a:endParaRPr/>
                    </a:p>
                  </a:txBody>
                  <a:tcPr marL="68950" marR="98500" marT="19700" marB="1477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r h="54197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Jag råkade stänga startsidan – hur får jag tillbaka den?</a:t>
                      </a:r>
                      <a:endParaRPr sz="1600" b="0" u="none" strike="noStrike" cap="none">
                        <a:solidFill>
                          <a:schemeClr val="dk1"/>
                        </a:solidFill>
                        <a:latin typeface="Arial"/>
                        <a:ea typeface="Arial"/>
                        <a:cs typeface="Arial"/>
                        <a:sym typeface="Arial"/>
                      </a:endParaRPr>
                    </a:p>
                  </a:txBody>
                  <a:tcPr marL="68950" marR="164175" marT="19700" marB="1477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Klicka på </a:t>
                      </a:r>
                      <a:r>
                        <a:rPr lang="sv-SE" sz="1600" b="1" u="none" strike="noStrike" cap="none">
                          <a:solidFill>
                            <a:schemeClr val="dk1"/>
                          </a:solidFill>
                          <a:latin typeface="Arial"/>
                          <a:ea typeface="Arial"/>
                          <a:cs typeface="Arial"/>
                          <a:sym typeface="Arial"/>
                        </a:rPr>
                        <a:t>"Help"</a:t>
                      </a:r>
                      <a:r>
                        <a:rPr lang="sv-SE" sz="1600" b="0" u="none" strike="noStrike" cap="none">
                          <a:solidFill>
                            <a:schemeClr val="dk1"/>
                          </a:solidFill>
                          <a:latin typeface="Arial"/>
                          <a:ea typeface="Arial"/>
                          <a:cs typeface="Arial"/>
                          <a:sym typeface="Arial"/>
                        </a:rPr>
                        <a:t> i menyn → </a:t>
                      </a:r>
                      <a:r>
                        <a:rPr lang="sv-SE" sz="1600" b="1" u="none" strike="noStrike" cap="none">
                          <a:solidFill>
                            <a:schemeClr val="dk1"/>
                          </a:solidFill>
                          <a:latin typeface="Arial"/>
                          <a:ea typeface="Arial"/>
                          <a:cs typeface="Arial"/>
                          <a:sym typeface="Arial"/>
                        </a:rPr>
                        <a:t>"Welcome"</a:t>
                      </a:r>
                      <a:r>
                        <a:rPr lang="sv-SE" sz="1600" b="0" u="none" strike="noStrike" cap="none">
                          <a:solidFill>
                            <a:schemeClr val="dk1"/>
                          </a:solidFill>
                          <a:latin typeface="Arial"/>
                          <a:ea typeface="Arial"/>
                          <a:cs typeface="Arial"/>
                          <a:sym typeface="Arial"/>
                        </a:rPr>
                        <a:t> så kommer startsidan tillbaka.</a:t>
                      </a:r>
                      <a:endParaRPr/>
                    </a:p>
                  </a:txBody>
                  <a:tcPr marL="68950" marR="98500" marT="19700" marB="1477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54197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Måste jag ha ett Microsoft-konto för att använda VS Code?</a:t>
                      </a:r>
                      <a:endParaRPr sz="1600" b="0" u="none" strike="noStrike" cap="none">
                        <a:solidFill>
                          <a:schemeClr val="dk1"/>
                        </a:solidFill>
                        <a:latin typeface="Arial"/>
                        <a:ea typeface="Arial"/>
                        <a:cs typeface="Arial"/>
                        <a:sym typeface="Arial"/>
                      </a:endParaRPr>
                    </a:p>
                  </a:txBody>
                  <a:tcPr marL="68950" marR="164175" marT="19700" marB="1477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Nej, du kan använda det helt utan inloggning.</a:t>
                      </a:r>
                      <a:endParaRPr/>
                    </a:p>
                  </a:txBody>
                  <a:tcPr marL="68950" marR="98500" marT="19700" marB="1477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r h="85922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Kan jag installera VS Code på svenska?</a:t>
                      </a:r>
                      <a:endParaRPr sz="1600" b="0" u="none" strike="noStrike" cap="none">
                        <a:solidFill>
                          <a:schemeClr val="dk1"/>
                        </a:solidFill>
                        <a:latin typeface="Arial"/>
                        <a:ea typeface="Arial"/>
                        <a:cs typeface="Arial"/>
                        <a:sym typeface="Arial"/>
                      </a:endParaRPr>
                    </a:p>
                  </a:txBody>
                  <a:tcPr marL="68950" marR="164175" marT="19700" marB="14775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Ja, du kan lägga till språkpaket som tillägg efter installationen. Men för programmering är det ofta enklast att ha på engelska.</a:t>
                      </a:r>
                      <a:endParaRPr/>
                    </a:p>
                  </a:txBody>
                  <a:tcPr marL="68950" marR="98500" marT="19700" marB="1477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6"/>
        <p:cNvGrpSpPr/>
        <p:nvPr/>
      </p:nvGrpSpPr>
      <p:grpSpPr>
        <a:xfrm>
          <a:off x="0" y="0"/>
          <a:ext cx="0" cy="0"/>
          <a:chOff x="0" y="0"/>
          <a:chExt cx="0" cy="0"/>
        </a:xfrm>
      </p:grpSpPr>
      <p:sp>
        <p:nvSpPr>
          <p:cNvPr id="437" name="Google Shape;437;p3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8" name="Google Shape;438;p31"/>
          <p:cNvSpPr/>
          <p:nvPr/>
        </p:nvSpPr>
        <p:spPr>
          <a:xfrm flipH="1">
            <a:off x="-1" y="-1"/>
            <a:ext cx="12191998" cy="1590742"/>
          </a:xfrm>
          <a:prstGeom prst="rect">
            <a:avLst/>
          </a:prstGeom>
          <a:gradFill>
            <a:gsLst>
              <a:gs pos="0">
                <a:srgbClr val="000000"/>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9" name="Google Shape;439;p31"/>
          <p:cNvSpPr/>
          <p:nvPr/>
        </p:nvSpPr>
        <p:spPr>
          <a:xfrm rot="10800000" flipH="1">
            <a:off x="-3" y="0"/>
            <a:ext cx="8115306" cy="1590742"/>
          </a:xfrm>
          <a:prstGeom prst="rect">
            <a:avLst/>
          </a:prstGeom>
          <a:gradFill>
            <a:gsLst>
              <a:gs pos="0">
                <a:srgbClr val="156082">
                  <a:alpha val="0"/>
                </a:srgbClr>
              </a:gs>
              <a:gs pos="20000">
                <a:srgbClr val="156082">
                  <a:alpha val="0"/>
                </a:srgbClr>
              </a:gs>
              <a:gs pos="100000">
                <a:srgbClr val="0A3041">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0" name="Google Shape;440;p31"/>
          <p:cNvSpPr/>
          <p:nvPr/>
        </p:nvSpPr>
        <p:spPr>
          <a:xfrm flipH="1">
            <a:off x="8115299" y="-1"/>
            <a:ext cx="4076698" cy="1590742"/>
          </a:xfrm>
          <a:prstGeom prst="rect">
            <a:avLst/>
          </a:prstGeom>
          <a:gradFill>
            <a:gsLst>
              <a:gs pos="0">
                <a:srgbClr val="156082">
                  <a:alpha val="65882"/>
                </a:srgbClr>
              </a:gs>
              <a:gs pos="100000">
                <a:srgbClr val="000000">
                  <a:alpha val="30196"/>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1" name="Google Shape;441;p31"/>
          <p:cNvSpPr/>
          <p:nvPr/>
        </p:nvSpPr>
        <p:spPr>
          <a:xfrm>
            <a:off x="459350" y="-1"/>
            <a:ext cx="11732646" cy="1597433"/>
          </a:xfrm>
          <a:prstGeom prst="rect">
            <a:avLst/>
          </a:prstGeom>
          <a:gradFill>
            <a:gsLst>
              <a:gs pos="0">
                <a:srgbClr val="000000">
                  <a:alpha val="0"/>
                </a:srgbClr>
              </a:gs>
              <a:gs pos="50000">
                <a:srgbClr val="000000">
                  <a:alpha val="0"/>
                </a:srgbClr>
              </a:gs>
              <a:gs pos="99000">
                <a:srgbClr val="0A3041">
                  <a:alpha val="52156"/>
                </a:srgbClr>
              </a:gs>
              <a:gs pos="100000">
                <a:srgbClr val="0A3041">
                  <a:alpha val="52156"/>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2" name="Google Shape;442;p31"/>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rPr>
              <a:t>Steg 6: Installera Python-tillägg i VS Code</a:t>
            </a:r>
            <a:endParaRPr/>
          </a:p>
        </p:txBody>
      </p:sp>
      <p:sp>
        <p:nvSpPr>
          <p:cNvPr id="443" name="Google Shape;443;p31"/>
          <p:cNvSpPr txBox="1">
            <a:spLocks noGrp="1"/>
          </p:cNvSpPr>
          <p:nvPr>
            <p:ph type="body" idx="1"/>
          </p:nvPr>
        </p:nvSpPr>
        <p:spPr>
          <a:xfrm>
            <a:off x="1371599" y="2318197"/>
            <a:ext cx="9724031" cy="3683358"/>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sv-SE" sz="2000">
                <a:highlight>
                  <a:srgbClr val="FFFFFF"/>
                </a:highlight>
              </a:rPr>
              <a:t>Python-tillägget gör att VS Code blir en </a:t>
            </a:r>
            <a:r>
              <a:rPr lang="sv-SE" sz="2000" b="1">
                <a:highlight>
                  <a:srgbClr val="FFFFFF"/>
                </a:highlight>
              </a:rPr>
              <a:t>Python-expert</a:t>
            </a:r>
            <a:r>
              <a:rPr lang="sv-SE" sz="2000">
                <a:highlight>
                  <a:srgbClr val="FFFFFF"/>
                </a:highlight>
              </a:rPr>
              <a:t> som kan:</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Färglägga din Python-kod så den blir lättare att läsa</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Föreslå vad du ska skriva härnäst (som autocomplete på mobilen)</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Hitta syntaxfel och markera dem i rött</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Formatera din kod snyggt och automatiskt</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Köra Python-filer med en knapptryckning</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Hjälpa dig felsöka när något inte fungerar</a:t>
            </a:r>
            <a:endParaRPr sz="2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7"/>
        <p:cNvGrpSpPr/>
        <p:nvPr/>
      </p:nvGrpSpPr>
      <p:grpSpPr>
        <a:xfrm>
          <a:off x="0" y="0"/>
          <a:ext cx="0" cy="0"/>
          <a:chOff x="0" y="0"/>
          <a:chExt cx="0" cy="0"/>
        </a:xfrm>
      </p:grpSpPr>
      <p:sp>
        <p:nvSpPr>
          <p:cNvPr id="448" name="Google Shape;448;p3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9" name="Google Shape;449;p32"/>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0" name="Google Shape;450;p32"/>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1" name="Google Shape;451;p32"/>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452" name="Google Shape;452;p32"/>
          <p:cNvGraphicFramePr/>
          <p:nvPr/>
        </p:nvGraphicFramePr>
        <p:xfrm>
          <a:off x="18737" y="343524"/>
          <a:ext cx="3000000" cy="3000000"/>
        </p:xfrm>
        <a:graphic>
          <a:graphicData uri="http://schemas.openxmlformats.org/drawingml/2006/table">
            <a:tbl>
              <a:tblPr firstRow="1" bandRow="1">
                <a:solidFill>
                  <a:schemeClr val="lt1"/>
                </a:solidFill>
                <a:tableStyleId>{7C427A64-D489-4A59-8F93-1E52C87C3D23}</a:tableStyleId>
              </a:tblPr>
              <a:tblGrid>
                <a:gridCol w="457200">
                  <a:extLst>
                    <a:ext uri="{9D8B030D-6E8A-4147-A177-3AD203B41FA5}">
                      <a16:colId xmlns:a16="http://schemas.microsoft.com/office/drawing/2014/main" val="20000"/>
                    </a:ext>
                  </a:extLst>
                </a:gridCol>
                <a:gridCol w="1759525">
                  <a:extLst>
                    <a:ext uri="{9D8B030D-6E8A-4147-A177-3AD203B41FA5}">
                      <a16:colId xmlns:a16="http://schemas.microsoft.com/office/drawing/2014/main" val="20001"/>
                    </a:ext>
                  </a:extLst>
                </a:gridCol>
                <a:gridCol w="9937875">
                  <a:extLst>
                    <a:ext uri="{9D8B030D-6E8A-4147-A177-3AD203B41FA5}">
                      <a16:colId xmlns:a16="http://schemas.microsoft.com/office/drawing/2014/main" val="20002"/>
                    </a:ext>
                  </a:extLst>
                </a:gridCol>
              </a:tblGrid>
              <a:tr h="203200">
                <a:tc>
                  <a:txBody>
                    <a:bodyPr/>
                    <a:lstStyle/>
                    <a:p>
                      <a:pPr marL="0" marR="0" lvl="0" indent="0" algn="l" rtl="0">
                        <a:lnSpc>
                          <a:spcPct val="100000"/>
                        </a:lnSpc>
                        <a:spcBef>
                          <a:spcPts val="0"/>
                        </a:spcBef>
                        <a:spcAft>
                          <a:spcPts val="0"/>
                        </a:spcAft>
                        <a:buClr>
                          <a:schemeClr val="lt1"/>
                        </a:buClr>
                        <a:buSzPts val="1600"/>
                        <a:buFont typeface="Arial"/>
                        <a:buNone/>
                      </a:pPr>
                      <a:r>
                        <a:rPr lang="sv-SE" sz="1600" b="0" u="none" strike="noStrike" cap="none">
                          <a:solidFill>
                            <a:schemeClr val="lt1"/>
                          </a:solidFill>
                        </a:rPr>
                        <a:t>Steg</a:t>
                      </a:r>
                      <a:endParaRPr sz="1600" b="0" u="none" strike="noStrike" cap="none">
                        <a:solidFill>
                          <a:schemeClr val="lt1"/>
                        </a:solidFill>
                        <a:latin typeface="Arial"/>
                        <a:ea typeface="Arial"/>
                        <a:cs typeface="Arial"/>
                        <a:sym typeface="Arial"/>
                      </a:endParaRPr>
                    </a:p>
                  </a:txBody>
                  <a:tcPr marL="52925"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chemeClr val="lt1"/>
                        </a:buClr>
                        <a:buSzPts val="1600"/>
                        <a:buFont typeface="Arial"/>
                        <a:buNone/>
                      </a:pPr>
                      <a:r>
                        <a:rPr lang="sv-SE" sz="1600" b="0" u="none" strike="noStrike" cap="none">
                          <a:solidFill>
                            <a:schemeClr val="lt1"/>
                          </a:solidFill>
                        </a:rPr>
                        <a:t>Vad ska du göra?</a:t>
                      </a:r>
                      <a:endParaRPr sz="1600" b="0" u="none" strike="noStrike" cap="none">
                        <a:solidFill>
                          <a:schemeClr val="lt1"/>
                        </a:solidFill>
                        <a:latin typeface="Arial"/>
                        <a:ea typeface="Arial"/>
                        <a:cs typeface="Arial"/>
                        <a:sym typeface="Arial"/>
                      </a:endParaRPr>
                    </a:p>
                  </a:txBody>
                  <a:tcPr marL="52925"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chemeClr val="lt1"/>
                        </a:buClr>
                        <a:buSzPts val="1600"/>
                        <a:buFont typeface="Arial"/>
                        <a:buNone/>
                      </a:pPr>
                      <a:r>
                        <a:rPr lang="sv-SE" sz="1600" b="0" u="none" strike="noStrike" cap="none">
                          <a:solidFill>
                            <a:schemeClr val="lt1"/>
                          </a:solidFill>
                        </a:rPr>
                        <a:t>Instruktioner (anpassat för nybörjare)</a:t>
                      </a:r>
                      <a:endParaRPr sz="1600" b="0" u="none" strike="noStrike" cap="none">
                        <a:solidFill>
                          <a:schemeClr val="lt1"/>
                        </a:solidFill>
                        <a:latin typeface="Arial"/>
                        <a:ea typeface="Arial"/>
                        <a:cs typeface="Arial"/>
                        <a:sym typeface="Arial"/>
                      </a:endParaRPr>
                    </a:p>
                  </a:txBody>
                  <a:tcPr marL="52925" marR="0" marT="0" marB="0"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177800">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1</a:t>
                      </a:r>
                      <a:endParaRPr sz="1400" b="0" u="none" strike="noStrike" cap="none">
                        <a:solidFill>
                          <a:schemeClr val="dk1"/>
                        </a:solidFill>
                        <a:latin typeface="Arial"/>
                        <a:ea typeface="Arial"/>
                        <a:cs typeface="Arial"/>
                        <a:sym typeface="Arial"/>
                      </a:endParaRPr>
                    </a:p>
                  </a:txBody>
                  <a:tcPr marL="52925" marR="0" marT="0" marB="0"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Öppna VS Code</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rPr>
                        <a:t>Om VS Code inte redan är igång, sök efter </a:t>
                      </a:r>
                      <a:r>
                        <a:rPr lang="sv-SE" sz="1400" b="1" u="none" strike="noStrike" cap="none">
                          <a:solidFill>
                            <a:schemeClr val="dk1"/>
                          </a:solidFill>
                        </a:rPr>
                        <a:t>"Visual Studio Code"</a:t>
                      </a:r>
                      <a:r>
                        <a:rPr lang="sv-SE" sz="1400" b="0" u="none" strike="noStrike" cap="none">
                          <a:solidFill>
                            <a:schemeClr val="dk1"/>
                          </a:solidFill>
                        </a:rPr>
                        <a:t> i Windows startmeny och öppna programmet.</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26950">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2</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Öppna tilläggspanelen</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rPr>
                        <a:t>Titta på den vänstra sidan av VS Code. Där finns en vertikal meny med olika ikoner. Klicka på ikonen som ser ut som </a:t>
                      </a:r>
                      <a:r>
                        <a:rPr lang="sv-SE" sz="1400" b="1" u="none" strike="noStrike" cap="none">
                          <a:solidFill>
                            <a:schemeClr val="dk1"/>
                          </a:solidFill>
                        </a:rPr>
                        <a:t>fyra kvadrater</a:t>
                      </a:r>
                      <a:r>
                        <a:rPr lang="sv-SE" sz="1400" b="0" u="none" strike="noStrike" cap="none">
                          <a:solidFill>
                            <a:schemeClr val="dk1"/>
                          </a:solidFill>
                        </a:rPr>
                        <a:t> (eller ett pusselbits-ikon). Den heter </a:t>
                      </a:r>
                      <a:r>
                        <a:rPr lang="sv-SE" sz="1400" b="1" u="none" strike="noStrike" cap="none">
                          <a:solidFill>
                            <a:schemeClr val="dk1"/>
                          </a:solidFill>
                        </a:rPr>
                        <a:t>"Extensions"</a:t>
                      </a:r>
                      <a:r>
                        <a:rPr lang="sv-SE" sz="1400" b="0" u="none" strike="noStrike" cap="none">
                          <a:solidFill>
                            <a:schemeClr val="dk1"/>
                          </a:solidFill>
                        </a:rPr>
                        <a:t> (Tillägg).</a:t>
                      </a:r>
                      <a:br>
                        <a:rPr lang="sv-SE" sz="1400" b="0" u="none" strike="noStrike" cap="none">
                          <a:solidFill>
                            <a:srgbClr val="000000"/>
                          </a:solidFill>
                        </a:rPr>
                      </a:br>
                      <a:br>
                        <a:rPr lang="sv-SE" sz="1400" b="0" u="none" strike="noStrike" cap="none">
                          <a:solidFill>
                            <a:srgbClr val="000000"/>
                          </a:solidFill>
                        </a:rPr>
                      </a:br>
                      <a:r>
                        <a:rPr lang="sv-SE" sz="1400" b="0" u="none" strike="noStrike" cap="none">
                          <a:solidFill>
                            <a:schemeClr val="dk1"/>
                          </a:solidFill>
                        </a:rPr>
                        <a:t>Du kan också använda kortkommandot: Ctrl+Shift+X .</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177800">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3</a:t>
                      </a:r>
                      <a:endParaRPr sz="1400" b="0" u="none" strike="noStrike" cap="none">
                        <a:solidFill>
                          <a:schemeClr val="dk1"/>
                        </a:solidFill>
                        <a:latin typeface="Arial"/>
                        <a:ea typeface="Arial"/>
                        <a:cs typeface="Arial"/>
                        <a:sym typeface="Arial"/>
                      </a:endParaRPr>
                    </a:p>
                  </a:txBody>
                  <a:tcPr marL="52925" marR="0" marT="0" marB="0"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Sök efter Python-tillägget</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rPr>
                        <a:t>Högst upp i tilläggspanelen finns en sökruta. Skriv in python här.</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34025">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4</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Hitta rätt tillägg</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rPr>
                        <a:t>Bland sökresultaten ser du många tillägg. Det första och viktigaste är </a:t>
                      </a:r>
                      <a:r>
                        <a:rPr lang="sv-SE" sz="1400" b="1" u="none" strike="noStrike" cap="none">
                          <a:solidFill>
                            <a:schemeClr val="dk1"/>
                          </a:solidFill>
                        </a:rPr>
                        <a:t>"Python"</a:t>
                      </a:r>
                      <a:r>
                        <a:rPr lang="sv-SE" sz="1400" b="0" u="none" strike="noStrike" cap="none">
                          <a:solidFill>
                            <a:schemeClr val="dk1"/>
                          </a:solidFill>
                        </a:rPr>
                        <a:t> som är publicerat av </a:t>
                      </a:r>
                      <a:r>
                        <a:rPr lang="sv-SE" sz="1400" b="1" u="none" strike="noStrike" cap="none">
                          <a:solidFill>
                            <a:schemeClr val="dk1"/>
                          </a:solidFill>
                        </a:rPr>
                        <a:t>Microsoft</a:t>
                      </a:r>
                      <a:r>
                        <a:rPr lang="sv-SE" sz="1400" b="0" u="none" strike="noStrike" cap="none">
                          <a:solidFill>
                            <a:schemeClr val="dk1"/>
                          </a:solidFill>
                        </a:rPr>
                        <a:t>. Det har ofta en blå logotyp och miljontals nedladdningar. </a:t>
                      </a:r>
                      <a:r>
                        <a:rPr lang="sv-SE" sz="1400" b="1" u="none" strike="noStrike" cap="none">
                          <a:solidFill>
                            <a:schemeClr val="dk1"/>
                          </a:solidFill>
                        </a:rPr>
                        <a:t>Detta är det officiella Python-tillägget</a:t>
                      </a:r>
                      <a:r>
                        <a:rPr lang="sv-SE" sz="1400" b="0" u="none" strike="noStrike" cap="none">
                          <a:solidFill>
                            <a:schemeClr val="dk1"/>
                          </a:solidFill>
                        </a:rPr>
                        <a:t> .</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134025">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5</a:t>
                      </a:r>
                      <a:endParaRPr sz="1400" b="0" u="none" strike="noStrike" cap="none">
                        <a:solidFill>
                          <a:schemeClr val="dk1"/>
                        </a:solidFill>
                        <a:latin typeface="Arial"/>
                        <a:ea typeface="Arial"/>
                        <a:cs typeface="Arial"/>
                        <a:sym typeface="Arial"/>
                      </a:endParaRPr>
                    </a:p>
                  </a:txBody>
                  <a:tcPr marL="52925" marR="0" marT="0" marB="0"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Installera tillägget</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rPr>
                        <a:t>Klicka på den blå knappen </a:t>
                      </a:r>
                      <a:r>
                        <a:rPr lang="sv-SE" sz="1400" b="1" u="none" strike="noStrike" cap="none">
                          <a:solidFill>
                            <a:schemeClr val="dk1"/>
                          </a:solidFill>
                        </a:rPr>
                        <a:t>"Install"</a:t>
                      </a:r>
                      <a:r>
                        <a:rPr lang="sv-SE" sz="1400" b="0" u="none" strike="noStrike" cap="none">
                          <a:solidFill>
                            <a:schemeClr val="dk1"/>
                          </a:solidFill>
                        </a:rPr>
                        <a:t> (Installera) bredvid tillägget. En förloppsindikator visas och knappen ändras till "Installing..." och sedan till "Uninstall" när det är klart.</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77800">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6</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Vänta på installationen</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rPr>
                        <a:t>Installationen tar bara några sekunder. Du ser en animation som visar att det laddas ner och installeras.</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177800">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7</a:t>
                      </a:r>
                      <a:endParaRPr sz="1400" b="0" u="none" strike="noStrike" cap="none">
                        <a:solidFill>
                          <a:schemeClr val="dk1"/>
                        </a:solidFill>
                        <a:latin typeface="Arial"/>
                        <a:ea typeface="Arial"/>
                        <a:cs typeface="Arial"/>
                        <a:sym typeface="Arial"/>
                      </a:endParaRPr>
                    </a:p>
                  </a:txBody>
                  <a:tcPr marL="52925" marR="0" marT="0" marB="0"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Bekräfta att installationen lyckades</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rPr>
                        <a:t>När installationen är klar ser du att knappen har ändrats till </a:t>
                      </a:r>
                      <a:r>
                        <a:rPr lang="sv-SE" sz="1400" b="1" u="none" strike="noStrike" cap="none">
                          <a:solidFill>
                            <a:schemeClr val="dk1"/>
                          </a:solidFill>
                        </a:rPr>
                        <a:t>"Uninstall"</a:t>
                      </a:r>
                      <a:r>
                        <a:rPr lang="sv-SE" sz="1400" b="0" u="none" strike="noStrike" cap="none">
                          <a:solidFill>
                            <a:schemeClr val="dk1"/>
                          </a:solidFill>
                        </a:rPr>
                        <a:t> (Avinstallera). Tillägget är nu aktivt och redo att användas.</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134025">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8</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Skapa en Python-fil för att testa</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rPr>
                        <a:t>Klicka på </a:t>
                      </a:r>
                      <a:r>
                        <a:rPr lang="sv-SE" sz="1400" b="1" u="none" strike="noStrike" cap="none">
                          <a:solidFill>
                            <a:schemeClr val="dk1"/>
                          </a:solidFill>
                        </a:rPr>
                        <a:t>"File"</a:t>
                      </a:r>
                      <a:r>
                        <a:rPr lang="sv-SE" sz="1400" b="0" u="none" strike="noStrike" cap="none">
                          <a:solidFill>
                            <a:schemeClr val="dk1"/>
                          </a:solidFill>
                        </a:rPr>
                        <a:t> → </a:t>
                      </a:r>
                      <a:r>
                        <a:rPr lang="sv-SE" sz="1400" b="1" u="none" strike="noStrike" cap="none">
                          <a:solidFill>
                            <a:schemeClr val="dk1"/>
                          </a:solidFill>
                        </a:rPr>
                        <a:t>"New File"</a:t>
                      </a:r>
                      <a:r>
                        <a:rPr lang="sv-SE" sz="1400" b="0" u="none" strike="noStrike" cap="none">
                          <a:solidFill>
                            <a:schemeClr val="dk1"/>
                          </a:solidFill>
                        </a:rPr>
                        <a:t> (eller tryck Ctrl+N). Spara filen direkt (Ctrl+S) och ge den namnet test.py. Välj en mapp att spara i, till exempel din projektmapp.</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8"/>
                  </a:ext>
                </a:extLst>
              </a:tr>
              <a:tr h="226950">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9</a:t>
                      </a:r>
                      <a:endParaRPr sz="1400" b="0" u="none" strike="noStrike" cap="none">
                        <a:solidFill>
                          <a:schemeClr val="dk1"/>
                        </a:solidFill>
                        <a:latin typeface="Arial"/>
                        <a:ea typeface="Arial"/>
                        <a:cs typeface="Arial"/>
                        <a:sym typeface="Arial"/>
                      </a:endParaRPr>
                    </a:p>
                  </a:txBody>
                  <a:tcPr marL="52925" marR="0" marT="0" marB="0"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Testa att tillägget fungerar</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rPr>
                        <a:t>I filen test.py skriver du:</a:t>
                      </a:r>
                      <a:br>
                        <a:rPr lang="sv-SE" sz="1400" b="0" u="none" strike="noStrike" cap="none">
                          <a:solidFill>
                            <a:srgbClr val="000000"/>
                          </a:solidFill>
                        </a:rPr>
                      </a:br>
                      <a:r>
                        <a:rPr lang="sv-SE" sz="1400" b="0" u="none" strike="noStrike" cap="none">
                          <a:solidFill>
                            <a:schemeClr val="dk1"/>
                          </a:solidFill>
                        </a:rPr>
                        <a:t>print("Hej från Python!")</a:t>
                      </a:r>
                      <a:br>
                        <a:rPr lang="sv-SE" sz="1400" b="0" u="none" strike="noStrike" cap="none">
                          <a:solidFill>
                            <a:srgbClr val="000000"/>
                          </a:solidFill>
                        </a:rPr>
                      </a:br>
                      <a:br>
                        <a:rPr lang="sv-SE" sz="1400" b="0" u="none" strike="noStrike" cap="none">
                          <a:solidFill>
                            <a:srgbClr val="000000"/>
                          </a:solidFill>
                        </a:rPr>
                      </a:br>
                      <a:r>
                        <a:rPr lang="sv-SE" sz="1400" b="0" u="none" strike="noStrike" cap="none">
                          <a:solidFill>
                            <a:schemeClr val="dk1"/>
                          </a:solidFill>
                        </a:rPr>
                        <a:t>Du bör nu se att texten får olika färger. Till exempel är print lila och texten inom citattecken är grön eller orange. Detta är ett tecken på att tillägget fungerar!</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134025">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10</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Kör Python-filen</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rPr>
                        <a:t>För att verkligen testa att allt fungerar, klicka på den lilla </a:t>
                      </a:r>
                      <a:r>
                        <a:rPr lang="sv-SE" sz="1400" b="1" u="none" strike="noStrike" cap="none">
                          <a:solidFill>
                            <a:schemeClr val="dk1"/>
                          </a:solidFill>
                        </a:rPr>
                        <a:t>triangel-ikonen "Play"</a:t>
                      </a:r>
                      <a:r>
                        <a:rPr lang="sv-SE" sz="1400" b="0" u="none" strike="noStrike" cap="none">
                          <a:solidFill>
                            <a:schemeClr val="dk1"/>
                          </a:solidFill>
                        </a:rPr>
                        <a:t> (Kör) som syns längst upp till höger i fönstret. Du kan också högerklicka i filen och välja </a:t>
                      </a:r>
                      <a:r>
                        <a:rPr lang="sv-SE" sz="1400" b="1" u="none" strike="noStrike" cap="none">
                          <a:solidFill>
                            <a:schemeClr val="dk1"/>
                          </a:solidFill>
                        </a:rPr>
                        <a:t>"Run Python File in Terminal"</a:t>
                      </a:r>
                      <a:r>
                        <a:rPr lang="sv-SE" sz="1400" b="0" u="none" strike="noStrike" cap="none">
                          <a:solidFill>
                            <a:schemeClr val="dk1"/>
                          </a:solidFill>
                        </a:rPr>
                        <a:t> .</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10"/>
                  </a:ext>
                </a:extLst>
              </a:tr>
              <a:tr h="226950">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11</a:t>
                      </a:r>
                      <a:endParaRPr sz="1400" b="0" u="none" strike="noStrike" cap="none">
                        <a:solidFill>
                          <a:schemeClr val="dk1"/>
                        </a:solidFill>
                        <a:latin typeface="Arial"/>
                        <a:ea typeface="Arial"/>
                        <a:cs typeface="Arial"/>
                        <a:sym typeface="Arial"/>
                      </a:endParaRPr>
                    </a:p>
                  </a:txBody>
                  <a:tcPr marL="52925" marR="0" marT="0" marB="0"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rPr>
                        <a:t>Se resultatet</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0" u="none" strike="noStrike" cap="none">
                          <a:solidFill>
                            <a:schemeClr val="dk1"/>
                          </a:solidFill>
                        </a:rPr>
                        <a:t>En terminal öppnas längst ner i VS Code och du bör se texten:</a:t>
                      </a:r>
                      <a:br>
                        <a:rPr lang="sv-SE" sz="1400" b="0" u="none" strike="noStrike" cap="none">
                          <a:solidFill>
                            <a:srgbClr val="000000"/>
                          </a:solidFill>
                        </a:rPr>
                      </a:br>
                      <a:r>
                        <a:rPr lang="sv-SE" sz="1400" b="0" u="none" strike="noStrike" cap="none">
                          <a:solidFill>
                            <a:schemeClr val="dk1"/>
                          </a:solidFill>
                        </a:rPr>
                        <a:t>Hej från Python!</a:t>
                      </a:r>
                      <a:br>
                        <a:rPr lang="sv-SE" sz="1400" b="0" u="none" strike="noStrike" cap="none">
                          <a:solidFill>
                            <a:srgbClr val="000000"/>
                          </a:solidFill>
                        </a:rPr>
                      </a:br>
                      <a:br>
                        <a:rPr lang="sv-SE" sz="1400" b="0" u="none" strike="noStrike" cap="none">
                          <a:solidFill>
                            <a:srgbClr val="000000"/>
                          </a:solidFill>
                        </a:rPr>
                      </a:br>
                      <a:r>
                        <a:rPr lang="sv-SE" sz="1400" b="1" u="none" strike="noStrike" cap="none">
                          <a:solidFill>
                            <a:schemeClr val="dk1"/>
                          </a:solidFill>
                        </a:rPr>
                        <a:t>Om du ser detta – GRATTIS! Allt fungerar perfekt!</a:t>
                      </a:r>
                      <a:endParaRPr sz="1400" b="0" u="none" strike="noStrike" cap="none">
                        <a:solidFill>
                          <a:schemeClr val="dk1"/>
                        </a:solidFill>
                        <a:latin typeface="Arial"/>
                        <a:ea typeface="Arial"/>
                        <a:cs typeface="Arial"/>
                        <a:sym typeface="Arial"/>
                      </a:endParaRPr>
                    </a:p>
                  </a:txBody>
                  <a:tcPr marL="52925" marR="0" marT="0" marB="0"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6"/>
        <p:cNvGrpSpPr/>
        <p:nvPr/>
      </p:nvGrpSpPr>
      <p:grpSpPr>
        <a:xfrm>
          <a:off x="0" y="0"/>
          <a:ext cx="0" cy="0"/>
          <a:chOff x="0" y="0"/>
          <a:chExt cx="0" cy="0"/>
        </a:xfrm>
      </p:grpSpPr>
      <p:sp>
        <p:nvSpPr>
          <p:cNvPr id="457" name="Google Shape;457;p3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8" name="Google Shape;458;p33"/>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9" name="Google Shape;459;p33"/>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0" name="Google Shape;460;p33"/>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1" name="Google Shape;461;p33"/>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Vanliga frågor</a:t>
            </a:r>
            <a:endParaRPr/>
          </a:p>
        </p:txBody>
      </p:sp>
      <p:graphicFrame>
        <p:nvGraphicFramePr>
          <p:cNvPr id="462" name="Google Shape;462;p33"/>
          <p:cNvGraphicFramePr/>
          <p:nvPr/>
        </p:nvGraphicFramePr>
        <p:xfrm>
          <a:off x="24983" y="1717622"/>
          <a:ext cx="3000000" cy="3000000"/>
        </p:xfrm>
        <a:graphic>
          <a:graphicData uri="http://schemas.openxmlformats.org/drawingml/2006/table">
            <a:tbl>
              <a:tblPr firstRow="1" bandRow="1">
                <a:noFill/>
                <a:tableStyleId>{822C3B93-EF79-491A-80E4-DA79D8C4CF44}</a:tableStyleId>
              </a:tblPr>
              <a:tblGrid>
                <a:gridCol w="2996350">
                  <a:extLst>
                    <a:ext uri="{9D8B030D-6E8A-4147-A177-3AD203B41FA5}">
                      <a16:colId xmlns:a16="http://schemas.microsoft.com/office/drawing/2014/main" val="20000"/>
                    </a:ext>
                  </a:extLst>
                </a:gridCol>
                <a:gridCol w="9147650">
                  <a:extLst>
                    <a:ext uri="{9D8B030D-6E8A-4147-A177-3AD203B41FA5}">
                      <a16:colId xmlns:a16="http://schemas.microsoft.com/office/drawing/2014/main" val="20001"/>
                    </a:ext>
                  </a:extLst>
                </a:gridCol>
              </a:tblGrid>
              <a:tr h="355600">
                <a:tc>
                  <a:txBody>
                    <a:bodyPr/>
                    <a:lstStyle/>
                    <a:p>
                      <a:pPr marL="0" marR="0" lvl="0" indent="0" algn="l" rtl="0">
                        <a:lnSpc>
                          <a:spcPct val="100000"/>
                        </a:lnSpc>
                        <a:spcBef>
                          <a:spcPts val="0"/>
                        </a:spcBef>
                        <a:spcAft>
                          <a:spcPts val="0"/>
                        </a:spcAft>
                        <a:buClr>
                          <a:srgbClr val="FFFFFF"/>
                        </a:buClr>
                        <a:buSzPts val="2800"/>
                        <a:buFont typeface="Arial"/>
                        <a:buNone/>
                      </a:pPr>
                      <a:r>
                        <a:rPr lang="sv-SE" sz="2800" b="1" u="none" strike="noStrike" cap="none">
                          <a:solidFill>
                            <a:srgbClr val="FFFFFF"/>
                          </a:solidFill>
                          <a:latin typeface="Arial"/>
                          <a:ea typeface="Arial"/>
                          <a:cs typeface="Arial"/>
                          <a:sym typeface="Arial"/>
                        </a:rPr>
                        <a:t>Fråga</a:t>
                      </a:r>
                      <a:endParaRPr/>
                    </a:p>
                  </a:txBody>
                  <a:tcPr marL="164175" marR="98500" marT="0" marB="0" anchor="ctr">
                    <a:lnL w="9525" cap="flat" cmpd="sng">
                      <a:solidFill>
                        <a:srgbClr val="000000">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38100" cap="flat" cmpd="sng">
                      <a:solidFill>
                        <a:srgbClr val="FFFFFF"/>
                      </a:solidFill>
                      <a:prstDash val="solid"/>
                      <a:round/>
                      <a:headEnd type="none" w="sm" len="sm"/>
                      <a:tailEnd type="none" w="sm" len="sm"/>
                    </a:lnB>
                    <a:solidFill>
                      <a:srgbClr val="636B68">
                        <a:alpha val="69803"/>
                      </a:srgbClr>
                    </a:solidFill>
                  </a:tcPr>
                </a:tc>
                <a:tc>
                  <a:txBody>
                    <a:bodyPr/>
                    <a:lstStyle/>
                    <a:p>
                      <a:pPr marL="0" marR="0" lvl="0" indent="0" algn="l" rtl="0">
                        <a:lnSpc>
                          <a:spcPct val="100000"/>
                        </a:lnSpc>
                        <a:spcBef>
                          <a:spcPts val="0"/>
                        </a:spcBef>
                        <a:spcAft>
                          <a:spcPts val="0"/>
                        </a:spcAft>
                        <a:buClr>
                          <a:srgbClr val="FFFFFF"/>
                        </a:buClr>
                        <a:buSzPts val="2800"/>
                        <a:buFont typeface="Arial"/>
                        <a:buNone/>
                      </a:pPr>
                      <a:r>
                        <a:rPr lang="sv-SE" sz="2800" b="1" u="none" strike="noStrike" cap="none">
                          <a:solidFill>
                            <a:srgbClr val="FFFFFF"/>
                          </a:solidFill>
                          <a:latin typeface="Arial"/>
                          <a:ea typeface="Arial"/>
                          <a:cs typeface="Arial"/>
                          <a:sym typeface="Arial"/>
                        </a:rPr>
                        <a:t>Svar</a:t>
                      </a:r>
                      <a:endParaRPr/>
                    </a:p>
                  </a:txBody>
                  <a:tcPr marL="164175" marR="98500" marT="0" marB="0"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38100" cap="flat" cmpd="sng">
                      <a:solidFill>
                        <a:srgbClr val="FFFFFF"/>
                      </a:solidFill>
                      <a:prstDash val="solid"/>
                      <a:round/>
                      <a:headEnd type="none" w="sm" len="sm"/>
                      <a:tailEnd type="none" w="sm" len="sm"/>
                    </a:lnB>
                    <a:solidFill>
                      <a:srgbClr val="636B68">
                        <a:alpha val="69803"/>
                      </a:srgbClr>
                    </a:solidFill>
                  </a:tcPr>
                </a:tc>
                <a:extLst>
                  <a:ext uri="{0D108BD9-81ED-4DB2-BD59-A6C34878D82A}">
                    <a16:rowId xmlns:a16="http://schemas.microsoft.com/office/drawing/2014/main" val="10000"/>
                  </a:ext>
                </a:extLst>
              </a:tr>
              <a:tr h="283225">
                <a:tc>
                  <a:txBody>
                    <a:bodyPr/>
                    <a:lstStyle/>
                    <a:p>
                      <a:pPr marL="0" marR="0" lvl="0" indent="0" algn="l" rtl="0">
                        <a:lnSpc>
                          <a:spcPct val="100000"/>
                        </a:lnSpc>
                        <a:spcBef>
                          <a:spcPts val="0"/>
                        </a:spcBef>
                        <a:spcAft>
                          <a:spcPts val="0"/>
                        </a:spcAft>
                        <a:buClr>
                          <a:srgbClr val="262626"/>
                        </a:buClr>
                        <a:buSzPts val="2000"/>
                        <a:buFont typeface="Arial"/>
                        <a:buNone/>
                      </a:pPr>
                      <a:r>
                        <a:rPr lang="sv-SE" sz="2000" b="1" u="none" strike="noStrike" cap="none">
                          <a:solidFill>
                            <a:srgbClr val="262626"/>
                          </a:solidFill>
                          <a:latin typeface="Arial"/>
                          <a:ea typeface="Arial"/>
                          <a:cs typeface="Arial"/>
                          <a:sym typeface="Arial"/>
                        </a:rPr>
                        <a:t>Måste jag installera fler tillägg?</a:t>
                      </a:r>
                      <a:endParaRPr sz="2000" b="0" u="none" strike="noStrike" cap="none">
                        <a:solidFill>
                          <a:srgbClr val="262626"/>
                        </a:solidFill>
                        <a:latin typeface="Arial"/>
                        <a:ea typeface="Arial"/>
                        <a:cs typeface="Arial"/>
                        <a:sym typeface="Arial"/>
                      </a:endParaRPr>
                    </a:p>
                  </a:txBody>
                  <a:tcPr marL="164175" marR="98500" marT="0" marB="0" anchor="ctr">
                    <a:lnL w="9525" cap="flat" cmpd="sng">
                      <a:solidFill>
                        <a:srgbClr val="000000">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878E8B">
                        <a:alpha val="14901"/>
                      </a:srgbClr>
                    </a:solidFill>
                  </a:tcPr>
                </a:tc>
                <a:tc>
                  <a:txBody>
                    <a:bodyPr/>
                    <a:lstStyle/>
                    <a:p>
                      <a:pPr marL="0" marR="0" lvl="0" indent="0" algn="l" rtl="0">
                        <a:lnSpc>
                          <a:spcPct val="100000"/>
                        </a:lnSpc>
                        <a:spcBef>
                          <a:spcPts val="0"/>
                        </a:spcBef>
                        <a:spcAft>
                          <a:spcPts val="0"/>
                        </a:spcAft>
                        <a:buClr>
                          <a:srgbClr val="262626"/>
                        </a:buClr>
                        <a:buSzPts val="2000"/>
                        <a:buFont typeface="Arial"/>
                        <a:buNone/>
                      </a:pPr>
                      <a:r>
                        <a:rPr lang="sv-SE" sz="2000" b="0" u="none" strike="noStrike" cap="none">
                          <a:solidFill>
                            <a:srgbClr val="262626"/>
                          </a:solidFill>
                          <a:latin typeface="Arial"/>
                          <a:ea typeface="Arial"/>
                          <a:cs typeface="Arial"/>
                          <a:sym typeface="Arial"/>
                        </a:rPr>
                        <a:t>Nej, Python-tillägget från Microsoft är det enda du absolut behöver. Det innehåller allt grundläggande stöd för Python.</a:t>
                      </a:r>
                      <a:endParaRPr/>
                    </a:p>
                  </a:txBody>
                  <a:tcPr marL="164175" marR="98500" marT="0" marB="0"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878E8B">
                        <a:alpha val="14901"/>
                      </a:srgbClr>
                    </a:solidFill>
                  </a:tcPr>
                </a:tc>
                <a:extLst>
                  <a:ext uri="{0D108BD9-81ED-4DB2-BD59-A6C34878D82A}">
                    <a16:rowId xmlns:a16="http://schemas.microsoft.com/office/drawing/2014/main" val="10001"/>
                  </a:ext>
                </a:extLst>
              </a:tr>
              <a:tr h="283225">
                <a:tc>
                  <a:txBody>
                    <a:bodyPr/>
                    <a:lstStyle/>
                    <a:p>
                      <a:pPr marL="0" marR="0" lvl="0" indent="0" algn="l" rtl="0">
                        <a:lnSpc>
                          <a:spcPct val="100000"/>
                        </a:lnSpc>
                        <a:spcBef>
                          <a:spcPts val="0"/>
                        </a:spcBef>
                        <a:spcAft>
                          <a:spcPts val="0"/>
                        </a:spcAft>
                        <a:buClr>
                          <a:srgbClr val="262626"/>
                        </a:buClr>
                        <a:buSzPts val="2000"/>
                        <a:buFont typeface="Arial"/>
                        <a:buNone/>
                      </a:pPr>
                      <a:r>
                        <a:rPr lang="sv-SE" sz="2000" b="1" u="none" strike="noStrike" cap="none">
                          <a:solidFill>
                            <a:srgbClr val="262626"/>
                          </a:solidFill>
                          <a:latin typeface="Arial"/>
                          <a:ea typeface="Arial"/>
                          <a:cs typeface="Arial"/>
                          <a:sym typeface="Arial"/>
                        </a:rPr>
                        <a:t>Vad är Pylance?</a:t>
                      </a:r>
                      <a:endParaRPr sz="2000" b="0" u="none" strike="noStrike" cap="none">
                        <a:solidFill>
                          <a:srgbClr val="262626"/>
                        </a:solidFill>
                        <a:latin typeface="Arial"/>
                        <a:ea typeface="Arial"/>
                        <a:cs typeface="Arial"/>
                        <a:sym typeface="Arial"/>
                      </a:endParaRPr>
                    </a:p>
                  </a:txBody>
                  <a:tcPr marL="164175" marR="98500" marT="0" marB="0" anchor="ctr">
                    <a:lnL w="9525" cap="flat" cmpd="sng">
                      <a:solidFill>
                        <a:srgbClr val="000000">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878E8B">
                        <a:alpha val="30196"/>
                      </a:srgbClr>
                    </a:solidFill>
                  </a:tcPr>
                </a:tc>
                <a:tc>
                  <a:txBody>
                    <a:bodyPr/>
                    <a:lstStyle/>
                    <a:p>
                      <a:pPr marL="0" marR="0" lvl="0" indent="0" algn="l" rtl="0">
                        <a:lnSpc>
                          <a:spcPct val="100000"/>
                        </a:lnSpc>
                        <a:spcBef>
                          <a:spcPts val="0"/>
                        </a:spcBef>
                        <a:spcAft>
                          <a:spcPts val="0"/>
                        </a:spcAft>
                        <a:buClr>
                          <a:srgbClr val="262626"/>
                        </a:buClr>
                        <a:buSzPts val="2000"/>
                        <a:buFont typeface="Arial"/>
                        <a:buNone/>
                      </a:pPr>
                      <a:r>
                        <a:rPr lang="sv-SE" sz="2000" b="0" u="none" strike="noStrike" cap="none">
                          <a:solidFill>
                            <a:srgbClr val="262626"/>
                          </a:solidFill>
                          <a:latin typeface="Arial"/>
                          <a:ea typeface="Arial"/>
                          <a:cs typeface="Arial"/>
                          <a:sym typeface="Arial"/>
                        </a:rPr>
                        <a:t>Pylance är en del av Python-tillägget. Det är "motorn" som ger dig smarta kodförslag, felsökning och snabb navigering i koden .</a:t>
                      </a:r>
                      <a:endParaRPr/>
                    </a:p>
                  </a:txBody>
                  <a:tcPr marL="164175" marR="98500" marT="0" marB="0"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878E8B">
                        <a:alpha val="30196"/>
                      </a:srgbClr>
                    </a:solidFill>
                  </a:tcPr>
                </a:tc>
                <a:extLst>
                  <a:ext uri="{0D108BD9-81ED-4DB2-BD59-A6C34878D82A}">
                    <a16:rowId xmlns:a16="http://schemas.microsoft.com/office/drawing/2014/main" val="10002"/>
                  </a:ext>
                </a:extLst>
              </a:tr>
              <a:tr h="283225">
                <a:tc>
                  <a:txBody>
                    <a:bodyPr/>
                    <a:lstStyle/>
                    <a:p>
                      <a:pPr marL="0" marR="0" lvl="0" indent="0" algn="l" rtl="0">
                        <a:lnSpc>
                          <a:spcPct val="100000"/>
                        </a:lnSpc>
                        <a:spcBef>
                          <a:spcPts val="0"/>
                        </a:spcBef>
                        <a:spcAft>
                          <a:spcPts val="0"/>
                        </a:spcAft>
                        <a:buClr>
                          <a:srgbClr val="262626"/>
                        </a:buClr>
                        <a:buSzPts val="2000"/>
                        <a:buFont typeface="Arial"/>
                        <a:buNone/>
                      </a:pPr>
                      <a:r>
                        <a:rPr lang="sv-SE" sz="2000" b="1" u="none" strike="noStrike" cap="none">
                          <a:solidFill>
                            <a:srgbClr val="262626"/>
                          </a:solidFill>
                          <a:latin typeface="Arial"/>
                          <a:ea typeface="Arial"/>
                          <a:cs typeface="Arial"/>
                          <a:sym typeface="Arial"/>
                        </a:rPr>
                        <a:t>Varför får min kod inte färger?</a:t>
                      </a:r>
                      <a:endParaRPr sz="2000" b="0" u="none" strike="noStrike" cap="none">
                        <a:solidFill>
                          <a:srgbClr val="262626"/>
                        </a:solidFill>
                        <a:latin typeface="Arial"/>
                        <a:ea typeface="Arial"/>
                        <a:cs typeface="Arial"/>
                        <a:sym typeface="Arial"/>
                      </a:endParaRPr>
                    </a:p>
                  </a:txBody>
                  <a:tcPr marL="164175" marR="98500" marT="0" marB="0" anchor="ctr">
                    <a:lnL w="9525" cap="flat" cmpd="sng">
                      <a:solidFill>
                        <a:srgbClr val="000000">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878E8B">
                        <a:alpha val="14901"/>
                      </a:srgbClr>
                    </a:solidFill>
                  </a:tcPr>
                </a:tc>
                <a:tc>
                  <a:txBody>
                    <a:bodyPr/>
                    <a:lstStyle/>
                    <a:p>
                      <a:pPr marL="0" marR="0" lvl="0" indent="0" algn="l" rtl="0">
                        <a:lnSpc>
                          <a:spcPct val="100000"/>
                        </a:lnSpc>
                        <a:spcBef>
                          <a:spcPts val="0"/>
                        </a:spcBef>
                        <a:spcAft>
                          <a:spcPts val="0"/>
                        </a:spcAft>
                        <a:buClr>
                          <a:srgbClr val="262626"/>
                        </a:buClr>
                        <a:buSzPts val="2000"/>
                        <a:buFont typeface="Arial"/>
                        <a:buNone/>
                      </a:pPr>
                      <a:r>
                        <a:rPr lang="sv-SE" sz="2000" b="0" u="none" strike="noStrike" cap="none">
                          <a:solidFill>
                            <a:srgbClr val="262626"/>
                          </a:solidFill>
                          <a:latin typeface="Arial"/>
                          <a:ea typeface="Arial"/>
                          <a:cs typeface="Arial"/>
                          <a:sym typeface="Arial"/>
                        </a:rPr>
                        <a:t>Då har troligen tillägget inte installerats korrekt. Dubbelkolla att du ser "INSTALLED" bredvid Python-tillägget. Testa också att starta om VS Code.</a:t>
                      </a:r>
                      <a:endParaRPr/>
                    </a:p>
                  </a:txBody>
                  <a:tcPr marL="164175" marR="98500" marT="0" marB="0"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878E8B">
                        <a:alpha val="14901"/>
                      </a:srgbClr>
                    </a:solidFill>
                  </a:tcPr>
                </a:tc>
                <a:extLst>
                  <a:ext uri="{0D108BD9-81ED-4DB2-BD59-A6C34878D82A}">
                    <a16:rowId xmlns:a16="http://schemas.microsoft.com/office/drawing/2014/main" val="10003"/>
                  </a:ext>
                </a:extLst>
              </a:tr>
              <a:tr h="524475">
                <a:tc>
                  <a:txBody>
                    <a:bodyPr/>
                    <a:lstStyle/>
                    <a:p>
                      <a:pPr marL="0" marR="0" lvl="0" indent="0" algn="l" rtl="0">
                        <a:lnSpc>
                          <a:spcPct val="100000"/>
                        </a:lnSpc>
                        <a:spcBef>
                          <a:spcPts val="0"/>
                        </a:spcBef>
                        <a:spcAft>
                          <a:spcPts val="0"/>
                        </a:spcAft>
                        <a:buClr>
                          <a:srgbClr val="262626"/>
                        </a:buClr>
                        <a:buSzPts val="2000"/>
                        <a:buFont typeface="Arial"/>
                        <a:buNone/>
                      </a:pPr>
                      <a:r>
                        <a:rPr lang="sv-SE" sz="2000" b="1" u="none" strike="noStrike" cap="none">
                          <a:solidFill>
                            <a:srgbClr val="262626"/>
                          </a:solidFill>
                          <a:latin typeface="Arial"/>
                          <a:ea typeface="Arial"/>
                          <a:cs typeface="Arial"/>
                          <a:sym typeface="Arial"/>
                        </a:rPr>
                        <a:t>Vad betyder de olika färgerna?</a:t>
                      </a:r>
                      <a:endParaRPr sz="2000" b="0" u="none" strike="noStrike" cap="none">
                        <a:solidFill>
                          <a:srgbClr val="262626"/>
                        </a:solidFill>
                        <a:latin typeface="Arial"/>
                        <a:ea typeface="Arial"/>
                        <a:cs typeface="Arial"/>
                        <a:sym typeface="Arial"/>
                      </a:endParaRPr>
                    </a:p>
                  </a:txBody>
                  <a:tcPr marL="164175" marR="98500" marT="0" marB="0" anchor="ctr">
                    <a:lnL w="9525" cap="flat" cmpd="sng">
                      <a:solidFill>
                        <a:srgbClr val="000000">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878E8B">
                        <a:alpha val="30196"/>
                      </a:srgbClr>
                    </a:solidFill>
                  </a:tcPr>
                </a:tc>
                <a:tc>
                  <a:txBody>
                    <a:bodyPr/>
                    <a:lstStyle/>
                    <a:p>
                      <a:pPr marL="0" marR="0" lvl="0" indent="0" algn="l" rtl="0">
                        <a:lnSpc>
                          <a:spcPct val="100000"/>
                        </a:lnSpc>
                        <a:spcBef>
                          <a:spcPts val="0"/>
                        </a:spcBef>
                        <a:spcAft>
                          <a:spcPts val="0"/>
                        </a:spcAft>
                        <a:buClr>
                          <a:srgbClr val="262626"/>
                        </a:buClr>
                        <a:buSzPts val="2000"/>
                        <a:buFont typeface="Arial"/>
                        <a:buNone/>
                      </a:pPr>
                      <a:r>
                        <a:rPr lang="sv-SE" sz="2000" b="0" u="none" strike="noStrike" cap="none">
                          <a:solidFill>
                            <a:srgbClr val="262626"/>
                          </a:solidFill>
                          <a:latin typeface="Arial"/>
                          <a:ea typeface="Arial"/>
                          <a:cs typeface="Arial"/>
                          <a:sym typeface="Arial"/>
                        </a:rPr>
                        <a:t>VS Code färglägger olika delar av koden för att göra den lättare att läsa:</a:t>
                      </a:r>
                      <a:br>
                        <a:rPr lang="sv-SE" sz="2000" b="0" u="none" strike="noStrike" cap="none">
                          <a:solidFill>
                            <a:srgbClr val="262626"/>
                          </a:solidFill>
                          <a:latin typeface="Arial"/>
                          <a:ea typeface="Arial"/>
                          <a:cs typeface="Arial"/>
                          <a:sym typeface="Arial"/>
                        </a:rPr>
                      </a:br>
                      <a:r>
                        <a:rPr lang="sv-SE" sz="2000" b="0" u="none" strike="noStrike" cap="none">
                          <a:solidFill>
                            <a:srgbClr val="262626"/>
                          </a:solidFill>
                          <a:latin typeface="Arial"/>
                          <a:ea typeface="Arial"/>
                          <a:cs typeface="Arial"/>
                          <a:sym typeface="Arial"/>
                        </a:rPr>
                        <a:t>• </a:t>
                      </a:r>
                      <a:r>
                        <a:rPr lang="sv-SE" sz="2000" b="1" u="none" strike="noStrike" cap="none">
                          <a:solidFill>
                            <a:srgbClr val="262626"/>
                          </a:solidFill>
                          <a:latin typeface="Arial"/>
                          <a:ea typeface="Arial"/>
                          <a:cs typeface="Arial"/>
                          <a:sym typeface="Arial"/>
                        </a:rPr>
                        <a:t>Blå/Lila</a:t>
                      </a:r>
                      <a:r>
                        <a:rPr lang="sv-SE" sz="2000" b="0" u="none" strike="noStrike" cap="none">
                          <a:solidFill>
                            <a:srgbClr val="262626"/>
                          </a:solidFill>
                          <a:latin typeface="Arial"/>
                          <a:ea typeface="Arial"/>
                          <a:cs typeface="Arial"/>
                          <a:sym typeface="Arial"/>
                        </a:rPr>
                        <a:t>: Nyckelord som print, if, for</a:t>
                      </a:r>
                      <a:br>
                        <a:rPr lang="sv-SE" sz="2000" b="0" u="none" strike="noStrike" cap="none">
                          <a:solidFill>
                            <a:srgbClr val="262626"/>
                          </a:solidFill>
                          <a:latin typeface="Arial"/>
                          <a:ea typeface="Arial"/>
                          <a:cs typeface="Arial"/>
                          <a:sym typeface="Arial"/>
                        </a:rPr>
                      </a:br>
                      <a:r>
                        <a:rPr lang="sv-SE" sz="2000" b="0" u="none" strike="noStrike" cap="none">
                          <a:solidFill>
                            <a:srgbClr val="262626"/>
                          </a:solidFill>
                          <a:latin typeface="Arial"/>
                          <a:ea typeface="Arial"/>
                          <a:cs typeface="Arial"/>
                          <a:sym typeface="Arial"/>
                        </a:rPr>
                        <a:t>• </a:t>
                      </a:r>
                      <a:r>
                        <a:rPr lang="sv-SE" sz="2000" b="1" u="none" strike="noStrike" cap="none">
                          <a:solidFill>
                            <a:srgbClr val="262626"/>
                          </a:solidFill>
                          <a:latin typeface="Arial"/>
                          <a:ea typeface="Arial"/>
                          <a:cs typeface="Arial"/>
                          <a:sym typeface="Arial"/>
                        </a:rPr>
                        <a:t>Orange/Grön</a:t>
                      </a:r>
                      <a:r>
                        <a:rPr lang="sv-SE" sz="2000" b="0" u="none" strike="noStrike" cap="none">
                          <a:solidFill>
                            <a:srgbClr val="262626"/>
                          </a:solidFill>
                          <a:latin typeface="Arial"/>
                          <a:ea typeface="Arial"/>
                          <a:cs typeface="Arial"/>
                          <a:sym typeface="Arial"/>
                        </a:rPr>
                        <a:t>: Text inom citattecken</a:t>
                      </a:r>
                      <a:br>
                        <a:rPr lang="sv-SE" sz="2000" b="0" u="none" strike="noStrike" cap="none">
                          <a:solidFill>
                            <a:srgbClr val="262626"/>
                          </a:solidFill>
                          <a:latin typeface="Arial"/>
                          <a:ea typeface="Arial"/>
                          <a:cs typeface="Arial"/>
                          <a:sym typeface="Arial"/>
                        </a:rPr>
                      </a:br>
                      <a:r>
                        <a:rPr lang="sv-SE" sz="2000" b="0" u="none" strike="noStrike" cap="none">
                          <a:solidFill>
                            <a:srgbClr val="262626"/>
                          </a:solidFill>
                          <a:latin typeface="Arial"/>
                          <a:ea typeface="Arial"/>
                          <a:cs typeface="Arial"/>
                          <a:sym typeface="Arial"/>
                        </a:rPr>
                        <a:t>• </a:t>
                      </a:r>
                      <a:r>
                        <a:rPr lang="sv-SE" sz="2000" b="1" u="none" strike="noStrike" cap="none">
                          <a:solidFill>
                            <a:srgbClr val="262626"/>
                          </a:solidFill>
                          <a:latin typeface="Arial"/>
                          <a:ea typeface="Arial"/>
                          <a:cs typeface="Arial"/>
                          <a:sym typeface="Arial"/>
                        </a:rPr>
                        <a:t>Gul</a:t>
                      </a:r>
                      <a:r>
                        <a:rPr lang="sv-SE" sz="2000" b="0" u="none" strike="noStrike" cap="none">
                          <a:solidFill>
                            <a:srgbClr val="262626"/>
                          </a:solidFill>
                          <a:latin typeface="Arial"/>
                          <a:ea typeface="Arial"/>
                          <a:cs typeface="Arial"/>
                          <a:sym typeface="Arial"/>
                        </a:rPr>
                        <a:t>: Tal och siffror</a:t>
                      </a:r>
                      <a:br>
                        <a:rPr lang="sv-SE" sz="2000" b="0" u="none" strike="noStrike" cap="none">
                          <a:solidFill>
                            <a:srgbClr val="262626"/>
                          </a:solidFill>
                          <a:latin typeface="Arial"/>
                          <a:ea typeface="Arial"/>
                          <a:cs typeface="Arial"/>
                          <a:sym typeface="Arial"/>
                        </a:rPr>
                      </a:br>
                      <a:r>
                        <a:rPr lang="sv-SE" sz="2000" b="0" u="none" strike="noStrike" cap="none">
                          <a:solidFill>
                            <a:srgbClr val="262626"/>
                          </a:solidFill>
                          <a:latin typeface="Arial"/>
                          <a:ea typeface="Arial"/>
                          <a:cs typeface="Arial"/>
                          <a:sym typeface="Arial"/>
                        </a:rPr>
                        <a:t>• </a:t>
                      </a:r>
                      <a:r>
                        <a:rPr lang="sv-SE" sz="2000" b="1" u="none" strike="noStrike" cap="none">
                          <a:solidFill>
                            <a:srgbClr val="262626"/>
                          </a:solidFill>
                          <a:latin typeface="Arial"/>
                          <a:ea typeface="Arial"/>
                          <a:cs typeface="Arial"/>
                          <a:sym typeface="Arial"/>
                        </a:rPr>
                        <a:t>Vit</a:t>
                      </a:r>
                      <a:r>
                        <a:rPr lang="sv-SE" sz="2000" b="0" u="none" strike="noStrike" cap="none">
                          <a:solidFill>
                            <a:srgbClr val="262626"/>
                          </a:solidFill>
                          <a:latin typeface="Arial"/>
                          <a:ea typeface="Arial"/>
                          <a:cs typeface="Arial"/>
                          <a:sym typeface="Arial"/>
                        </a:rPr>
                        <a:t>: Vanlig text</a:t>
                      </a:r>
                      <a:endParaRPr/>
                    </a:p>
                  </a:txBody>
                  <a:tcPr marL="164175" marR="98500" marT="0" marB="0"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878E8B">
                        <a:alpha val="30196"/>
                      </a:srgbClr>
                    </a:solidFill>
                  </a:tcPr>
                </a:tc>
                <a:extLst>
                  <a:ext uri="{0D108BD9-81ED-4DB2-BD59-A6C34878D82A}">
                    <a16:rowId xmlns:a16="http://schemas.microsoft.com/office/drawing/2014/main" val="10004"/>
                  </a:ext>
                </a:extLst>
              </a:tr>
              <a:tr h="262225">
                <a:tc>
                  <a:txBody>
                    <a:bodyPr/>
                    <a:lstStyle/>
                    <a:p>
                      <a:pPr marL="0" marR="0" lvl="0" indent="0" algn="l" rtl="0">
                        <a:lnSpc>
                          <a:spcPct val="100000"/>
                        </a:lnSpc>
                        <a:spcBef>
                          <a:spcPts val="0"/>
                        </a:spcBef>
                        <a:spcAft>
                          <a:spcPts val="0"/>
                        </a:spcAft>
                        <a:buClr>
                          <a:srgbClr val="262626"/>
                        </a:buClr>
                        <a:buSzPts val="2000"/>
                        <a:buFont typeface="Arial"/>
                        <a:buNone/>
                      </a:pPr>
                      <a:r>
                        <a:rPr lang="sv-SE" sz="2000" b="1" u="none" strike="noStrike" cap="none">
                          <a:solidFill>
                            <a:srgbClr val="262626"/>
                          </a:solidFill>
                          <a:latin typeface="Arial"/>
                          <a:ea typeface="Arial"/>
                          <a:cs typeface="Arial"/>
                          <a:sym typeface="Arial"/>
                        </a:rPr>
                        <a:t>Jag ser ingen "Play"-knapp, varför?</a:t>
                      </a:r>
                      <a:endParaRPr sz="2000" b="0" u="none" strike="noStrike" cap="none">
                        <a:solidFill>
                          <a:srgbClr val="262626"/>
                        </a:solidFill>
                        <a:latin typeface="Arial"/>
                        <a:ea typeface="Arial"/>
                        <a:cs typeface="Arial"/>
                        <a:sym typeface="Arial"/>
                      </a:endParaRPr>
                    </a:p>
                  </a:txBody>
                  <a:tcPr marL="164175" marR="98500" marT="0" marB="0" anchor="ctr">
                    <a:lnL w="9525" cap="flat" cmpd="sng">
                      <a:solidFill>
                        <a:srgbClr val="000000">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878E8B">
                        <a:alpha val="14901"/>
                      </a:srgbClr>
                    </a:solidFill>
                  </a:tcPr>
                </a:tc>
                <a:tc>
                  <a:txBody>
                    <a:bodyPr/>
                    <a:lstStyle/>
                    <a:p>
                      <a:pPr marL="0" marR="0" lvl="0" indent="0" algn="l" rtl="0">
                        <a:lnSpc>
                          <a:spcPct val="100000"/>
                        </a:lnSpc>
                        <a:spcBef>
                          <a:spcPts val="0"/>
                        </a:spcBef>
                        <a:spcAft>
                          <a:spcPts val="0"/>
                        </a:spcAft>
                        <a:buClr>
                          <a:srgbClr val="262626"/>
                        </a:buClr>
                        <a:buSzPts val="2000"/>
                        <a:buFont typeface="Arial"/>
                        <a:buNone/>
                      </a:pPr>
                      <a:r>
                        <a:rPr lang="sv-SE" sz="2000" b="0" u="none" strike="noStrike" cap="none">
                          <a:solidFill>
                            <a:srgbClr val="262626"/>
                          </a:solidFill>
                          <a:latin typeface="Arial"/>
                          <a:ea typeface="Arial"/>
                          <a:cs typeface="Arial"/>
                          <a:sym typeface="Arial"/>
                        </a:rPr>
                        <a:t>"Play"-knappen visas bara när du har en Python-fil öppen (fil som slutar med .py). Kontrollera att din fil heter test.py och inte test.txt.</a:t>
                      </a:r>
                      <a:endParaRPr/>
                    </a:p>
                  </a:txBody>
                  <a:tcPr marL="164175" marR="98500" marT="0" marB="0"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878E8B">
                        <a:alpha val="14901"/>
                      </a:srgbClr>
                    </a:solidFill>
                  </a:tcPr>
                </a:tc>
                <a:extLst>
                  <a:ext uri="{0D108BD9-81ED-4DB2-BD59-A6C34878D82A}">
                    <a16:rowId xmlns:a16="http://schemas.microsoft.com/office/drawing/2014/main" val="10005"/>
                  </a:ext>
                </a:extLst>
              </a:tr>
              <a:tr h="283225">
                <a:tc>
                  <a:txBody>
                    <a:bodyPr/>
                    <a:lstStyle/>
                    <a:p>
                      <a:pPr marL="0" marR="0" lvl="0" indent="0" algn="l" rtl="0">
                        <a:lnSpc>
                          <a:spcPct val="100000"/>
                        </a:lnSpc>
                        <a:spcBef>
                          <a:spcPts val="0"/>
                        </a:spcBef>
                        <a:spcAft>
                          <a:spcPts val="0"/>
                        </a:spcAft>
                        <a:buClr>
                          <a:srgbClr val="262626"/>
                        </a:buClr>
                        <a:buSzPts val="2000"/>
                        <a:buFont typeface="Arial"/>
                        <a:buNone/>
                      </a:pPr>
                      <a:r>
                        <a:rPr lang="sv-SE" sz="2000" b="1" u="none" strike="noStrike" cap="none">
                          <a:solidFill>
                            <a:srgbClr val="262626"/>
                          </a:solidFill>
                          <a:latin typeface="Arial"/>
                          <a:ea typeface="Arial"/>
                          <a:cs typeface="Arial"/>
                          <a:sym typeface="Arial"/>
                        </a:rPr>
                        <a:t>Kan jag installera tillägg på andra språk?</a:t>
                      </a:r>
                      <a:endParaRPr sz="2000" b="0" u="none" strike="noStrike" cap="none">
                        <a:solidFill>
                          <a:srgbClr val="262626"/>
                        </a:solidFill>
                        <a:latin typeface="Arial"/>
                        <a:ea typeface="Arial"/>
                        <a:cs typeface="Arial"/>
                        <a:sym typeface="Arial"/>
                      </a:endParaRPr>
                    </a:p>
                  </a:txBody>
                  <a:tcPr marL="164175" marR="98500" marT="0" marB="0" anchor="ctr">
                    <a:lnL w="9525" cap="flat" cmpd="sng">
                      <a:solidFill>
                        <a:srgbClr val="000000">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78E8B">
                        <a:alpha val="30196"/>
                      </a:srgbClr>
                    </a:solidFill>
                  </a:tcPr>
                </a:tc>
                <a:tc>
                  <a:txBody>
                    <a:bodyPr/>
                    <a:lstStyle/>
                    <a:p>
                      <a:pPr marL="0" marR="0" lvl="0" indent="0" algn="l" rtl="0">
                        <a:lnSpc>
                          <a:spcPct val="100000"/>
                        </a:lnSpc>
                        <a:spcBef>
                          <a:spcPts val="0"/>
                        </a:spcBef>
                        <a:spcAft>
                          <a:spcPts val="0"/>
                        </a:spcAft>
                        <a:buClr>
                          <a:srgbClr val="262626"/>
                        </a:buClr>
                        <a:buSzPts val="2000"/>
                        <a:buFont typeface="Arial"/>
                        <a:buNone/>
                      </a:pPr>
                      <a:r>
                        <a:rPr lang="sv-SE" sz="2000" b="0" u="none" strike="noStrike" cap="none">
                          <a:solidFill>
                            <a:srgbClr val="262626"/>
                          </a:solidFill>
                          <a:latin typeface="Arial"/>
                          <a:ea typeface="Arial"/>
                          <a:cs typeface="Arial"/>
                          <a:sym typeface="Arial"/>
                        </a:rPr>
                        <a:t>Ja! VS Code har tillägg för nästan alla programmeringsspråk. Sök bara efter språket du vill använda.</a:t>
                      </a:r>
                      <a:endParaRPr/>
                    </a:p>
                  </a:txBody>
                  <a:tcPr marL="164175" marR="98500" marT="0" marB="0"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78E8B">
                        <a:alpha val="30196"/>
                      </a:srgb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6"/>
        <p:cNvGrpSpPr/>
        <p:nvPr/>
      </p:nvGrpSpPr>
      <p:grpSpPr>
        <a:xfrm>
          <a:off x="0" y="0"/>
          <a:ext cx="0" cy="0"/>
          <a:chOff x="0" y="0"/>
          <a:chExt cx="0" cy="0"/>
        </a:xfrm>
      </p:grpSpPr>
      <p:sp>
        <p:nvSpPr>
          <p:cNvPr id="467" name="Google Shape;467;p3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8" name="Google Shape;468;p34"/>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9" name="Google Shape;469;p34"/>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70" name="Google Shape;470;p34"/>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71" name="Google Shape;471;p34"/>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Felsökning </a:t>
            </a:r>
            <a:endParaRPr/>
          </a:p>
        </p:txBody>
      </p:sp>
      <p:graphicFrame>
        <p:nvGraphicFramePr>
          <p:cNvPr id="472" name="Google Shape;472;p34"/>
          <p:cNvGraphicFramePr/>
          <p:nvPr/>
        </p:nvGraphicFramePr>
        <p:xfrm>
          <a:off x="87442" y="1648918"/>
          <a:ext cx="3000000" cy="3000000"/>
        </p:xfrm>
        <a:graphic>
          <a:graphicData uri="http://schemas.openxmlformats.org/drawingml/2006/table">
            <a:tbl>
              <a:tblPr firstRow="1" bandRow="1">
                <a:noFill/>
                <a:tableStyleId>{7C427A64-D489-4A59-8F93-1E52C87C3D23}</a:tableStyleId>
              </a:tblPr>
              <a:tblGrid>
                <a:gridCol w="2880100">
                  <a:extLst>
                    <a:ext uri="{9D8B030D-6E8A-4147-A177-3AD203B41FA5}">
                      <a16:colId xmlns:a16="http://schemas.microsoft.com/office/drawing/2014/main" val="20000"/>
                    </a:ext>
                  </a:extLst>
                </a:gridCol>
                <a:gridCol w="2079350">
                  <a:extLst>
                    <a:ext uri="{9D8B030D-6E8A-4147-A177-3AD203B41FA5}">
                      <a16:colId xmlns:a16="http://schemas.microsoft.com/office/drawing/2014/main" val="20001"/>
                    </a:ext>
                  </a:extLst>
                </a:gridCol>
                <a:gridCol w="7053750">
                  <a:extLst>
                    <a:ext uri="{9D8B030D-6E8A-4147-A177-3AD203B41FA5}">
                      <a16:colId xmlns:a16="http://schemas.microsoft.com/office/drawing/2014/main" val="20002"/>
                    </a:ext>
                  </a:extLst>
                </a:gridCol>
              </a:tblGrid>
              <a:tr h="5133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Problem</a:t>
                      </a:r>
                      <a:endParaRPr sz="1800" b="0" u="none" strike="noStrike" cap="none">
                        <a:latin typeface="Arial"/>
                        <a:ea typeface="Arial"/>
                        <a:cs typeface="Arial"/>
                        <a:sym typeface="Arial"/>
                      </a:endParaRPr>
                    </a:p>
                  </a:txBody>
                  <a:tcPr marL="88000" marR="146650" marT="91675" marB="91675" anchor="ctr"/>
                </a:tc>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Felmeddelande</a:t>
                      </a:r>
                      <a:endParaRPr sz="1800" b="0" u="none" strike="noStrike" cap="none">
                        <a:latin typeface="Arial"/>
                        <a:ea typeface="Arial"/>
                        <a:cs typeface="Arial"/>
                        <a:sym typeface="Arial"/>
                      </a:endParaRPr>
                    </a:p>
                  </a:txBody>
                  <a:tcPr marL="146650" marR="146650" marT="91675" marB="91675" anchor="ctr"/>
                </a:tc>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Lösning</a:t>
                      </a:r>
                      <a:endParaRPr sz="1800" b="0" u="none" strike="noStrike" cap="none">
                        <a:latin typeface="Arial"/>
                        <a:ea typeface="Arial"/>
                        <a:cs typeface="Arial"/>
                        <a:sym typeface="Arial"/>
                      </a:endParaRPr>
                    </a:p>
                  </a:txBody>
                  <a:tcPr marL="146650" marR="146650" marT="91675" marB="91675" anchor="ctr"/>
                </a:tc>
                <a:extLst>
                  <a:ext uri="{0D108BD9-81ED-4DB2-BD59-A6C34878D82A}">
                    <a16:rowId xmlns:a16="http://schemas.microsoft.com/office/drawing/2014/main" val="10000"/>
                  </a:ext>
                </a:extLst>
              </a:tr>
              <a:tr h="105437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t>Hittar inte Python-tillägget</a:t>
                      </a:r>
                      <a:endParaRPr sz="2000" b="0" u="none" strike="noStrike" cap="none">
                        <a:latin typeface="Arial"/>
                        <a:ea typeface="Arial"/>
                        <a:cs typeface="Arial"/>
                        <a:sym typeface="Arial"/>
                      </a:endParaRPr>
                    </a:p>
                  </a:txBody>
                  <a:tcPr marL="88000" marR="146650" marT="91675" marB="91675"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a:t>
                      </a:r>
                      <a:endParaRPr sz="2000" b="0" u="none" strike="noStrike" cap="none">
                        <a:latin typeface="Arial"/>
                        <a:ea typeface="Arial"/>
                        <a:cs typeface="Arial"/>
                        <a:sym typeface="Arial"/>
                      </a:endParaRPr>
                    </a:p>
                  </a:txBody>
                  <a:tcPr marL="146650" marR="146650" marT="91675" marB="91675"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Kontrollera att du är på fliken "Extensions" (pusselbitsikonen) och inte på "Search" i utforskaren.</a:t>
                      </a:r>
                      <a:endParaRPr sz="2000" b="0" u="none" strike="noStrike" cap="none">
                        <a:latin typeface="Arial"/>
                        <a:ea typeface="Arial"/>
                        <a:cs typeface="Arial"/>
                        <a:sym typeface="Arial"/>
                      </a:endParaRPr>
                    </a:p>
                  </a:txBody>
                  <a:tcPr marL="146650" marR="88000" marT="91675" marB="91675" anchor="ctr"/>
                </a:tc>
                <a:extLst>
                  <a:ext uri="{0D108BD9-81ED-4DB2-BD59-A6C34878D82A}">
                    <a16:rowId xmlns:a16="http://schemas.microsoft.com/office/drawing/2014/main" val="10001"/>
                  </a:ext>
                </a:extLst>
              </a:tr>
              <a:tr h="79077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t>Installationen fastnar</a:t>
                      </a:r>
                      <a:endParaRPr sz="2000" b="0" u="none" strike="noStrike" cap="none">
                        <a:latin typeface="Arial"/>
                        <a:ea typeface="Arial"/>
                        <a:cs typeface="Arial"/>
                        <a:sym typeface="Arial"/>
                      </a:endParaRPr>
                    </a:p>
                  </a:txBody>
                  <a:tcPr marL="88000" marR="146650" marT="91675" marB="91675"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a:t>
                      </a:r>
                      <a:endParaRPr sz="2000" b="0" u="none" strike="noStrike" cap="none">
                        <a:latin typeface="Arial"/>
                        <a:ea typeface="Arial"/>
                        <a:cs typeface="Arial"/>
                        <a:sym typeface="Arial"/>
                      </a:endParaRPr>
                    </a:p>
                  </a:txBody>
                  <a:tcPr marL="146650" marR="146650" marT="91675" marB="91675"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Starta om VS Code och försök igen. Kontrollera internetanslutningen.</a:t>
                      </a:r>
                      <a:endParaRPr sz="2000" b="0" u="none" strike="noStrike" cap="none">
                        <a:latin typeface="Arial"/>
                        <a:ea typeface="Arial"/>
                        <a:cs typeface="Arial"/>
                        <a:sym typeface="Arial"/>
                      </a:endParaRPr>
                    </a:p>
                  </a:txBody>
                  <a:tcPr marL="146650" marR="88000" marT="91675" marB="91675" anchor="ctr"/>
                </a:tc>
                <a:extLst>
                  <a:ext uri="{0D108BD9-81ED-4DB2-BD59-A6C34878D82A}">
                    <a16:rowId xmlns:a16="http://schemas.microsoft.com/office/drawing/2014/main" val="10002"/>
                  </a:ext>
                </a:extLst>
              </a:tr>
              <a:tr h="97115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t>Ingen färg i koden</a:t>
                      </a:r>
                      <a:endParaRPr sz="2000" b="0" u="none" strike="noStrike" cap="none">
                        <a:latin typeface="Arial"/>
                        <a:ea typeface="Arial"/>
                        <a:cs typeface="Arial"/>
                        <a:sym typeface="Arial"/>
                      </a:endParaRPr>
                    </a:p>
                  </a:txBody>
                  <a:tcPr marL="88000" marR="146650" marT="91675" marB="91675"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a:t>
                      </a:r>
                      <a:endParaRPr sz="2000" b="0" u="none" strike="noStrike" cap="none">
                        <a:latin typeface="Arial"/>
                        <a:ea typeface="Arial"/>
                        <a:cs typeface="Arial"/>
                        <a:sym typeface="Arial"/>
                      </a:endParaRPr>
                    </a:p>
                  </a:txBody>
                  <a:tcPr marL="146650" marR="146650" marT="91675" marB="91675" anchor="ctr"/>
                </a:tc>
                <a:tc>
                  <a:txBody>
                    <a:bodyPr/>
                    <a:lstStyle/>
                    <a:p>
                      <a:pPr marL="0" marR="0" lvl="0" indent="0" algn="l" rtl="0">
                        <a:lnSpc>
                          <a:spcPct val="82500"/>
                        </a:lnSpc>
                        <a:spcBef>
                          <a:spcPts val="0"/>
                        </a:spcBef>
                        <a:spcAft>
                          <a:spcPts val="0"/>
                        </a:spcAft>
                        <a:buClr>
                          <a:schemeClr val="dk1"/>
                        </a:buClr>
                        <a:buSzPts val="2000"/>
                        <a:buFont typeface="Arial"/>
                        <a:buNone/>
                      </a:pPr>
                      <a:r>
                        <a:rPr lang="sv-SE" sz="2000" b="0" u="none" strike="noStrike" cap="none"/>
                        <a:t>Kontrollera att filen sparats med ändelsen .py. Testa att starta om VS Code.</a:t>
                      </a:r>
                      <a:endParaRPr sz="2000" b="0" u="none" strike="noStrike" cap="none">
                        <a:latin typeface="Arial"/>
                        <a:ea typeface="Arial"/>
                        <a:cs typeface="Arial"/>
                        <a:sym typeface="Arial"/>
                      </a:endParaRPr>
                    </a:p>
                  </a:txBody>
                  <a:tcPr marL="146650" marR="88000" marT="91675" marB="91675" anchor="ctr"/>
                </a:tc>
                <a:extLst>
                  <a:ext uri="{0D108BD9-81ED-4DB2-BD59-A6C34878D82A}">
                    <a16:rowId xmlns:a16="http://schemas.microsoft.com/office/drawing/2014/main" val="10003"/>
                  </a:ext>
                </a:extLst>
              </a:tr>
              <a:tr h="7353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t>"Play"-knappen syns inte</a:t>
                      </a:r>
                      <a:endParaRPr sz="2000" b="0" u="none" strike="noStrike" cap="none">
                        <a:latin typeface="Arial"/>
                        <a:ea typeface="Arial"/>
                        <a:cs typeface="Arial"/>
                        <a:sym typeface="Arial"/>
                      </a:endParaRPr>
                    </a:p>
                  </a:txBody>
                  <a:tcPr marL="88000" marR="146650" marT="91675" marB="91675"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a:t>
                      </a:r>
                      <a:endParaRPr sz="2000" b="0" u="none" strike="noStrike" cap="none">
                        <a:latin typeface="Arial"/>
                        <a:ea typeface="Arial"/>
                        <a:cs typeface="Arial"/>
                        <a:sym typeface="Arial"/>
                      </a:endParaRPr>
                    </a:p>
                  </a:txBody>
                  <a:tcPr marL="146650" marR="146650" marT="91675" marB="91675" anchor="ctr"/>
                </a:tc>
                <a:tc>
                  <a:txBody>
                    <a:bodyPr/>
                    <a:lstStyle/>
                    <a:p>
                      <a:pPr marL="0" marR="0" lvl="0" indent="0" algn="l" rtl="0">
                        <a:lnSpc>
                          <a:spcPct val="82500"/>
                        </a:lnSpc>
                        <a:spcBef>
                          <a:spcPts val="0"/>
                        </a:spcBef>
                        <a:spcAft>
                          <a:spcPts val="0"/>
                        </a:spcAft>
                        <a:buClr>
                          <a:schemeClr val="dk1"/>
                        </a:buClr>
                        <a:buSzPts val="2000"/>
                        <a:buFont typeface="Arial"/>
                        <a:buNone/>
                      </a:pPr>
                      <a:r>
                        <a:rPr lang="sv-SE" sz="2000" b="0" u="none" strike="noStrike" cap="none"/>
                        <a:t>Öppna en Python-fil (.py). Knappen visas bara då.</a:t>
                      </a:r>
                      <a:endParaRPr sz="2000" b="0" u="none" strike="noStrike" cap="none">
                        <a:latin typeface="Arial"/>
                        <a:ea typeface="Arial"/>
                        <a:cs typeface="Arial"/>
                        <a:sym typeface="Arial"/>
                      </a:endParaRPr>
                    </a:p>
                  </a:txBody>
                  <a:tcPr marL="146650" marR="88000" marT="91675" marB="91675" anchor="ctr"/>
                </a:tc>
                <a:extLst>
                  <a:ext uri="{0D108BD9-81ED-4DB2-BD59-A6C34878D82A}">
                    <a16:rowId xmlns:a16="http://schemas.microsoft.com/office/drawing/2014/main" val="10004"/>
                  </a:ext>
                </a:extLst>
              </a:tr>
              <a:tr h="105437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t>Får fel när jag kör</a:t>
                      </a:r>
                      <a:endParaRPr sz="2000" b="0" u="none" strike="noStrike" cap="none">
                        <a:latin typeface="Arial"/>
                        <a:ea typeface="Arial"/>
                        <a:cs typeface="Arial"/>
                        <a:sym typeface="Arial"/>
                      </a:endParaRPr>
                    </a:p>
                  </a:txBody>
                  <a:tcPr marL="88000" marR="146650" marT="91675" marB="91675"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"python is not recognized"</a:t>
                      </a:r>
                      <a:endParaRPr sz="2000" b="0" u="none" strike="noStrike" cap="none">
                        <a:latin typeface="Arial"/>
                        <a:ea typeface="Arial"/>
                        <a:cs typeface="Arial"/>
                        <a:sym typeface="Arial"/>
                      </a:endParaRPr>
                    </a:p>
                  </a:txBody>
                  <a:tcPr marL="146650" marR="146650" marT="91675" marB="91675"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Python är inte installerat eller inte i PATH. Gå tillbaka till Steg 4 och kontrollera Python-installationen.</a:t>
                      </a:r>
                      <a:endParaRPr sz="2000" b="0" u="none" strike="noStrike" cap="none">
                        <a:latin typeface="Arial"/>
                        <a:ea typeface="Arial"/>
                        <a:cs typeface="Arial"/>
                        <a:sym typeface="Arial"/>
                      </a:endParaRPr>
                    </a:p>
                  </a:txBody>
                  <a:tcPr marL="146650" marR="88000" marT="91675" marB="9167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6"/>
        <p:cNvGrpSpPr/>
        <p:nvPr/>
      </p:nvGrpSpPr>
      <p:grpSpPr>
        <a:xfrm>
          <a:off x="0" y="0"/>
          <a:ext cx="0" cy="0"/>
          <a:chOff x="0" y="0"/>
          <a:chExt cx="0" cy="0"/>
        </a:xfrm>
      </p:grpSpPr>
      <p:sp>
        <p:nvSpPr>
          <p:cNvPr id="477" name="Google Shape;477;p35"/>
          <p:cNvSpPr/>
          <p:nvPr/>
        </p:nvSpPr>
        <p:spPr>
          <a:xfrm>
            <a:off x="0" y="0"/>
            <a:ext cx="1218894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78" name="Google Shape;478;p35"/>
          <p:cNvSpPr/>
          <p:nvPr/>
        </p:nvSpPr>
        <p:spPr>
          <a:xfrm>
            <a:off x="0" y="0"/>
            <a:ext cx="12188949"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479" name="Google Shape;479;p35"/>
          <p:cNvGrpSpPr/>
          <p:nvPr/>
        </p:nvGrpSpPr>
        <p:grpSpPr>
          <a:xfrm>
            <a:off x="0" y="0"/>
            <a:ext cx="6064235" cy="6858000"/>
            <a:chOff x="651279" y="598259"/>
            <a:chExt cx="10889442" cy="5680742"/>
          </a:xfrm>
        </p:grpSpPr>
        <p:sp>
          <p:nvSpPr>
            <p:cNvPr id="480" name="Google Shape;480;p35"/>
            <p:cNvSpPr/>
            <p:nvPr/>
          </p:nvSpPr>
          <p:spPr>
            <a:xfrm>
              <a:off x="651279" y="598259"/>
              <a:ext cx="10889442" cy="56807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1" name="Google Shape;481;p35"/>
            <p:cNvSpPr/>
            <p:nvPr/>
          </p:nvSpPr>
          <p:spPr>
            <a:xfrm>
              <a:off x="651279" y="598259"/>
              <a:ext cx="10889442" cy="5680742"/>
            </a:xfrm>
            <a:prstGeom prst="rect">
              <a:avLst/>
            </a:prstGeom>
            <a:solidFill>
              <a:schemeClr val="accent6">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482" name="Google Shape;482;p35"/>
          <p:cNvGrpSpPr/>
          <p:nvPr/>
        </p:nvGrpSpPr>
        <p:grpSpPr>
          <a:xfrm>
            <a:off x="1524" y="0"/>
            <a:ext cx="12188952" cy="6858000"/>
            <a:chOff x="0" y="0"/>
            <a:chExt cx="12188952" cy="6858000"/>
          </a:xfrm>
        </p:grpSpPr>
        <p:sp>
          <p:nvSpPr>
            <p:cNvPr id="483" name="Google Shape;483;p35"/>
            <p:cNvSpPr/>
            <p:nvPr/>
          </p:nvSpPr>
          <p:spPr>
            <a:xfrm>
              <a:off x="26122" y="6015669"/>
              <a:ext cx="2605762" cy="842331"/>
            </a:xfrm>
            <a:custGeom>
              <a:avLst/>
              <a:gdLst/>
              <a:ahLst/>
              <a:cxnLst/>
              <a:rect l="l" t="t" r="r" b="b"/>
              <a:pathLst>
                <a:path w="3180577" h="1033951" extrusionOk="0">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lt1">
                <a:alpha val="1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4" name="Google Shape;484;p35"/>
            <p:cNvSpPr/>
            <p:nvPr/>
          </p:nvSpPr>
          <p:spPr>
            <a:xfrm>
              <a:off x="655184" y="5798001"/>
              <a:ext cx="2485581" cy="1059999"/>
            </a:xfrm>
            <a:custGeom>
              <a:avLst/>
              <a:gdLst/>
              <a:ahLst/>
              <a:cxnLst/>
              <a:rect l="l" t="t" r="r" b="b"/>
              <a:pathLst>
                <a:path w="2449768" h="1050628" extrusionOk="0">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l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5" name="Google Shape;485;p35"/>
            <p:cNvSpPr/>
            <p:nvPr/>
          </p:nvSpPr>
          <p:spPr>
            <a:xfrm>
              <a:off x="3474720" y="0"/>
              <a:ext cx="6177282" cy="1778750"/>
            </a:xfrm>
            <a:custGeom>
              <a:avLst/>
              <a:gdLst/>
              <a:ahLst/>
              <a:cxnLst/>
              <a:rect l="l" t="t" r="r" b="b"/>
              <a:pathLst>
                <a:path w="6386648" h="1849426" extrusionOk="0">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lt1">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6" name="Google Shape;486;p35"/>
            <p:cNvSpPr/>
            <p:nvPr/>
          </p:nvSpPr>
          <p:spPr>
            <a:xfrm>
              <a:off x="0" y="2390523"/>
              <a:ext cx="611491" cy="1421482"/>
            </a:xfrm>
            <a:custGeom>
              <a:avLst/>
              <a:gdLst/>
              <a:ahLst/>
              <a:cxnLst/>
              <a:rect l="l" t="t" r="r" b="b"/>
              <a:pathLst>
                <a:path w="611491" h="1429512" extrusionOk="0">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7" name="Google Shape;487;p35"/>
            <p:cNvSpPr/>
            <p:nvPr/>
          </p:nvSpPr>
          <p:spPr>
            <a:xfrm>
              <a:off x="3792772" y="0"/>
              <a:ext cx="2423863" cy="1343767"/>
            </a:xfrm>
            <a:custGeom>
              <a:avLst/>
              <a:gdLst/>
              <a:ahLst/>
              <a:cxnLst/>
              <a:rect l="l" t="t" r="r" b="b"/>
              <a:pathLst>
                <a:path w="3015964" h="1681468" extrusionOk="0">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lt1">
                <a:alpha val="1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8" name="Google Shape;488;p35"/>
            <p:cNvSpPr/>
            <p:nvPr/>
          </p:nvSpPr>
          <p:spPr>
            <a:xfrm>
              <a:off x="10946850" y="0"/>
              <a:ext cx="1242102" cy="2620884"/>
            </a:xfrm>
            <a:custGeom>
              <a:avLst/>
              <a:gdLst/>
              <a:ahLst/>
              <a:cxnLst/>
              <a:rect l="l" t="t" r="r" b="b"/>
              <a:pathLst>
                <a:path w="1242102" h="2635689" extrusionOk="0">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lt1">
                <a:alpha val="1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9" name="Google Shape;489;p35"/>
            <p:cNvSpPr/>
            <p:nvPr/>
          </p:nvSpPr>
          <p:spPr>
            <a:xfrm>
              <a:off x="0" y="0"/>
              <a:ext cx="1577788" cy="980141"/>
            </a:xfrm>
            <a:custGeom>
              <a:avLst/>
              <a:gdLst/>
              <a:ahLst/>
              <a:cxnLst/>
              <a:rect l="l" t="t" r="r" b="b"/>
              <a:pathLst>
                <a:path w="1471018" h="795676" extrusionOk="0">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490" name="Google Shape;490;p35"/>
          <p:cNvSpPr txBox="1">
            <a:spLocks noGrp="1"/>
          </p:cNvSpPr>
          <p:nvPr>
            <p:ph type="title"/>
          </p:nvPr>
        </p:nvSpPr>
        <p:spPr>
          <a:xfrm>
            <a:off x="786385" y="841248"/>
            <a:ext cx="5129600" cy="534009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800"/>
              <a:buFont typeface="Play"/>
              <a:buNone/>
            </a:pPr>
            <a:r>
              <a:rPr lang="sv-SE" sz="4800">
                <a:solidFill>
                  <a:schemeClr val="lt1"/>
                </a:solidFill>
              </a:rPr>
              <a:t>Steg 7: Skapa databasen NetworkSecurityML</a:t>
            </a:r>
            <a:endParaRPr sz="4800">
              <a:solidFill>
                <a:schemeClr val="lt1"/>
              </a:solidFill>
            </a:endParaRPr>
          </a:p>
        </p:txBody>
      </p:sp>
      <p:sp>
        <p:nvSpPr>
          <p:cNvPr id="491" name="Google Shape;491;p35"/>
          <p:cNvSpPr txBox="1">
            <a:spLocks noGrp="1"/>
          </p:cNvSpPr>
          <p:nvPr>
            <p:ph type="body" idx="1"/>
          </p:nvPr>
        </p:nvSpPr>
        <p:spPr>
          <a:xfrm>
            <a:off x="6464410" y="841247"/>
            <a:ext cx="4959224" cy="5764818"/>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2"/>
              </a:buClr>
              <a:buSzPts val="2800"/>
              <a:buChar char="•"/>
            </a:pPr>
            <a:r>
              <a:rPr lang="sv-SE">
                <a:solidFill>
                  <a:schemeClr val="dk2"/>
                </a:solidFill>
              </a:rPr>
              <a:t>För att skapa en tom databas som heter NetworkSecurityML. Denna databas kommer att fungera som hem för alla våra tabeller. Utan en databas har vi ingenstans att placera våra tabeller .</a:t>
            </a:r>
            <a:endParaRPr>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5"/>
        <p:cNvGrpSpPr/>
        <p:nvPr/>
      </p:nvGrpSpPr>
      <p:grpSpPr>
        <a:xfrm>
          <a:off x="0" y="0"/>
          <a:ext cx="0" cy="0"/>
          <a:chOff x="0" y="0"/>
          <a:chExt cx="0" cy="0"/>
        </a:xfrm>
      </p:grpSpPr>
      <p:graphicFrame>
        <p:nvGraphicFramePr>
          <p:cNvPr id="496" name="Google Shape;496;p36"/>
          <p:cNvGraphicFramePr/>
          <p:nvPr/>
        </p:nvGraphicFramePr>
        <p:xfrm>
          <a:off x="12491" y="0"/>
          <a:ext cx="3000000" cy="3000000"/>
        </p:xfrm>
        <a:graphic>
          <a:graphicData uri="http://schemas.openxmlformats.org/drawingml/2006/table">
            <a:tbl>
              <a:tblPr firstRow="1" bandRow="1">
                <a:noFill/>
                <a:tableStyleId>{822C3B93-EF79-491A-80E4-DA79D8C4CF44}</a:tableStyleId>
              </a:tblPr>
              <a:tblGrid>
                <a:gridCol w="501150">
                  <a:extLst>
                    <a:ext uri="{9D8B030D-6E8A-4147-A177-3AD203B41FA5}">
                      <a16:colId xmlns:a16="http://schemas.microsoft.com/office/drawing/2014/main" val="20000"/>
                    </a:ext>
                  </a:extLst>
                </a:gridCol>
                <a:gridCol w="2105900">
                  <a:extLst>
                    <a:ext uri="{9D8B030D-6E8A-4147-A177-3AD203B41FA5}">
                      <a16:colId xmlns:a16="http://schemas.microsoft.com/office/drawing/2014/main" val="20001"/>
                    </a:ext>
                  </a:extLst>
                </a:gridCol>
                <a:gridCol w="9577100">
                  <a:extLst>
                    <a:ext uri="{9D8B030D-6E8A-4147-A177-3AD203B41FA5}">
                      <a16:colId xmlns:a16="http://schemas.microsoft.com/office/drawing/2014/main" val="20002"/>
                    </a:ext>
                  </a:extLst>
                </a:gridCol>
              </a:tblGrid>
              <a:tr h="491350">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Steg</a:t>
                      </a:r>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ska du göra?</a:t>
                      </a:r>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Instruktioner (anpassat för nybörjare)</a:t>
                      </a:r>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714100">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1</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Öppna SSMS och anslut</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Öppna </a:t>
                      </a:r>
                      <a:r>
                        <a:rPr lang="sv-SE" sz="1800" b="1" u="none" strike="noStrike" cap="none">
                          <a:solidFill>
                            <a:schemeClr val="dk1"/>
                          </a:solidFill>
                          <a:latin typeface="Arial"/>
                          <a:ea typeface="Arial"/>
                          <a:cs typeface="Arial"/>
                          <a:sym typeface="Arial"/>
                        </a:rPr>
                        <a:t>SQL Server Management Studio</a:t>
                      </a:r>
                      <a:r>
                        <a:rPr lang="sv-SE" sz="1800" b="0" u="none" strike="noStrike" cap="none">
                          <a:solidFill>
                            <a:schemeClr val="dk1"/>
                          </a:solidFill>
                          <a:latin typeface="Arial"/>
                          <a:ea typeface="Arial"/>
                          <a:cs typeface="Arial"/>
                          <a:sym typeface="Arial"/>
                        </a:rPr>
                        <a:t>. Anslut till din server precis som du gjorde i Steg 3 (med servernamn som localhost eller DESKTOP-ABC123).</a:t>
                      </a:r>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14100">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2</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Hitta mappen "Databaser"</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I "Objektutforskaren" (Object Explorer) till vänster ser du din server. Under den finns en mapp som heter </a:t>
                      </a:r>
                      <a:r>
                        <a:rPr lang="sv-SE" sz="1800" b="1" u="none" strike="noStrike" cap="none">
                          <a:solidFill>
                            <a:schemeClr val="dk1"/>
                          </a:solidFill>
                          <a:latin typeface="Arial"/>
                          <a:ea typeface="Arial"/>
                          <a:cs typeface="Arial"/>
                          <a:sym typeface="Arial"/>
                        </a:rPr>
                        <a:t>"Databaser"</a:t>
                      </a:r>
                      <a:r>
                        <a:rPr lang="sv-SE" sz="1800" b="0" u="none" strike="noStrike" cap="none">
                          <a:solidFill>
                            <a:schemeClr val="dk1"/>
                          </a:solidFill>
                          <a:latin typeface="Arial"/>
                          <a:ea typeface="Arial"/>
                          <a:cs typeface="Arial"/>
                          <a:sym typeface="Arial"/>
                        </a:rPr>
                        <a:t> (Databases). Klicka på plustecknet (+) för att expandera den .</a:t>
                      </a:r>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491350">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3</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Högerklicka för att skapa ny databas</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Högerklicka på mappen </a:t>
                      </a:r>
                      <a:r>
                        <a:rPr lang="sv-SE" sz="1800" b="1" u="none" strike="noStrike" cap="none">
                          <a:solidFill>
                            <a:schemeClr val="dk1"/>
                          </a:solidFill>
                          <a:latin typeface="Arial"/>
                          <a:ea typeface="Arial"/>
                          <a:cs typeface="Arial"/>
                          <a:sym typeface="Arial"/>
                        </a:rPr>
                        <a:t>"Databaser"</a:t>
                      </a:r>
                      <a:r>
                        <a:rPr lang="sv-SE" sz="1800" b="0" u="none" strike="noStrike" cap="none">
                          <a:solidFill>
                            <a:schemeClr val="dk1"/>
                          </a:solidFill>
                          <a:latin typeface="Arial"/>
                          <a:ea typeface="Arial"/>
                          <a:cs typeface="Arial"/>
                          <a:sym typeface="Arial"/>
                        </a:rPr>
                        <a:t>. I menyn som dyker upp, välj </a:t>
                      </a:r>
                      <a:r>
                        <a:rPr lang="sv-SE" sz="1800" b="1" u="none" strike="noStrike" cap="none">
                          <a:solidFill>
                            <a:schemeClr val="dk1"/>
                          </a:solidFill>
                          <a:latin typeface="Arial"/>
                          <a:ea typeface="Arial"/>
                          <a:cs typeface="Arial"/>
                          <a:sym typeface="Arial"/>
                        </a:rPr>
                        <a:t>"Ny databas..."</a:t>
                      </a:r>
                      <a:r>
                        <a:rPr lang="sv-SE" sz="1800" b="0" u="none" strike="noStrike" cap="none">
                          <a:solidFill>
                            <a:schemeClr val="dk1"/>
                          </a:solidFill>
                          <a:latin typeface="Arial"/>
                          <a:ea typeface="Arial"/>
                          <a:cs typeface="Arial"/>
                          <a:sym typeface="Arial"/>
                        </a:rPr>
                        <a:t> (New Database...).</a:t>
                      </a:r>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356150">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4</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Namnge databasen</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Ett fönster som heter "Ny databas" öppnas. Längst upp finns en ruta märkt </a:t>
                      </a:r>
                      <a:r>
                        <a:rPr lang="sv-SE" sz="1800" b="1" u="none" strike="noStrike" cap="none">
                          <a:solidFill>
                            <a:schemeClr val="dk1"/>
                          </a:solidFill>
                          <a:latin typeface="Arial"/>
                          <a:ea typeface="Arial"/>
                          <a:cs typeface="Arial"/>
                          <a:sym typeface="Arial"/>
                        </a:rPr>
                        <a:t>"Databasnamn:"</a:t>
                      </a:r>
                      <a:r>
                        <a:rPr lang="sv-SE" sz="1800" b="0" u="none" strike="noStrike" cap="none">
                          <a:solidFill>
                            <a:schemeClr val="dk1"/>
                          </a:solidFill>
                          <a:latin typeface="Arial"/>
                          <a:ea typeface="Arial"/>
                          <a:cs typeface="Arial"/>
                          <a:sym typeface="Arial"/>
                        </a:rPr>
                        <a:t> (Database name:). Skriv in:</a:t>
                      </a:r>
                      <a:br>
                        <a:rPr lang="sv-SE" sz="1800" b="0" u="none" strike="noStrike" cap="none">
                          <a:solidFill>
                            <a:srgbClr val="000000"/>
                          </a:solidFill>
                          <a:latin typeface="Arial"/>
                          <a:ea typeface="Arial"/>
                          <a:cs typeface="Arial"/>
                          <a:sym typeface="Arial"/>
                        </a:rPr>
                      </a:br>
                      <a:br>
                        <a:rPr lang="sv-SE" sz="1800" b="0" u="none" strike="noStrike" cap="none">
                          <a:solidFill>
                            <a:srgbClr val="000000"/>
                          </a:solidFill>
                          <a:latin typeface="Arial"/>
                          <a:ea typeface="Arial"/>
                          <a:cs typeface="Arial"/>
                          <a:sym typeface="Arial"/>
                        </a:rPr>
                      </a:br>
                      <a:r>
                        <a:rPr lang="sv-SE" sz="1800" b="0" u="none" strike="noStrike" cap="none">
                          <a:solidFill>
                            <a:schemeClr val="dk1"/>
                          </a:solidFill>
                          <a:latin typeface="Arial"/>
                          <a:ea typeface="Arial"/>
                          <a:cs typeface="Arial"/>
                          <a:sym typeface="Arial"/>
                        </a:rPr>
                        <a:t>NetworkSecurityML</a:t>
                      </a:r>
                      <a:br>
                        <a:rPr lang="sv-SE" sz="1800" b="0" u="none" strike="noStrike" cap="none">
                          <a:solidFill>
                            <a:srgbClr val="000000"/>
                          </a:solidFill>
                          <a:latin typeface="Arial"/>
                          <a:ea typeface="Arial"/>
                          <a:cs typeface="Arial"/>
                          <a:sym typeface="Arial"/>
                        </a:rPr>
                      </a:br>
                      <a:br>
                        <a:rPr lang="sv-SE" sz="1800" b="0" u="none" strike="noStrike" cap="none">
                          <a:solidFill>
                            <a:srgbClr val="000000"/>
                          </a:solidFill>
                          <a:latin typeface="Arial"/>
                          <a:ea typeface="Arial"/>
                          <a:cs typeface="Arial"/>
                          <a:sym typeface="Arial"/>
                        </a:rPr>
                      </a:br>
                      <a:r>
                        <a:rPr lang="sv-SE" sz="1800" b="0" u="none" strike="noStrike" cap="none">
                          <a:solidFill>
                            <a:schemeClr val="dk1"/>
                          </a:solidFill>
                          <a:latin typeface="Arial"/>
                          <a:ea typeface="Arial"/>
                          <a:cs typeface="Arial"/>
                          <a:sym typeface="Arial"/>
                        </a:rPr>
                        <a:t>Var noga med att skriva exakt så, utan mellanslag och med korrekt stor bokstav .</a:t>
                      </a:r>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714100">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5</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Låt alla andra inställningar vara</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Du ser massa flikar och alternativ (Allmänt, Filer, Filgrupper, Alternativ...). </a:t>
                      </a:r>
                      <a:r>
                        <a:rPr lang="sv-SE" sz="1800" b="1" u="none" strike="noStrike" cap="none">
                          <a:solidFill>
                            <a:schemeClr val="dk1"/>
                          </a:solidFill>
                          <a:latin typeface="Arial"/>
                          <a:ea typeface="Arial"/>
                          <a:cs typeface="Arial"/>
                          <a:sym typeface="Arial"/>
                        </a:rPr>
                        <a:t>Låt alla vara som de är.</a:t>
                      </a:r>
                      <a:r>
                        <a:rPr lang="sv-SE" sz="1800" b="0" u="none" strike="noStrike" cap="none">
                          <a:solidFill>
                            <a:schemeClr val="dk1"/>
                          </a:solidFill>
                          <a:latin typeface="Arial"/>
                          <a:ea typeface="Arial"/>
                          <a:cs typeface="Arial"/>
                          <a:sym typeface="Arial"/>
                        </a:rPr>
                        <a:t> Som nybörjare behöver du inte bry dig om dessa nu. Standardinställningarna är perfekta för oss .</a:t>
                      </a:r>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91350">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6</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Klicka på OK</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Klicka på </a:t>
                      </a:r>
                      <a:r>
                        <a:rPr lang="sv-SE" sz="1800" b="1" u="none" strike="noStrike" cap="none">
                          <a:solidFill>
                            <a:schemeClr val="dk1"/>
                          </a:solidFill>
                          <a:latin typeface="Arial"/>
                          <a:ea typeface="Arial"/>
                          <a:cs typeface="Arial"/>
                          <a:sym typeface="Arial"/>
                        </a:rPr>
                        <a:t>OK</a:t>
                      </a:r>
                      <a:r>
                        <a:rPr lang="sv-SE" sz="1800" b="0" u="none" strike="noStrike" cap="none">
                          <a:solidFill>
                            <a:schemeClr val="dk1"/>
                          </a:solidFill>
                          <a:latin typeface="Arial"/>
                          <a:ea typeface="Arial"/>
                          <a:cs typeface="Arial"/>
                          <a:sym typeface="Arial"/>
                        </a:rPr>
                        <a:t>-knappen längst ner i fönstret.</a:t>
                      </a:r>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r h="714100">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7</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Kontrollera att databasen skapades</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I Objektutforskaren, högerklicka på mappen </a:t>
                      </a:r>
                      <a:r>
                        <a:rPr lang="sv-SE" sz="1800" b="1" u="none" strike="noStrike" cap="none">
                          <a:solidFill>
                            <a:schemeClr val="dk1"/>
                          </a:solidFill>
                          <a:latin typeface="Arial"/>
                          <a:ea typeface="Arial"/>
                          <a:cs typeface="Arial"/>
                          <a:sym typeface="Arial"/>
                        </a:rPr>
                        <a:t>"Databaser"</a:t>
                      </a:r>
                      <a:r>
                        <a:rPr lang="sv-SE" sz="1800" b="0" u="none" strike="noStrike" cap="none">
                          <a:solidFill>
                            <a:schemeClr val="dk1"/>
                          </a:solidFill>
                          <a:latin typeface="Arial"/>
                          <a:ea typeface="Arial"/>
                          <a:cs typeface="Arial"/>
                          <a:sym typeface="Arial"/>
                        </a:rPr>
                        <a:t> och välj </a:t>
                      </a:r>
                      <a:r>
                        <a:rPr lang="sv-SE" sz="1800" b="1" u="none" strike="noStrike" cap="none">
                          <a:solidFill>
                            <a:schemeClr val="dk1"/>
                          </a:solidFill>
                          <a:latin typeface="Arial"/>
                          <a:ea typeface="Arial"/>
                          <a:cs typeface="Arial"/>
                          <a:sym typeface="Arial"/>
                        </a:rPr>
                        <a:t>"Uppdatera"</a:t>
                      </a:r>
                      <a:r>
                        <a:rPr lang="sv-SE" sz="1800" b="0" u="none" strike="noStrike" cap="none">
                          <a:solidFill>
                            <a:schemeClr val="dk1"/>
                          </a:solidFill>
                          <a:latin typeface="Arial"/>
                          <a:ea typeface="Arial"/>
                          <a:cs typeface="Arial"/>
                          <a:sym typeface="Arial"/>
                        </a:rPr>
                        <a:t> (Refresh). Du bör nu se NetworkSecurityML i listan över databaser .</a:t>
                      </a:r>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14100">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8</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Expandera din nya databas</a:t>
                      </a:r>
                      <a:endParaRPr sz="1800" b="0" u="none" strike="noStrike" cap="none">
                        <a:solidFill>
                          <a:schemeClr val="dk1"/>
                        </a:solidFill>
                        <a:latin typeface="Arial"/>
                        <a:ea typeface="Arial"/>
                        <a:cs typeface="Arial"/>
                        <a:sym typeface="Arial"/>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Klicka på plustecknet (+) bredvid NetworkSecurityML. Du ser nu flera mappar: Diagram, Tabeller, Vyer, etc. Alla är tomma just nu – redo att fyllas!</a:t>
                      </a:r>
                      <a:endParaRPr/>
                    </a:p>
                  </a:txBody>
                  <a:tcPr marL="0" marR="552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0"/>
        <p:cNvGrpSpPr/>
        <p:nvPr/>
      </p:nvGrpSpPr>
      <p:grpSpPr>
        <a:xfrm>
          <a:off x="0" y="0"/>
          <a:ext cx="0" cy="0"/>
          <a:chOff x="0" y="0"/>
          <a:chExt cx="0" cy="0"/>
        </a:xfrm>
      </p:grpSpPr>
      <p:sp>
        <p:nvSpPr>
          <p:cNvPr id="501" name="Google Shape;501;p3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2" name="Google Shape;502;p37"/>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3" name="Google Shape;503;p37"/>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4" name="Google Shape;504;p37"/>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5" name="Google Shape;505;p37"/>
          <p:cNvSpPr/>
          <p:nvPr/>
        </p:nvSpPr>
        <p:spPr>
          <a:xfrm rot="5400000" flipH="1">
            <a:off x="767923" y="3588085"/>
            <a:ext cx="2501979" cy="403784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6" name="Google Shape;506;p37"/>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7" name="Google Shape;507;p37"/>
          <p:cNvSpPr/>
          <p:nvPr/>
        </p:nvSpPr>
        <p:spPr>
          <a:xfrm rot="5400000" flipH="1">
            <a:off x="-1410093" y="1399943"/>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8" name="Google Shape;508;p37"/>
          <p:cNvSpPr txBox="1">
            <a:spLocks noGrp="1"/>
          </p:cNvSpPr>
          <p:nvPr>
            <p:ph type="title"/>
          </p:nvPr>
        </p:nvSpPr>
        <p:spPr>
          <a:xfrm>
            <a:off x="466722" y="586855"/>
            <a:ext cx="3201366" cy="338749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4000"/>
              <a:buFont typeface="Play"/>
              <a:buNone/>
            </a:pPr>
            <a:r>
              <a:rPr lang="sv-SE" sz="4000">
                <a:solidFill>
                  <a:srgbClr val="FFFFFF"/>
                </a:solidFill>
              </a:rPr>
              <a:t>Skapa ny databas</a:t>
            </a:r>
            <a:endParaRPr sz="4000">
              <a:solidFill>
                <a:srgbClr val="FFFFFF"/>
              </a:solidFill>
            </a:endParaRPr>
          </a:p>
        </p:txBody>
      </p:sp>
      <p:sp>
        <p:nvSpPr>
          <p:cNvPr id="509" name="Google Shape;509;p37"/>
          <p:cNvSpPr txBox="1">
            <a:spLocks noGrp="1"/>
          </p:cNvSpPr>
          <p:nvPr>
            <p:ph type="body" idx="1"/>
          </p:nvPr>
        </p:nvSpPr>
        <p:spPr>
          <a:xfrm>
            <a:off x="4810259" y="649480"/>
            <a:ext cx="6555347" cy="5546047"/>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1700"/>
              <a:buChar char="•"/>
            </a:pPr>
            <a:r>
              <a:rPr lang="sv-SE" sz="1700">
                <a:latin typeface="Consolas"/>
                <a:ea typeface="Consolas"/>
                <a:cs typeface="Consolas"/>
                <a:sym typeface="Consolas"/>
              </a:rPr>
              <a:t>┌─────────────────────────────────────────────────┐</a:t>
            </a:r>
            <a:br>
              <a:rPr lang="sv-SE" sz="1700">
                <a:latin typeface="Consolas"/>
                <a:ea typeface="Consolas"/>
                <a:cs typeface="Consolas"/>
                <a:sym typeface="Consolas"/>
              </a:rPr>
            </a:br>
            <a:r>
              <a:rPr lang="sv-SE" sz="1700">
                <a:latin typeface="Consolas"/>
                <a:ea typeface="Consolas"/>
                <a:cs typeface="Consolas"/>
                <a:sym typeface="Consolas"/>
              </a:rPr>
              <a:t>│ Objektutforskaren                                 │</a:t>
            </a:r>
            <a:br>
              <a:rPr lang="sv-SE" sz="1700">
                <a:latin typeface="Consolas"/>
                <a:ea typeface="Consolas"/>
                <a:cs typeface="Consolas"/>
                <a:sym typeface="Consolas"/>
              </a:rPr>
            </a:br>
            <a:r>
              <a:rPr lang="sv-SE" sz="1700">
                <a:latin typeface="Consolas"/>
                <a:ea typeface="Consolas"/>
                <a:cs typeface="Consolas"/>
                <a:sym typeface="Consolas"/>
              </a:rPr>
              <a:t>├─────────────────────────────────────────────────┤</a:t>
            </a:r>
            <a:br>
              <a:rPr lang="sv-SE" sz="1700">
                <a:latin typeface="Consolas"/>
                <a:ea typeface="Consolas"/>
                <a:cs typeface="Consolas"/>
                <a:sym typeface="Consolas"/>
              </a:rPr>
            </a:br>
            <a:r>
              <a:rPr lang="sv-SE" sz="1700">
                <a:latin typeface="Consolas"/>
                <a:ea typeface="Consolas"/>
                <a:cs typeface="Consolas"/>
                <a:sym typeface="Consolas"/>
              </a:rPr>
              <a:t>│ [Servernamn] (SQL Server ...)                    │</a:t>
            </a:r>
            <a:br>
              <a:rPr lang="sv-SE" sz="1700">
                <a:latin typeface="Consolas"/>
                <a:ea typeface="Consolas"/>
                <a:cs typeface="Consolas"/>
                <a:sym typeface="Consolas"/>
              </a:rPr>
            </a:br>
            <a:r>
              <a:rPr lang="sv-SE" sz="1700">
                <a:latin typeface="Consolas"/>
                <a:ea typeface="Consolas"/>
                <a:cs typeface="Consolas"/>
                <a:sym typeface="Consolas"/>
              </a:rPr>
              <a:t>│ ├── Databaser                                     │</a:t>
            </a:r>
            <a:br>
              <a:rPr lang="sv-SE" sz="1700">
                <a:latin typeface="Consolas"/>
                <a:ea typeface="Consolas"/>
                <a:cs typeface="Consolas"/>
                <a:sym typeface="Consolas"/>
              </a:rPr>
            </a:br>
            <a:r>
              <a:rPr lang="sv-SE" sz="1700">
                <a:latin typeface="Consolas"/>
                <a:ea typeface="Consolas"/>
                <a:cs typeface="Consolas"/>
                <a:sym typeface="Consolas"/>
              </a:rPr>
              <a:t>│ │   ├── Systemdatabaser                          │</a:t>
            </a:r>
            <a:br>
              <a:rPr lang="sv-SE" sz="1700">
                <a:latin typeface="Consolas"/>
                <a:ea typeface="Consolas"/>
                <a:cs typeface="Consolas"/>
                <a:sym typeface="Consolas"/>
              </a:rPr>
            </a:br>
            <a:r>
              <a:rPr lang="sv-SE" sz="1700">
                <a:latin typeface="Consolas"/>
                <a:ea typeface="Consolas"/>
                <a:cs typeface="Consolas"/>
                <a:sym typeface="Consolas"/>
              </a:rPr>
              <a:t>│ │   └── [Högerklicka här] → "Ny databas..."      │</a:t>
            </a:r>
            <a:br>
              <a:rPr lang="sv-SE" sz="1700">
                <a:latin typeface="Consolas"/>
                <a:ea typeface="Consolas"/>
                <a:cs typeface="Consolas"/>
                <a:sym typeface="Consolas"/>
              </a:rPr>
            </a:br>
            <a:r>
              <a:rPr lang="sv-SE" sz="1700">
                <a:latin typeface="Consolas"/>
                <a:ea typeface="Consolas"/>
                <a:cs typeface="Consolas"/>
                <a:sym typeface="Consolas"/>
              </a:rPr>
              <a:t>│ ├── Säkerhet                                      │</a:t>
            </a:r>
            <a:br>
              <a:rPr lang="sv-SE" sz="1700">
                <a:latin typeface="Consolas"/>
                <a:ea typeface="Consolas"/>
                <a:cs typeface="Consolas"/>
                <a:sym typeface="Consolas"/>
              </a:rPr>
            </a:br>
            <a:r>
              <a:rPr lang="sv-SE" sz="1700">
                <a:latin typeface="Consolas"/>
                <a:ea typeface="Consolas"/>
                <a:cs typeface="Consolas"/>
                <a:sym typeface="Consolas"/>
              </a:rPr>
              <a:t>│ └── Serverobjekt                                  │</a:t>
            </a:r>
            <a:br>
              <a:rPr lang="sv-SE" sz="1700">
                <a:latin typeface="Consolas"/>
                <a:ea typeface="Consolas"/>
                <a:cs typeface="Consolas"/>
                <a:sym typeface="Consolas"/>
              </a:rPr>
            </a:br>
            <a:r>
              <a:rPr lang="sv-SE" sz="1700">
                <a:latin typeface="Consolas"/>
                <a:ea typeface="Consolas"/>
                <a:cs typeface="Consolas"/>
                <a:sym typeface="Consolas"/>
              </a:rPr>
              <a:t>└─────────────────────────────────────────────────┘</a:t>
            </a:r>
            <a:endParaRPr sz="17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3"/>
        <p:cNvGrpSpPr/>
        <p:nvPr/>
      </p:nvGrpSpPr>
      <p:grpSpPr>
        <a:xfrm>
          <a:off x="0" y="0"/>
          <a:ext cx="0" cy="0"/>
          <a:chOff x="0" y="0"/>
          <a:chExt cx="0" cy="0"/>
        </a:xfrm>
      </p:grpSpPr>
      <p:sp>
        <p:nvSpPr>
          <p:cNvPr id="514" name="Google Shape;514;p3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5" name="Google Shape;515;p38"/>
          <p:cNvSpPr/>
          <p:nvPr/>
        </p:nvSpPr>
        <p:spPr>
          <a:xfrm>
            <a:off x="0" y="0"/>
            <a:ext cx="12192000" cy="2176818"/>
          </a:xfrm>
          <a:custGeom>
            <a:avLst/>
            <a:gdLst/>
            <a:ahLst/>
            <a:cxnLst/>
            <a:rect l="l" t="t" r="r" b="b"/>
            <a:pathLst>
              <a:path w="12192000" h="2237474" extrusionOk="0">
                <a:moveTo>
                  <a:pt x="0" y="0"/>
                </a:moveTo>
                <a:lnTo>
                  <a:pt x="12192000" y="0"/>
                </a:lnTo>
                <a:lnTo>
                  <a:pt x="12192000" y="751299"/>
                </a:lnTo>
                <a:lnTo>
                  <a:pt x="12176759" y="759190"/>
                </a:lnTo>
                <a:cubicBezTo>
                  <a:pt x="12165968" y="763819"/>
                  <a:pt x="12157853" y="765770"/>
                  <a:pt x="12154948" y="762731"/>
                </a:cubicBezTo>
                <a:cubicBezTo>
                  <a:pt x="12116503" y="759396"/>
                  <a:pt x="12073342" y="763579"/>
                  <a:pt x="12047364" y="749662"/>
                </a:cubicBezTo>
                <a:cubicBezTo>
                  <a:pt x="12041261" y="730599"/>
                  <a:pt x="11914319" y="741909"/>
                  <a:pt x="11890686" y="732766"/>
                </a:cubicBezTo>
                <a:cubicBezTo>
                  <a:pt x="11832408" y="747890"/>
                  <a:pt x="11815359" y="777569"/>
                  <a:pt x="11782413" y="769868"/>
                </a:cubicBezTo>
                <a:cubicBezTo>
                  <a:pt x="11760031" y="763594"/>
                  <a:pt x="11675205" y="777151"/>
                  <a:pt x="11649954" y="749628"/>
                </a:cubicBezTo>
                <a:cubicBezTo>
                  <a:pt x="11608286" y="767874"/>
                  <a:pt x="11593031" y="740811"/>
                  <a:pt x="11560424" y="748017"/>
                </a:cubicBezTo>
                <a:cubicBezTo>
                  <a:pt x="11488916" y="747650"/>
                  <a:pt x="11449669" y="773362"/>
                  <a:pt x="11358455" y="747593"/>
                </a:cubicBezTo>
                <a:cubicBezTo>
                  <a:pt x="11316233" y="754756"/>
                  <a:pt x="11256313" y="713012"/>
                  <a:pt x="11165209" y="748852"/>
                </a:cubicBezTo>
                <a:cubicBezTo>
                  <a:pt x="11113345" y="753539"/>
                  <a:pt x="11140250" y="736122"/>
                  <a:pt x="11058755" y="749617"/>
                </a:cubicBezTo>
                <a:cubicBezTo>
                  <a:pt x="11036836" y="722990"/>
                  <a:pt x="10909903" y="759211"/>
                  <a:pt x="10884013" y="760728"/>
                </a:cubicBezTo>
                <a:cubicBezTo>
                  <a:pt x="10864519" y="743356"/>
                  <a:pt x="10853492" y="756172"/>
                  <a:pt x="10834688" y="757726"/>
                </a:cubicBezTo>
                <a:cubicBezTo>
                  <a:pt x="10826871" y="747343"/>
                  <a:pt x="10811086" y="746602"/>
                  <a:pt x="10805004" y="757573"/>
                </a:cubicBezTo>
                <a:cubicBezTo>
                  <a:pt x="10810951" y="784448"/>
                  <a:pt x="10744688" y="759043"/>
                  <a:pt x="10739478" y="776841"/>
                </a:cubicBezTo>
                <a:cubicBezTo>
                  <a:pt x="10678284" y="779408"/>
                  <a:pt x="10540854" y="756546"/>
                  <a:pt x="10458762" y="755400"/>
                </a:cubicBezTo>
                <a:cubicBezTo>
                  <a:pt x="10426976" y="747433"/>
                  <a:pt x="10362961" y="776166"/>
                  <a:pt x="10246919" y="769960"/>
                </a:cubicBezTo>
                <a:cubicBezTo>
                  <a:pt x="10231631" y="763610"/>
                  <a:pt x="10172943" y="749095"/>
                  <a:pt x="10167995" y="760843"/>
                </a:cubicBezTo>
                <a:cubicBezTo>
                  <a:pt x="10131971" y="759999"/>
                  <a:pt x="10021683" y="796978"/>
                  <a:pt x="9997044" y="780129"/>
                </a:cubicBezTo>
                <a:cubicBezTo>
                  <a:pt x="10001018" y="806225"/>
                  <a:pt x="9951331" y="779975"/>
                  <a:pt x="9943887" y="804141"/>
                </a:cubicBezTo>
                <a:lnTo>
                  <a:pt x="9918248" y="816628"/>
                </a:lnTo>
                <a:lnTo>
                  <a:pt x="9836148" y="858312"/>
                </a:lnTo>
                <a:lnTo>
                  <a:pt x="9823800" y="866604"/>
                </a:lnTo>
                <a:lnTo>
                  <a:pt x="9794684" y="864509"/>
                </a:lnTo>
                <a:lnTo>
                  <a:pt x="9778288" y="854362"/>
                </a:lnTo>
                <a:lnTo>
                  <a:pt x="9773886" y="857543"/>
                </a:lnTo>
                <a:cubicBezTo>
                  <a:pt x="9769008" y="863842"/>
                  <a:pt x="9766501" y="867741"/>
                  <a:pt x="9761459" y="862394"/>
                </a:cubicBezTo>
                <a:lnTo>
                  <a:pt x="9705768" y="894610"/>
                </a:lnTo>
                <a:cubicBezTo>
                  <a:pt x="9699860" y="897215"/>
                  <a:pt x="9692576" y="897590"/>
                  <a:pt x="9683005" y="894128"/>
                </a:cubicBezTo>
                <a:cubicBezTo>
                  <a:pt x="9664449" y="898200"/>
                  <a:pt x="9612100" y="914263"/>
                  <a:pt x="9594438" y="919051"/>
                </a:cubicBezTo>
                <a:lnTo>
                  <a:pt x="9577033" y="922857"/>
                </a:lnTo>
                <a:cubicBezTo>
                  <a:pt x="9568659" y="926175"/>
                  <a:pt x="9551353" y="936082"/>
                  <a:pt x="9544189" y="938966"/>
                </a:cubicBezTo>
                <a:cubicBezTo>
                  <a:pt x="9538380" y="940584"/>
                  <a:pt x="9541329" y="937538"/>
                  <a:pt x="9534048" y="940158"/>
                </a:cubicBezTo>
                <a:cubicBezTo>
                  <a:pt x="9533709" y="946069"/>
                  <a:pt x="9530854" y="951684"/>
                  <a:pt x="9500499" y="954680"/>
                </a:cubicBezTo>
                <a:cubicBezTo>
                  <a:pt x="9481230" y="968165"/>
                  <a:pt x="9456325" y="979029"/>
                  <a:pt x="9428195" y="986225"/>
                </a:cubicBezTo>
                <a:cubicBezTo>
                  <a:pt x="9422499" y="981315"/>
                  <a:pt x="9414660" y="991352"/>
                  <a:pt x="9410017" y="993931"/>
                </a:cubicBezTo>
                <a:cubicBezTo>
                  <a:pt x="9408360" y="990327"/>
                  <a:pt x="9395782" y="990863"/>
                  <a:pt x="9392919" y="994656"/>
                </a:cubicBezTo>
                <a:cubicBezTo>
                  <a:pt x="9310581" y="1024474"/>
                  <a:pt x="9345163" y="981210"/>
                  <a:pt x="9301293" y="1011593"/>
                </a:cubicBezTo>
                <a:cubicBezTo>
                  <a:pt x="9292916" y="1014346"/>
                  <a:pt x="9285483" y="1013807"/>
                  <a:pt x="9278619" y="1011878"/>
                </a:cubicBezTo>
                <a:lnTo>
                  <a:pt x="9268019" y="1007442"/>
                </a:lnTo>
                <a:lnTo>
                  <a:pt x="9234662" y="1023056"/>
                </a:lnTo>
                <a:cubicBezTo>
                  <a:pt x="9217868" y="1029197"/>
                  <a:pt x="9199852" y="1034202"/>
                  <a:pt x="9181033" y="1037921"/>
                </a:cubicBezTo>
                <a:cubicBezTo>
                  <a:pt x="9174974" y="1030923"/>
                  <a:pt x="9162516" y="1043719"/>
                  <a:pt x="9155969" y="1046804"/>
                </a:cubicBezTo>
                <a:cubicBezTo>
                  <a:pt x="9154734" y="1041866"/>
                  <a:pt x="9138567" y="1041606"/>
                  <a:pt x="9133985" y="1046450"/>
                </a:cubicBezTo>
                <a:cubicBezTo>
                  <a:pt x="9021681" y="1079910"/>
                  <a:pt x="9076377" y="1024799"/>
                  <a:pt x="9012987" y="1061986"/>
                </a:cubicBezTo>
                <a:lnTo>
                  <a:pt x="8968445" y="1052169"/>
                </a:lnTo>
                <a:lnTo>
                  <a:pt x="8958984" y="1057212"/>
                </a:lnTo>
                <a:cubicBezTo>
                  <a:pt x="8920115" y="1062770"/>
                  <a:pt x="8906181" y="1053838"/>
                  <a:pt x="8886001" y="1067468"/>
                </a:cubicBezTo>
                <a:cubicBezTo>
                  <a:pt x="8847384" y="1050046"/>
                  <a:pt x="8863283" y="1068286"/>
                  <a:pt x="8838610" y="1075091"/>
                </a:cubicBezTo>
                <a:cubicBezTo>
                  <a:pt x="8816007" y="1080079"/>
                  <a:pt x="8773923" y="1092257"/>
                  <a:pt x="8750383" y="1097387"/>
                </a:cubicBezTo>
                <a:cubicBezTo>
                  <a:pt x="8735450" y="1116502"/>
                  <a:pt x="8721220" y="1097372"/>
                  <a:pt x="8697365" y="1105869"/>
                </a:cubicBezTo>
                <a:cubicBezTo>
                  <a:pt x="8687037" y="1113735"/>
                  <a:pt x="8678781" y="1115961"/>
                  <a:pt x="8665605" y="1110791"/>
                </a:cubicBezTo>
                <a:cubicBezTo>
                  <a:pt x="8618410" y="1148662"/>
                  <a:pt x="8633049" y="1116609"/>
                  <a:pt x="8584946" y="1135226"/>
                </a:cubicBezTo>
                <a:cubicBezTo>
                  <a:pt x="8544020" y="1153499"/>
                  <a:pt x="8496232" y="1168229"/>
                  <a:pt x="8460755" y="1203427"/>
                </a:cubicBezTo>
                <a:cubicBezTo>
                  <a:pt x="8454928" y="1212828"/>
                  <a:pt x="8436573" y="1218574"/>
                  <a:pt x="8419755" y="1216260"/>
                </a:cubicBezTo>
                <a:cubicBezTo>
                  <a:pt x="8416861" y="1215863"/>
                  <a:pt x="8414124" y="1215234"/>
                  <a:pt x="8411626" y="1214397"/>
                </a:cubicBezTo>
                <a:cubicBezTo>
                  <a:pt x="8391326" y="1238641"/>
                  <a:pt x="8371389" y="1231045"/>
                  <a:pt x="8363469" y="1246658"/>
                </a:cubicBezTo>
                <a:cubicBezTo>
                  <a:pt x="8322316" y="1258746"/>
                  <a:pt x="8283162" y="1250600"/>
                  <a:pt x="8275497" y="1264396"/>
                </a:cubicBezTo>
                <a:cubicBezTo>
                  <a:pt x="8253233" y="1266996"/>
                  <a:pt x="8218383" y="1257577"/>
                  <a:pt x="8206287" y="1273060"/>
                </a:cubicBezTo>
                <a:cubicBezTo>
                  <a:pt x="8200396" y="1262794"/>
                  <a:pt x="8183827" y="1285000"/>
                  <a:pt x="8168705" y="1279956"/>
                </a:cubicBezTo>
                <a:cubicBezTo>
                  <a:pt x="8157611" y="1275235"/>
                  <a:pt x="8149996" y="1280870"/>
                  <a:pt x="8139997" y="1282713"/>
                </a:cubicBezTo>
                <a:cubicBezTo>
                  <a:pt x="8125566" y="1279776"/>
                  <a:pt x="8084128" y="1294221"/>
                  <a:pt x="8074238" y="1301895"/>
                </a:cubicBezTo>
                <a:cubicBezTo>
                  <a:pt x="8052170" y="1326903"/>
                  <a:pt x="7986951" y="1319381"/>
                  <a:pt x="7968292" y="1338779"/>
                </a:cubicBezTo>
                <a:cubicBezTo>
                  <a:pt x="7960694" y="1342282"/>
                  <a:pt x="7952937" y="1344333"/>
                  <a:pt x="7945122" y="1345477"/>
                </a:cubicBezTo>
                <a:lnTo>
                  <a:pt x="7922771" y="1346645"/>
                </a:lnTo>
                <a:lnTo>
                  <a:pt x="7915461" y="1342919"/>
                </a:lnTo>
                <a:lnTo>
                  <a:pt x="7902328" y="1345865"/>
                </a:lnTo>
                <a:lnTo>
                  <a:pt x="7898322" y="1345689"/>
                </a:lnTo>
                <a:lnTo>
                  <a:pt x="7875879" y="1345646"/>
                </a:lnTo>
                <a:cubicBezTo>
                  <a:pt x="7890672" y="1367295"/>
                  <a:pt x="7816428" y="1353520"/>
                  <a:pt x="7840612" y="1369373"/>
                </a:cubicBezTo>
                <a:cubicBezTo>
                  <a:pt x="7803208" y="1375918"/>
                  <a:pt x="7836041" y="1389289"/>
                  <a:pt x="7786819" y="1378970"/>
                </a:cubicBezTo>
                <a:cubicBezTo>
                  <a:pt x="7732613" y="1405648"/>
                  <a:pt x="7587405" y="1382806"/>
                  <a:pt x="7548172" y="1417460"/>
                </a:cubicBezTo>
                <a:cubicBezTo>
                  <a:pt x="7551327" y="1405830"/>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213486" y="1580987"/>
                </a:lnTo>
                <a:lnTo>
                  <a:pt x="7210972" y="1580856"/>
                </a:lnTo>
                <a:lnTo>
                  <a:pt x="7183121" y="1595162"/>
                </a:lnTo>
                <a:lnTo>
                  <a:pt x="7164601" y="1606490"/>
                </a:lnTo>
                <a:lnTo>
                  <a:pt x="7159286" y="1606850"/>
                </a:lnTo>
                <a:cubicBezTo>
                  <a:pt x="7150961" y="1609262"/>
                  <a:pt x="7125743" y="1618162"/>
                  <a:pt x="7114651" y="1620959"/>
                </a:cubicBezTo>
                <a:cubicBezTo>
                  <a:pt x="7109310" y="1606138"/>
                  <a:pt x="7106695" y="1617324"/>
                  <a:pt x="7092727" y="1623628"/>
                </a:cubicBezTo>
                <a:cubicBezTo>
                  <a:pt x="7081313" y="1602012"/>
                  <a:pt x="7049394" y="1627301"/>
                  <a:pt x="7031309" y="1619451"/>
                </a:cubicBezTo>
                <a:cubicBezTo>
                  <a:pt x="7021305" y="1624569"/>
                  <a:pt x="7010515" y="1629587"/>
                  <a:pt x="6999084" y="1634317"/>
                </a:cubicBezTo>
                <a:lnTo>
                  <a:pt x="6992107" y="1636860"/>
                </a:lnTo>
                <a:lnTo>
                  <a:pt x="6991765" y="1636725"/>
                </a:lnTo>
                <a:cubicBezTo>
                  <a:pt x="6989813" y="1636884"/>
                  <a:pt x="6987353" y="1637572"/>
                  <a:pt x="6983996" y="1639040"/>
                </a:cubicBezTo>
                <a:lnTo>
                  <a:pt x="6979383" y="1641496"/>
                </a:lnTo>
                <a:lnTo>
                  <a:pt x="6900177" y="1636016"/>
                </a:ln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19334" y="1664040"/>
                  <a:pt x="6608179" y="1654034"/>
                  <a:pt x="6587857" y="1665769"/>
                </a:cubicBezTo>
                <a:lnTo>
                  <a:pt x="6554894" y="1664428"/>
                </a:lnTo>
                <a:lnTo>
                  <a:pt x="6551579" y="1662213"/>
                </a:lnTo>
                <a:lnTo>
                  <a:pt x="6545693" y="1661776"/>
                </a:lnTo>
                <a:lnTo>
                  <a:pt x="6530561" y="1664619"/>
                </a:lnTo>
                <a:lnTo>
                  <a:pt x="6525028" y="1666354"/>
                </a:lnTo>
                <a:cubicBezTo>
                  <a:pt x="6521154" y="1667301"/>
                  <a:pt x="6518510" y="1667613"/>
                  <a:pt x="6516595" y="1667475"/>
                </a:cubicBezTo>
                <a:lnTo>
                  <a:pt x="6516340" y="1667291"/>
                </a:lnTo>
                <a:lnTo>
                  <a:pt x="6508541" y="1668757"/>
                </a:lnTo>
                <a:cubicBezTo>
                  <a:pt x="6495493" y="1671715"/>
                  <a:pt x="6482908" y="1675051"/>
                  <a:pt x="6471012" y="1678604"/>
                </a:cubicBezTo>
                <a:cubicBezTo>
                  <a:pt x="6457809" y="1668164"/>
                  <a:pt x="6415506" y="1688334"/>
                  <a:pt x="6415265" y="1665317"/>
                </a:cubicBezTo>
                <a:cubicBezTo>
                  <a:pt x="6399063" y="1669446"/>
                  <a:pt x="6391173" y="1680085"/>
                  <a:pt x="6393343" y="1664672"/>
                </a:cubicBezTo>
                <a:lnTo>
                  <a:pt x="6380457" y="1662376"/>
                </a:lnTo>
                <a:lnTo>
                  <a:pt x="6280959" y="1689329"/>
                </a:lnTo>
                <a:lnTo>
                  <a:pt x="6266765" y="1695560"/>
                </a:lnTo>
                <a:cubicBezTo>
                  <a:pt x="6262331" y="1698152"/>
                  <a:pt x="6258580" y="1701192"/>
                  <a:pt x="6255823" y="1704850"/>
                </a:cubicBezTo>
                <a:cubicBezTo>
                  <a:pt x="6200184" y="1694834"/>
                  <a:pt x="6155082" y="1716996"/>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99949" y="1814490"/>
                </a:lnTo>
                <a:lnTo>
                  <a:pt x="5453307" y="1815450"/>
                </a:lnTo>
                <a:cubicBezTo>
                  <a:pt x="5433075" y="1827706"/>
                  <a:pt x="5395563" y="1821122"/>
                  <a:pt x="5364192" y="1826074"/>
                </a:cubicBezTo>
                <a:lnTo>
                  <a:pt x="5350380" y="1830891"/>
                </a:lnTo>
                <a:lnTo>
                  <a:pt x="5259633" y="1837160"/>
                </a:lnTo>
                <a:lnTo>
                  <a:pt x="5197513" y="1844718"/>
                </a:lnTo>
                <a:lnTo>
                  <a:pt x="5184170" y="1849402"/>
                </a:lnTo>
                <a:lnTo>
                  <a:pt x="5168852" y="1844846"/>
                </a:lnTo>
                <a:cubicBezTo>
                  <a:pt x="5166986" y="1843561"/>
                  <a:pt x="5165478" y="1842127"/>
                  <a:pt x="5164370" y="1840597"/>
                </a:cubicBezTo>
                <a:lnTo>
                  <a:pt x="5114927" y="1847827"/>
                </a:ln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63743" y="1799478"/>
                  <a:pt x="4655044" y="1795479"/>
                  <a:pt x="4647449" y="1793181"/>
                </a:cubicBezTo>
                <a:lnTo>
                  <a:pt x="4645504" y="1787606"/>
                </a:lnTo>
                <a:lnTo>
                  <a:pt x="4632229" y="1785815"/>
                </a:lnTo>
                <a:lnTo>
                  <a:pt x="4629273" y="1784355"/>
                </a:lnTo>
                <a:cubicBezTo>
                  <a:pt x="4623639" y="1781544"/>
                  <a:pt x="4617950" y="1778917"/>
                  <a:pt x="4611738" y="1776964"/>
                </a:cubicBezTo>
                <a:cubicBezTo>
                  <a:pt x="4601379" y="1800272"/>
                  <a:pt x="4557197" y="1764196"/>
                  <a:pt x="4560070" y="1785640"/>
                </a:cubicBezTo>
                <a:lnTo>
                  <a:pt x="4536503" y="1785334"/>
                </a:lnTo>
                <a:lnTo>
                  <a:pt x="4513724" y="1791996"/>
                </a:lnTo>
                <a:lnTo>
                  <a:pt x="4501513" y="1799835"/>
                </a:lnTo>
                <a:lnTo>
                  <a:pt x="4459076" y="1813003"/>
                </a:lnTo>
                <a:lnTo>
                  <a:pt x="4459810" y="1797886"/>
                </a:lnTo>
                <a:lnTo>
                  <a:pt x="4379064" y="1817177"/>
                </a:lnTo>
                <a:lnTo>
                  <a:pt x="4319209" y="1834833"/>
                </a:lnTo>
                <a:lnTo>
                  <a:pt x="4306907" y="1841641"/>
                </a:lnTo>
                <a:lnTo>
                  <a:pt x="4290981" y="1839677"/>
                </a:lnTo>
                <a:cubicBezTo>
                  <a:pt x="4288909" y="1838717"/>
                  <a:pt x="4287163" y="1837555"/>
                  <a:pt x="4285792" y="1836231"/>
                </a:cubicBezTo>
                <a:lnTo>
                  <a:pt x="4238372" y="1851480"/>
                </a:ln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84875" y="1878116"/>
                  <a:pt x="3775574" y="1875612"/>
                  <a:pt x="3767672" y="1874600"/>
                </a:cubicBezTo>
                <a:lnTo>
                  <a:pt x="3764741" y="1869433"/>
                </a:lnTo>
                <a:lnTo>
                  <a:pt x="3751332" y="1869854"/>
                </a:lnTo>
                <a:lnTo>
                  <a:pt x="3748155" y="1868903"/>
                </a:lnTo>
                <a:cubicBezTo>
                  <a:pt x="3742091" y="1867062"/>
                  <a:pt x="3736007" y="1865414"/>
                  <a:pt x="3729530" y="1864513"/>
                </a:cubicBezTo>
                <a:cubicBezTo>
                  <a:pt x="3723549" y="1889158"/>
                  <a:pt x="3673453" y="1860919"/>
                  <a:pt x="3680177" y="1881552"/>
                </a:cubicBezTo>
                <a:cubicBezTo>
                  <a:pt x="3643549" y="1880892"/>
                  <a:pt x="3599470" y="1913398"/>
                  <a:pt x="3567259" y="1893482"/>
                </a:cubicBezTo>
                <a:cubicBezTo>
                  <a:pt x="3512865" y="1897927"/>
                  <a:pt x="3463644" y="1898121"/>
                  <a:pt x="3405770" y="1904591"/>
                </a:cubicBezTo>
                <a:cubicBezTo>
                  <a:pt x="3361027" y="1917619"/>
                  <a:pt x="3312439" y="1902759"/>
                  <a:pt x="3280097" y="1919610"/>
                </a:cubicBezTo>
                <a:cubicBezTo>
                  <a:pt x="3228353" y="1917339"/>
                  <a:pt x="3163854" y="1927961"/>
                  <a:pt x="3123424" y="1952930"/>
                </a:cubicBezTo>
                <a:cubicBezTo>
                  <a:pt x="3067921" y="1955455"/>
                  <a:pt x="3058626" y="1970554"/>
                  <a:pt x="3009910" y="1957866"/>
                </a:cubicBezTo>
                <a:cubicBezTo>
                  <a:pt x="3005875" y="1961558"/>
                  <a:pt x="3001138" y="1964570"/>
                  <a:pt x="2995934" y="1967085"/>
                </a:cubicBezTo>
                <a:lnTo>
                  <a:pt x="2980071" y="1972988"/>
                </a:lnTo>
                <a:lnTo>
                  <a:pt x="2978094" y="1972369"/>
                </a:lnTo>
                <a:lnTo>
                  <a:pt x="2942858" y="1981367"/>
                </a:lnTo>
                <a:lnTo>
                  <a:pt x="2875436" y="1996977"/>
                </a:lnTo>
                <a:lnTo>
                  <a:pt x="2874892" y="1996085"/>
                </a:lnTo>
                <a:cubicBezTo>
                  <a:pt x="2872808" y="1994277"/>
                  <a:pt x="2869648" y="1993306"/>
                  <a:pt x="2864145" y="1994061"/>
                </a:cubicBezTo>
                <a:cubicBezTo>
                  <a:pt x="2872218" y="1978115"/>
                  <a:pt x="2860603" y="1988862"/>
                  <a:pt x="2843662" y="1992498"/>
                </a:cubicBezTo>
                <a:cubicBezTo>
                  <a:pt x="2852423" y="1968542"/>
                  <a:pt x="2804535" y="1987804"/>
                  <a:pt x="2796128" y="1976403"/>
                </a:cubicBezTo>
                <a:cubicBezTo>
                  <a:pt x="2783487" y="1979614"/>
                  <a:pt x="2770278" y="1982573"/>
                  <a:pt x="2756784" y="1985116"/>
                </a:cubicBezTo>
                <a:lnTo>
                  <a:pt x="2748833" y="1986323"/>
                </a:lnTo>
                <a:cubicBezTo>
                  <a:pt x="2748775" y="1986256"/>
                  <a:pt x="2748719" y="1986188"/>
                  <a:pt x="2748661" y="1986122"/>
                </a:cubicBezTo>
                <a:cubicBezTo>
                  <a:pt x="2746906" y="1985902"/>
                  <a:pt x="2744280" y="1986117"/>
                  <a:pt x="2740251" y="1986946"/>
                </a:cubicBezTo>
                <a:lnTo>
                  <a:pt x="2718916" y="1990867"/>
                </a:lnTo>
                <a:lnTo>
                  <a:pt x="2713522" y="1990173"/>
                </a:lnTo>
                <a:lnTo>
                  <a:pt x="2680597" y="1984996"/>
                </a:lnTo>
                <a:cubicBezTo>
                  <a:pt x="2658416" y="1985461"/>
                  <a:pt x="2612251" y="1988312"/>
                  <a:pt x="2578178" y="1990531"/>
                </a:cubicBezTo>
                <a:cubicBezTo>
                  <a:pt x="2545413" y="1998704"/>
                  <a:pt x="2513846" y="1994934"/>
                  <a:pt x="2476147" y="1998305"/>
                </a:cubicBezTo>
                <a:cubicBezTo>
                  <a:pt x="2437134" y="2013637"/>
                  <a:pt x="2413847" y="1999542"/>
                  <a:pt x="2373568" y="2003219"/>
                </a:cubicBezTo>
                <a:cubicBezTo>
                  <a:pt x="2341422" y="2024631"/>
                  <a:pt x="2342856" y="1992997"/>
                  <a:pt x="2321399" y="1989467"/>
                </a:cubicBezTo>
                <a:lnTo>
                  <a:pt x="2315525" y="1989708"/>
                </a:lnTo>
                <a:lnTo>
                  <a:pt x="2300792" y="1994290"/>
                </a:lnTo>
                <a:lnTo>
                  <a:pt x="2295469" y="1996659"/>
                </a:lnTo>
                <a:cubicBezTo>
                  <a:pt x="2291722" y="1998049"/>
                  <a:pt x="2289127" y="1998665"/>
                  <a:pt x="2287219" y="1998750"/>
                </a:cubicBezTo>
                <a:lnTo>
                  <a:pt x="2286948" y="1998596"/>
                </a:lnTo>
                <a:lnTo>
                  <a:pt x="2243069" y="2015111"/>
                </a:lnTo>
                <a:cubicBezTo>
                  <a:pt x="2229030" y="2006206"/>
                  <a:pt x="2188966" y="2031217"/>
                  <a:pt x="2186609" y="2008263"/>
                </a:cubicBezTo>
                <a:cubicBezTo>
                  <a:pt x="2170936" y="2014251"/>
                  <a:pt x="2164097" y="2025782"/>
                  <a:pt x="2164831" y="2010143"/>
                </a:cubicBezTo>
                <a:cubicBezTo>
                  <a:pt x="2159536" y="2011705"/>
                  <a:pt x="2155830" y="2011340"/>
                  <a:pt x="2152836" y="2010048"/>
                </a:cubicBezTo>
                <a:lnTo>
                  <a:pt x="2117102" y="2023004"/>
                </a:lnTo>
                <a:lnTo>
                  <a:pt x="2111935" y="2023163"/>
                </a:lnTo>
                <a:lnTo>
                  <a:pt x="2089991" y="2034193"/>
                </a:lnTo>
                <a:lnTo>
                  <a:pt x="2058061" y="2047942"/>
                </a:lnTo>
                <a:lnTo>
                  <a:pt x="2055737" y="2047704"/>
                </a:lnTo>
                <a:lnTo>
                  <a:pt x="2042244" y="2055560"/>
                </a:lnTo>
                <a:cubicBezTo>
                  <a:pt x="2038090" y="2058656"/>
                  <a:pt x="1978623" y="2070285"/>
                  <a:pt x="1976224" y="2074257"/>
                </a:cubicBezTo>
                <a:cubicBezTo>
                  <a:pt x="1920172" y="2070662"/>
                  <a:pt x="1933546" y="2089824"/>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402655" y="2224964"/>
                  <a:pt x="1409212" y="2231152"/>
                  <a:pt x="1398481" y="2237074"/>
                </a:cubicBezTo>
                <a:cubicBezTo>
                  <a:pt x="1398456" y="2237082"/>
                  <a:pt x="1398432" y="2237089"/>
                  <a:pt x="1398407" y="2237095"/>
                </a:cubicBezTo>
                <a:lnTo>
                  <a:pt x="1370962" y="2237474"/>
                </a:lnTo>
                <a:lnTo>
                  <a:pt x="1356367" y="2235089"/>
                </a:lnTo>
                <a:cubicBezTo>
                  <a:pt x="1346056" y="2233320"/>
                  <a:pt x="1335986" y="2231930"/>
                  <a:pt x="1324828" y="2231968"/>
                </a:cubicBezTo>
                <a:lnTo>
                  <a:pt x="1297744" y="2235849"/>
                </a:lnTo>
                <a:lnTo>
                  <a:pt x="1286236" y="2233135"/>
                </a:lnTo>
                <a:lnTo>
                  <a:pt x="1283504" y="2233797"/>
                </a:lnTo>
                <a:lnTo>
                  <a:pt x="1279765" y="2229639"/>
                </a:lnTo>
                <a:cubicBezTo>
                  <a:pt x="1260110" y="2221111"/>
                  <a:pt x="1209850" y="2211602"/>
                  <a:pt x="1195347" y="2212354"/>
                </a:cubicBezTo>
                <a:cubicBezTo>
                  <a:pt x="1171903" y="2216875"/>
                  <a:pt x="1033292" y="2222456"/>
                  <a:pt x="970251" y="2221029"/>
                </a:cubicBezTo>
                <a:cubicBezTo>
                  <a:pt x="913858" y="2213074"/>
                  <a:pt x="864984" y="2224767"/>
                  <a:pt x="812914" y="2202752"/>
                </a:cubicBezTo>
                <a:cubicBezTo>
                  <a:pt x="809419" y="2205714"/>
                  <a:pt x="805091" y="2207855"/>
                  <a:pt x="800195" y="2209407"/>
                </a:cubicBezTo>
                <a:lnTo>
                  <a:pt x="784978" y="2212360"/>
                </a:lnTo>
                <a:lnTo>
                  <a:pt x="681987" y="2216757"/>
                </a:lnTo>
                <a:lnTo>
                  <a:pt x="669923" y="2211682"/>
                </a:lnTo>
                <a:cubicBezTo>
                  <a:pt x="675432" y="2197125"/>
                  <a:pt x="665394" y="2205767"/>
                  <a:pt x="648680" y="2206229"/>
                </a:cubicBezTo>
                <a:cubicBezTo>
                  <a:pt x="653511" y="2183723"/>
                  <a:pt x="607806" y="2194090"/>
                  <a:pt x="597225" y="2180999"/>
                </a:cubicBezTo>
                <a:cubicBezTo>
                  <a:pt x="584838" y="2181847"/>
                  <a:pt x="571827" y="2182333"/>
                  <a:pt x="558449" y="2182346"/>
                </a:cubicBezTo>
                <a:lnTo>
                  <a:pt x="550517" y="2182060"/>
                </a:lnTo>
                <a:lnTo>
                  <a:pt x="550309" y="2181825"/>
                </a:lnTo>
                <a:cubicBezTo>
                  <a:pt x="548471" y="2181269"/>
                  <a:pt x="545824" y="2180990"/>
                  <a:pt x="541836" y="2181063"/>
                </a:cubicBezTo>
                <a:lnTo>
                  <a:pt x="536057" y="2181537"/>
                </a:lnTo>
                <a:lnTo>
                  <a:pt x="520671" y="2180980"/>
                </a:lnTo>
                <a:lnTo>
                  <a:pt x="515024" y="2179258"/>
                </a:lnTo>
                <a:lnTo>
                  <a:pt x="512278" y="2176369"/>
                </a:lnTo>
                <a:lnTo>
                  <a:pt x="480419" y="2167807"/>
                </a:lnTo>
                <a:cubicBezTo>
                  <a:pt x="458012" y="2174781"/>
                  <a:pt x="449332" y="2162566"/>
                  <a:pt x="413835" y="2156783"/>
                </a:cubicBezTo>
                <a:cubicBezTo>
                  <a:pt x="401959" y="2163765"/>
                  <a:pt x="389622" y="2160522"/>
                  <a:pt x="376513" y="2154014"/>
                </a:cubicBezTo>
                <a:cubicBezTo>
                  <a:pt x="344376" y="2156059"/>
                  <a:pt x="311403" y="2146283"/>
                  <a:pt x="273386" y="2142551"/>
                </a:cubicBezTo>
                <a:cubicBezTo>
                  <a:pt x="236093" y="2150634"/>
                  <a:pt x="209811" y="2132011"/>
                  <a:pt x="169207" y="2128100"/>
                </a:cubicBezTo>
                <a:lnTo>
                  <a:pt x="93149" y="2105324"/>
                </a:lnTo>
                <a:lnTo>
                  <a:pt x="88109" y="2106704"/>
                </a:lnTo>
                <a:cubicBezTo>
                  <a:pt x="84511" y="2107398"/>
                  <a:pt x="81960" y="2107528"/>
                  <a:pt x="80022" y="2107254"/>
                </a:cubicBezTo>
                <a:lnTo>
                  <a:pt x="79717" y="2107046"/>
                </a:lnTo>
                <a:lnTo>
                  <a:pt x="72352" y="2107991"/>
                </a:lnTo>
                <a:cubicBezTo>
                  <a:pt x="60160" y="2110089"/>
                  <a:pt x="48530" y="2112610"/>
                  <a:pt x="37645" y="2115401"/>
                </a:cubicBezTo>
                <a:cubicBezTo>
                  <a:pt x="29688" y="2109582"/>
                  <a:pt x="16534" y="2111084"/>
                  <a:pt x="4572" y="2111091"/>
                </a:cubicBezTo>
                <a:lnTo>
                  <a:pt x="0" y="2110468"/>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6" name="Google Shape;516;p38"/>
          <p:cNvSpPr txBox="1">
            <a:spLocks noGrp="1"/>
          </p:cNvSpPr>
          <p:nvPr>
            <p:ph type="title"/>
          </p:nvPr>
        </p:nvSpPr>
        <p:spPr>
          <a:xfrm>
            <a:off x="1093316" y="-2180"/>
            <a:ext cx="9274512" cy="949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sv-SE" b="1"/>
              <a:t>Vanliga frågor</a:t>
            </a:r>
            <a:endParaRPr b="1"/>
          </a:p>
        </p:txBody>
      </p:sp>
      <p:sp>
        <p:nvSpPr>
          <p:cNvPr id="517" name="Google Shape;517;p38"/>
          <p:cNvSpPr/>
          <p:nvPr/>
        </p:nvSpPr>
        <p:spPr>
          <a:xfrm>
            <a:off x="4360460" y="6189260"/>
            <a:ext cx="7831541" cy="668740"/>
          </a:xfrm>
          <a:custGeom>
            <a:avLst/>
            <a:gdLst/>
            <a:ahLst/>
            <a:cxnLst/>
            <a:rect l="l" t="t" r="r" b="b"/>
            <a:pathLst>
              <a:path w="9517857" h="918356" extrusionOk="0">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518" name="Google Shape;518;p38"/>
          <p:cNvGraphicFramePr/>
          <p:nvPr/>
        </p:nvGraphicFramePr>
        <p:xfrm>
          <a:off x="18737" y="1199213"/>
          <a:ext cx="3000000" cy="3000000"/>
        </p:xfrm>
        <a:graphic>
          <a:graphicData uri="http://schemas.openxmlformats.org/drawingml/2006/table">
            <a:tbl>
              <a:tblPr firstRow="1" bandRow="1">
                <a:noFill/>
                <a:tableStyleId>{822C3B93-EF79-491A-80E4-DA79D8C4CF44}</a:tableStyleId>
              </a:tblPr>
              <a:tblGrid>
                <a:gridCol w="3964975">
                  <a:extLst>
                    <a:ext uri="{9D8B030D-6E8A-4147-A177-3AD203B41FA5}">
                      <a16:colId xmlns:a16="http://schemas.microsoft.com/office/drawing/2014/main" val="20000"/>
                    </a:ext>
                  </a:extLst>
                </a:gridCol>
                <a:gridCol w="8175400">
                  <a:extLst>
                    <a:ext uri="{9D8B030D-6E8A-4147-A177-3AD203B41FA5}">
                      <a16:colId xmlns:a16="http://schemas.microsoft.com/office/drawing/2014/main" val="20001"/>
                    </a:ext>
                  </a:extLst>
                </a:gridCol>
              </a:tblGrid>
              <a:tr h="449625">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latin typeface="Arial"/>
                          <a:ea typeface="Arial"/>
                          <a:cs typeface="Arial"/>
                          <a:sym typeface="Arial"/>
                        </a:rPr>
                        <a:t>Fråga</a:t>
                      </a:r>
                      <a:endParaRPr sz="1400" b="0" u="none" strike="noStrike" cap="none">
                        <a:latin typeface="Arial"/>
                        <a:ea typeface="Arial"/>
                        <a:cs typeface="Arial"/>
                        <a:sym typeface="Arial"/>
                      </a:endParaRPr>
                    </a:p>
                  </a:txBody>
                  <a:tcPr marL="69625" marR="116050"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latin typeface="Arial"/>
                          <a:ea typeface="Arial"/>
                          <a:cs typeface="Arial"/>
                          <a:sym typeface="Arial"/>
                        </a:rPr>
                        <a:t>Svar</a:t>
                      </a:r>
                      <a:endParaRPr sz="1400" b="0" u="none" strike="noStrike" cap="none">
                        <a:latin typeface="Arial"/>
                        <a:ea typeface="Arial"/>
                        <a:cs typeface="Arial"/>
                        <a:sym typeface="Arial"/>
                      </a:endParaRPr>
                    </a:p>
                  </a:txBody>
                  <a:tcPr marL="116050" marR="116050"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7194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Varför ska jag inte ändra några inställningar?</a:t>
                      </a:r>
                      <a:endParaRPr sz="1800" b="0" u="none" strike="noStrike" cap="none">
                        <a:latin typeface="Arial"/>
                        <a:ea typeface="Arial"/>
                        <a:cs typeface="Arial"/>
                        <a:sym typeface="Arial"/>
                      </a:endParaRPr>
                    </a:p>
                  </a:txBody>
                  <a:tcPr marL="69625" marR="116050"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Standardinställningarna är optimerade för de flesta användningsfall. Som nybörjare är det bäst att hålla sig till standard – det fungerar utmärkt för vårt projekt .</a:t>
                      </a:r>
                      <a:endParaRPr/>
                    </a:p>
                  </a:txBody>
                  <a:tcPr marL="116050" marR="69625"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7194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Jag ser inte min nya databas – varför?</a:t>
                      </a:r>
                      <a:endParaRPr sz="1800" b="0" u="none" strike="noStrike" cap="none">
                        <a:latin typeface="Arial"/>
                        <a:ea typeface="Arial"/>
                        <a:cs typeface="Arial"/>
                        <a:sym typeface="Arial"/>
                      </a:endParaRPr>
                    </a:p>
                  </a:txBody>
                  <a:tcPr marL="69625" marR="116050"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Du måste uppdatera (refresh) mappen "Databaser". Högerklicka på mappen och välj "Uppdatera" (Refresh).</a:t>
                      </a:r>
                      <a:endParaRPr/>
                    </a:p>
                  </a:txBody>
                  <a:tcPr marL="116050" marR="69625"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8284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Vad är de där andra flikarna (Filer, Alternativ)?</a:t>
                      </a:r>
                      <a:endParaRPr sz="1800" b="0" u="none" strike="noStrike" cap="none">
                        <a:latin typeface="Arial"/>
                        <a:ea typeface="Arial"/>
                        <a:cs typeface="Arial"/>
                        <a:sym typeface="Arial"/>
                      </a:endParaRPr>
                    </a:p>
                  </a:txBody>
                  <a:tcPr marL="69625" marR="116050"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De innehåller avancerade inställningar som:</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 </a:t>
                      </a:r>
                      <a:r>
                        <a:rPr lang="sv-SE" sz="1800" b="1" u="none" strike="noStrike" cap="none">
                          <a:latin typeface="Arial"/>
                          <a:ea typeface="Arial"/>
                          <a:cs typeface="Arial"/>
                          <a:sym typeface="Arial"/>
                        </a:rPr>
                        <a:t>Filer</a:t>
                      </a:r>
                      <a:r>
                        <a:rPr lang="sv-SE" sz="1800" b="0" u="none" strike="noStrike" cap="none">
                          <a:latin typeface="Arial"/>
                          <a:ea typeface="Arial"/>
                          <a:cs typeface="Arial"/>
                          <a:sym typeface="Arial"/>
                        </a:rPr>
                        <a:t>: Var databasfilerna sparas fysiskt på disken</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 </a:t>
                      </a:r>
                      <a:r>
                        <a:rPr lang="sv-SE" sz="1800" b="1" u="none" strike="noStrike" cap="none">
                          <a:latin typeface="Arial"/>
                          <a:ea typeface="Arial"/>
                          <a:cs typeface="Arial"/>
                          <a:sym typeface="Arial"/>
                        </a:rPr>
                        <a:t>Filgrupper</a:t>
                      </a:r>
                      <a:r>
                        <a:rPr lang="sv-SE" sz="1800" b="0" u="none" strike="noStrike" cap="none">
                          <a:latin typeface="Arial"/>
                          <a:ea typeface="Arial"/>
                          <a:cs typeface="Arial"/>
                          <a:sym typeface="Arial"/>
                        </a:rPr>
                        <a:t>: För att organisera data</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 </a:t>
                      </a:r>
                      <a:r>
                        <a:rPr lang="sv-SE" sz="1800" b="1" u="none" strike="noStrike" cap="none">
                          <a:latin typeface="Arial"/>
                          <a:ea typeface="Arial"/>
                          <a:cs typeface="Arial"/>
                          <a:sym typeface="Arial"/>
                        </a:rPr>
                        <a:t>Alternativ</a:t>
                      </a:r>
                      <a:r>
                        <a:rPr lang="sv-SE" sz="1800" b="0" u="none" strike="noStrike" cap="none">
                          <a:latin typeface="Arial"/>
                          <a:ea typeface="Arial"/>
                          <a:cs typeface="Arial"/>
                          <a:sym typeface="Arial"/>
                        </a:rPr>
                        <a:t>: Databasspecifika inställningar som collation, recovery mode, etc.</a:t>
                      </a:r>
                      <a:br>
                        <a:rPr lang="sv-SE" sz="1800" b="0" u="none" strike="noStrike" cap="none">
                          <a:latin typeface="Arial"/>
                          <a:ea typeface="Arial"/>
                          <a:cs typeface="Arial"/>
                          <a:sym typeface="Arial"/>
                        </a:rPr>
                      </a:b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För vårt projekt behöver vi inte ändra något av detta.</a:t>
                      </a:r>
                      <a:endParaRPr/>
                    </a:p>
                  </a:txBody>
                  <a:tcPr marL="116050" marR="69625"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496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Kan jag döpa om databasen efteråt?</a:t>
                      </a:r>
                      <a:endParaRPr sz="1800" b="0" u="none" strike="noStrike" cap="none">
                        <a:latin typeface="Arial"/>
                        <a:ea typeface="Arial"/>
                        <a:cs typeface="Arial"/>
                        <a:sym typeface="Arial"/>
                      </a:endParaRPr>
                    </a:p>
                  </a:txBody>
                  <a:tcPr marL="69625" marR="116050"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Ja, men det är krångligt. Det är enklast att välja rätt namn från början.</a:t>
                      </a:r>
                      <a:endParaRPr/>
                    </a:p>
                  </a:txBody>
                  <a:tcPr marL="116050" marR="69625"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8992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Vad är skillnaden på "Databaser" och "Systemdatabaser"?</a:t>
                      </a:r>
                      <a:endParaRPr sz="1800" b="0" u="none" strike="noStrike" cap="none">
                        <a:latin typeface="Arial"/>
                        <a:ea typeface="Arial"/>
                        <a:cs typeface="Arial"/>
                        <a:sym typeface="Arial"/>
                      </a:endParaRPr>
                    </a:p>
                  </a:txBody>
                  <a:tcPr marL="69625" marR="116050"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Systemdatabaser</a:t>
                      </a:r>
                      <a:r>
                        <a:rPr lang="sv-SE" sz="1800" b="0" u="none" strike="noStrike" cap="none">
                          <a:latin typeface="Arial"/>
                          <a:ea typeface="Arial"/>
                          <a:cs typeface="Arial"/>
                          <a:sym typeface="Arial"/>
                        </a:rPr>
                        <a:t> (master, model, msdb, tempdb) skapas av SQL Server själv och används för att hantera servern. </a:t>
                      </a:r>
                      <a:r>
                        <a:rPr lang="sv-SE" sz="1800" b="1" u="none" strike="noStrike" cap="none">
                          <a:latin typeface="Arial"/>
                          <a:ea typeface="Arial"/>
                          <a:cs typeface="Arial"/>
                          <a:sym typeface="Arial"/>
                        </a:rPr>
                        <a:t>Vi ska aldrig röra dem!</a:t>
                      </a:r>
                      <a:r>
                        <a:rPr lang="sv-SE" sz="1800" b="0" u="none" strike="noStrike" cap="none">
                          <a:latin typeface="Arial"/>
                          <a:ea typeface="Arial"/>
                          <a:cs typeface="Arial"/>
                          <a:sym typeface="Arial"/>
                        </a:rPr>
                        <a:t> Vår egen databas NetworkSecurityML skapas under "Databaser" .</a:t>
                      </a:r>
                      <a:endParaRPr/>
                    </a:p>
                  </a:txBody>
                  <a:tcPr marL="116050" marR="69625"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6594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Behöver jag skapa fler databaser?</a:t>
                      </a:r>
                      <a:endParaRPr sz="1800" b="0" u="none" strike="noStrike" cap="none">
                        <a:latin typeface="Arial"/>
                        <a:ea typeface="Arial"/>
                        <a:cs typeface="Arial"/>
                        <a:sym typeface="Arial"/>
                      </a:endParaRPr>
                    </a:p>
                  </a:txBody>
                  <a:tcPr marL="69625" marR="116050"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Nej, vi behöver bara en databas för hela projektet. Alla våra tabeller kommer att ligga i NetworkSecurityML.</a:t>
                      </a:r>
                      <a:endParaRPr/>
                    </a:p>
                  </a:txBody>
                  <a:tcPr marL="116050" marR="69625" marT="72525" marB="725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2"/>
        <p:cNvGrpSpPr/>
        <p:nvPr/>
      </p:nvGrpSpPr>
      <p:grpSpPr>
        <a:xfrm>
          <a:off x="0" y="0"/>
          <a:ext cx="0" cy="0"/>
          <a:chOff x="0" y="0"/>
          <a:chExt cx="0" cy="0"/>
        </a:xfrm>
      </p:grpSpPr>
      <p:sp>
        <p:nvSpPr>
          <p:cNvPr id="523" name="Google Shape;523;p3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4" name="Google Shape;524;p39"/>
          <p:cNvSpPr/>
          <p:nvPr/>
        </p:nvSpPr>
        <p:spPr>
          <a:xfrm>
            <a:off x="0" y="0"/>
            <a:ext cx="12192000" cy="2176818"/>
          </a:xfrm>
          <a:custGeom>
            <a:avLst/>
            <a:gdLst/>
            <a:ahLst/>
            <a:cxnLst/>
            <a:rect l="l" t="t" r="r" b="b"/>
            <a:pathLst>
              <a:path w="12192000" h="2237474" extrusionOk="0">
                <a:moveTo>
                  <a:pt x="0" y="0"/>
                </a:moveTo>
                <a:lnTo>
                  <a:pt x="12192000" y="0"/>
                </a:lnTo>
                <a:lnTo>
                  <a:pt x="12192000" y="751299"/>
                </a:lnTo>
                <a:lnTo>
                  <a:pt x="12176759" y="759190"/>
                </a:lnTo>
                <a:cubicBezTo>
                  <a:pt x="12165968" y="763819"/>
                  <a:pt x="12157853" y="765770"/>
                  <a:pt x="12154948" y="762731"/>
                </a:cubicBezTo>
                <a:cubicBezTo>
                  <a:pt x="12116503" y="759396"/>
                  <a:pt x="12073342" y="763579"/>
                  <a:pt x="12047364" y="749662"/>
                </a:cubicBezTo>
                <a:cubicBezTo>
                  <a:pt x="12041261" y="730599"/>
                  <a:pt x="11914319" y="741909"/>
                  <a:pt x="11890686" y="732766"/>
                </a:cubicBezTo>
                <a:cubicBezTo>
                  <a:pt x="11832408" y="747890"/>
                  <a:pt x="11815359" y="777569"/>
                  <a:pt x="11782413" y="769868"/>
                </a:cubicBezTo>
                <a:cubicBezTo>
                  <a:pt x="11760031" y="763594"/>
                  <a:pt x="11675205" y="777151"/>
                  <a:pt x="11649954" y="749628"/>
                </a:cubicBezTo>
                <a:cubicBezTo>
                  <a:pt x="11608286" y="767874"/>
                  <a:pt x="11593031" y="740811"/>
                  <a:pt x="11560424" y="748017"/>
                </a:cubicBezTo>
                <a:cubicBezTo>
                  <a:pt x="11488916" y="747650"/>
                  <a:pt x="11449669" y="773362"/>
                  <a:pt x="11358455" y="747593"/>
                </a:cubicBezTo>
                <a:cubicBezTo>
                  <a:pt x="11316233" y="754756"/>
                  <a:pt x="11256313" y="713012"/>
                  <a:pt x="11165209" y="748852"/>
                </a:cubicBezTo>
                <a:cubicBezTo>
                  <a:pt x="11113345" y="753539"/>
                  <a:pt x="11140250" y="736122"/>
                  <a:pt x="11058755" y="749617"/>
                </a:cubicBezTo>
                <a:cubicBezTo>
                  <a:pt x="11036836" y="722990"/>
                  <a:pt x="10909903" y="759211"/>
                  <a:pt x="10884013" y="760728"/>
                </a:cubicBezTo>
                <a:cubicBezTo>
                  <a:pt x="10864519" y="743356"/>
                  <a:pt x="10853492" y="756172"/>
                  <a:pt x="10834688" y="757726"/>
                </a:cubicBezTo>
                <a:cubicBezTo>
                  <a:pt x="10826871" y="747343"/>
                  <a:pt x="10811086" y="746602"/>
                  <a:pt x="10805004" y="757573"/>
                </a:cubicBezTo>
                <a:cubicBezTo>
                  <a:pt x="10810951" y="784448"/>
                  <a:pt x="10744688" y="759043"/>
                  <a:pt x="10739478" y="776841"/>
                </a:cubicBezTo>
                <a:cubicBezTo>
                  <a:pt x="10678284" y="779408"/>
                  <a:pt x="10540854" y="756546"/>
                  <a:pt x="10458762" y="755400"/>
                </a:cubicBezTo>
                <a:cubicBezTo>
                  <a:pt x="10426976" y="747433"/>
                  <a:pt x="10362961" y="776166"/>
                  <a:pt x="10246919" y="769960"/>
                </a:cubicBezTo>
                <a:cubicBezTo>
                  <a:pt x="10231631" y="763610"/>
                  <a:pt x="10172943" y="749095"/>
                  <a:pt x="10167995" y="760843"/>
                </a:cubicBezTo>
                <a:cubicBezTo>
                  <a:pt x="10131971" y="759999"/>
                  <a:pt x="10021683" y="796978"/>
                  <a:pt x="9997044" y="780129"/>
                </a:cubicBezTo>
                <a:cubicBezTo>
                  <a:pt x="10001018" y="806225"/>
                  <a:pt x="9951331" y="779975"/>
                  <a:pt x="9943887" y="804141"/>
                </a:cubicBezTo>
                <a:lnTo>
                  <a:pt x="9918248" y="816628"/>
                </a:lnTo>
                <a:lnTo>
                  <a:pt x="9836148" y="858312"/>
                </a:lnTo>
                <a:lnTo>
                  <a:pt x="9823800" y="866604"/>
                </a:lnTo>
                <a:lnTo>
                  <a:pt x="9794684" y="864509"/>
                </a:lnTo>
                <a:lnTo>
                  <a:pt x="9778288" y="854362"/>
                </a:lnTo>
                <a:lnTo>
                  <a:pt x="9773886" y="857543"/>
                </a:lnTo>
                <a:cubicBezTo>
                  <a:pt x="9769008" y="863842"/>
                  <a:pt x="9766501" y="867741"/>
                  <a:pt x="9761459" y="862394"/>
                </a:cubicBezTo>
                <a:lnTo>
                  <a:pt x="9705768" y="894610"/>
                </a:lnTo>
                <a:cubicBezTo>
                  <a:pt x="9699860" y="897215"/>
                  <a:pt x="9692576" y="897590"/>
                  <a:pt x="9683005" y="894128"/>
                </a:cubicBezTo>
                <a:cubicBezTo>
                  <a:pt x="9664449" y="898200"/>
                  <a:pt x="9612100" y="914263"/>
                  <a:pt x="9594438" y="919051"/>
                </a:cubicBezTo>
                <a:lnTo>
                  <a:pt x="9577033" y="922857"/>
                </a:lnTo>
                <a:cubicBezTo>
                  <a:pt x="9568659" y="926175"/>
                  <a:pt x="9551353" y="936082"/>
                  <a:pt x="9544189" y="938966"/>
                </a:cubicBezTo>
                <a:cubicBezTo>
                  <a:pt x="9538380" y="940584"/>
                  <a:pt x="9541329" y="937538"/>
                  <a:pt x="9534048" y="940158"/>
                </a:cubicBezTo>
                <a:cubicBezTo>
                  <a:pt x="9533709" y="946069"/>
                  <a:pt x="9530854" y="951684"/>
                  <a:pt x="9500499" y="954680"/>
                </a:cubicBezTo>
                <a:cubicBezTo>
                  <a:pt x="9481230" y="968165"/>
                  <a:pt x="9456325" y="979029"/>
                  <a:pt x="9428195" y="986225"/>
                </a:cubicBezTo>
                <a:cubicBezTo>
                  <a:pt x="9422499" y="981315"/>
                  <a:pt x="9414660" y="991352"/>
                  <a:pt x="9410017" y="993931"/>
                </a:cubicBezTo>
                <a:cubicBezTo>
                  <a:pt x="9408360" y="990327"/>
                  <a:pt x="9395782" y="990863"/>
                  <a:pt x="9392919" y="994656"/>
                </a:cubicBezTo>
                <a:cubicBezTo>
                  <a:pt x="9310581" y="1024474"/>
                  <a:pt x="9345163" y="981210"/>
                  <a:pt x="9301293" y="1011593"/>
                </a:cubicBezTo>
                <a:cubicBezTo>
                  <a:pt x="9292916" y="1014346"/>
                  <a:pt x="9285483" y="1013807"/>
                  <a:pt x="9278619" y="1011878"/>
                </a:cubicBezTo>
                <a:lnTo>
                  <a:pt x="9268019" y="1007442"/>
                </a:lnTo>
                <a:lnTo>
                  <a:pt x="9234662" y="1023056"/>
                </a:lnTo>
                <a:cubicBezTo>
                  <a:pt x="9217868" y="1029197"/>
                  <a:pt x="9199852" y="1034202"/>
                  <a:pt x="9181033" y="1037921"/>
                </a:cubicBezTo>
                <a:cubicBezTo>
                  <a:pt x="9174974" y="1030923"/>
                  <a:pt x="9162516" y="1043719"/>
                  <a:pt x="9155969" y="1046804"/>
                </a:cubicBezTo>
                <a:cubicBezTo>
                  <a:pt x="9154734" y="1041866"/>
                  <a:pt x="9138567" y="1041606"/>
                  <a:pt x="9133985" y="1046450"/>
                </a:cubicBezTo>
                <a:cubicBezTo>
                  <a:pt x="9021681" y="1079910"/>
                  <a:pt x="9076377" y="1024799"/>
                  <a:pt x="9012987" y="1061986"/>
                </a:cubicBezTo>
                <a:lnTo>
                  <a:pt x="8968445" y="1052169"/>
                </a:lnTo>
                <a:lnTo>
                  <a:pt x="8958984" y="1057212"/>
                </a:lnTo>
                <a:cubicBezTo>
                  <a:pt x="8920115" y="1062770"/>
                  <a:pt x="8906181" y="1053838"/>
                  <a:pt x="8886001" y="1067468"/>
                </a:cubicBezTo>
                <a:cubicBezTo>
                  <a:pt x="8847384" y="1050046"/>
                  <a:pt x="8863283" y="1068286"/>
                  <a:pt x="8838610" y="1075091"/>
                </a:cubicBezTo>
                <a:cubicBezTo>
                  <a:pt x="8816007" y="1080079"/>
                  <a:pt x="8773923" y="1092257"/>
                  <a:pt x="8750383" y="1097387"/>
                </a:cubicBezTo>
                <a:cubicBezTo>
                  <a:pt x="8735450" y="1116502"/>
                  <a:pt x="8721220" y="1097372"/>
                  <a:pt x="8697365" y="1105869"/>
                </a:cubicBezTo>
                <a:cubicBezTo>
                  <a:pt x="8687037" y="1113735"/>
                  <a:pt x="8678781" y="1115961"/>
                  <a:pt x="8665605" y="1110791"/>
                </a:cubicBezTo>
                <a:cubicBezTo>
                  <a:pt x="8618410" y="1148662"/>
                  <a:pt x="8633049" y="1116609"/>
                  <a:pt x="8584946" y="1135226"/>
                </a:cubicBezTo>
                <a:cubicBezTo>
                  <a:pt x="8544020" y="1153499"/>
                  <a:pt x="8496232" y="1168229"/>
                  <a:pt x="8460755" y="1203427"/>
                </a:cubicBezTo>
                <a:cubicBezTo>
                  <a:pt x="8454928" y="1212828"/>
                  <a:pt x="8436573" y="1218574"/>
                  <a:pt x="8419755" y="1216260"/>
                </a:cubicBezTo>
                <a:cubicBezTo>
                  <a:pt x="8416861" y="1215863"/>
                  <a:pt x="8414124" y="1215234"/>
                  <a:pt x="8411626" y="1214397"/>
                </a:cubicBezTo>
                <a:cubicBezTo>
                  <a:pt x="8391326" y="1238641"/>
                  <a:pt x="8371389" y="1231045"/>
                  <a:pt x="8363469" y="1246658"/>
                </a:cubicBezTo>
                <a:cubicBezTo>
                  <a:pt x="8322316" y="1258746"/>
                  <a:pt x="8283162" y="1250600"/>
                  <a:pt x="8275497" y="1264396"/>
                </a:cubicBezTo>
                <a:cubicBezTo>
                  <a:pt x="8253233" y="1266996"/>
                  <a:pt x="8218383" y="1257577"/>
                  <a:pt x="8206287" y="1273060"/>
                </a:cubicBezTo>
                <a:cubicBezTo>
                  <a:pt x="8200396" y="1262794"/>
                  <a:pt x="8183827" y="1285000"/>
                  <a:pt x="8168705" y="1279956"/>
                </a:cubicBezTo>
                <a:cubicBezTo>
                  <a:pt x="8157611" y="1275235"/>
                  <a:pt x="8149996" y="1280870"/>
                  <a:pt x="8139997" y="1282713"/>
                </a:cubicBezTo>
                <a:cubicBezTo>
                  <a:pt x="8125566" y="1279776"/>
                  <a:pt x="8084128" y="1294221"/>
                  <a:pt x="8074238" y="1301895"/>
                </a:cubicBezTo>
                <a:cubicBezTo>
                  <a:pt x="8052170" y="1326903"/>
                  <a:pt x="7986951" y="1319381"/>
                  <a:pt x="7968292" y="1338779"/>
                </a:cubicBezTo>
                <a:cubicBezTo>
                  <a:pt x="7960694" y="1342282"/>
                  <a:pt x="7952937" y="1344333"/>
                  <a:pt x="7945122" y="1345477"/>
                </a:cubicBezTo>
                <a:lnTo>
                  <a:pt x="7922771" y="1346645"/>
                </a:lnTo>
                <a:lnTo>
                  <a:pt x="7915461" y="1342919"/>
                </a:lnTo>
                <a:lnTo>
                  <a:pt x="7902328" y="1345865"/>
                </a:lnTo>
                <a:lnTo>
                  <a:pt x="7898322" y="1345689"/>
                </a:lnTo>
                <a:lnTo>
                  <a:pt x="7875879" y="1345646"/>
                </a:lnTo>
                <a:cubicBezTo>
                  <a:pt x="7890672" y="1367295"/>
                  <a:pt x="7816428" y="1353520"/>
                  <a:pt x="7840612" y="1369373"/>
                </a:cubicBezTo>
                <a:cubicBezTo>
                  <a:pt x="7803208" y="1375918"/>
                  <a:pt x="7836041" y="1389289"/>
                  <a:pt x="7786819" y="1378970"/>
                </a:cubicBezTo>
                <a:cubicBezTo>
                  <a:pt x="7732613" y="1405648"/>
                  <a:pt x="7587405" y="1382806"/>
                  <a:pt x="7548172" y="1417460"/>
                </a:cubicBezTo>
                <a:cubicBezTo>
                  <a:pt x="7551327" y="1405830"/>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213486" y="1580987"/>
                </a:lnTo>
                <a:lnTo>
                  <a:pt x="7210972" y="1580856"/>
                </a:lnTo>
                <a:lnTo>
                  <a:pt x="7183121" y="1595162"/>
                </a:lnTo>
                <a:lnTo>
                  <a:pt x="7164601" y="1606490"/>
                </a:lnTo>
                <a:lnTo>
                  <a:pt x="7159286" y="1606850"/>
                </a:lnTo>
                <a:cubicBezTo>
                  <a:pt x="7150961" y="1609262"/>
                  <a:pt x="7125743" y="1618162"/>
                  <a:pt x="7114651" y="1620959"/>
                </a:cubicBezTo>
                <a:cubicBezTo>
                  <a:pt x="7109310" y="1606138"/>
                  <a:pt x="7106695" y="1617324"/>
                  <a:pt x="7092727" y="1623628"/>
                </a:cubicBezTo>
                <a:cubicBezTo>
                  <a:pt x="7081313" y="1602012"/>
                  <a:pt x="7049394" y="1627301"/>
                  <a:pt x="7031309" y="1619451"/>
                </a:cubicBezTo>
                <a:cubicBezTo>
                  <a:pt x="7021305" y="1624569"/>
                  <a:pt x="7010515" y="1629587"/>
                  <a:pt x="6999084" y="1634317"/>
                </a:cubicBezTo>
                <a:lnTo>
                  <a:pt x="6992107" y="1636860"/>
                </a:lnTo>
                <a:lnTo>
                  <a:pt x="6991765" y="1636725"/>
                </a:lnTo>
                <a:cubicBezTo>
                  <a:pt x="6989813" y="1636884"/>
                  <a:pt x="6987353" y="1637572"/>
                  <a:pt x="6983996" y="1639040"/>
                </a:cubicBezTo>
                <a:lnTo>
                  <a:pt x="6979383" y="1641496"/>
                </a:lnTo>
                <a:lnTo>
                  <a:pt x="6900177" y="1636016"/>
                </a:ln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19334" y="1664040"/>
                  <a:pt x="6608179" y="1654034"/>
                  <a:pt x="6587857" y="1665769"/>
                </a:cubicBezTo>
                <a:lnTo>
                  <a:pt x="6554894" y="1664428"/>
                </a:lnTo>
                <a:lnTo>
                  <a:pt x="6551579" y="1662213"/>
                </a:lnTo>
                <a:lnTo>
                  <a:pt x="6545693" y="1661776"/>
                </a:lnTo>
                <a:lnTo>
                  <a:pt x="6530561" y="1664619"/>
                </a:lnTo>
                <a:lnTo>
                  <a:pt x="6525028" y="1666354"/>
                </a:lnTo>
                <a:cubicBezTo>
                  <a:pt x="6521154" y="1667301"/>
                  <a:pt x="6518510" y="1667613"/>
                  <a:pt x="6516595" y="1667475"/>
                </a:cubicBezTo>
                <a:lnTo>
                  <a:pt x="6516340" y="1667291"/>
                </a:lnTo>
                <a:lnTo>
                  <a:pt x="6508541" y="1668757"/>
                </a:lnTo>
                <a:cubicBezTo>
                  <a:pt x="6495493" y="1671715"/>
                  <a:pt x="6482908" y="1675051"/>
                  <a:pt x="6471012" y="1678604"/>
                </a:cubicBezTo>
                <a:cubicBezTo>
                  <a:pt x="6457809" y="1668164"/>
                  <a:pt x="6415506" y="1688334"/>
                  <a:pt x="6415265" y="1665317"/>
                </a:cubicBezTo>
                <a:cubicBezTo>
                  <a:pt x="6399063" y="1669446"/>
                  <a:pt x="6391173" y="1680085"/>
                  <a:pt x="6393343" y="1664672"/>
                </a:cubicBezTo>
                <a:lnTo>
                  <a:pt x="6380457" y="1662376"/>
                </a:lnTo>
                <a:lnTo>
                  <a:pt x="6280959" y="1689329"/>
                </a:lnTo>
                <a:lnTo>
                  <a:pt x="6266765" y="1695560"/>
                </a:lnTo>
                <a:cubicBezTo>
                  <a:pt x="6262331" y="1698152"/>
                  <a:pt x="6258580" y="1701192"/>
                  <a:pt x="6255823" y="1704850"/>
                </a:cubicBezTo>
                <a:cubicBezTo>
                  <a:pt x="6200184" y="1694834"/>
                  <a:pt x="6155082" y="1716996"/>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99949" y="1814490"/>
                </a:lnTo>
                <a:lnTo>
                  <a:pt x="5453307" y="1815450"/>
                </a:lnTo>
                <a:cubicBezTo>
                  <a:pt x="5433075" y="1827706"/>
                  <a:pt x="5395563" y="1821122"/>
                  <a:pt x="5364192" y="1826074"/>
                </a:cubicBezTo>
                <a:lnTo>
                  <a:pt x="5350380" y="1830891"/>
                </a:lnTo>
                <a:lnTo>
                  <a:pt x="5259633" y="1837160"/>
                </a:lnTo>
                <a:lnTo>
                  <a:pt x="5197513" y="1844718"/>
                </a:lnTo>
                <a:lnTo>
                  <a:pt x="5184170" y="1849402"/>
                </a:lnTo>
                <a:lnTo>
                  <a:pt x="5168852" y="1844846"/>
                </a:lnTo>
                <a:cubicBezTo>
                  <a:pt x="5166986" y="1843561"/>
                  <a:pt x="5165478" y="1842127"/>
                  <a:pt x="5164370" y="1840597"/>
                </a:cubicBezTo>
                <a:lnTo>
                  <a:pt x="5114927" y="1847827"/>
                </a:ln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63743" y="1799478"/>
                  <a:pt x="4655044" y="1795479"/>
                  <a:pt x="4647449" y="1793181"/>
                </a:cubicBezTo>
                <a:lnTo>
                  <a:pt x="4645504" y="1787606"/>
                </a:lnTo>
                <a:lnTo>
                  <a:pt x="4632229" y="1785815"/>
                </a:lnTo>
                <a:lnTo>
                  <a:pt x="4629273" y="1784355"/>
                </a:lnTo>
                <a:cubicBezTo>
                  <a:pt x="4623639" y="1781544"/>
                  <a:pt x="4617950" y="1778917"/>
                  <a:pt x="4611738" y="1776964"/>
                </a:cubicBezTo>
                <a:cubicBezTo>
                  <a:pt x="4601379" y="1800272"/>
                  <a:pt x="4557197" y="1764196"/>
                  <a:pt x="4560070" y="1785640"/>
                </a:cubicBezTo>
                <a:lnTo>
                  <a:pt x="4536503" y="1785334"/>
                </a:lnTo>
                <a:lnTo>
                  <a:pt x="4513724" y="1791996"/>
                </a:lnTo>
                <a:lnTo>
                  <a:pt x="4501513" y="1799835"/>
                </a:lnTo>
                <a:lnTo>
                  <a:pt x="4459076" y="1813003"/>
                </a:lnTo>
                <a:lnTo>
                  <a:pt x="4459810" y="1797886"/>
                </a:lnTo>
                <a:lnTo>
                  <a:pt x="4379064" y="1817177"/>
                </a:lnTo>
                <a:lnTo>
                  <a:pt x="4319209" y="1834833"/>
                </a:lnTo>
                <a:lnTo>
                  <a:pt x="4306907" y="1841641"/>
                </a:lnTo>
                <a:lnTo>
                  <a:pt x="4290981" y="1839677"/>
                </a:lnTo>
                <a:cubicBezTo>
                  <a:pt x="4288909" y="1838717"/>
                  <a:pt x="4287163" y="1837555"/>
                  <a:pt x="4285792" y="1836231"/>
                </a:cubicBezTo>
                <a:lnTo>
                  <a:pt x="4238372" y="1851480"/>
                </a:ln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84875" y="1878116"/>
                  <a:pt x="3775574" y="1875612"/>
                  <a:pt x="3767672" y="1874600"/>
                </a:cubicBezTo>
                <a:lnTo>
                  <a:pt x="3764741" y="1869433"/>
                </a:lnTo>
                <a:lnTo>
                  <a:pt x="3751332" y="1869854"/>
                </a:lnTo>
                <a:lnTo>
                  <a:pt x="3748155" y="1868903"/>
                </a:lnTo>
                <a:cubicBezTo>
                  <a:pt x="3742091" y="1867062"/>
                  <a:pt x="3736007" y="1865414"/>
                  <a:pt x="3729530" y="1864513"/>
                </a:cubicBezTo>
                <a:cubicBezTo>
                  <a:pt x="3723549" y="1889158"/>
                  <a:pt x="3673453" y="1860919"/>
                  <a:pt x="3680177" y="1881552"/>
                </a:cubicBezTo>
                <a:cubicBezTo>
                  <a:pt x="3643549" y="1880892"/>
                  <a:pt x="3599470" y="1913398"/>
                  <a:pt x="3567259" y="1893482"/>
                </a:cubicBezTo>
                <a:cubicBezTo>
                  <a:pt x="3512865" y="1897927"/>
                  <a:pt x="3463644" y="1898121"/>
                  <a:pt x="3405770" y="1904591"/>
                </a:cubicBezTo>
                <a:cubicBezTo>
                  <a:pt x="3361027" y="1917619"/>
                  <a:pt x="3312439" y="1902759"/>
                  <a:pt x="3280097" y="1919610"/>
                </a:cubicBezTo>
                <a:cubicBezTo>
                  <a:pt x="3228353" y="1917339"/>
                  <a:pt x="3163854" y="1927961"/>
                  <a:pt x="3123424" y="1952930"/>
                </a:cubicBezTo>
                <a:cubicBezTo>
                  <a:pt x="3067921" y="1955455"/>
                  <a:pt x="3058626" y="1970554"/>
                  <a:pt x="3009910" y="1957866"/>
                </a:cubicBezTo>
                <a:cubicBezTo>
                  <a:pt x="3005875" y="1961558"/>
                  <a:pt x="3001138" y="1964570"/>
                  <a:pt x="2995934" y="1967085"/>
                </a:cubicBezTo>
                <a:lnTo>
                  <a:pt x="2980071" y="1972988"/>
                </a:lnTo>
                <a:lnTo>
                  <a:pt x="2978094" y="1972369"/>
                </a:lnTo>
                <a:lnTo>
                  <a:pt x="2942858" y="1981367"/>
                </a:lnTo>
                <a:lnTo>
                  <a:pt x="2875436" y="1996977"/>
                </a:lnTo>
                <a:lnTo>
                  <a:pt x="2874892" y="1996085"/>
                </a:lnTo>
                <a:cubicBezTo>
                  <a:pt x="2872808" y="1994277"/>
                  <a:pt x="2869648" y="1993306"/>
                  <a:pt x="2864145" y="1994061"/>
                </a:cubicBezTo>
                <a:cubicBezTo>
                  <a:pt x="2872218" y="1978115"/>
                  <a:pt x="2860603" y="1988862"/>
                  <a:pt x="2843662" y="1992498"/>
                </a:cubicBezTo>
                <a:cubicBezTo>
                  <a:pt x="2852423" y="1968542"/>
                  <a:pt x="2804535" y="1987804"/>
                  <a:pt x="2796128" y="1976403"/>
                </a:cubicBezTo>
                <a:cubicBezTo>
                  <a:pt x="2783487" y="1979614"/>
                  <a:pt x="2770278" y="1982573"/>
                  <a:pt x="2756784" y="1985116"/>
                </a:cubicBezTo>
                <a:lnTo>
                  <a:pt x="2748833" y="1986323"/>
                </a:lnTo>
                <a:cubicBezTo>
                  <a:pt x="2748775" y="1986256"/>
                  <a:pt x="2748719" y="1986188"/>
                  <a:pt x="2748661" y="1986122"/>
                </a:cubicBezTo>
                <a:cubicBezTo>
                  <a:pt x="2746906" y="1985902"/>
                  <a:pt x="2744280" y="1986117"/>
                  <a:pt x="2740251" y="1986946"/>
                </a:cubicBezTo>
                <a:lnTo>
                  <a:pt x="2718916" y="1990867"/>
                </a:lnTo>
                <a:lnTo>
                  <a:pt x="2713522" y="1990173"/>
                </a:lnTo>
                <a:lnTo>
                  <a:pt x="2680597" y="1984996"/>
                </a:lnTo>
                <a:cubicBezTo>
                  <a:pt x="2658416" y="1985461"/>
                  <a:pt x="2612251" y="1988312"/>
                  <a:pt x="2578178" y="1990531"/>
                </a:cubicBezTo>
                <a:cubicBezTo>
                  <a:pt x="2545413" y="1998704"/>
                  <a:pt x="2513846" y="1994934"/>
                  <a:pt x="2476147" y="1998305"/>
                </a:cubicBezTo>
                <a:cubicBezTo>
                  <a:pt x="2437134" y="2013637"/>
                  <a:pt x="2413847" y="1999542"/>
                  <a:pt x="2373568" y="2003219"/>
                </a:cubicBezTo>
                <a:cubicBezTo>
                  <a:pt x="2341422" y="2024631"/>
                  <a:pt x="2342856" y="1992997"/>
                  <a:pt x="2321399" y="1989467"/>
                </a:cubicBezTo>
                <a:lnTo>
                  <a:pt x="2315525" y="1989708"/>
                </a:lnTo>
                <a:lnTo>
                  <a:pt x="2300792" y="1994290"/>
                </a:lnTo>
                <a:lnTo>
                  <a:pt x="2295469" y="1996659"/>
                </a:lnTo>
                <a:cubicBezTo>
                  <a:pt x="2291722" y="1998049"/>
                  <a:pt x="2289127" y="1998665"/>
                  <a:pt x="2287219" y="1998750"/>
                </a:cubicBezTo>
                <a:lnTo>
                  <a:pt x="2286948" y="1998596"/>
                </a:lnTo>
                <a:lnTo>
                  <a:pt x="2243069" y="2015111"/>
                </a:lnTo>
                <a:cubicBezTo>
                  <a:pt x="2229030" y="2006206"/>
                  <a:pt x="2188966" y="2031217"/>
                  <a:pt x="2186609" y="2008263"/>
                </a:cubicBezTo>
                <a:cubicBezTo>
                  <a:pt x="2170936" y="2014251"/>
                  <a:pt x="2164097" y="2025782"/>
                  <a:pt x="2164831" y="2010143"/>
                </a:cubicBezTo>
                <a:cubicBezTo>
                  <a:pt x="2159536" y="2011705"/>
                  <a:pt x="2155830" y="2011340"/>
                  <a:pt x="2152836" y="2010048"/>
                </a:cubicBezTo>
                <a:lnTo>
                  <a:pt x="2117102" y="2023004"/>
                </a:lnTo>
                <a:lnTo>
                  <a:pt x="2111935" y="2023163"/>
                </a:lnTo>
                <a:lnTo>
                  <a:pt x="2089991" y="2034193"/>
                </a:lnTo>
                <a:lnTo>
                  <a:pt x="2058061" y="2047942"/>
                </a:lnTo>
                <a:lnTo>
                  <a:pt x="2055737" y="2047704"/>
                </a:lnTo>
                <a:lnTo>
                  <a:pt x="2042244" y="2055560"/>
                </a:lnTo>
                <a:cubicBezTo>
                  <a:pt x="2038090" y="2058656"/>
                  <a:pt x="1978623" y="2070285"/>
                  <a:pt x="1976224" y="2074257"/>
                </a:cubicBezTo>
                <a:cubicBezTo>
                  <a:pt x="1920172" y="2070662"/>
                  <a:pt x="1933546" y="2089824"/>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402655" y="2224964"/>
                  <a:pt x="1409212" y="2231152"/>
                  <a:pt x="1398481" y="2237074"/>
                </a:cubicBezTo>
                <a:cubicBezTo>
                  <a:pt x="1398456" y="2237082"/>
                  <a:pt x="1398432" y="2237089"/>
                  <a:pt x="1398407" y="2237095"/>
                </a:cubicBezTo>
                <a:lnTo>
                  <a:pt x="1370962" y="2237474"/>
                </a:lnTo>
                <a:lnTo>
                  <a:pt x="1356367" y="2235089"/>
                </a:lnTo>
                <a:cubicBezTo>
                  <a:pt x="1346056" y="2233320"/>
                  <a:pt x="1335986" y="2231930"/>
                  <a:pt x="1324828" y="2231968"/>
                </a:cubicBezTo>
                <a:lnTo>
                  <a:pt x="1297744" y="2235849"/>
                </a:lnTo>
                <a:lnTo>
                  <a:pt x="1286236" y="2233135"/>
                </a:lnTo>
                <a:lnTo>
                  <a:pt x="1283504" y="2233797"/>
                </a:lnTo>
                <a:lnTo>
                  <a:pt x="1279765" y="2229639"/>
                </a:lnTo>
                <a:cubicBezTo>
                  <a:pt x="1260110" y="2221111"/>
                  <a:pt x="1209850" y="2211602"/>
                  <a:pt x="1195347" y="2212354"/>
                </a:cubicBezTo>
                <a:cubicBezTo>
                  <a:pt x="1171903" y="2216875"/>
                  <a:pt x="1033292" y="2222456"/>
                  <a:pt x="970251" y="2221029"/>
                </a:cubicBezTo>
                <a:cubicBezTo>
                  <a:pt x="913858" y="2213074"/>
                  <a:pt x="864984" y="2224767"/>
                  <a:pt x="812914" y="2202752"/>
                </a:cubicBezTo>
                <a:cubicBezTo>
                  <a:pt x="809419" y="2205714"/>
                  <a:pt x="805091" y="2207855"/>
                  <a:pt x="800195" y="2209407"/>
                </a:cubicBezTo>
                <a:lnTo>
                  <a:pt x="784978" y="2212360"/>
                </a:lnTo>
                <a:lnTo>
                  <a:pt x="681987" y="2216757"/>
                </a:lnTo>
                <a:lnTo>
                  <a:pt x="669923" y="2211682"/>
                </a:lnTo>
                <a:cubicBezTo>
                  <a:pt x="675432" y="2197125"/>
                  <a:pt x="665394" y="2205767"/>
                  <a:pt x="648680" y="2206229"/>
                </a:cubicBezTo>
                <a:cubicBezTo>
                  <a:pt x="653511" y="2183723"/>
                  <a:pt x="607806" y="2194090"/>
                  <a:pt x="597225" y="2180999"/>
                </a:cubicBezTo>
                <a:cubicBezTo>
                  <a:pt x="584838" y="2181847"/>
                  <a:pt x="571827" y="2182333"/>
                  <a:pt x="558449" y="2182346"/>
                </a:cubicBezTo>
                <a:lnTo>
                  <a:pt x="550517" y="2182060"/>
                </a:lnTo>
                <a:lnTo>
                  <a:pt x="550309" y="2181825"/>
                </a:lnTo>
                <a:cubicBezTo>
                  <a:pt x="548471" y="2181269"/>
                  <a:pt x="545824" y="2180990"/>
                  <a:pt x="541836" y="2181063"/>
                </a:cubicBezTo>
                <a:lnTo>
                  <a:pt x="536057" y="2181537"/>
                </a:lnTo>
                <a:lnTo>
                  <a:pt x="520671" y="2180980"/>
                </a:lnTo>
                <a:lnTo>
                  <a:pt x="515024" y="2179258"/>
                </a:lnTo>
                <a:lnTo>
                  <a:pt x="512278" y="2176369"/>
                </a:lnTo>
                <a:lnTo>
                  <a:pt x="480419" y="2167807"/>
                </a:lnTo>
                <a:cubicBezTo>
                  <a:pt x="458012" y="2174781"/>
                  <a:pt x="449332" y="2162566"/>
                  <a:pt x="413835" y="2156783"/>
                </a:cubicBezTo>
                <a:cubicBezTo>
                  <a:pt x="401959" y="2163765"/>
                  <a:pt x="389622" y="2160522"/>
                  <a:pt x="376513" y="2154014"/>
                </a:cubicBezTo>
                <a:cubicBezTo>
                  <a:pt x="344376" y="2156059"/>
                  <a:pt x="311403" y="2146283"/>
                  <a:pt x="273386" y="2142551"/>
                </a:cubicBezTo>
                <a:cubicBezTo>
                  <a:pt x="236093" y="2150634"/>
                  <a:pt x="209811" y="2132011"/>
                  <a:pt x="169207" y="2128100"/>
                </a:cubicBezTo>
                <a:lnTo>
                  <a:pt x="93149" y="2105324"/>
                </a:lnTo>
                <a:lnTo>
                  <a:pt x="88109" y="2106704"/>
                </a:lnTo>
                <a:cubicBezTo>
                  <a:pt x="84511" y="2107398"/>
                  <a:pt x="81960" y="2107528"/>
                  <a:pt x="80022" y="2107254"/>
                </a:cubicBezTo>
                <a:lnTo>
                  <a:pt x="79717" y="2107046"/>
                </a:lnTo>
                <a:lnTo>
                  <a:pt x="72352" y="2107991"/>
                </a:lnTo>
                <a:cubicBezTo>
                  <a:pt x="60160" y="2110089"/>
                  <a:pt x="48530" y="2112610"/>
                  <a:pt x="37645" y="2115401"/>
                </a:cubicBezTo>
                <a:cubicBezTo>
                  <a:pt x="29688" y="2109582"/>
                  <a:pt x="16534" y="2111084"/>
                  <a:pt x="4572" y="2111091"/>
                </a:cubicBezTo>
                <a:lnTo>
                  <a:pt x="0" y="2110468"/>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5" name="Google Shape;525;p39"/>
          <p:cNvSpPr txBox="1">
            <a:spLocks noGrp="1"/>
          </p:cNvSpPr>
          <p:nvPr>
            <p:ph type="title"/>
          </p:nvPr>
        </p:nvSpPr>
        <p:spPr>
          <a:xfrm>
            <a:off x="1137037" y="741082"/>
            <a:ext cx="9274512" cy="949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sv-SE"/>
              <a:t>Felsökning </a:t>
            </a:r>
            <a:endParaRPr/>
          </a:p>
        </p:txBody>
      </p:sp>
      <p:sp>
        <p:nvSpPr>
          <p:cNvPr id="526" name="Google Shape;526;p39"/>
          <p:cNvSpPr/>
          <p:nvPr/>
        </p:nvSpPr>
        <p:spPr>
          <a:xfrm>
            <a:off x="4360460" y="6189260"/>
            <a:ext cx="7831541" cy="668740"/>
          </a:xfrm>
          <a:custGeom>
            <a:avLst/>
            <a:gdLst/>
            <a:ahLst/>
            <a:cxnLst/>
            <a:rect l="l" t="t" r="r" b="b"/>
            <a:pathLst>
              <a:path w="9517857" h="918356" extrusionOk="0">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527" name="Google Shape;527;p39"/>
          <p:cNvGraphicFramePr/>
          <p:nvPr/>
        </p:nvGraphicFramePr>
        <p:xfrm>
          <a:off x="31229" y="1880016"/>
          <a:ext cx="3000000" cy="3000000"/>
        </p:xfrm>
        <a:graphic>
          <a:graphicData uri="http://schemas.openxmlformats.org/drawingml/2006/table">
            <a:tbl>
              <a:tblPr firstRow="1" bandRow="1">
                <a:noFill/>
                <a:tableStyleId>{822C3B93-EF79-491A-80E4-DA79D8C4CF44}</a:tableStyleId>
              </a:tblPr>
              <a:tblGrid>
                <a:gridCol w="3319225">
                  <a:extLst>
                    <a:ext uri="{9D8B030D-6E8A-4147-A177-3AD203B41FA5}">
                      <a16:colId xmlns:a16="http://schemas.microsoft.com/office/drawing/2014/main" val="20000"/>
                    </a:ext>
                  </a:extLst>
                </a:gridCol>
                <a:gridCol w="2440975">
                  <a:extLst>
                    <a:ext uri="{9D8B030D-6E8A-4147-A177-3AD203B41FA5}">
                      <a16:colId xmlns:a16="http://schemas.microsoft.com/office/drawing/2014/main" val="20001"/>
                    </a:ext>
                  </a:extLst>
                </a:gridCol>
                <a:gridCol w="6404600">
                  <a:extLst>
                    <a:ext uri="{9D8B030D-6E8A-4147-A177-3AD203B41FA5}">
                      <a16:colId xmlns:a16="http://schemas.microsoft.com/office/drawing/2014/main" val="20002"/>
                    </a:ext>
                  </a:extLst>
                </a:gridCol>
              </a:tblGrid>
              <a:tr h="5610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Problem</a:t>
                      </a:r>
                      <a:endParaRPr sz="2000" b="0" u="none" strike="noStrike" cap="none">
                        <a:solidFill>
                          <a:schemeClr val="dk1"/>
                        </a:solidFill>
                        <a:latin typeface="Arial"/>
                        <a:ea typeface="Arial"/>
                        <a:cs typeface="Arial"/>
                        <a:sym typeface="Arial"/>
                      </a:endParaRPr>
                    </a:p>
                  </a:txBody>
                  <a:tcPr marL="85300" marR="142175"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Felmeddelande</a:t>
                      </a:r>
                      <a:endParaRPr sz="2000" b="0" u="none" strike="noStrike" cap="none">
                        <a:solidFill>
                          <a:schemeClr val="dk1"/>
                        </a:solidFill>
                        <a:latin typeface="Arial"/>
                        <a:ea typeface="Arial"/>
                        <a:cs typeface="Arial"/>
                        <a:sym typeface="Arial"/>
                      </a:endParaRPr>
                    </a:p>
                  </a:txBody>
                  <a:tcPr marL="142175" marR="142175"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Lösning</a:t>
                      </a:r>
                      <a:endParaRPr sz="2000" b="0" u="none" strike="noStrike" cap="none">
                        <a:solidFill>
                          <a:schemeClr val="dk1"/>
                        </a:solidFill>
                        <a:latin typeface="Arial"/>
                        <a:ea typeface="Arial"/>
                        <a:cs typeface="Arial"/>
                        <a:sym typeface="Arial"/>
                      </a:endParaRPr>
                    </a:p>
                  </a:txBody>
                  <a:tcPr marL="142175" marR="142175"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1220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latin typeface="Arial"/>
                          <a:ea typeface="Arial"/>
                          <a:cs typeface="Arial"/>
                          <a:sym typeface="Arial"/>
                        </a:rPr>
                        <a:t>"Database 'NetworkSecurityML' already exists"</a:t>
                      </a:r>
                      <a:endParaRPr sz="2000" b="0" u="none" strike="noStrike" cap="none">
                        <a:latin typeface="Arial"/>
                        <a:ea typeface="Arial"/>
                        <a:cs typeface="Arial"/>
                        <a:sym typeface="Arial"/>
                      </a:endParaRPr>
                    </a:p>
                  </a:txBody>
                  <a:tcPr marL="85300" marR="142175"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latin typeface="Arial"/>
                          <a:ea typeface="Arial"/>
                          <a:cs typeface="Arial"/>
                          <a:sym typeface="Arial"/>
                        </a:rPr>
                        <a:t>Databasen finns redan</a:t>
                      </a:r>
                      <a:endParaRPr/>
                    </a:p>
                  </a:txBody>
                  <a:tcPr marL="142175" marR="142175"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latin typeface="Arial"/>
                          <a:ea typeface="Arial"/>
                          <a:cs typeface="Arial"/>
                          <a:sym typeface="Arial"/>
                        </a:rPr>
                        <a:t>Du har redan skapat den! Gå vidare till nästa steg.</a:t>
                      </a:r>
                      <a:endParaRPr/>
                    </a:p>
                  </a:txBody>
                  <a:tcPr marL="142175" marR="85300"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1220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latin typeface="Arial"/>
                          <a:ea typeface="Arial"/>
                          <a:cs typeface="Arial"/>
                          <a:sym typeface="Arial"/>
                        </a:rPr>
                        <a:t>Kan inte skapa databas – behörighet saknas</a:t>
                      </a:r>
                      <a:endParaRPr sz="2000" b="0" u="none" strike="noStrike" cap="none">
                        <a:latin typeface="Arial"/>
                        <a:ea typeface="Arial"/>
                        <a:cs typeface="Arial"/>
                        <a:sym typeface="Arial"/>
                      </a:endParaRPr>
                    </a:p>
                  </a:txBody>
                  <a:tcPr marL="85300" marR="142175"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latin typeface="Arial"/>
                          <a:ea typeface="Arial"/>
                          <a:cs typeface="Arial"/>
                          <a:sym typeface="Arial"/>
                        </a:rPr>
                        <a:t>"CREATE DATABASE permission denied"</a:t>
                      </a:r>
                      <a:endParaRPr/>
                    </a:p>
                  </a:txBody>
                  <a:tcPr marL="142175" marR="142175"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latin typeface="Arial"/>
                          <a:ea typeface="Arial"/>
                          <a:cs typeface="Arial"/>
                          <a:sym typeface="Arial"/>
                        </a:rPr>
                        <a:t>Du måste ha rättigheter. Använd Windows-autentisering eller kontakta din administratör.</a:t>
                      </a:r>
                      <a:endParaRPr/>
                    </a:p>
                  </a:txBody>
                  <a:tcPr marL="142175" marR="85300"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05187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latin typeface="Arial"/>
                          <a:ea typeface="Arial"/>
                          <a:cs typeface="Arial"/>
                          <a:sym typeface="Arial"/>
                        </a:rPr>
                        <a:t>Servernamnet är fel</a:t>
                      </a:r>
                      <a:endParaRPr sz="2000" b="0" u="none" strike="noStrike" cap="none">
                        <a:latin typeface="Arial"/>
                        <a:ea typeface="Arial"/>
                        <a:cs typeface="Arial"/>
                        <a:sym typeface="Arial"/>
                      </a:endParaRPr>
                    </a:p>
                  </a:txBody>
                  <a:tcPr marL="85300" marR="142175"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latin typeface="Arial"/>
                          <a:ea typeface="Arial"/>
                          <a:cs typeface="Arial"/>
                          <a:sym typeface="Arial"/>
                        </a:rPr>
                        <a:t>"Cannot connect to server"</a:t>
                      </a:r>
                      <a:endParaRPr/>
                    </a:p>
                  </a:txBody>
                  <a:tcPr marL="142175" marR="142175"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82500"/>
                        </a:lnSpc>
                        <a:spcBef>
                          <a:spcPts val="0"/>
                        </a:spcBef>
                        <a:spcAft>
                          <a:spcPts val="0"/>
                        </a:spcAft>
                        <a:buClr>
                          <a:schemeClr val="dk1"/>
                        </a:buClr>
                        <a:buSzPts val="2000"/>
                        <a:buFont typeface="Arial"/>
                        <a:buNone/>
                      </a:pPr>
                      <a:r>
                        <a:rPr lang="sv-SE" sz="2000" b="0" u="none" strike="noStrike" cap="none">
                          <a:latin typeface="Arial"/>
                          <a:ea typeface="Arial"/>
                          <a:cs typeface="Arial"/>
                          <a:sym typeface="Arial"/>
                        </a:rPr>
                        <a:t>Dubbelkolla servernamnet i anslutningsfönstret. Testa localhost.</a:t>
                      </a:r>
                      <a:endParaRPr/>
                    </a:p>
                  </a:txBody>
                  <a:tcPr marL="142175" marR="85300"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1220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latin typeface="Arial"/>
                          <a:ea typeface="Arial"/>
                          <a:cs typeface="Arial"/>
                          <a:sym typeface="Arial"/>
                        </a:rPr>
                        <a:t>Databasen syns inte efter skapande</a:t>
                      </a:r>
                      <a:endParaRPr sz="2000" b="0" u="none" strike="noStrike" cap="none">
                        <a:latin typeface="Arial"/>
                        <a:ea typeface="Arial"/>
                        <a:cs typeface="Arial"/>
                        <a:sym typeface="Arial"/>
                      </a:endParaRPr>
                    </a:p>
                  </a:txBody>
                  <a:tcPr marL="85300" marR="142175"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latin typeface="Arial"/>
                          <a:ea typeface="Arial"/>
                          <a:cs typeface="Arial"/>
                          <a:sym typeface="Arial"/>
                        </a:rPr>
                        <a:t>-</a:t>
                      </a:r>
                      <a:endParaRPr/>
                    </a:p>
                  </a:txBody>
                  <a:tcPr marL="142175" marR="142175"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latin typeface="Arial"/>
                          <a:ea typeface="Arial"/>
                          <a:cs typeface="Arial"/>
                          <a:sym typeface="Arial"/>
                        </a:rPr>
                        <a:t>Högerklicka på mappen "Databaser" och välj </a:t>
                      </a:r>
                      <a:r>
                        <a:rPr lang="sv-SE" sz="2000" b="1" u="none" strike="noStrike" cap="none">
                          <a:latin typeface="Arial"/>
                          <a:ea typeface="Arial"/>
                          <a:cs typeface="Arial"/>
                          <a:sym typeface="Arial"/>
                        </a:rPr>
                        <a:t>"Uppdatera"</a:t>
                      </a:r>
                      <a:r>
                        <a:rPr lang="sv-SE" sz="2000" b="0" u="none" strike="noStrike" cap="none">
                          <a:latin typeface="Arial"/>
                          <a:ea typeface="Arial"/>
                          <a:cs typeface="Arial"/>
                          <a:sym typeface="Arial"/>
                        </a:rPr>
                        <a:t> (Refresh).</a:t>
                      </a:r>
                      <a:endParaRPr/>
                    </a:p>
                  </a:txBody>
                  <a:tcPr marL="142175" marR="85300" marT="88875" marB="88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1"/>
        <p:cNvGrpSpPr/>
        <p:nvPr/>
      </p:nvGrpSpPr>
      <p:grpSpPr>
        <a:xfrm>
          <a:off x="0" y="0"/>
          <a:ext cx="0" cy="0"/>
          <a:chOff x="0" y="0"/>
          <a:chExt cx="0" cy="0"/>
        </a:xfrm>
      </p:grpSpPr>
      <p:sp>
        <p:nvSpPr>
          <p:cNvPr id="532" name="Google Shape;532;p4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3" name="Google Shape;533;p40"/>
          <p:cNvSpPr/>
          <p:nvPr/>
        </p:nvSpPr>
        <p:spPr>
          <a:xfrm rot="5400000" flipH="1">
            <a:off x="-638515" y="639280"/>
            <a:ext cx="6858000" cy="5579440"/>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4" name="Google Shape;534;p40"/>
          <p:cNvSpPr/>
          <p:nvPr/>
        </p:nvSpPr>
        <p:spPr>
          <a:xfrm rot="5400000" flipH="1">
            <a:off x="-393206" y="395206"/>
            <a:ext cx="6346209" cy="5576080"/>
          </a:xfrm>
          <a:prstGeom prst="rect">
            <a:avLst/>
          </a:prstGeom>
          <a:gradFill>
            <a:gsLst>
              <a:gs pos="0">
                <a:srgbClr val="000000">
                  <a:alpha val="0"/>
                </a:srgbClr>
              </a:gs>
              <a:gs pos="99000">
                <a:srgbClr val="156082">
                  <a:alpha val="0"/>
                </a:srgbClr>
              </a:gs>
              <a:gs pos="100000">
                <a:srgbClr val="156082">
                  <a:alpha val="0"/>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5" name="Google Shape;535;p40"/>
          <p:cNvSpPr/>
          <p:nvPr/>
        </p:nvSpPr>
        <p:spPr>
          <a:xfrm rot="5400000" flipH="1">
            <a:off x="1528907" y="2818967"/>
            <a:ext cx="2501979" cy="5576080"/>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6" name="Google Shape;536;p40"/>
          <p:cNvSpPr/>
          <p:nvPr/>
        </p:nvSpPr>
        <p:spPr>
          <a:xfrm rot="5400000" flipH="1">
            <a:off x="-425002" y="852793"/>
            <a:ext cx="6858001" cy="5152412"/>
          </a:xfrm>
          <a:prstGeom prst="rect">
            <a:avLst/>
          </a:prstGeom>
          <a:gradFill>
            <a:gsLst>
              <a:gs pos="0">
                <a:srgbClr val="000000">
                  <a:alpha val="0"/>
                </a:srgbClr>
              </a:gs>
              <a:gs pos="99000">
                <a:srgbClr val="156082">
                  <a:alpha val="10980"/>
                </a:srgbClr>
              </a:gs>
              <a:gs pos="100000">
                <a:srgbClr val="156082">
                  <a:alpha val="10980"/>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7" name="Google Shape;537;p40"/>
          <p:cNvSpPr/>
          <p:nvPr/>
        </p:nvSpPr>
        <p:spPr>
          <a:xfrm rot="6097846">
            <a:off x="818753" y="1128497"/>
            <a:ext cx="4318303" cy="4318303"/>
          </a:xfrm>
          <a:prstGeom prst="ellipse">
            <a:avLst/>
          </a:prstGeom>
          <a:gradFill>
            <a:gsLst>
              <a:gs pos="0">
                <a:srgbClr val="156082">
                  <a:alpha val="0"/>
                </a:srgbClr>
              </a:gs>
              <a:gs pos="39000">
                <a:srgbClr val="156082">
                  <a:alpha val="0"/>
                </a:srgbClr>
              </a:gs>
              <a:gs pos="100000">
                <a:srgbClr val="43AFE2">
                  <a:alpha val="14901"/>
                </a:srgbClr>
              </a:gs>
            </a:gsLst>
            <a:lin ang="17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8" name="Google Shape;538;p40"/>
          <p:cNvSpPr txBox="1">
            <a:spLocks noGrp="1"/>
          </p:cNvSpPr>
          <p:nvPr>
            <p:ph type="title"/>
          </p:nvPr>
        </p:nvSpPr>
        <p:spPr>
          <a:xfrm>
            <a:off x="826396" y="586855"/>
            <a:ext cx="4230100" cy="338749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4000"/>
              <a:buFont typeface="Play"/>
              <a:buNone/>
            </a:pPr>
            <a:r>
              <a:rPr lang="sv-SE" sz="4000">
                <a:solidFill>
                  <a:srgbClr val="FFFFFF"/>
                </a:solidFill>
              </a:rPr>
              <a:t>Steg 8: Skapa tabeller i databasen</a:t>
            </a:r>
            <a:endParaRPr sz="4000">
              <a:solidFill>
                <a:srgbClr val="FFFFFF"/>
              </a:solidFill>
            </a:endParaRPr>
          </a:p>
        </p:txBody>
      </p:sp>
      <p:sp>
        <p:nvSpPr>
          <p:cNvPr id="539" name="Google Shape;539;p40"/>
          <p:cNvSpPr txBox="1">
            <a:spLocks noGrp="1"/>
          </p:cNvSpPr>
          <p:nvPr>
            <p:ph type="body" idx="1"/>
          </p:nvPr>
        </p:nvSpPr>
        <p:spPr>
          <a:xfrm>
            <a:off x="5525498" y="16877"/>
            <a:ext cx="6659616" cy="6840008"/>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800"/>
              <a:buChar char="•"/>
            </a:pPr>
            <a:r>
              <a:rPr lang="sv-SE"/>
              <a:t>Nu ska vi bygga själva lådorna i vår databashylla. En tabell är som ett Excel-ark med kolumner (t.ex. "SourceIP", "DestinationPort") och rader (varje enskild nätverkshändelse). Vi kommer att skapa tre tabeller som tillsammans utgör hjärtat i vårt nätverkssäkerhetssystem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3"/>
        <p:cNvGrpSpPr/>
        <p:nvPr/>
      </p:nvGrpSpPr>
      <p:grpSpPr>
        <a:xfrm>
          <a:off x="0" y="0"/>
          <a:ext cx="0" cy="0"/>
          <a:chOff x="0" y="0"/>
          <a:chExt cx="0" cy="0"/>
        </a:xfrm>
      </p:grpSpPr>
      <p:sp>
        <p:nvSpPr>
          <p:cNvPr id="544" name="Google Shape;544;p4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5" name="Google Shape;545;p41"/>
          <p:cNvSpPr txBox="1">
            <a:spLocks noGrp="1"/>
          </p:cNvSpPr>
          <p:nvPr>
            <p:ph type="title"/>
          </p:nvPr>
        </p:nvSpPr>
        <p:spPr>
          <a:xfrm>
            <a:off x="638881" y="417576"/>
            <a:ext cx="10909640" cy="124939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600"/>
              <a:buFont typeface="Play"/>
              <a:buNone/>
            </a:pPr>
            <a:r>
              <a:rPr lang="sv-SE" sz="2600">
                <a:solidFill>
                  <a:schemeClr val="dk1"/>
                </a:solidFill>
                <a:latin typeface="Play"/>
                <a:ea typeface="Play"/>
                <a:cs typeface="Play"/>
                <a:sym typeface="Play"/>
              </a:rPr>
              <a:t>Varför gör vi detta? För att skapa de specifika tabeller som vårt nätverkssäkerhetsprojekt behöver. Utan tabeller har vi ingen struktur att lagra data i. De tre tabellerna är:</a:t>
            </a:r>
            <a:endParaRPr/>
          </a:p>
        </p:txBody>
      </p:sp>
      <p:sp>
        <p:nvSpPr>
          <p:cNvPr id="546" name="Google Shape;546;p41"/>
          <p:cNvSpPr/>
          <p:nvPr/>
        </p:nvSpPr>
        <p:spPr>
          <a:xfrm>
            <a:off x="3807702" y="1733454"/>
            <a:ext cx="4572000" cy="18288"/>
          </a:xfrm>
          <a:custGeom>
            <a:avLst/>
            <a:gdLst/>
            <a:ahLst/>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547" name="Google Shape;547;p41"/>
          <p:cNvGraphicFramePr/>
          <p:nvPr/>
        </p:nvGraphicFramePr>
        <p:xfrm>
          <a:off x="219559" y="2118101"/>
          <a:ext cx="3000000" cy="3000000"/>
        </p:xfrm>
        <a:graphic>
          <a:graphicData uri="http://schemas.openxmlformats.org/drawingml/2006/table">
            <a:tbl>
              <a:tblPr firstRow="1" bandRow="1">
                <a:noFill/>
                <a:tableStyleId>{822C3B93-EF79-491A-80E4-DA79D8C4CF44}</a:tableStyleId>
              </a:tblPr>
              <a:tblGrid>
                <a:gridCol w="4196000">
                  <a:extLst>
                    <a:ext uri="{9D8B030D-6E8A-4147-A177-3AD203B41FA5}">
                      <a16:colId xmlns:a16="http://schemas.microsoft.com/office/drawing/2014/main" val="20000"/>
                    </a:ext>
                  </a:extLst>
                </a:gridCol>
                <a:gridCol w="2897625">
                  <a:extLst>
                    <a:ext uri="{9D8B030D-6E8A-4147-A177-3AD203B41FA5}">
                      <a16:colId xmlns:a16="http://schemas.microsoft.com/office/drawing/2014/main" val="20001"/>
                    </a:ext>
                  </a:extLst>
                </a:gridCol>
                <a:gridCol w="4695350">
                  <a:extLst>
                    <a:ext uri="{9D8B030D-6E8A-4147-A177-3AD203B41FA5}">
                      <a16:colId xmlns:a16="http://schemas.microsoft.com/office/drawing/2014/main" val="20002"/>
                    </a:ext>
                  </a:extLst>
                </a:gridCol>
              </a:tblGrid>
              <a:tr h="804250">
                <a:tc>
                  <a:txBody>
                    <a:bodyPr/>
                    <a:lstStyle/>
                    <a:p>
                      <a:pPr marL="0" marR="0" lvl="0" indent="0" algn="l" rtl="0">
                        <a:lnSpc>
                          <a:spcPct val="66964"/>
                        </a:lnSpc>
                        <a:spcBef>
                          <a:spcPts val="0"/>
                        </a:spcBef>
                        <a:spcAft>
                          <a:spcPts val="0"/>
                        </a:spcAft>
                        <a:buClr>
                          <a:schemeClr val="dk1"/>
                        </a:buClr>
                        <a:buSzPts val="2800"/>
                        <a:buFont typeface="Arial"/>
                        <a:buNone/>
                      </a:pPr>
                      <a:r>
                        <a:rPr lang="sv-SE" sz="2800" b="1" u="none" strike="noStrike" cap="none">
                          <a:solidFill>
                            <a:schemeClr val="dk1"/>
                          </a:solidFill>
                          <a:latin typeface="Arial"/>
                          <a:ea typeface="Arial"/>
                          <a:cs typeface="Arial"/>
                          <a:sym typeface="Arial"/>
                        </a:rPr>
                        <a:t>TABELLNAMN</a:t>
                      </a:r>
                      <a:endParaRPr/>
                    </a:p>
                  </a:txBody>
                  <a:tcPr marL="117000" marR="194975" marT="117000" marB="11700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66964"/>
                        </a:lnSpc>
                        <a:spcBef>
                          <a:spcPts val="0"/>
                        </a:spcBef>
                        <a:spcAft>
                          <a:spcPts val="0"/>
                        </a:spcAft>
                        <a:buClr>
                          <a:schemeClr val="dk1"/>
                        </a:buClr>
                        <a:buSzPts val="2800"/>
                        <a:buFont typeface="Arial"/>
                        <a:buNone/>
                      </a:pPr>
                      <a:r>
                        <a:rPr lang="sv-SE" sz="2800" b="1" u="none" strike="noStrike" cap="none">
                          <a:solidFill>
                            <a:schemeClr val="dk1"/>
                          </a:solidFill>
                          <a:latin typeface="Arial"/>
                          <a:ea typeface="Arial"/>
                          <a:cs typeface="Arial"/>
                          <a:sym typeface="Arial"/>
                        </a:rPr>
                        <a:t>SYFTE</a:t>
                      </a:r>
                      <a:endParaRPr/>
                    </a:p>
                  </a:txBody>
                  <a:tcPr marL="194975" marR="194975" marT="117000" marB="11700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66964"/>
                        </a:lnSpc>
                        <a:spcBef>
                          <a:spcPts val="0"/>
                        </a:spcBef>
                        <a:spcAft>
                          <a:spcPts val="0"/>
                        </a:spcAft>
                        <a:buClr>
                          <a:schemeClr val="dk1"/>
                        </a:buClr>
                        <a:buSzPts val="2800"/>
                        <a:buFont typeface="Arial"/>
                        <a:buNone/>
                      </a:pPr>
                      <a:r>
                        <a:rPr lang="sv-SE" sz="2800" b="1" u="none" strike="noStrike" cap="none">
                          <a:solidFill>
                            <a:schemeClr val="dk1"/>
                          </a:solidFill>
                          <a:latin typeface="Arial"/>
                          <a:ea typeface="Arial"/>
                          <a:cs typeface="Arial"/>
                          <a:sym typeface="Arial"/>
                        </a:rPr>
                        <a:t>BESKRIVNING</a:t>
                      </a:r>
                      <a:endParaRPr/>
                    </a:p>
                  </a:txBody>
                  <a:tcPr marL="194975" marR="194975" marT="117000" marB="11700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259475">
                <a:tc>
                  <a:txBody>
                    <a:bodyPr/>
                    <a:lstStyle/>
                    <a:p>
                      <a:pPr marL="0" marR="0" lvl="0" indent="0" algn="l" rtl="0">
                        <a:lnSpc>
                          <a:spcPct val="78125"/>
                        </a:lnSpc>
                        <a:spcBef>
                          <a:spcPts val="0"/>
                        </a:spcBef>
                        <a:spcAft>
                          <a:spcPts val="0"/>
                        </a:spcAft>
                        <a:buClr>
                          <a:schemeClr val="dk1"/>
                        </a:buClr>
                        <a:buSzPts val="2400"/>
                        <a:buFont typeface="Arial"/>
                        <a:buNone/>
                      </a:pPr>
                      <a:r>
                        <a:rPr lang="sv-SE" sz="2400" b="1" u="none" strike="noStrike" cap="none">
                          <a:solidFill>
                            <a:schemeClr val="dk1"/>
                          </a:solidFill>
                          <a:latin typeface="Arial"/>
                          <a:ea typeface="Arial"/>
                          <a:cs typeface="Arial"/>
                          <a:sym typeface="Arial"/>
                        </a:rPr>
                        <a:t>NetworkTrafficLogs</a:t>
                      </a:r>
                      <a:endParaRPr sz="2400" b="0" u="none" strike="noStrike" cap="none">
                        <a:solidFill>
                          <a:schemeClr val="dk1"/>
                        </a:solidFill>
                        <a:latin typeface="Arial"/>
                        <a:ea typeface="Arial"/>
                        <a:cs typeface="Arial"/>
                        <a:sym typeface="Arial"/>
                      </a:endParaRPr>
                    </a:p>
                  </a:txBody>
                  <a:tcPr marL="117000" marR="194975" marT="121875" marB="11700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78125"/>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Rådata</a:t>
                      </a:r>
                      <a:endParaRPr/>
                    </a:p>
                  </a:txBody>
                  <a:tcPr marL="194975" marR="194975" marT="121875" marB="117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78125"/>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Lagrar all inkommande nätverkstrafik (rådata för ML-modellen)</a:t>
                      </a:r>
                      <a:endParaRPr/>
                    </a:p>
                  </a:txBody>
                  <a:tcPr marL="194975" marR="117000" marT="121875" marB="117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259475">
                <a:tc>
                  <a:txBody>
                    <a:bodyPr/>
                    <a:lstStyle/>
                    <a:p>
                      <a:pPr marL="0" marR="0" lvl="0" indent="0" algn="l" rtl="0">
                        <a:lnSpc>
                          <a:spcPct val="78125"/>
                        </a:lnSpc>
                        <a:spcBef>
                          <a:spcPts val="0"/>
                        </a:spcBef>
                        <a:spcAft>
                          <a:spcPts val="0"/>
                        </a:spcAft>
                        <a:buClr>
                          <a:schemeClr val="dk1"/>
                        </a:buClr>
                        <a:buSzPts val="2400"/>
                        <a:buFont typeface="Arial"/>
                        <a:buNone/>
                      </a:pPr>
                      <a:r>
                        <a:rPr lang="sv-SE" sz="2400" b="1" u="none" strike="noStrike" cap="none">
                          <a:solidFill>
                            <a:schemeClr val="dk1"/>
                          </a:solidFill>
                          <a:latin typeface="Arial"/>
                          <a:ea typeface="Arial"/>
                          <a:cs typeface="Arial"/>
                          <a:sym typeface="Arial"/>
                        </a:rPr>
                        <a:t>ThreatDetections</a:t>
                      </a:r>
                      <a:endParaRPr sz="2400" b="0" u="none" strike="noStrike" cap="none">
                        <a:solidFill>
                          <a:schemeClr val="dk1"/>
                        </a:solidFill>
                        <a:latin typeface="Arial"/>
                        <a:ea typeface="Arial"/>
                        <a:cs typeface="Arial"/>
                        <a:sym typeface="Arial"/>
                      </a:endParaRPr>
                    </a:p>
                  </a:txBody>
                  <a:tcPr marL="117000" marR="194975" marT="121875" marB="117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78125"/>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ML-resultat</a:t>
                      </a:r>
                      <a:endParaRPr/>
                    </a:p>
                  </a:txBody>
                  <a:tcPr marL="194975" marR="194975" marT="121875" marB="117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78125"/>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Lagrar resultaten från vår ML-modell (prediktioner)</a:t>
                      </a:r>
                      <a:endParaRPr/>
                    </a:p>
                  </a:txBody>
                  <a:tcPr marL="194975" marR="117000" marT="121875" marB="117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1259475">
                <a:tc>
                  <a:txBody>
                    <a:bodyPr/>
                    <a:lstStyle/>
                    <a:p>
                      <a:pPr marL="0" marR="0" lvl="0" indent="0" algn="l" rtl="0">
                        <a:lnSpc>
                          <a:spcPct val="78125"/>
                        </a:lnSpc>
                        <a:spcBef>
                          <a:spcPts val="0"/>
                        </a:spcBef>
                        <a:spcAft>
                          <a:spcPts val="0"/>
                        </a:spcAft>
                        <a:buClr>
                          <a:schemeClr val="dk1"/>
                        </a:buClr>
                        <a:buSzPts val="2400"/>
                        <a:buFont typeface="Arial"/>
                        <a:buNone/>
                      </a:pPr>
                      <a:r>
                        <a:rPr lang="sv-SE" sz="2400" b="1" u="none" strike="noStrike" cap="none">
                          <a:solidFill>
                            <a:schemeClr val="dk1"/>
                          </a:solidFill>
                          <a:latin typeface="Arial"/>
                          <a:ea typeface="Arial"/>
                          <a:cs typeface="Arial"/>
                          <a:sym typeface="Arial"/>
                        </a:rPr>
                        <a:t>SecurityMetrics</a:t>
                      </a:r>
                      <a:endParaRPr sz="2400" b="0" u="none" strike="noStrike" cap="none">
                        <a:solidFill>
                          <a:schemeClr val="dk1"/>
                        </a:solidFill>
                        <a:latin typeface="Arial"/>
                        <a:ea typeface="Arial"/>
                        <a:cs typeface="Arial"/>
                        <a:sym typeface="Arial"/>
                      </a:endParaRPr>
                    </a:p>
                  </a:txBody>
                  <a:tcPr marL="117000" marR="194975" marT="121875" marB="11700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78125"/>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Statistik</a:t>
                      </a:r>
                      <a:endParaRPr/>
                    </a:p>
                  </a:txBody>
                  <a:tcPr marL="194975" marR="194975" marT="121875" marB="117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78125"/>
                        </a:lnSpc>
                        <a:spcBef>
                          <a:spcPts val="0"/>
                        </a:spcBef>
                        <a:spcAft>
                          <a:spcPts val="0"/>
                        </a:spcAft>
                        <a:buClr>
                          <a:schemeClr val="dk1"/>
                        </a:buClr>
                        <a:buSzPts val="2400"/>
                        <a:buFont typeface="Arial"/>
                        <a:buNone/>
                      </a:pPr>
                      <a:r>
                        <a:rPr lang="sv-SE" sz="2400" b="0" u="none" strike="noStrike" cap="none">
                          <a:solidFill>
                            <a:schemeClr val="dk1"/>
                          </a:solidFill>
                          <a:latin typeface="Arial"/>
                          <a:ea typeface="Arial"/>
                          <a:cs typeface="Arial"/>
                          <a:sym typeface="Arial"/>
                        </a:rPr>
                        <a:t>Lagrar sammanställd statistik för Power BI-rapporter</a:t>
                      </a:r>
                      <a:endParaRPr/>
                    </a:p>
                  </a:txBody>
                  <a:tcPr marL="194975" marR="117000" marT="121875" marB="117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graphicFrame>
        <p:nvGraphicFramePr>
          <p:cNvPr id="552" name="Google Shape;552;p42"/>
          <p:cNvGraphicFramePr/>
          <p:nvPr/>
        </p:nvGraphicFramePr>
        <p:xfrm>
          <a:off x="1" y="-813661"/>
          <a:ext cx="3000000" cy="3000000"/>
        </p:xfrm>
        <a:graphic>
          <a:graphicData uri="http://schemas.openxmlformats.org/drawingml/2006/table">
            <a:tbl>
              <a:tblPr bandRow="1">
                <a:noFill/>
                <a:tableStyleId>{822C3B93-EF79-491A-80E4-DA79D8C4CF44}</a:tableStyleId>
              </a:tblPr>
              <a:tblGrid>
                <a:gridCol w="595750">
                  <a:extLst>
                    <a:ext uri="{9D8B030D-6E8A-4147-A177-3AD203B41FA5}">
                      <a16:colId xmlns:a16="http://schemas.microsoft.com/office/drawing/2014/main" val="20000"/>
                    </a:ext>
                  </a:extLst>
                </a:gridCol>
                <a:gridCol w="1995050">
                  <a:extLst>
                    <a:ext uri="{9D8B030D-6E8A-4147-A177-3AD203B41FA5}">
                      <a16:colId xmlns:a16="http://schemas.microsoft.com/office/drawing/2014/main" val="20001"/>
                    </a:ext>
                  </a:extLst>
                </a:gridCol>
                <a:gridCol w="9652800">
                  <a:extLst>
                    <a:ext uri="{9D8B030D-6E8A-4147-A177-3AD203B41FA5}">
                      <a16:colId xmlns:a16="http://schemas.microsoft.com/office/drawing/2014/main" val="20002"/>
                    </a:ext>
                  </a:extLst>
                </a:gridCol>
              </a:tblGrid>
              <a:tr h="0">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latin typeface="Arial"/>
                          <a:ea typeface="Arial"/>
                          <a:cs typeface="Arial"/>
                          <a:sym typeface="Arial"/>
                        </a:rPr>
                        <a:t>Steg</a:t>
                      </a:r>
                      <a:endParaRPr sz="14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latin typeface="Arial"/>
                          <a:ea typeface="Arial"/>
                          <a:cs typeface="Arial"/>
                          <a:sym typeface="Arial"/>
                        </a:rPr>
                        <a:t>Vad ska du göra?</a:t>
                      </a:r>
                      <a:endParaRPr sz="14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latin typeface="Arial"/>
                          <a:ea typeface="Arial"/>
                          <a:cs typeface="Arial"/>
                          <a:sym typeface="Arial"/>
                        </a:rPr>
                        <a:t>Instruktioner (anpassat för nybörjare)</a:t>
                      </a:r>
                      <a:endParaRPr sz="14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2742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1</a:t>
                      </a:r>
                      <a:endParaRPr sz="11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Öppna SSMS och anslut</a:t>
                      </a:r>
                      <a:endParaRPr sz="11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latin typeface="Arial"/>
                          <a:ea typeface="Arial"/>
                          <a:cs typeface="Arial"/>
                          <a:sym typeface="Arial"/>
                        </a:rPr>
                        <a:t>Öppna </a:t>
                      </a:r>
                      <a:r>
                        <a:rPr lang="sv-SE" sz="1200" b="1" u="none" strike="noStrike" cap="none">
                          <a:latin typeface="Arial"/>
                          <a:ea typeface="Arial"/>
                          <a:cs typeface="Arial"/>
                          <a:sym typeface="Arial"/>
                        </a:rPr>
                        <a:t>SQL Server Management Studio</a:t>
                      </a:r>
                      <a:r>
                        <a:rPr lang="sv-SE" sz="1200" b="0" u="none" strike="noStrike" cap="none">
                          <a:latin typeface="Arial"/>
                          <a:ea typeface="Arial"/>
                          <a:cs typeface="Arial"/>
                          <a:sym typeface="Arial"/>
                        </a:rPr>
                        <a:t>. Anslut till din server (samma som tidigare).</a:t>
                      </a:r>
                      <a:endParaRPr sz="12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797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2</a:t>
                      </a:r>
                      <a:endParaRPr sz="11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Expandera rätt databas</a:t>
                      </a:r>
                      <a:endParaRPr sz="11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latin typeface="Arial"/>
                          <a:ea typeface="Arial"/>
                          <a:cs typeface="Arial"/>
                          <a:sym typeface="Arial"/>
                        </a:rPr>
                        <a:t>I Objektutforskaren, expandera </a:t>
                      </a:r>
                      <a:r>
                        <a:rPr lang="sv-SE" sz="1200" b="1" u="none" strike="noStrike" cap="none">
                          <a:latin typeface="Arial"/>
                          <a:ea typeface="Arial"/>
                          <a:cs typeface="Arial"/>
                          <a:sym typeface="Arial"/>
                        </a:rPr>
                        <a:t>"Databaser"</a:t>
                      </a:r>
                      <a:r>
                        <a:rPr lang="sv-SE" sz="1200" b="0" u="none" strike="noStrike" cap="none">
                          <a:latin typeface="Arial"/>
                          <a:ea typeface="Arial"/>
                          <a:cs typeface="Arial"/>
                          <a:sym typeface="Arial"/>
                        </a:rPr>
                        <a:t> och leta upp NetworkSecurityML som du skapade i Steg 7. Klicka på plustecknet (+) bredvid den .</a:t>
                      </a:r>
                      <a:endParaRPr sz="12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7342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3</a:t>
                      </a:r>
                      <a:endParaRPr sz="11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Öppna ett nytt frågefönster</a:t>
                      </a:r>
                      <a:endParaRPr sz="11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latin typeface="Arial"/>
                          <a:ea typeface="Arial"/>
                          <a:cs typeface="Arial"/>
                          <a:sym typeface="Arial"/>
                        </a:rPr>
                        <a:t>Klicka på </a:t>
                      </a:r>
                      <a:r>
                        <a:rPr lang="sv-SE" sz="1200" b="1" u="none" strike="noStrike" cap="none">
                          <a:latin typeface="Arial"/>
                          <a:ea typeface="Arial"/>
                          <a:cs typeface="Arial"/>
                          <a:sym typeface="Arial"/>
                        </a:rPr>
                        <a:t>"Ny fråga"</a:t>
                      </a:r>
                      <a:r>
                        <a:rPr lang="sv-SE" sz="1200" b="0" u="none" strike="noStrike" cap="none">
                          <a:latin typeface="Arial"/>
                          <a:ea typeface="Arial"/>
                          <a:cs typeface="Arial"/>
                          <a:sym typeface="Arial"/>
                        </a:rPr>
                        <a:t> (New Query) i menyraden. Ett tomt vitt fönster öppnas där vi kan skriva SQL-kod .</a:t>
                      </a:r>
                      <a:endParaRPr sz="12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7052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4</a:t>
                      </a:r>
                      <a:endParaRPr sz="11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Kontrollera att rätt databas är vald</a:t>
                      </a:r>
                      <a:endParaRPr sz="11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latin typeface="Arial"/>
                          <a:ea typeface="Arial"/>
                          <a:cs typeface="Arial"/>
                          <a:sym typeface="Arial"/>
                        </a:rPr>
                        <a:t>Längst upp i frågefönstret finns en rullgardinsmeny. Där ska det stå NetworkSecurityML. Om det står något annat (t.ex. master), välj NetworkSecurityML i menyn .</a:t>
                      </a:r>
                      <a:endParaRPr sz="12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5230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5</a:t>
                      </a:r>
                      <a:endParaRPr sz="11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Kopiera hela SQL-skriptet</a:t>
                      </a:r>
                      <a:endParaRPr sz="11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latin typeface="Arial"/>
                          <a:ea typeface="Arial"/>
                          <a:cs typeface="Arial"/>
                          <a:sym typeface="Arial"/>
                        </a:rPr>
                        <a:t>Markera ALL kod i rutan ovan (börjar med -- ===================================================== och slutar med PRINT '✅ Alla tabeller har skapats...'). Högerklicka och välj </a:t>
                      </a:r>
                      <a:r>
                        <a:rPr lang="sv-SE" sz="1200" b="1" u="none" strike="noStrike" cap="none">
                          <a:latin typeface="Arial"/>
                          <a:ea typeface="Arial"/>
                          <a:cs typeface="Arial"/>
                          <a:sym typeface="Arial"/>
                        </a:rPr>
                        <a:t>"Kopiera"</a:t>
                      </a:r>
                      <a:r>
                        <a:rPr lang="sv-SE" sz="1200" b="0" u="none" strike="noStrike" cap="none">
                          <a:latin typeface="Arial"/>
                          <a:ea typeface="Arial"/>
                          <a:cs typeface="Arial"/>
                          <a:sym typeface="Arial"/>
                        </a:rPr>
                        <a:t> (Copy).</a:t>
                      </a:r>
                      <a:endParaRPr sz="12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4530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6</a:t>
                      </a:r>
                      <a:endParaRPr sz="11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Klistra in i frågefönstret</a:t>
                      </a:r>
                      <a:endParaRPr sz="11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latin typeface="Arial"/>
                          <a:ea typeface="Arial"/>
                          <a:cs typeface="Arial"/>
                          <a:sym typeface="Arial"/>
                        </a:rPr>
                        <a:t>Gå tillbaka till SSMS och klistra in koden i det tomma frågefönstret (högerklicka → "Klistra in" eller Ctrl+V).</a:t>
                      </a:r>
                      <a:endParaRPr sz="12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2742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7</a:t>
                      </a:r>
                      <a:endParaRPr sz="11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Kör skriptet</a:t>
                      </a:r>
                      <a:endParaRPr sz="11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latin typeface="Arial"/>
                          <a:ea typeface="Arial"/>
                          <a:cs typeface="Arial"/>
                          <a:sym typeface="Arial"/>
                        </a:rPr>
                        <a:t>Klicka på knappen </a:t>
                      </a:r>
                      <a:r>
                        <a:rPr lang="sv-SE" sz="1200" b="1" u="none" strike="noStrike" cap="none">
                          <a:latin typeface="Arial"/>
                          <a:ea typeface="Arial"/>
                          <a:cs typeface="Arial"/>
                          <a:sym typeface="Arial"/>
                        </a:rPr>
                        <a:t>"Kör"</a:t>
                      </a:r>
                      <a:r>
                        <a:rPr lang="sv-SE" sz="1200" b="0" u="none" strike="noStrike" cap="none">
                          <a:latin typeface="Arial"/>
                          <a:ea typeface="Arial"/>
                          <a:cs typeface="Arial"/>
                          <a:sym typeface="Arial"/>
                        </a:rPr>
                        <a:t> (Execute) i menyraden eller tryck på </a:t>
                      </a:r>
                      <a:r>
                        <a:rPr lang="sv-SE" sz="1200" b="1" u="none" strike="noStrike" cap="none">
                          <a:latin typeface="Arial"/>
                          <a:ea typeface="Arial"/>
                          <a:cs typeface="Arial"/>
                          <a:sym typeface="Arial"/>
                        </a:rPr>
                        <a:t>F5</a:t>
                      </a:r>
                      <a:r>
                        <a:rPr lang="sv-SE" sz="1200" b="0" u="none" strike="noStrike" cap="none">
                          <a:latin typeface="Arial"/>
                          <a:ea typeface="Arial"/>
                          <a:cs typeface="Arial"/>
                          <a:sym typeface="Arial"/>
                        </a:rPr>
                        <a:t> på tangentbordet.</a:t>
                      </a:r>
                      <a:endParaRPr sz="12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2742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8</a:t>
                      </a:r>
                      <a:endParaRPr sz="11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Vänta medan skriptet körs</a:t>
                      </a:r>
                      <a:endParaRPr sz="11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latin typeface="Arial"/>
                          <a:ea typeface="Arial"/>
                          <a:cs typeface="Arial"/>
                          <a:sym typeface="Arial"/>
                        </a:rPr>
                        <a:t>Du ser ett meddelande längst ner som visar att skriptet körs. Det tar bara några sekunder.</a:t>
                      </a:r>
                      <a:endParaRPr sz="12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03235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9</a:t>
                      </a:r>
                      <a:endParaRPr sz="11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Kontrollera resultatet i meddelandefönstret</a:t>
                      </a:r>
                      <a:endParaRPr sz="11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latin typeface="Arial"/>
                          <a:ea typeface="Arial"/>
                          <a:cs typeface="Arial"/>
                          <a:sym typeface="Arial"/>
                        </a:rPr>
                        <a:t>Längst ner i SSMS finns en flik som heter </a:t>
                      </a:r>
                      <a:r>
                        <a:rPr lang="sv-SE" sz="1200" b="1" u="none" strike="noStrike" cap="none">
                          <a:latin typeface="Arial"/>
                          <a:ea typeface="Arial"/>
                          <a:cs typeface="Arial"/>
                          <a:sym typeface="Arial"/>
                        </a:rPr>
                        <a:t>"Meddelanden"</a:t>
                      </a:r>
                      <a:r>
                        <a:rPr lang="sv-SE" sz="1200" b="0" u="none" strike="noStrike" cap="none">
                          <a:latin typeface="Arial"/>
                          <a:ea typeface="Arial"/>
                          <a:cs typeface="Arial"/>
                          <a:sym typeface="Arial"/>
                        </a:rPr>
                        <a:t> (Messages). Där ser du utskrifterna från skriptet. Du bör se något i stil med:</a:t>
                      </a:r>
                      <a:br>
                        <a:rPr lang="sv-SE" sz="1200" b="0" u="none" strike="noStrike" cap="none">
                          <a:latin typeface="Arial"/>
                          <a:ea typeface="Arial"/>
                          <a:cs typeface="Arial"/>
                          <a:sym typeface="Arial"/>
                        </a:rPr>
                      </a:br>
                      <a:br>
                        <a:rPr lang="sv-SE" sz="1200" b="0" u="none" strike="noStrike" cap="none">
                          <a:latin typeface="Arial"/>
                          <a:ea typeface="Arial"/>
                          <a:cs typeface="Arial"/>
                          <a:sym typeface="Arial"/>
                        </a:rPr>
                      </a:br>
                      <a:r>
                        <a:rPr lang="sv-SE" sz="1200" b="0" u="none" strike="noStrike" cap="none">
                          <a:latin typeface="Arial"/>
                          <a:ea typeface="Arial"/>
                          <a:cs typeface="Arial"/>
                          <a:sym typeface="Arial"/>
                        </a:rPr>
                        <a:t>✅ Tabell NetworkTrafficLogs skapad</a:t>
                      </a:r>
                      <a:br>
                        <a:rPr lang="sv-SE" sz="1200" b="0" u="none" strike="noStrike" cap="none">
                          <a:latin typeface="Arial"/>
                          <a:ea typeface="Arial"/>
                          <a:cs typeface="Arial"/>
                          <a:sym typeface="Arial"/>
                        </a:rPr>
                      </a:br>
                      <a:r>
                        <a:rPr lang="sv-SE" sz="1200" b="0" u="none" strike="noStrike" cap="none">
                          <a:latin typeface="Arial"/>
                          <a:ea typeface="Arial"/>
                          <a:cs typeface="Arial"/>
                          <a:sym typeface="Arial"/>
                        </a:rPr>
                        <a:t>✅ Tabell ThreatDetections skapad</a:t>
                      </a:r>
                      <a:br>
                        <a:rPr lang="sv-SE" sz="1200" b="0" u="none" strike="noStrike" cap="none">
                          <a:latin typeface="Arial"/>
                          <a:ea typeface="Arial"/>
                          <a:cs typeface="Arial"/>
                          <a:sym typeface="Arial"/>
                        </a:rPr>
                      </a:br>
                      <a:r>
                        <a:rPr lang="sv-SE" sz="1200" b="0" u="none" strike="noStrike" cap="none">
                          <a:latin typeface="Arial"/>
                          <a:ea typeface="Arial"/>
                          <a:cs typeface="Arial"/>
                          <a:sym typeface="Arial"/>
                        </a:rPr>
                        <a:t>✅ Tabell SecurityMetrics skapad</a:t>
                      </a:r>
                      <a:br>
                        <a:rPr lang="sv-SE" sz="1200" b="0" u="none" strike="noStrike" cap="none">
                          <a:latin typeface="Arial"/>
                          <a:ea typeface="Arial"/>
                          <a:cs typeface="Arial"/>
                          <a:sym typeface="Arial"/>
                        </a:rPr>
                      </a:br>
                      <a:r>
                        <a:rPr lang="sv-SE" sz="1200" b="0" u="none" strike="noStrike" cap="none">
                          <a:latin typeface="Arial"/>
                          <a:ea typeface="Arial"/>
                          <a:cs typeface="Arial"/>
                          <a:sym typeface="Arial"/>
                        </a:rPr>
                        <a:t>✅ Vy vw_TrafficAnalysis skapad</a:t>
                      </a:r>
                      <a:br>
                        <a:rPr lang="sv-SE" sz="1200" b="0" u="none" strike="noStrike" cap="none">
                          <a:latin typeface="Arial"/>
                          <a:ea typeface="Arial"/>
                          <a:cs typeface="Arial"/>
                          <a:sym typeface="Arial"/>
                        </a:rPr>
                      </a:br>
                      <a:r>
                        <a:rPr lang="sv-SE" sz="1200" b="0" u="none" strike="noStrike" cap="none">
                          <a:latin typeface="Arial"/>
                          <a:ea typeface="Arial"/>
                          <a:cs typeface="Arial"/>
                          <a:sym typeface="Arial"/>
                        </a:rPr>
                        <a:t>🔄 Lägger in testdata...</a:t>
                      </a:r>
                      <a:br>
                        <a:rPr lang="sv-SE" sz="1200" b="0" u="none" strike="noStrike" cap="none">
                          <a:latin typeface="Arial"/>
                          <a:ea typeface="Arial"/>
                          <a:cs typeface="Arial"/>
                          <a:sym typeface="Arial"/>
                        </a:rPr>
                      </a:br>
                      <a:r>
                        <a:rPr lang="sv-SE" sz="1200" b="0" u="none" strike="noStrike" cap="none">
                          <a:latin typeface="Arial"/>
                          <a:ea typeface="Arial"/>
                          <a:cs typeface="Arial"/>
                          <a:sym typeface="Arial"/>
                        </a:rPr>
                        <a:t>✅ Testdata insatt (20 rader)</a:t>
                      </a:r>
                      <a:br>
                        <a:rPr lang="sv-SE" sz="1200" b="0" u="none" strike="noStrike" cap="none">
                          <a:latin typeface="Arial"/>
                          <a:ea typeface="Arial"/>
                          <a:cs typeface="Arial"/>
                          <a:sym typeface="Arial"/>
                        </a:rPr>
                      </a:br>
                      <a:br>
                        <a:rPr lang="sv-SE" sz="1200" b="0" u="none" strike="noStrike" cap="none">
                          <a:latin typeface="Arial"/>
                          <a:ea typeface="Arial"/>
                          <a:cs typeface="Arial"/>
                          <a:sym typeface="Arial"/>
                        </a:rPr>
                      </a:br>
                      <a:r>
                        <a:rPr lang="sv-SE" sz="1200" b="0" u="none" strike="noStrike" cap="none">
                          <a:latin typeface="Arial"/>
                          <a:ea typeface="Arial"/>
                          <a:cs typeface="Arial"/>
                          <a:sym typeface="Arial"/>
                        </a:rPr>
                        <a:t>och längst ner en sammanfattning med antal rader i varje tabell .</a:t>
                      </a:r>
                      <a:endParaRPr sz="12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4530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10</a:t>
                      </a:r>
                      <a:endParaRPr sz="11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Uppdatera Objektutforskaren</a:t>
                      </a:r>
                      <a:endParaRPr sz="11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latin typeface="Arial"/>
                          <a:ea typeface="Arial"/>
                          <a:cs typeface="Arial"/>
                          <a:sym typeface="Arial"/>
                        </a:rPr>
                        <a:t>Högerklicka på mappen </a:t>
                      </a:r>
                      <a:r>
                        <a:rPr lang="sv-SE" sz="1200" b="1" u="none" strike="noStrike" cap="none">
                          <a:latin typeface="Arial"/>
                          <a:ea typeface="Arial"/>
                          <a:cs typeface="Arial"/>
                          <a:sym typeface="Arial"/>
                        </a:rPr>
                        <a:t>"Tabeller"</a:t>
                      </a:r>
                      <a:r>
                        <a:rPr lang="sv-SE" sz="1200" b="0" u="none" strike="noStrike" cap="none">
                          <a:latin typeface="Arial"/>
                          <a:ea typeface="Arial"/>
                          <a:cs typeface="Arial"/>
                          <a:sym typeface="Arial"/>
                        </a:rPr>
                        <a:t> under NetworkSecurityML och välj </a:t>
                      </a:r>
                      <a:r>
                        <a:rPr lang="sv-SE" sz="1200" b="1" u="none" strike="noStrike" cap="none">
                          <a:latin typeface="Arial"/>
                          <a:ea typeface="Arial"/>
                          <a:cs typeface="Arial"/>
                          <a:sym typeface="Arial"/>
                        </a:rPr>
                        <a:t>"Uppdatera"</a:t>
                      </a:r>
                      <a:r>
                        <a:rPr lang="sv-SE" sz="1200" b="0" u="none" strike="noStrike" cap="none">
                          <a:latin typeface="Arial"/>
                          <a:ea typeface="Arial"/>
                          <a:cs typeface="Arial"/>
                          <a:sym typeface="Arial"/>
                        </a:rPr>
                        <a:t> (Refresh).</a:t>
                      </a:r>
                      <a:endParaRPr sz="12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53405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11</a:t>
                      </a:r>
                      <a:endParaRPr sz="11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Kontrollera att tabellerna finns</a:t>
                      </a:r>
                      <a:endParaRPr sz="11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latin typeface="Arial"/>
                          <a:ea typeface="Arial"/>
                          <a:cs typeface="Arial"/>
                          <a:sym typeface="Arial"/>
                        </a:rPr>
                        <a:t>Expandera mappen </a:t>
                      </a:r>
                      <a:r>
                        <a:rPr lang="sv-SE" sz="1200" b="1" u="none" strike="noStrike" cap="none">
                          <a:latin typeface="Arial"/>
                          <a:ea typeface="Arial"/>
                          <a:cs typeface="Arial"/>
                          <a:sym typeface="Arial"/>
                        </a:rPr>
                        <a:t>"Tabeller"</a:t>
                      </a:r>
                      <a:r>
                        <a:rPr lang="sv-SE" sz="1200" b="0" u="none" strike="noStrike" cap="none">
                          <a:latin typeface="Arial"/>
                          <a:ea typeface="Arial"/>
                          <a:cs typeface="Arial"/>
                          <a:sym typeface="Arial"/>
                        </a:rPr>
                        <a:t>. Du bör nu se tre nya tabeller:</a:t>
                      </a:r>
                      <a:br>
                        <a:rPr lang="sv-SE" sz="1200" b="0" u="none" strike="noStrike" cap="none">
                          <a:latin typeface="Arial"/>
                          <a:ea typeface="Arial"/>
                          <a:cs typeface="Arial"/>
                          <a:sym typeface="Arial"/>
                        </a:rPr>
                      </a:br>
                      <a:r>
                        <a:rPr lang="sv-SE" sz="1200" b="0" u="none" strike="noStrike" cap="none">
                          <a:latin typeface="Arial"/>
                          <a:ea typeface="Arial"/>
                          <a:cs typeface="Arial"/>
                          <a:sym typeface="Arial"/>
                        </a:rPr>
                        <a:t>• dbo.NetworkTrafficLogs</a:t>
                      </a:r>
                      <a:br>
                        <a:rPr lang="sv-SE" sz="1200" b="0" u="none" strike="noStrike" cap="none">
                          <a:latin typeface="Arial"/>
                          <a:ea typeface="Arial"/>
                          <a:cs typeface="Arial"/>
                          <a:sym typeface="Arial"/>
                        </a:rPr>
                      </a:br>
                      <a:r>
                        <a:rPr lang="sv-SE" sz="1200" b="0" u="none" strike="noStrike" cap="none">
                          <a:latin typeface="Arial"/>
                          <a:ea typeface="Arial"/>
                          <a:cs typeface="Arial"/>
                          <a:sym typeface="Arial"/>
                        </a:rPr>
                        <a:t>• dbo.ThreatDetections</a:t>
                      </a:r>
                      <a:br>
                        <a:rPr lang="sv-SE" sz="1200" b="0" u="none" strike="noStrike" cap="none">
                          <a:latin typeface="Arial"/>
                          <a:ea typeface="Arial"/>
                          <a:cs typeface="Arial"/>
                          <a:sym typeface="Arial"/>
                        </a:rPr>
                      </a:br>
                      <a:r>
                        <a:rPr lang="sv-SE" sz="1200" b="0" u="none" strike="noStrike" cap="none">
                          <a:latin typeface="Arial"/>
                          <a:ea typeface="Arial"/>
                          <a:cs typeface="Arial"/>
                          <a:sym typeface="Arial"/>
                        </a:rPr>
                        <a:t>• dbo.SecurityMetrics</a:t>
                      </a:r>
                      <a:br>
                        <a:rPr lang="sv-SE" sz="1200" b="0" u="none" strike="noStrike" cap="none">
                          <a:latin typeface="Arial"/>
                          <a:ea typeface="Arial"/>
                          <a:cs typeface="Arial"/>
                          <a:sym typeface="Arial"/>
                        </a:rPr>
                      </a:br>
                      <a:br>
                        <a:rPr lang="sv-SE" sz="1200" b="0" u="none" strike="noStrike" cap="none">
                          <a:latin typeface="Arial"/>
                          <a:ea typeface="Arial"/>
                          <a:cs typeface="Arial"/>
                          <a:sym typeface="Arial"/>
                        </a:rPr>
                      </a:br>
                      <a:r>
                        <a:rPr lang="sv-SE" sz="1200" b="0" u="none" strike="noStrike" cap="none">
                          <a:latin typeface="Arial"/>
                          <a:ea typeface="Arial"/>
                          <a:cs typeface="Arial"/>
                          <a:sym typeface="Arial"/>
                        </a:rPr>
                        <a:t>Expandera mappen </a:t>
                      </a:r>
                      <a:r>
                        <a:rPr lang="sv-SE" sz="1200" b="1" u="none" strike="noStrike" cap="none">
                          <a:latin typeface="Arial"/>
                          <a:ea typeface="Arial"/>
                          <a:cs typeface="Arial"/>
                          <a:sym typeface="Arial"/>
                        </a:rPr>
                        <a:t>"Vyer"</a:t>
                      </a:r>
                      <a:r>
                        <a:rPr lang="sv-SE" sz="1200" b="0" u="none" strike="noStrike" cap="none">
                          <a:latin typeface="Arial"/>
                          <a:ea typeface="Arial"/>
                          <a:cs typeface="Arial"/>
                          <a:sym typeface="Arial"/>
                        </a:rPr>
                        <a:t> (Views) så ser du även dbo.vw_TrafficAnalysis.</a:t>
                      </a:r>
                      <a:endParaRPr sz="12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32707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12</a:t>
                      </a:r>
                      <a:endParaRPr sz="1100" b="0" u="none" strike="noStrike" cap="none">
                        <a:latin typeface="Arial"/>
                        <a:ea typeface="Arial"/>
                        <a:cs typeface="Arial"/>
                        <a:sym typeface="Arial"/>
                      </a:endParaRPr>
                    </a:p>
                  </a:txBody>
                  <a:tcPr marL="9145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latin typeface="Arial"/>
                          <a:ea typeface="Arial"/>
                          <a:cs typeface="Arial"/>
                          <a:sym typeface="Arial"/>
                        </a:rPr>
                        <a:t>Testa att datan finns</a:t>
                      </a:r>
                      <a:endParaRPr sz="11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latin typeface="Arial"/>
                          <a:ea typeface="Arial"/>
                          <a:cs typeface="Arial"/>
                          <a:sym typeface="Arial"/>
                        </a:rPr>
                        <a:t>Högerklicka på tabellen NetworkTrafficLogs och välj </a:t>
                      </a:r>
                      <a:r>
                        <a:rPr lang="sv-SE" sz="1200" b="1" u="none" strike="noStrike" cap="none">
                          <a:latin typeface="Arial"/>
                          <a:ea typeface="Arial"/>
                          <a:cs typeface="Arial"/>
                          <a:sym typeface="Arial"/>
                        </a:rPr>
                        <a:t>"Välj de 1000 första raderna"</a:t>
                      </a:r>
                      <a:r>
                        <a:rPr lang="sv-SE" sz="1200" b="0" u="none" strike="noStrike" cap="none">
                          <a:latin typeface="Arial"/>
                          <a:ea typeface="Arial"/>
                          <a:cs typeface="Arial"/>
                          <a:sym typeface="Arial"/>
                        </a:rPr>
                        <a:t> (Select Top 1000 Rows). Du bör se 20 rader med testdata.</a:t>
                      </a:r>
                      <a:endParaRPr sz="1200" b="0" u="none" strike="noStrike" cap="none">
                        <a:latin typeface="Arial"/>
                        <a:ea typeface="Arial"/>
                        <a:cs typeface="Arial"/>
                        <a:sym typeface="Arial"/>
                      </a:endParaRPr>
                    </a:p>
                  </a:txBody>
                  <a:tcPr marL="152400" marR="0" marT="95250" marB="95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43"/>
          <p:cNvSpPr txBox="1">
            <a:spLocks noGrp="1"/>
          </p:cNvSpPr>
          <p:nvPr>
            <p:ph type="title"/>
          </p:nvPr>
        </p:nvSpPr>
        <p:spPr>
          <a:xfrm>
            <a:off x="360336" y="3498"/>
            <a:ext cx="11522989" cy="97685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sv-SE" sz="4800"/>
              <a:t>Automatisk skapande av tabeller i SQL Server </a:t>
            </a:r>
            <a:br>
              <a:rPr lang="sv-SE" sz="4800"/>
            </a:br>
            <a:r>
              <a:rPr lang="sv-SE" sz="4800"/>
              <a:t>(kort besrkivning)</a:t>
            </a:r>
            <a:endParaRPr sz="4800"/>
          </a:p>
        </p:txBody>
      </p:sp>
      <p:sp>
        <p:nvSpPr>
          <p:cNvPr id="558" name="Google Shape;558;p43"/>
          <p:cNvSpPr txBox="1">
            <a:spLocks noGrp="1"/>
          </p:cNvSpPr>
          <p:nvPr>
            <p:ph type="body" idx="1"/>
          </p:nvPr>
        </p:nvSpPr>
        <p:spPr>
          <a:xfrm>
            <a:off x="-1291" y="1334846"/>
            <a:ext cx="12194582" cy="55266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200"/>
              <a:buChar char="•"/>
            </a:pPr>
            <a:r>
              <a:rPr lang="sv-SE" sz="3200"/>
              <a:t>1. Ny fråga (New Query) i SSMS. </a:t>
            </a:r>
            <a:endParaRPr/>
          </a:p>
          <a:p>
            <a:pPr marL="228600" lvl="0" indent="-228600" algn="l" rtl="0">
              <a:lnSpc>
                <a:spcPct val="90000"/>
              </a:lnSpc>
              <a:spcBef>
                <a:spcPts val="1000"/>
              </a:spcBef>
              <a:spcAft>
                <a:spcPts val="0"/>
              </a:spcAft>
              <a:buClr>
                <a:srgbClr val="0F1115"/>
              </a:buClr>
              <a:buSzPts val="1600"/>
              <a:buChar char="•"/>
            </a:pPr>
            <a:r>
              <a:rPr lang="sv-SE" sz="1600" b="1">
                <a:solidFill>
                  <a:srgbClr val="0F1115"/>
                </a:solidFill>
                <a:highlight>
                  <a:srgbClr val="FFFFFF"/>
                </a:highlight>
              </a:rPr>
              <a:t>Steg 1:</a:t>
            </a:r>
            <a:r>
              <a:rPr lang="sv-SE" sz="1600">
                <a:solidFill>
                  <a:srgbClr val="0F1115"/>
                </a:solidFill>
                <a:highlight>
                  <a:srgbClr val="FFFFFF"/>
                </a:highlight>
              </a:rPr>
              <a:t> Öppna SSMS och anslut till din server.</a:t>
            </a:r>
            <a:br>
              <a:rPr lang="sv-SE" sz="1600">
                <a:highlight>
                  <a:srgbClr val="FFFFFF"/>
                </a:highlight>
              </a:rPr>
            </a:br>
            <a:r>
              <a:rPr lang="sv-SE" sz="1600">
                <a:solidFill>
                  <a:srgbClr val="0F1115"/>
                </a:solidFill>
                <a:highlight>
                  <a:srgbClr val="FFFFFF"/>
                </a:highlight>
              </a:rPr>
              <a:t>Steg 2: Expandera databasen </a:t>
            </a:r>
            <a:r>
              <a:rPr lang="sv-SE" sz="1600" b="1">
                <a:solidFill>
                  <a:srgbClr val="0F1115"/>
                </a:solidFill>
                <a:highlight>
                  <a:srgbClr val="FFFFFF"/>
                </a:highlight>
              </a:rPr>
              <a:t>NetworkSecurityML</a:t>
            </a:r>
            <a:r>
              <a:rPr lang="sv-SE" sz="1600">
                <a:solidFill>
                  <a:srgbClr val="0F1115"/>
                </a:solidFill>
                <a:highlight>
                  <a:srgbClr val="FFFFFF"/>
                </a:highlight>
              </a:rPr>
              <a:t> i objektutforskaren.</a:t>
            </a:r>
            <a:br>
              <a:rPr lang="sv-SE" sz="1600">
                <a:highlight>
                  <a:srgbClr val="FFFFFF"/>
                </a:highlight>
              </a:rPr>
            </a:br>
            <a:r>
              <a:rPr lang="sv-SE" sz="1600">
                <a:solidFill>
                  <a:srgbClr val="0F1115"/>
                </a:solidFill>
                <a:highlight>
                  <a:srgbClr val="FFFFFF"/>
                </a:highlight>
              </a:rPr>
              <a:t>Steg 3: Klicka på </a:t>
            </a:r>
            <a:r>
              <a:rPr lang="sv-SE" sz="1600" b="1">
                <a:solidFill>
                  <a:srgbClr val="0F1115"/>
                </a:solidFill>
                <a:highlight>
                  <a:srgbClr val="FFFFFF"/>
                </a:highlight>
              </a:rPr>
              <a:t>"Ny fråga"</a:t>
            </a:r>
            <a:r>
              <a:rPr lang="sv-SE" sz="1600">
                <a:solidFill>
                  <a:srgbClr val="0F1115"/>
                </a:solidFill>
                <a:highlight>
                  <a:srgbClr val="FFFFFF"/>
                </a:highlight>
              </a:rPr>
              <a:t> (New Query) i verktygsfältet (eller högerklicka på databasen → Ny fråga).</a:t>
            </a:r>
            <a:br>
              <a:rPr lang="sv-SE" sz="1600">
                <a:highlight>
                  <a:srgbClr val="FFFFFF"/>
                </a:highlight>
              </a:rPr>
            </a:br>
            <a:r>
              <a:rPr lang="sv-SE" sz="1600">
                <a:solidFill>
                  <a:srgbClr val="0F1115"/>
                </a:solidFill>
                <a:highlight>
                  <a:srgbClr val="FFFFFF"/>
                </a:highlight>
              </a:rPr>
              <a:t>Steg 4: Ett tomt fönster öppnas. Kopiera SQL-koden nedan och klistra in i fönstret.</a:t>
            </a:r>
            <a:br>
              <a:rPr lang="sv-SE" sz="1600">
                <a:highlight>
                  <a:srgbClr val="FFFFFF"/>
                </a:highlight>
              </a:rPr>
            </a:br>
            <a:r>
              <a:rPr lang="sv-SE" sz="1600">
                <a:solidFill>
                  <a:srgbClr val="0F1115"/>
                </a:solidFill>
                <a:highlight>
                  <a:srgbClr val="FFFFFF"/>
                </a:highlight>
              </a:rPr>
              <a:t>Steg 5: Klicka på </a:t>
            </a:r>
            <a:r>
              <a:rPr lang="sv-SE" sz="1600" b="1">
                <a:solidFill>
                  <a:srgbClr val="0F1115"/>
                </a:solidFill>
                <a:highlight>
                  <a:srgbClr val="FFFFFF"/>
                </a:highlight>
              </a:rPr>
              <a:t>"Kör"</a:t>
            </a:r>
            <a:r>
              <a:rPr lang="sv-SE" sz="1600">
                <a:solidFill>
                  <a:srgbClr val="0F1115"/>
                </a:solidFill>
                <a:highlight>
                  <a:srgbClr val="FFFFFF"/>
                </a:highlight>
              </a:rPr>
              <a:t> (Execute) eller tryck F5.</a:t>
            </a:r>
            <a:br>
              <a:rPr lang="sv-SE" sz="1600">
                <a:highlight>
                  <a:srgbClr val="FFFFFF"/>
                </a:highlight>
              </a:rPr>
            </a:br>
            <a:r>
              <a:rPr lang="sv-SE" sz="1600">
                <a:solidFill>
                  <a:srgbClr val="0F1115"/>
                </a:solidFill>
                <a:highlight>
                  <a:srgbClr val="FFFFFF"/>
                </a:highlight>
              </a:rPr>
              <a:t>Steg 6: Uppdatera objektutforskaren (högerklicka på "Tabeller" → Uppdatera). Du bör nu se dina tre tabeller.</a:t>
            </a:r>
            <a:endParaRPr/>
          </a:p>
          <a:p>
            <a:pPr marL="228600" lvl="0" indent="-228600" algn="l" rtl="0">
              <a:lnSpc>
                <a:spcPct val="90000"/>
              </a:lnSpc>
              <a:spcBef>
                <a:spcPts val="1000"/>
              </a:spcBef>
              <a:spcAft>
                <a:spcPts val="0"/>
              </a:spcAft>
              <a:buClr>
                <a:srgbClr val="0F1115"/>
              </a:buClr>
              <a:buSzPts val="3200"/>
              <a:buChar char="•"/>
            </a:pPr>
            <a:r>
              <a:rPr lang="sv-SE" sz="3200">
                <a:solidFill>
                  <a:srgbClr val="0F1115"/>
                </a:solidFill>
                <a:highlight>
                  <a:srgbClr val="FFFFFF"/>
                </a:highlight>
              </a:rPr>
              <a:t>2. SQL-fil som sparas och körs senare.</a:t>
            </a:r>
            <a:endParaRPr sz="3200">
              <a:solidFill>
                <a:srgbClr val="0F1115"/>
              </a:solidFill>
              <a:highlight>
                <a:srgbClr val="FFFFFF"/>
              </a:highlight>
            </a:endParaRPr>
          </a:p>
          <a:p>
            <a:pPr marL="228600" lvl="0" indent="-228600" algn="l" rtl="0">
              <a:lnSpc>
                <a:spcPct val="90000"/>
              </a:lnSpc>
              <a:spcBef>
                <a:spcPts val="1000"/>
              </a:spcBef>
              <a:spcAft>
                <a:spcPts val="0"/>
              </a:spcAft>
              <a:buClr>
                <a:srgbClr val="0F1115"/>
              </a:buClr>
              <a:buSzPts val="1600"/>
              <a:buChar char="•"/>
            </a:pPr>
            <a:r>
              <a:rPr lang="sv-SE" sz="1600" b="1">
                <a:solidFill>
                  <a:srgbClr val="0F1115"/>
                </a:solidFill>
                <a:highlight>
                  <a:srgbClr val="FFFFFF"/>
                </a:highlight>
              </a:rPr>
              <a:t>Steg 1:</a:t>
            </a:r>
            <a:r>
              <a:rPr lang="sv-SE" sz="1600">
                <a:solidFill>
                  <a:srgbClr val="0F1115"/>
                </a:solidFill>
                <a:highlight>
                  <a:srgbClr val="FFFFFF"/>
                </a:highlight>
              </a:rPr>
              <a:t> Skapa en ny fil i VS Code eller Anteckningar.</a:t>
            </a:r>
            <a:br>
              <a:rPr lang="sv-SE" sz="1600">
                <a:highlight>
                  <a:srgbClr val="FFFFFF"/>
                </a:highlight>
              </a:rPr>
            </a:br>
            <a:r>
              <a:rPr lang="sv-SE" sz="1600">
                <a:solidFill>
                  <a:srgbClr val="0F1115"/>
                </a:solidFill>
                <a:highlight>
                  <a:srgbClr val="FFFFFF"/>
                </a:highlight>
              </a:rPr>
              <a:t>Steg 2: Klistra in SQL-koden.</a:t>
            </a:r>
            <a:br>
              <a:rPr lang="sv-SE" sz="1600">
                <a:highlight>
                  <a:srgbClr val="FFFFFF"/>
                </a:highlight>
              </a:rPr>
            </a:br>
            <a:r>
              <a:rPr lang="sv-SE" sz="1600">
                <a:solidFill>
                  <a:srgbClr val="0F1115"/>
                </a:solidFill>
                <a:highlight>
                  <a:srgbClr val="FFFFFF"/>
                </a:highlight>
              </a:rPr>
              <a:t>Steg 3: Spara filen som </a:t>
            </a:r>
            <a:r>
              <a:rPr lang="sv-SE" sz="1200">
                <a:solidFill>
                  <a:srgbClr val="0F1115"/>
                </a:solidFill>
                <a:highlight>
                  <a:srgbClr val="EBEEF2"/>
                </a:highlight>
                <a:latin typeface="Consolas"/>
                <a:ea typeface="Consolas"/>
                <a:cs typeface="Consolas"/>
                <a:sym typeface="Consolas"/>
              </a:rPr>
              <a:t>create_tables.sql</a:t>
            </a:r>
            <a:r>
              <a:rPr lang="sv-SE" sz="1600">
                <a:solidFill>
                  <a:srgbClr val="0F1115"/>
                </a:solidFill>
                <a:highlight>
                  <a:srgbClr val="FFFFFF"/>
                </a:highlight>
              </a:rPr>
              <a:t> i din projektmapp.</a:t>
            </a:r>
            <a:br>
              <a:rPr lang="sv-SE" sz="1600">
                <a:highlight>
                  <a:srgbClr val="FFFFFF"/>
                </a:highlight>
              </a:rPr>
            </a:br>
            <a:r>
              <a:rPr lang="sv-SE" sz="1600">
                <a:solidFill>
                  <a:srgbClr val="0F1115"/>
                </a:solidFill>
                <a:highlight>
                  <a:srgbClr val="FFFFFF"/>
                </a:highlight>
              </a:rPr>
              <a:t>Steg 4: Öppna SSMS, öppna filen via </a:t>
            </a:r>
            <a:r>
              <a:rPr lang="sv-SE" sz="1600" b="1">
                <a:solidFill>
                  <a:srgbClr val="0F1115"/>
                </a:solidFill>
                <a:highlight>
                  <a:srgbClr val="FFFFFF"/>
                </a:highlight>
              </a:rPr>
              <a:t>Arkiv → Öppna → Fil</a:t>
            </a:r>
            <a:r>
              <a:rPr lang="sv-SE" sz="1600">
                <a:solidFill>
                  <a:srgbClr val="0F1115"/>
                </a:solidFill>
                <a:highlight>
                  <a:srgbClr val="FFFFFF"/>
                </a:highlight>
              </a:rPr>
              <a:t> .</a:t>
            </a:r>
            <a:br>
              <a:rPr lang="sv-SE" sz="1600">
                <a:highlight>
                  <a:srgbClr val="FFFFFF"/>
                </a:highlight>
              </a:rPr>
            </a:br>
            <a:r>
              <a:rPr lang="sv-SE" sz="1600">
                <a:solidFill>
                  <a:srgbClr val="0F1115"/>
                </a:solidFill>
                <a:highlight>
                  <a:srgbClr val="FFFFFF"/>
                </a:highlight>
              </a:rPr>
              <a:t>Steg 5: Kör skriptet (F5). </a:t>
            </a:r>
            <a:endParaRPr sz="1600">
              <a:solidFill>
                <a:srgbClr val="0F1115"/>
              </a:solidFill>
              <a:highlight>
                <a:srgbClr val="FFFFFF"/>
              </a:highlight>
            </a:endParaRPr>
          </a:p>
          <a:p>
            <a:pPr marL="228600" lvl="0" indent="-152400" algn="l" rtl="0">
              <a:lnSpc>
                <a:spcPct val="90000"/>
              </a:lnSpc>
              <a:spcBef>
                <a:spcPts val="1000"/>
              </a:spcBef>
              <a:spcAft>
                <a:spcPts val="0"/>
              </a:spcAft>
              <a:buClr>
                <a:schemeClr val="dk1"/>
              </a:buClr>
              <a:buSzPts val="1200"/>
              <a:buNone/>
            </a:pPr>
            <a:endParaRPr sz="1200">
              <a:solidFill>
                <a:srgbClr val="0F1115"/>
              </a:solidFill>
              <a:highlight>
                <a:srgbClr val="FFFFFF"/>
              </a:highlight>
            </a:endParaRPr>
          </a:p>
          <a:p>
            <a:pPr marL="228600" lvl="0" indent="-228600" algn="l" rtl="0">
              <a:lnSpc>
                <a:spcPct val="90000"/>
              </a:lnSpc>
              <a:spcBef>
                <a:spcPts val="1000"/>
              </a:spcBef>
              <a:spcAft>
                <a:spcPts val="0"/>
              </a:spcAft>
              <a:buClr>
                <a:srgbClr val="0F1115"/>
              </a:buClr>
              <a:buSzPts val="3200"/>
              <a:buChar char="•"/>
            </a:pPr>
            <a:r>
              <a:rPr lang="sv-SE" sz="3200">
                <a:solidFill>
                  <a:srgbClr val="0F1115"/>
                </a:solidFill>
                <a:highlight>
                  <a:srgbClr val="FFFFFF"/>
                </a:highlight>
              </a:rPr>
              <a:t>3. SQL-kod för att skapa alla tre tabeller (för Metod 1 och 2) finns i </a:t>
            </a:r>
            <a:r>
              <a:rPr lang="sv-SE" sz="3200" b="1">
                <a:solidFill>
                  <a:srgbClr val="0F1115"/>
                </a:solidFill>
                <a:highlight>
                  <a:srgbClr val="FFFFFF"/>
                </a:highlight>
              </a:rPr>
              <a:t>create_tables.sql</a:t>
            </a:r>
            <a:r>
              <a:rPr lang="sv-SE" sz="3200">
                <a:solidFill>
                  <a:srgbClr val="0F1115"/>
                </a:solidFill>
                <a:highlight>
                  <a:srgbClr val="FFFFFF"/>
                </a:highlight>
              </a:rPr>
              <a:t> eller i </a:t>
            </a:r>
            <a:r>
              <a:rPr lang="sv-SE" sz="3200" b="1">
                <a:solidFill>
                  <a:srgbClr val="0F1115"/>
                </a:solidFill>
                <a:highlight>
                  <a:srgbClr val="FFFFFF"/>
                </a:highlight>
              </a:rPr>
              <a:t>create_tables.docx. </a:t>
            </a:r>
            <a:endParaRPr/>
          </a:p>
          <a:p>
            <a:pPr marL="228600" lvl="0" indent="-152400" algn="l" rtl="0">
              <a:lnSpc>
                <a:spcPct val="90000"/>
              </a:lnSpc>
              <a:spcBef>
                <a:spcPts val="1000"/>
              </a:spcBef>
              <a:spcAft>
                <a:spcPts val="0"/>
              </a:spcAft>
              <a:buClr>
                <a:schemeClr val="dk1"/>
              </a:buClr>
              <a:buSzPts val="1200"/>
              <a:buNone/>
            </a:pPr>
            <a:endParaRPr sz="1200">
              <a:solidFill>
                <a:srgbClr val="0F1115"/>
              </a:solidFill>
              <a:highlight>
                <a:srgbClr val="FFFFFF"/>
              </a:highlight>
            </a:endParaRPr>
          </a:p>
          <a:p>
            <a:pPr marL="228600" lvl="0" indent="-152400" algn="l" rtl="0">
              <a:lnSpc>
                <a:spcPct val="90000"/>
              </a:lnSpc>
              <a:spcBef>
                <a:spcPts val="1000"/>
              </a:spcBef>
              <a:spcAft>
                <a:spcPts val="0"/>
              </a:spcAft>
              <a:buClr>
                <a:schemeClr val="dk1"/>
              </a:buClr>
              <a:buSzPts val="1200"/>
              <a:buNone/>
            </a:pPr>
            <a:endParaRPr sz="1200">
              <a:solidFill>
                <a:srgbClr val="0F1115"/>
              </a:solidFill>
              <a:highlight>
                <a:srgbClr val="FFFFFF"/>
              </a:highligh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2"/>
        <p:cNvGrpSpPr/>
        <p:nvPr/>
      </p:nvGrpSpPr>
      <p:grpSpPr>
        <a:xfrm>
          <a:off x="0" y="0"/>
          <a:ext cx="0" cy="0"/>
          <a:chOff x="0" y="0"/>
          <a:chExt cx="0" cy="0"/>
        </a:xfrm>
      </p:grpSpPr>
      <p:sp>
        <p:nvSpPr>
          <p:cNvPr id="563" name="Google Shape;563;p4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64" name="Google Shape;564;p44"/>
          <p:cNvSpPr txBox="1">
            <a:spLocks noGrp="1"/>
          </p:cNvSpPr>
          <p:nvPr>
            <p:ph type="title"/>
          </p:nvPr>
        </p:nvSpPr>
        <p:spPr>
          <a:xfrm>
            <a:off x="552617" y="259425"/>
            <a:ext cx="10909640" cy="22860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Play"/>
              <a:buNone/>
            </a:pPr>
            <a:r>
              <a:rPr lang="sv-SE" sz="4000">
                <a:latin typeface="Play"/>
                <a:ea typeface="Play"/>
                <a:cs typeface="Play"/>
                <a:sym typeface="Play"/>
              </a:rPr>
              <a:t>Vanliga frågor</a:t>
            </a:r>
            <a:endParaRPr sz="4000">
              <a:latin typeface="Play"/>
              <a:ea typeface="Play"/>
              <a:cs typeface="Play"/>
              <a:sym typeface="Play"/>
            </a:endParaRPr>
          </a:p>
        </p:txBody>
      </p:sp>
      <p:sp>
        <p:nvSpPr>
          <p:cNvPr id="565" name="Google Shape;565;p44"/>
          <p:cNvSpPr/>
          <p:nvPr/>
        </p:nvSpPr>
        <p:spPr>
          <a:xfrm>
            <a:off x="3807702" y="1733454"/>
            <a:ext cx="4572000" cy="18288"/>
          </a:xfrm>
          <a:custGeom>
            <a:avLst/>
            <a:gdLst/>
            <a:ahLst/>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566" name="Google Shape;566;p44"/>
          <p:cNvGraphicFramePr/>
          <p:nvPr/>
        </p:nvGraphicFramePr>
        <p:xfrm>
          <a:off x="14377" y="776377"/>
          <a:ext cx="3000000" cy="3000000"/>
        </p:xfrm>
        <a:graphic>
          <a:graphicData uri="http://schemas.openxmlformats.org/drawingml/2006/table">
            <a:tbl>
              <a:tblPr firstRow="1" bandRow="1">
                <a:solidFill>
                  <a:srgbClr val="F7F7F7"/>
                </a:solidFill>
                <a:tableStyleId>{822C3B93-EF79-491A-80E4-DA79D8C4CF44}</a:tableStyleId>
              </a:tblPr>
              <a:tblGrid>
                <a:gridCol w="2757050">
                  <a:extLst>
                    <a:ext uri="{9D8B030D-6E8A-4147-A177-3AD203B41FA5}">
                      <a16:colId xmlns:a16="http://schemas.microsoft.com/office/drawing/2014/main" val="20000"/>
                    </a:ext>
                  </a:extLst>
                </a:gridCol>
                <a:gridCol w="9403900">
                  <a:extLst>
                    <a:ext uri="{9D8B030D-6E8A-4147-A177-3AD203B41FA5}">
                      <a16:colId xmlns:a16="http://schemas.microsoft.com/office/drawing/2014/main" val="20001"/>
                    </a:ext>
                  </a:extLst>
                </a:gridCol>
              </a:tblGrid>
              <a:tr h="506575">
                <a:tc>
                  <a:txBody>
                    <a:bodyPr/>
                    <a:lstStyle/>
                    <a:p>
                      <a:pPr marL="0" marR="0" lvl="0" indent="0" algn="l" rtl="0">
                        <a:lnSpc>
                          <a:spcPct val="78125"/>
                        </a:lnSpc>
                        <a:spcBef>
                          <a:spcPts val="0"/>
                        </a:spcBef>
                        <a:spcAft>
                          <a:spcPts val="0"/>
                        </a:spcAft>
                        <a:buClr>
                          <a:schemeClr val="dk1"/>
                        </a:buClr>
                        <a:buSzPts val="2400"/>
                        <a:buFont typeface="Arial"/>
                        <a:buNone/>
                      </a:pPr>
                      <a:r>
                        <a:rPr lang="sv-SE" sz="2400" b="1" u="none" strike="noStrike" cap="none">
                          <a:solidFill>
                            <a:schemeClr val="dk1"/>
                          </a:solidFill>
                          <a:latin typeface="Arial"/>
                          <a:ea typeface="Arial"/>
                          <a:cs typeface="Arial"/>
                          <a:sym typeface="Arial"/>
                        </a:rPr>
                        <a:t>FRÅGA</a:t>
                      </a:r>
                      <a:endParaRPr/>
                    </a:p>
                  </a:txBody>
                  <a:tcPr marL="82025" marR="82025" marT="82025" marB="82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78125"/>
                        </a:lnSpc>
                        <a:spcBef>
                          <a:spcPts val="0"/>
                        </a:spcBef>
                        <a:spcAft>
                          <a:spcPts val="0"/>
                        </a:spcAft>
                        <a:buClr>
                          <a:schemeClr val="dk1"/>
                        </a:buClr>
                        <a:buSzPts val="2400"/>
                        <a:buFont typeface="Arial"/>
                        <a:buNone/>
                      </a:pPr>
                      <a:r>
                        <a:rPr lang="sv-SE" sz="2400" b="1" u="none" strike="noStrike" cap="none">
                          <a:solidFill>
                            <a:schemeClr val="dk1"/>
                          </a:solidFill>
                          <a:latin typeface="Arial"/>
                          <a:ea typeface="Arial"/>
                          <a:cs typeface="Arial"/>
                          <a:sym typeface="Arial"/>
                        </a:rPr>
                        <a:t>SVAR</a:t>
                      </a:r>
                      <a:endParaRPr/>
                    </a:p>
                  </a:txBody>
                  <a:tcPr marL="82025" marR="82025" marT="82025" marB="820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629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gör </a:t>
                      </a:r>
                      <a:r>
                        <a:rPr lang="sv-SE" sz="1800" b="0" u="none" strike="noStrike" cap="none">
                          <a:solidFill>
                            <a:schemeClr val="dk1"/>
                          </a:solidFill>
                          <a:latin typeface="Arial"/>
                          <a:ea typeface="Arial"/>
                          <a:cs typeface="Arial"/>
                          <a:sym typeface="Arial"/>
                        </a:rPr>
                        <a:t>USE NetworkSecurityML;</a:t>
                      </a:r>
                      <a:r>
                        <a:rPr lang="sv-SE" sz="1800" b="1" u="none" strike="noStrike" cap="none">
                          <a:solidFill>
                            <a:schemeClr val="dk1"/>
                          </a:solidFill>
                          <a:latin typeface="Arial"/>
                          <a:ea typeface="Arial"/>
                          <a:cs typeface="Arial"/>
                          <a:sym typeface="Arial"/>
                        </a:rPr>
                        <a:t>?</a:t>
                      </a:r>
                      <a:endParaRPr sz="1800" b="0" u="none" strike="noStrike" cap="none">
                        <a:solidFill>
                          <a:schemeClr val="dk1"/>
                        </a:solidFill>
                        <a:latin typeface="Arial"/>
                        <a:ea typeface="Arial"/>
                        <a:cs typeface="Arial"/>
                        <a:sym typeface="Arial"/>
                      </a:endParaRPr>
                    </a:p>
                  </a:txBody>
                  <a:tcPr marL="0" marR="547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Det talar om för SQL Server att vi vill arbeta med just den databasen. Alla kommando som följer kommer att appliceras på NetworkSecurityML .</a:t>
                      </a:r>
                      <a:endParaRPr/>
                    </a:p>
                  </a:txBody>
                  <a:tcPr marL="0" marR="328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1"/>
                  </a:ext>
                </a:extLst>
              </a:tr>
              <a:tr h="5065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a:t>
                      </a:r>
                      <a:r>
                        <a:rPr lang="sv-SE" sz="1800" b="0" u="none" strike="noStrike" cap="none">
                          <a:solidFill>
                            <a:schemeClr val="dk1"/>
                          </a:solidFill>
                          <a:latin typeface="Arial"/>
                          <a:ea typeface="Arial"/>
                          <a:cs typeface="Arial"/>
                          <a:sym typeface="Arial"/>
                        </a:rPr>
                        <a:t>IDENTITY(1,1)</a:t>
                      </a:r>
                      <a:r>
                        <a:rPr lang="sv-SE" sz="1800" b="1" u="none" strike="noStrike" cap="none">
                          <a:solidFill>
                            <a:schemeClr val="dk1"/>
                          </a:solidFill>
                          <a:latin typeface="Arial"/>
                          <a:ea typeface="Arial"/>
                          <a:cs typeface="Arial"/>
                          <a:sym typeface="Arial"/>
                        </a:rPr>
                        <a:t>?</a:t>
                      </a:r>
                      <a:endParaRPr sz="1800" b="0" u="none" strike="noStrike" cap="none">
                        <a:solidFill>
                          <a:schemeClr val="dk1"/>
                        </a:solidFill>
                        <a:latin typeface="Arial"/>
                        <a:ea typeface="Arial"/>
                        <a:cs typeface="Arial"/>
                        <a:sym typeface="Arial"/>
                      </a:endParaRPr>
                    </a:p>
                  </a:txBody>
                  <a:tcPr marL="16425" marR="547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Det betyder att kolumnen automatiskt får ett unikt nummer som börjar på 1 och ökar med 1 för varje ny rad. Perfekt för ID-kolumner!</a:t>
                      </a:r>
                      <a:endParaRPr/>
                    </a:p>
                  </a:txBody>
                  <a:tcPr marL="16425" marR="328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5065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a:t>
                      </a:r>
                      <a:r>
                        <a:rPr lang="sv-SE" sz="1800" b="0" u="none" strike="noStrike" cap="none">
                          <a:solidFill>
                            <a:schemeClr val="dk1"/>
                          </a:solidFill>
                          <a:latin typeface="Arial"/>
                          <a:ea typeface="Arial"/>
                          <a:cs typeface="Arial"/>
                          <a:sym typeface="Arial"/>
                        </a:rPr>
                        <a:t>PRIMARY KEY</a:t>
                      </a:r>
                      <a:r>
                        <a:rPr lang="sv-SE" sz="1800" b="1" u="none" strike="noStrike" cap="none">
                          <a:solidFill>
                            <a:schemeClr val="dk1"/>
                          </a:solidFill>
                          <a:latin typeface="Arial"/>
                          <a:ea typeface="Arial"/>
                          <a:cs typeface="Arial"/>
                          <a:sym typeface="Arial"/>
                        </a:rPr>
                        <a:t>?</a:t>
                      </a:r>
                      <a:endParaRPr sz="1800" b="0" u="none" strike="noStrike" cap="none">
                        <a:solidFill>
                          <a:schemeClr val="dk1"/>
                        </a:solidFill>
                        <a:latin typeface="Arial"/>
                        <a:ea typeface="Arial"/>
                        <a:cs typeface="Arial"/>
                        <a:sym typeface="Arial"/>
                      </a:endParaRPr>
                    </a:p>
                  </a:txBody>
                  <a:tcPr marL="0" marR="547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En primärnyckel är en kolumn (eller kombination av kolumner) som unikt identifierar varje rad. Det är som ett personnummer för varje rad i tabellen .</a:t>
                      </a:r>
                      <a:endParaRPr/>
                    </a:p>
                  </a:txBody>
                  <a:tcPr marL="0" marR="328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3"/>
                  </a:ext>
                </a:extLst>
              </a:tr>
              <a:tr h="4629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a:t>
                      </a:r>
                      <a:r>
                        <a:rPr lang="sv-SE" sz="1800" b="0" u="none" strike="noStrike" cap="none">
                          <a:solidFill>
                            <a:schemeClr val="dk1"/>
                          </a:solidFill>
                          <a:latin typeface="Arial"/>
                          <a:ea typeface="Arial"/>
                          <a:cs typeface="Arial"/>
                          <a:sym typeface="Arial"/>
                        </a:rPr>
                        <a:t>FOREIGN KEY</a:t>
                      </a:r>
                      <a:r>
                        <a:rPr lang="sv-SE" sz="1800" b="1" u="none" strike="noStrike" cap="none">
                          <a:solidFill>
                            <a:schemeClr val="dk1"/>
                          </a:solidFill>
                          <a:latin typeface="Arial"/>
                          <a:ea typeface="Arial"/>
                          <a:cs typeface="Arial"/>
                          <a:sym typeface="Arial"/>
                        </a:rPr>
                        <a:t>?</a:t>
                      </a:r>
                      <a:endParaRPr sz="1800" b="0" u="none" strike="noStrike" cap="none">
                        <a:solidFill>
                          <a:schemeClr val="dk1"/>
                        </a:solidFill>
                        <a:latin typeface="Arial"/>
                        <a:ea typeface="Arial"/>
                        <a:cs typeface="Arial"/>
                        <a:sym typeface="Arial"/>
                      </a:endParaRPr>
                    </a:p>
                  </a:txBody>
                  <a:tcPr marL="16425" marR="547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En främmande nyckel skapar en länk mellan två tabeller. I vårt fall kopplar ThreatDetections.LogID till NetworkTrafficLogs.LogID, så vi vet vilken loggrad varje prediktion tillhör .</a:t>
                      </a:r>
                      <a:endParaRPr/>
                    </a:p>
                  </a:txBody>
                  <a:tcPr marL="16425" marR="328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4629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a:t>
                      </a:r>
                      <a:r>
                        <a:rPr lang="sv-SE" sz="1800" b="0" u="none" strike="noStrike" cap="none">
                          <a:solidFill>
                            <a:schemeClr val="dk1"/>
                          </a:solidFill>
                          <a:latin typeface="Arial"/>
                          <a:ea typeface="Arial"/>
                          <a:cs typeface="Arial"/>
                          <a:sym typeface="Arial"/>
                        </a:rPr>
                        <a:t>INDEX</a:t>
                      </a:r>
                      <a:r>
                        <a:rPr lang="sv-SE" sz="1800" b="1" u="none" strike="noStrike" cap="none">
                          <a:solidFill>
                            <a:schemeClr val="dk1"/>
                          </a:solidFill>
                          <a:latin typeface="Arial"/>
                          <a:ea typeface="Arial"/>
                          <a:cs typeface="Arial"/>
                          <a:sym typeface="Arial"/>
                        </a:rPr>
                        <a:t>?</a:t>
                      </a:r>
                      <a:endParaRPr sz="1800" b="0" u="none" strike="noStrike" cap="none">
                        <a:solidFill>
                          <a:schemeClr val="dk1"/>
                        </a:solidFill>
                        <a:latin typeface="Arial"/>
                        <a:ea typeface="Arial"/>
                        <a:cs typeface="Arial"/>
                        <a:sym typeface="Arial"/>
                      </a:endParaRPr>
                    </a:p>
                  </a:txBody>
                  <a:tcPr marL="0" marR="547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Ett index är som ett register i en bok – det gör att SQL Server snabbt kan hitta data. Vi skapar index på kolumner som vi ofta söker på (som Timestamp och SourceIP) .</a:t>
                      </a:r>
                      <a:endParaRPr/>
                    </a:p>
                  </a:txBody>
                  <a:tcPr marL="0" marR="328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5"/>
                  </a:ext>
                </a:extLst>
              </a:tr>
              <a:tr h="6375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en </a:t>
                      </a:r>
                      <a:r>
                        <a:rPr lang="sv-SE" sz="1800" b="0" u="none" strike="noStrike" cap="none">
                          <a:solidFill>
                            <a:schemeClr val="dk1"/>
                          </a:solidFill>
                          <a:latin typeface="Arial"/>
                          <a:ea typeface="Arial"/>
                          <a:cs typeface="Arial"/>
                          <a:sym typeface="Arial"/>
                        </a:rPr>
                        <a:t>VIEW</a:t>
                      </a:r>
                      <a:r>
                        <a:rPr lang="sv-SE" sz="1800" b="1" u="none" strike="noStrike" cap="none">
                          <a:solidFill>
                            <a:schemeClr val="dk1"/>
                          </a:solidFill>
                          <a:latin typeface="Arial"/>
                          <a:ea typeface="Arial"/>
                          <a:cs typeface="Arial"/>
                          <a:sym typeface="Arial"/>
                        </a:rPr>
                        <a:t> (vy)?</a:t>
                      </a:r>
                      <a:endParaRPr sz="1800" b="0" u="none" strike="noStrike" cap="none">
                        <a:solidFill>
                          <a:schemeClr val="dk1"/>
                        </a:solidFill>
                        <a:latin typeface="Arial"/>
                        <a:ea typeface="Arial"/>
                        <a:cs typeface="Arial"/>
                        <a:sym typeface="Arial"/>
                      </a:endParaRPr>
                    </a:p>
                  </a:txBody>
                  <a:tcPr marL="16425" marR="547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En vy är som en sparad fråga. Den ser ut som en tabell men innehåller resultatet av en fråga. Vår vy vw_TrafficAnalysis kombinerar data från båda tabellerna så att det blir enkelt att använda i Power BI .</a:t>
                      </a:r>
                      <a:endParaRPr/>
                    </a:p>
                  </a:txBody>
                  <a:tcPr marL="16425" marR="328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7161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Varför är </a:t>
                      </a:r>
                      <a:r>
                        <a:rPr lang="sv-SE" sz="1800" b="0" u="none" strike="noStrike" cap="none">
                          <a:solidFill>
                            <a:schemeClr val="dk1"/>
                          </a:solidFill>
                          <a:latin typeface="Arial"/>
                          <a:ea typeface="Arial"/>
                          <a:cs typeface="Arial"/>
                          <a:sym typeface="Arial"/>
                        </a:rPr>
                        <a:t>ThreatDetections</a:t>
                      </a:r>
                      <a:r>
                        <a:rPr lang="sv-SE" sz="1800" b="1" u="none" strike="noStrike" cap="none">
                          <a:solidFill>
                            <a:schemeClr val="dk1"/>
                          </a:solidFill>
                          <a:latin typeface="Arial"/>
                          <a:ea typeface="Arial"/>
                          <a:cs typeface="Arial"/>
                          <a:sym typeface="Arial"/>
                        </a:rPr>
                        <a:t> och </a:t>
                      </a:r>
                      <a:r>
                        <a:rPr lang="sv-SE" sz="1800" b="0" u="none" strike="noStrike" cap="none">
                          <a:solidFill>
                            <a:schemeClr val="dk1"/>
                          </a:solidFill>
                          <a:latin typeface="Arial"/>
                          <a:ea typeface="Arial"/>
                          <a:cs typeface="Arial"/>
                          <a:sym typeface="Arial"/>
                        </a:rPr>
                        <a:t>SecurityMetrics</a:t>
                      </a:r>
                      <a:r>
                        <a:rPr lang="sv-SE" sz="1800" b="1" u="none" strike="noStrike" cap="none">
                          <a:solidFill>
                            <a:schemeClr val="dk1"/>
                          </a:solidFill>
                          <a:latin typeface="Arial"/>
                          <a:ea typeface="Arial"/>
                          <a:cs typeface="Arial"/>
                          <a:sym typeface="Arial"/>
                        </a:rPr>
                        <a:t> tomma?</a:t>
                      </a:r>
                      <a:endParaRPr sz="1800" b="0" u="none" strike="noStrike" cap="none">
                        <a:solidFill>
                          <a:schemeClr val="dk1"/>
                        </a:solidFill>
                        <a:latin typeface="Arial"/>
                        <a:ea typeface="Arial"/>
                        <a:cs typeface="Arial"/>
                        <a:sym typeface="Arial"/>
                      </a:endParaRPr>
                    </a:p>
                  </a:txBody>
                  <a:tcPr marL="0" marR="547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Det är helt normalt! NetworkTrafficLogs innehåller testdata (20 rader). ThreatDetections fylls först när vi kör vår ML-modell i Steg 10. SecurityMetrics fylls senare via Python-skript eller automatiska jobb .</a:t>
                      </a:r>
                      <a:endParaRPr/>
                    </a:p>
                  </a:txBody>
                  <a:tcPr marL="0" marR="328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7"/>
                  </a:ext>
                </a:extLst>
              </a:tr>
              <a:tr h="4105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Jag ser inte tabellerna – varför?</a:t>
                      </a:r>
                      <a:endParaRPr sz="1800" b="0" u="none" strike="noStrike" cap="none">
                        <a:solidFill>
                          <a:schemeClr val="dk1"/>
                        </a:solidFill>
                        <a:latin typeface="Arial"/>
                        <a:ea typeface="Arial"/>
                        <a:cs typeface="Arial"/>
                        <a:sym typeface="Arial"/>
                      </a:endParaRPr>
                    </a:p>
                  </a:txBody>
                  <a:tcPr marL="16425" marR="547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Du måste uppdatera (refresh) mappen "Tabeller". Högerklicka på mappen och välj "Uppdatera" (Refresh).</a:t>
                      </a:r>
                      <a:endParaRPr/>
                    </a:p>
                  </a:txBody>
                  <a:tcPr marL="16425" marR="328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8"/>
                  </a:ext>
                </a:extLst>
              </a:tr>
              <a:tr h="4629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Kan jag köra skriptet flera gånger?</a:t>
                      </a:r>
                      <a:endParaRPr sz="1800" b="0" u="none" strike="noStrike" cap="none">
                        <a:solidFill>
                          <a:schemeClr val="dk1"/>
                        </a:solidFill>
                        <a:latin typeface="Arial"/>
                        <a:ea typeface="Arial"/>
                        <a:cs typeface="Arial"/>
                        <a:sym typeface="Arial"/>
                      </a:endParaRPr>
                    </a:p>
                  </a:txBody>
                  <a:tcPr marL="0" marR="547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7F7F7F"/>
                      </a:solidFill>
                      <a:prstDash val="solid"/>
                      <a:round/>
                      <a:headEnd type="none" w="sm" len="sm"/>
                      <a:tailEnd type="none" w="sm" len="sm"/>
                    </a:lnB>
                    <a:solidFill>
                      <a:srgbClr val="F7F7F7"/>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Ja! Skriptet innehåller DROP TABLE IF EXISTS som tar bort tabellerna innan de skapas igen. Det är säkert att köra flera gånger .</a:t>
                      </a:r>
                      <a:endParaRPr/>
                    </a:p>
                  </a:txBody>
                  <a:tcPr marL="0" marR="32850" marT="34225" marB="54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7F7F7F"/>
                      </a:solidFill>
                      <a:prstDash val="solid"/>
                      <a:round/>
                      <a:headEnd type="none" w="sm" len="sm"/>
                      <a:tailEnd type="none" w="sm" len="sm"/>
                    </a:lnB>
                    <a:solidFill>
                      <a:srgbClr val="F7F7F7"/>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0"/>
        <p:cNvGrpSpPr/>
        <p:nvPr/>
      </p:nvGrpSpPr>
      <p:grpSpPr>
        <a:xfrm>
          <a:off x="0" y="0"/>
          <a:ext cx="0" cy="0"/>
          <a:chOff x="0" y="0"/>
          <a:chExt cx="0" cy="0"/>
        </a:xfrm>
      </p:grpSpPr>
      <p:sp>
        <p:nvSpPr>
          <p:cNvPr id="571" name="Google Shape;571;p4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2" name="Google Shape;572;p45"/>
          <p:cNvSpPr/>
          <p:nvPr/>
        </p:nvSpPr>
        <p:spPr>
          <a:xfrm>
            <a:off x="1" y="0"/>
            <a:ext cx="12191999" cy="2083506"/>
          </a:xfrm>
          <a:custGeom>
            <a:avLst/>
            <a:gdLst/>
            <a:ahLst/>
            <a:cxnLst/>
            <a:rect l="l" t="t" r="r" b="b"/>
            <a:pathLst>
              <a:path w="12191999" h="2083506" extrusionOk="0">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3" name="Google Shape;573;p45"/>
          <p:cNvSpPr txBox="1">
            <a:spLocks noGrp="1"/>
          </p:cNvSpPr>
          <p:nvPr>
            <p:ph type="title"/>
          </p:nvPr>
        </p:nvSpPr>
        <p:spPr>
          <a:xfrm>
            <a:off x="828675" y="494414"/>
            <a:ext cx="10534650" cy="817403"/>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3600"/>
              <a:buFont typeface="Play"/>
              <a:buNone/>
            </a:pPr>
            <a:r>
              <a:rPr lang="sv-SE" sz="3600">
                <a:solidFill>
                  <a:schemeClr val="dk1"/>
                </a:solidFill>
                <a:latin typeface="Play"/>
                <a:ea typeface="Play"/>
                <a:cs typeface="Play"/>
                <a:sym typeface="Play"/>
              </a:rPr>
              <a:t>Felsökning </a:t>
            </a:r>
            <a:endParaRPr/>
          </a:p>
        </p:txBody>
      </p:sp>
      <p:graphicFrame>
        <p:nvGraphicFramePr>
          <p:cNvPr id="574" name="Google Shape;574;p45"/>
          <p:cNvGraphicFramePr/>
          <p:nvPr/>
        </p:nvGraphicFramePr>
        <p:xfrm>
          <a:off x="14377" y="1581509"/>
          <a:ext cx="3000000" cy="3000000"/>
        </p:xfrm>
        <a:graphic>
          <a:graphicData uri="http://schemas.openxmlformats.org/drawingml/2006/table">
            <a:tbl>
              <a:tblPr firstRow="1" bandRow="1">
                <a:noFill/>
                <a:tableStyleId>{822C3B93-EF79-491A-80E4-DA79D8C4CF44}</a:tableStyleId>
              </a:tblPr>
              <a:tblGrid>
                <a:gridCol w="3574475">
                  <a:extLst>
                    <a:ext uri="{9D8B030D-6E8A-4147-A177-3AD203B41FA5}">
                      <a16:colId xmlns:a16="http://schemas.microsoft.com/office/drawing/2014/main" val="20000"/>
                    </a:ext>
                  </a:extLst>
                </a:gridCol>
                <a:gridCol w="1939625">
                  <a:extLst>
                    <a:ext uri="{9D8B030D-6E8A-4147-A177-3AD203B41FA5}">
                      <a16:colId xmlns:a16="http://schemas.microsoft.com/office/drawing/2014/main" val="20001"/>
                    </a:ext>
                  </a:extLst>
                </a:gridCol>
                <a:gridCol w="6666175">
                  <a:extLst>
                    <a:ext uri="{9D8B030D-6E8A-4147-A177-3AD203B41FA5}">
                      <a16:colId xmlns:a16="http://schemas.microsoft.com/office/drawing/2014/main" val="20002"/>
                    </a:ext>
                  </a:extLst>
                </a:gridCol>
              </a:tblGrid>
              <a:tr h="5853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Problem</a:t>
                      </a:r>
                      <a:endParaRPr/>
                    </a:p>
                  </a:txBody>
                  <a:tcPr marL="61525" marR="146525" marT="17575" marB="131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Felmeddelande</a:t>
                      </a:r>
                      <a:endParaRPr/>
                    </a:p>
                  </a:txBody>
                  <a:tcPr marL="61525" marR="146525" marT="17575" marB="131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Lösning</a:t>
                      </a:r>
                      <a:endParaRPr/>
                    </a:p>
                  </a:txBody>
                  <a:tcPr marL="61525" marR="146525" marT="17575" marB="131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8903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"Database 'NetworkSecurityML' does not exist"</a:t>
                      </a:r>
                      <a:endParaRPr sz="1800" b="0" u="none" strike="noStrike" cap="none">
                        <a:solidFill>
                          <a:schemeClr val="dk1"/>
                        </a:solidFill>
                        <a:latin typeface="Arial"/>
                        <a:ea typeface="Arial"/>
                        <a:cs typeface="Arial"/>
                        <a:sym typeface="Arial"/>
                      </a:endParaRPr>
                    </a:p>
                  </a:txBody>
                  <a:tcPr marL="61525" marR="146525" marT="17575" marB="131875"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Databasen finns inte</a:t>
                      </a:r>
                      <a:endParaRPr/>
                    </a:p>
                  </a:txBody>
                  <a:tcPr marL="61525" marR="146525" marT="17575" marB="131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Du måste skapa databasen först (Steg 7). Kontrollera att du skrivit namnet rätt.</a:t>
                      </a:r>
                      <a:endParaRPr/>
                    </a:p>
                  </a:txBody>
                  <a:tcPr marL="61525" marR="87900" marT="17575" marB="131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903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"USE statement is not supported"</a:t>
                      </a:r>
                      <a:endParaRPr sz="1800" b="0" u="none" strike="noStrike" cap="none">
                        <a:solidFill>
                          <a:schemeClr val="dk1"/>
                        </a:solidFill>
                        <a:latin typeface="Arial"/>
                        <a:ea typeface="Arial"/>
                        <a:cs typeface="Arial"/>
                        <a:sym typeface="Arial"/>
                      </a:endParaRPr>
                    </a:p>
                  </a:txBody>
                  <a:tcPr marL="61525" marR="146525" marT="17575" marB="131875"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a:t>
                      </a:r>
                      <a:endParaRPr/>
                    </a:p>
                  </a:txBody>
                  <a:tcPr marL="61525" marR="146525" marT="17575" marB="131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Kontrollera att du valt rätt databas i rullgardinsmenyn längst upp i frågefönstret.</a:t>
                      </a:r>
                      <a:endParaRPr/>
                    </a:p>
                  </a:txBody>
                  <a:tcPr marL="61525" marR="87900" marT="17575" marB="131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5606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"Permission denied"</a:t>
                      </a:r>
                      <a:endParaRPr sz="1800" b="0" u="none" strike="noStrike" cap="none">
                        <a:solidFill>
                          <a:schemeClr val="dk1"/>
                        </a:solidFill>
                        <a:latin typeface="Arial"/>
                        <a:ea typeface="Arial"/>
                        <a:cs typeface="Arial"/>
                        <a:sym typeface="Arial"/>
                      </a:endParaRPr>
                    </a:p>
                  </a:txBody>
                  <a:tcPr marL="61525" marR="146525" marT="17575" marB="131875"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Du har inte rättigheter</a:t>
                      </a:r>
                      <a:endParaRPr/>
                    </a:p>
                  </a:txBody>
                  <a:tcPr marL="61525" marR="146525" marT="17575" marB="131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Använd Windows-autentisering eller kontakta din administratör.</a:t>
                      </a:r>
                      <a:endParaRPr/>
                    </a:p>
                  </a:txBody>
                  <a:tcPr marL="61525" marR="87900" marT="17575" marB="131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8903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"Object already exists"</a:t>
                      </a:r>
                      <a:endParaRPr sz="1800" b="0" u="none" strike="noStrike" cap="none">
                        <a:solidFill>
                          <a:schemeClr val="dk1"/>
                        </a:solidFill>
                        <a:latin typeface="Arial"/>
                        <a:ea typeface="Arial"/>
                        <a:cs typeface="Arial"/>
                        <a:sym typeface="Arial"/>
                      </a:endParaRPr>
                    </a:p>
                  </a:txBody>
                  <a:tcPr marL="61525" marR="146525" marT="17575" marB="131875"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Tabellen finns redan</a:t>
                      </a:r>
                      <a:endParaRPr/>
                    </a:p>
                  </a:txBody>
                  <a:tcPr marL="61525" marR="146525" marT="17575" marB="131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Det är lugnt! Skriptet tar bort och återskapar tabellerna. Det är safe att köra ändå.</a:t>
                      </a:r>
                      <a:endParaRPr/>
                    </a:p>
                  </a:txBody>
                  <a:tcPr marL="61525" marR="87900" marT="17575" marB="131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5606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Tabellerna syns inte</a:t>
                      </a:r>
                      <a:endParaRPr sz="1800" b="0" u="none" strike="noStrike" cap="none">
                        <a:solidFill>
                          <a:schemeClr val="dk1"/>
                        </a:solidFill>
                        <a:latin typeface="Arial"/>
                        <a:ea typeface="Arial"/>
                        <a:cs typeface="Arial"/>
                        <a:sym typeface="Arial"/>
                      </a:endParaRPr>
                    </a:p>
                  </a:txBody>
                  <a:tcPr marL="61525" marR="146525" marT="17575" marB="131875"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a:t>
                      </a:r>
                      <a:endParaRPr/>
                    </a:p>
                  </a:txBody>
                  <a:tcPr marL="61525" marR="146525" marT="17575" marB="131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Högerklicka på mappen "Tabeller" och välj "Uppdatera" (Refresh).</a:t>
                      </a:r>
                      <a:endParaRPr/>
                    </a:p>
                  </a:txBody>
                  <a:tcPr marL="61525" marR="87900" marT="17575" marB="131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8326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Testa att visa data</a:t>
                      </a:r>
                      <a:endParaRPr sz="1800" b="0" u="none" strike="noStrike" cap="none">
                        <a:solidFill>
                          <a:schemeClr val="dk1"/>
                        </a:solidFill>
                        <a:latin typeface="Arial"/>
                        <a:ea typeface="Arial"/>
                        <a:cs typeface="Arial"/>
                        <a:sym typeface="Arial"/>
                      </a:endParaRPr>
                    </a:p>
                  </a:txBody>
                  <a:tcPr marL="61525" marR="146525" marT="17575" marB="131875"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a:t>
                      </a:r>
                      <a:endParaRPr/>
                    </a:p>
                  </a:txBody>
                  <a:tcPr marL="61525" marR="146525" marT="17575" marB="131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Högerklicka på NetworkTrafficLogs → "Välj de 1000 första raderna". Du bör se 20 rader.</a:t>
                      </a:r>
                      <a:endParaRPr/>
                    </a:p>
                  </a:txBody>
                  <a:tcPr marL="61525" marR="87900" marT="17575" marB="131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8"/>
        <p:cNvGrpSpPr/>
        <p:nvPr/>
      </p:nvGrpSpPr>
      <p:grpSpPr>
        <a:xfrm>
          <a:off x="0" y="0"/>
          <a:ext cx="0" cy="0"/>
          <a:chOff x="0" y="0"/>
          <a:chExt cx="0" cy="0"/>
        </a:xfrm>
      </p:grpSpPr>
      <p:sp>
        <p:nvSpPr>
          <p:cNvPr id="579" name="Google Shape;579;p4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80" name="Google Shape;580;p46"/>
          <p:cNvSpPr/>
          <p:nvPr/>
        </p:nvSpPr>
        <p:spPr>
          <a:xfrm>
            <a:off x="0" y="4"/>
            <a:ext cx="12192000" cy="2295238"/>
          </a:xfrm>
          <a:custGeom>
            <a:avLst/>
            <a:gdLst/>
            <a:ahLst/>
            <a:cxnLst/>
            <a:rect l="l" t="t" r="r" b="b"/>
            <a:pathLst>
              <a:path w="12192000" h="2079137" extrusionOk="0">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81" name="Google Shape;581;p46"/>
          <p:cNvSpPr txBox="1">
            <a:spLocks noGrp="1"/>
          </p:cNvSpPr>
          <p:nvPr>
            <p:ph type="title"/>
          </p:nvPr>
        </p:nvSpPr>
        <p:spPr>
          <a:xfrm>
            <a:off x="1137036" y="548640"/>
            <a:ext cx="9543405" cy="11887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62626"/>
              </a:buClr>
              <a:buSzPts val="4400"/>
              <a:buFont typeface="Play"/>
              <a:buNone/>
            </a:pPr>
            <a:r>
              <a:rPr lang="sv-SE">
                <a:solidFill>
                  <a:srgbClr val="262626"/>
                </a:solidFill>
              </a:rPr>
              <a:t>Steg 9: Träna ML-modell i Google Colab</a:t>
            </a:r>
            <a:endParaRPr>
              <a:solidFill>
                <a:srgbClr val="262626"/>
              </a:solidFill>
            </a:endParaRPr>
          </a:p>
        </p:txBody>
      </p:sp>
      <p:sp>
        <p:nvSpPr>
          <p:cNvPr id="582" name="Google Shape;582;p46"/>
          <p:cNvSpPr txBox="1">
            <a:spLocks noGrp="1"/>
          </p:cNvSpPr>
          <p:nvPr>
            <p:ph type="body" idx="1"/>
          </p:nvPr>
        </p:nvSpPr>
        <p:spPr>
          <a:xfrm>
            <a:off x="1957987" y="2431765"/>
            <a:ext cx="8276026" cy="3320031"/>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rgbClr val="262626"/>
              </a:buClr>
              <a:buSzPts val="2000"/>
              <a:buChar char="•"/>
            </a:pPr>
            <a:r>
              <a:rPr lang="sv-SE" sz="2000">
                <a:solidFill>
                  <a:srgbClr val="262626"/>
                </a:solidFill>
                <a:highlight>
                  <a:srgbClr val="FFFFFF"/>
                </a:highlight>
              </a:rPr>
              <a:t>Google Colab är en </a:t>
            </a:r>
            <a:r>
              <a:rPr lang="sv-SE" sz="2000" b="1">
                <a:solidFill>
                  <a:srgbClr val="262626"/>
                </a:solidFill>
                <a:highlight>
                  <a:srgbClr val="FFFFFF"/>
                </a:highlight>
              </a:rPr>
              <a:t>gratis online-verkstad</a:t>
            </a:r>
            <a:r>
              <a:rPr lang="sv-SE" sz="2000">
                <a:solidFill>
                  <a:srgbClr val="262626"/>
                </a:solidFill>
                <a:highlight>
                  <a:srgbClr val="FFFFFF"/>
                </a:highlight>
              </a:rPr>
              <a:t> för att bygga AI-modeller. Det är som en anteckningsbok i webbläsaren där vi kan skriva och köra Python-kod utan att installera något på vår egen dator. Här kommer vi att bygga, träna och testa vår modell för att upptäcka nätverksattacker .</a:t>
            </a:r>
            <a:endParaRPr sz="2000">
              <a:solidFill>
                <a:srgbClr val="262626"/>
              </a:solidFill>
            </a:endParaRPr>
          </a:p>
          <a:p>
            <a:pPr marL="228600" lvl="0" indent="-228600" algn="l" rtl="0">
              <a:lnSpc>
                <a:spcPct val="90000"/>
              </a:lnSpc>
              <a:spcBef>
                <a:spcPts val="1000"/>
              </a:spcBef>
              <a:spcAft>
                <a:spcPts val="0"/>
              </a:spcAft>
              <a:buClr>
                <a:srgbClr val="262626"/>
              </a:buClr>
              <a:buSzPts val="2000"/>
              <a:buChar char="•"/>
            </a:pPr>
            <a:r>
              <a:rPr lang="sv-SE" sz="2000" b="1">
                <a:solidFill>
                  <a:srgbClr val="262626"/>
                </a:solidFill>
                <a:highlight>
                  <a:srgbClr val="FFFFFF"/>
                </a:highlight>
              </a:rPr>
              <a:t>Varför gör vi detta?</a:t>
            </a:r>
            <a:endParaRPr sz="2000">
              <a:solidFill>
                <a:srgbClr val="262626"/>
              </a:solidFill>
            </a:endParaRPr>
          </a:p>
          <a:p>
            <a:pPr marL="228600" lvl="0" indent="-228600" algn="l" rtl="0">
              <a:lnSpc>
                <a:spcPct val="90000"/>
              </a:lnSpc>
              <a:spcBef>
                <a:spcPts val="1000"/>
              </a:spcBef>
              <a:spcAft>
                <a:spcPts val="0"/>
              </a:spcAft>
              <a:buClr>
                <a:srgbClr val="262626"/>
              </a:buClr>
              <a:buSzPts val="2000"/>
              <a:buChar char="•"/>
            </a:pPr>
            <a:r>
              <a:rPr lang="sv-SE" sz="2000">
                <a:solidFill>
                  <a:srgbClr val="262626"/>
                </a:solidFill>
                <a:highlight>
                  <a:srgbClr val="FFFFFF"/>
                </a:highlight>
              </a:rPr>
              <a:t>För att skapa en tränad modell (en </a:t>
            </a:r>
            <a:r>
              <a:rPr lang="sv-SE" sz="2000">
                <a:solidFill>
                  <a:srgbClr val="262626"/>
                </a:solidFill>
                <a:highlight>
                  <a:srgbClr val="EBEEF2"/>
                </a:highlight>
                <a:latin typeface="Consolas"/>
                <a:ea typeface="Consolas"/>
                <a:cs typeface="Consolas"/>
                <a:sym typeface="Consolas"/>
              </a:rPr>
              <a:t>.pkl</a:t>
            </a:r>
            <a:r>
              <a:rPr lang="sv-SE" sz="2000">
                <a:solidFill>
                  <a:srgbClr val="262626"/>
                </a:solidFill>
                <a:highlight>
                  <a:srgbClr val="FFFFFF"/>
                </a:highlight>
              </a:rPr>
              <a:t>-fil) som kan känna igen mönster för nätverksattacker. Vi använder Colab för att utnyttja gratis beräkningskraft (GPU) och för att hålla träningsmiljön separerad från vår produktionsmiljö – precis som man gör i verkligheten .</a:t>
            </a:r>
            <a:endParaRPr sz="2000">
              <a:solidFill>
                <a:srgbClr val="262626"/>
              </a:solidFill>
            </a:endParaRPr>
          </a:p>
        </p:txBody>
      </p:sp>
      <p:sp>
        <p:nvSpPr>
          <p:cNvPr id="583" name="Google Shape;583;p46"/>
          <p:cNvSpPr/>
          <p:nvPr/>
        </p:nvSpPr>
        <p:spPr>
          <a:xfrm>
            <a:off x="2224586" y="5970896"/>
            <a:ext cx="9967416" cy="887104"/>
          </a:xfrm>
          <a:custGeom>
            <a:avLst/>
            <a:gdLst/>
            <a:ahLst/>
            <a:cxnLst/>
            <a:rect l="l" t="t" r="r" b="b"/>
            <a:pathLst>
              <a:path w="9517857" h="918356" extrusionOk="0">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7"/>
        <p:cNvGrpSpPr/>
        <p:nvPr/>
      </p:nvGrpSpPr>
      <p:grpSpPr>
        <a:xfrm>
          <a:off x="0" y="0"/>
          <a:ext cx="0" cy="0"/>
          <a:chOff x="0" y="0"/>
          <a:chExt cx="0" cy="0"/>
        </a:xfrm>
      </p:grpSpPr>
      <p:sp>
        <p:nvSpPr>
          <p:cNvPr id="588" name="Google Shape;588;p4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89" name="Google Shape;589;p47"/>
          <p:cNvSpPr/>
          <p:nvPr/>
        </p:nvSpPr>
        <p:spPr>
          <a:xfrm>
            <a:off x="0" y="0"/>
            <a:ext cx="12192000" cy="2176818"/>
          </a:xfrm>
          <a:custGeom>
            <a:avLst/>
            <a:gdLst/>
            <a:ahLst/>
            <a:cxnLst/>
            <a:rect l="l" t="t" r="r" b="b"/>
            <a:pathLst>
              <a:path w="12192000" h="2237474" extrusionOk="0">
                <a:moveTo>
                  <a:pt x="0" y="0"/>
                </a:moveTo>
                <a:lnTo>
                  <a:pt x="12192000" y="0"/>
                </a:lnTo>
                <a:lnTo>
                  <a:pt x="12192000" y="751299"/>
                </a:lnTo>
                <a:lnTo>
                  <a:pt x="12176759" y="759190"/>
                </a:lnTo>
                <a:cubicBezTo>
                  <a:pt x="12165968" y="763819"/>
                  <a:pt x="12157853" y="765770"/>
                  <a:pt x="12154948" y="762731"/>
                </a:cubicBezTo>
                <a:cubicBezTo>
                  <a:pt x="12116503" y="759396"/>
                  <a:pt x="12073342" y="763579"/>
                  <a:pt x="12047364" y="749662"/>
                </a:cubicBezTo>
                <a:cubicBezTo>
                  <a:pt x="12041261" y="730599"/>
                  <a:pt x="11914319" y="741909"/>
                  <a:pt x="11890686" y="732766"/>
                </a:cubicBezTo>
                <a:cubicBezTo>
                  <a:pt x="11832408" y="747890"/>
                  <a:pt x="11815359" y="777569"/>
                  <a:pt x="11782413" y="769868"/>
                </a:cubicBezTo>
                <a:cubicBezTo>
                  <a:pt x="11760031" y="763594"/>
                  <a:pt x="11675205" y="777151"/>
                  <a:pt x="11649954" y="749628"/>
                </a:cubicBezTo>
                <a:cubicBezTo>
                  <a:pt x="11608286" y="767874"/>
                  <a:pt x="11593031" y="740811"/>
                  <a:pt x="11560424" y="748017"/>
                </a:cubicBezTo>
                <a:cubicBezTo>
                  <a:pt x="11488916" y="747650"/>
                  <a:pt x="11449669" y="773362"/>
                  <a:pt x="11358455" y="747593"/>
                </a:cubicBezTo>
                <a:cubicBezTo>
                  <a:pt x="11316233" y="754756"/>
                  <a:pt x="11256313" y="713012"/>
                  <a:pt x="11165209" y="748852"/>
                </a:cubicBezTo>
                <a:cubicBezTo>
                  <a:pt x="11113345" y="753539"/>
                  <a:pt x="11140250" y="736122"/>
                  <a:pt x="11058755" y="749617"/>
                </a:cubicBezTo>
                <a:cubicBezTo>
                  <a:pt x="11036836" y="722990"/>
                  <a:pt x="10909903" y="759211"/>
                  <a:pt x="10884013" y="760728"/>
                </a:cubicBezTo>
                <a:cubicBezTo>
                  <a:pt x="10864519" y="743356"/>
                  <a:pt x="10853492" y="756172"/>
                  <a:pt x="10834688" y="757726"/>
                </a:cubicBezTo>
                <a:cubicBezTo>
                  <a:pt x="10826871" y="747343"/>
                  <a:pt x="10811086" y="746602"/>
                  <a:pt x="10805004" y="757573"/>
                </a:cubicBezTo>
                <a:cubicBezTo>
                  <a:pt x="10810951" y="784448"/>
                  <a:pt x="10744688" y="759043"/>
                  <a:pt x="10739478" y="776841"/>
                </a:cubicBezTo>
                <a:cubicBezTo>
                  <a:pt x="10678284" y="779408"/>
                  <a:pt x="10540854" y="756546"/>
                  <a:pt x="10458762" y="755400"/>
                </a:cubicBezTo>
                <a:cubicBezTo>
                  <a:pt x="10426976" y="747433"/>
                  <a:pt x="10362961" y="776166"/>
                  <a:pt x="10246919" y="769960"/>
                </a:cubicBezTo>
                <a:cubicBezTo>
                  <a:pt x="10231631" y="763610"/>
                  <a:pt x="10172943" y="749095"/>
                  <a:pt x="10167995" y="760843"/>
                </a:cubicBezTo>
                <a:cubicBezTo>
                  <a:pt x="10131971" y="759999"/>
                  <a:pt x="10021683" y="796978"/>
                  <a:pt x="9997044" y="780129"/>
                </a:cubicBezTo>
                <a:cubicBezTo>
                  <a:pt x="10001018" y="806225"/>
                  <a:pt x="9951331" y="779975"/>
                  <a:pt x="9943887" y="804141"/>
                </a:cubicBezTo>
                <a:lnTo>
                  <a:pt x="9918248" y="816628"/>
                </a:lnTo>
                <a:lnTo>
                  <a:pt x="9836148" y="858312"/>
                </a:lnTo>
                <a:lnTo>
                  <a:pt x="9823800" y="866604"/>
                </a:lnTo>
                <a:lnTo>
                  <a:pt x="9794684" y="864509"/>
                </a:lnTo>
                <a:lnTo>
                  <a:pt x="9778288" y="854362"/>
                </a:lnTo>
                <a:lnTo>
                  <a:pt x="9773886" y="857543"/>
                </a:lnTo>
                <a:cubicBezTo>
                  <a:pt x="9769008" y="863842"/>
                  <a:pt x="9766501" y="867741"/>
                  <a:pt x="9761459" y="862394"/>
                </a:cubicBezTo>
                <a:lnTo>
                  <a:pt x="9705768" y="894610"/>
                </a:lnTo>
                <a:cubicBezTo>
                  <a:pt x="9699860" y="897215"/>
                  <a:pt x="9692576" y="897590"/>
                  <a:pt x="9683005" y="894128"/>
                </a:cubicBezTo>
                <a:cubicBezTo>
                  <a:pt x="9664449" y="898200"/>
                  <a:pt x="9612100" y="914263"/>
                  <a:pt x="9594438" y="919051"/>
                </a:cubicBezTo>
                <a:lnTo>
                  <a:pt x="9577033" y="922857"/>
                </a:lnTo>
                <a:cubicBezTo>
                  <a:pt x="9568659" y="926175"/>
                  <a:pt x="9551353" y="936082"/>
                  <a:pt x="9544189" y="938966"/>
                </a:cubicBezTo>
                <a:cubicBezTo>
                  <a:pt x="9538380" y="940584"/>
                  <a:pt x="9541329" y="937538"/>
                  <a:pt x="9534048" y="940158"/>
                </a:cubicBezTo>
                <a:cubicBezTo>
                  <a:pt x="9533709" y="946069"/>
                  <a:pt x="9530854" y="951684"/>
                  <a:pt x="9500499" y="954680"/>
                </a:cubicBezTo>
                <a:cubicBezTo>
                  <a:pt x="9481230" y="968165"/>
                  <a:pt x="9456325" y="979029"/>
                  <a:pt x="9428195" y="986225"/>
                </a:cubicBezTo>
                <a:cubicBezTo>
                  <a:pt x="9422499" y="981315"/>
                  <a:pt x="9414660" y="991352"/>
                  <a:pt x="9410017" y="993931"/>
                </a:cubicBezTo>
                <a:cubicBezTo>
                  <a:pt x="9408360" y="990327"/>
                  <a:pt x="9395782" y="990863"/>
                  <a:pt x="9392919" y="994656"/>
                </a:cubicBezTo>
                <a:cubicBezTo>
                  <a:pt x="9310581" y="1024474"/>
                  <a:pt x="9345163" y="981210"/>
                  <a:pt x="9301293" y="1011593"/>
                </a:cubicBezTo>
                <a:cubicBezTo>
                  <a:pt x="9292916" y="1014346"/>
                  <a:pt x="9285483" y="1013807"/>
                  <a:pt x="9278619" y="1011878"/>
                </a:cubicBezTo>
                <a:lnTo>
                  <a:pt x="9268019" y="1007442"/>
                </a:lnTo>
                <a:lnTo>
                  <a:pt x="9234662" y="1023056"/>
                </a:lnTo>
                <a:cubicBezTo>
                  <a:pt x="9217868" y="1029197"/>
                  <a:pt x="9199852" y="1034202"/>
                  <a:pt x="9181033" y="1037921"/>
                </a:cubicBezTo>
                <a:cubicBezTo>
                  <a:pt x="9174974" y="1030923"/>
                  <a:pt x="9162516" y="1043719"/>
                  <a:pt x="9155969" y="1046804"/>
                </a:cubicBezTo>
                <a:cubicBezTo>
                  <a:pt x="9154734" y="1041866"/>
                  <a:pt x="9138567" y="1041606"/>
                  <a:pt x="9133985" y="1046450"/>
                </a:cubicBezTo>
                <a:cubicBezTo>
                  <a:pt x="9021681" y="1079910"/>
                  <a:pt x="9076377" y="1024799"/>
                  <a:pt x="9012987" y="1061986"/>
                </a:cubicBezTo>
                <a:lnTo>
                  <a:pt x="8968445" y="1052169"/>
                </a:lnTo>
                <a:lnTo>
                  <a:pt x="8958984" y="1057212"/>
                </a:lnTo>
                <a:cubicBezTo>
                  <a:pt x="8920115" y="1062770"/>
                  <a:pt x="8906181" y="1053838"/>
                  <a:pt x="8886001" y="1067468"/>
                </a:cubicBezTo>
                <a:cubicBezTo>
                  <a:pt x="8847384" y="1050046"/>
                  <a:pt x="8863283" y="1068286"/>
                  <a:pt x="8838610" y="1075091"/>
                </a:cubicBezTo>
                <a:cubicBezTo>
                  <a:pt x="8816007" y="1080079"/>
                  <a:pt x="8773923" y="1092257"/>
                  <a:pt x="8750383" y="1097387"/>
                </a:cubicBezTo>
                <a:cubicBezTo>
                  <a:pt x="8735450" y="1116502"/>
                  <a:pt x="8721220" y="1097372"/>
                  <a:pt x="8697365" y="1105869"/>
                </a:cubicBezTo>
                <a:cubicBezTo>
                  <a:pt x="8687037" y="1113735"/>
                  <a:pt x="8678781" y="1115961"/>
                  <a:pt x="8665605" y="1110791"/>
                </a:cubicBezTo>
                <a:cubicBezTo>
                  <a:pt x="8618410" y="1148662"/>
                  <a:pt x="8633049" y="1116609"/>
                  <a:pt x="8584946" y="1135226"/>
                </a:cubicBezTo>
                <a:cubicBezTo>
                  <a:pt x="8544020" y="1153499"/>
                  <a:pt x="8496232" y="1168229"/>
                  <a:pt x="8460755" y="1203427"/>
                </a:cubicBezTo>
                <a:cubicBezTo>
                  <a:pt x="8454928" y="1212828"/>
                  <a:pt x="8436573" y="1218574"/>
                  <a:pt x="8419755" y="1216260"/>
                </a:cubicBezTo>
                <a:cubicBezTo>
                  <a:pt x="8416861" y="1215863"/>
                  <a:pt x="8414124" y="1215234"/>
                  <a:pt x="8411626" y="1214397"/>
                </a:cubicBezTo>
                <a:cubicBezTo>
                  <a:pt x="8391326" y="1238641"/>
                  <a:pt x="8371389" y="1231045"/>
                  <a:pt x="8363469" y="1246658"/>
                </a:cubicBezTo>
                <a:cubicBezTo>
                  <a:pt x="8322316" y="1258746"/>
                  <a:pt x="8283162" y="1250600"/>
                  <a:pt x="8275497" y="1264396"/>
                </a:cubicBezTo>
                <a:cubicBezTo>
                  <a:pt x="8253233" y="1266996"/>
                  <a:pt x="8218383" y="1257577"/>
                  <a:pt x="8206287" y="1273060"/>
                </a:cubicBezTo>
                <a:cubicBezTo>
                  <a:pt x="8200396" y="1262794"/>
                  <a:pt x="8183827" y="1285000"/>
                  <a:pt x="8168705" y="1279956"/>
                </a:cubicBezTo>
                <a:cubicBezTo>
                  <a:pt x="8157611" y="1275235"/>
                  <a:pt x="8149996" y="1280870"/>
                  <a:pt x="8139997" y="1282713"/>
                </a:cubicBezTo>
                <a:cubicBezTo>
                  <a:pt x="8125566" y="1279776"/>
                  <a:pt x="8084128" y="1294221"/>
                  <a:pt x="8074238" y="1301895"/>
                </a:cubicBezTo>
                <a:cubicBezTo>
                  <a:pt x="8052170" y="1326903"/>
                  <a:pt x="7986951" y="1319381"/>
                  <a:pt x="7968292" y="1338779"/>
                </a:cubicBezTo>
                <a:cubicBezTo>
                  <a:pt x="7960694" y="1342282"/>
                  <a:pt x="7952937" y="1344333"/>
                  <a:pt x="7945122" y="1345477"/>
                </a:cubicBezTo>
                <a:lnTo>
                  <a:pt x="7922771" y="1346645"/>
                </a:lnTo>
                <a:lnTo>
                  <a:pt x="7915461" y="1342919"/>
                </a:lnTo>
                <a:lnTo>
                  <a:pt x="7902328" y="1345865"/>
                </a:lnTo>
                <a:lnTo>
                  <a:pt x="7898322" y="1345689"/>
                </a:lnTo>
                <a:lnTo>
                  <a:pt x="7875879" y="1345646"/>
                </a:lnTo>
                <a:cubicBezTo>
                  <a:pt x="7890672" y="1367295"/>
                  <a:pt x="7816428" y="1353520"/>
                  <a:pt x="7840612" y="1369373"/>
                </a:cubicBezTo>
                <a:cubicBezTo>
                  <a:pt x="7803208" y="1375918"/>
                  <a:pt x="7836041" y="1389289"/>
                  <a:pt x="7786819" y="1378970"/>
                </a:cubicBezTo>
                <a:cubicBezTo>
                  <a:pt x="7732613" y="1405648"/>
                  <a:pt x="7587405" y="1382806"/>
                  <a:pt x="7548172" y="1417460"/>
                </a:cubicBezTo>
                <a:cubicBezTo>
                  <a:pt x="7551327" y="1405830"/>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213486" y="1580987"/>
                </a:lnTo>
                <a:lnTo>
                  <a:pt x="7210972" y="1580856"/>
                </a:lnTo>
                <a:lnTo>
                  <a:pt x="7183121" y="1595162"/>
                </a:lnTo>
                <a:lnTo>
                  <a:pt x="7164601" y="1606490"/>
                </a:lnTo>
                <a:lnTo>
                  <a:pt x="7159286" y="1606850"/>
                </a:lnTo>
                <a:cubicBezTo>
                  <a:pt x="7150961" y="1609262"/>
                  <a:pt x="7125743" y="1618162"/>
                  <a:pt x="7114651" y="1620959"/>
                </a:cubicBezTo>
                <a:cubicBezTo>
                  <a:pt x="7109310" y="1606138"/>
                  <a:pt x="7106695" y="1617324"/>
                  <a:pt x="7092727" y="1623628"/>
                </a:cubicBezTo>
                <a:cubicBezTo>
                  <a:pt x="7081313" y="1602012"/>
                  <a:pt x="7049394" y="1627301"/>
                  <a:pt x="7031309" y="1619451"/>
                </a:cubicBezTo>
                <a:cubicBezTo>
                  <a:pt x="7021305" y="1624569"/>
                  <a:pt x="7010515" y="1629587"/>
                  <a:pt x="6999084" y="1634317"/>
                </a:cubicBezTo>
                <a:lnTo>
                  <a:pt x="6992107" y="1636860"/>
                </a:lnTo>
                <a:lnTo>
                  <a:pt x="6991765" y="1636725"/>
                </a:lnTo>
                <a:cubicBezTo>
                  <a:pt x="6989813" y="1636884"/>
                  <a:pt x="6987353" y="1637572"/>
                  <a:pt x="6983996" y="1639040"/>
                </a:cubicBezTo>
                <a:lnTo>
                  <a:pt x="6979383" y="1641496"/>
                </a:lnTo>
                <a:lnTo>
                  <a:pt x="6900177" y="1636016"/>
                </a:ln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19334" y="1664040"/>
                  <a:pt x="6608179" y="1654034"/>
                  <a:pt x="6587857" y="1665769"/>
                </a:cubicBezTo>
                <a:lnTo>
                  <a:pt x="6554894" y="1664428"/>
                </a:lnTo>
                <a:lnTo>
                  <a:pt x="6551579" y="1662213"/>
                </a:lnTo>
                <a:lnTo>
                  <a:pt x="6545693" y="1661776"/>
                </a:lnTo>
                <a:lnTo>
                  <a:pt x="6530561" y="1664619"/>
                </a:lnTo>
                <a:lnTo>
                  <a:pt x="6525028" y="1666354"/>
                </a:lnTo>
                <a:cubicBezTo>
                  <a:pt x="6521154" y="1667301"/>
                  <a:pt x="6518510" y="1667613"/>
                  <a:pt x="6516595" y="1667475"/>
                </a:cubicBezTo>
                <a:lnTo>
                  <a:pt x="6516340" y="1667291"/>
                </a:lnTo>
                <a:lnTo>
                  <a:pt x="6508541" y="1668757"/>
                </a:lnTo>
                <a:cubicBezTo>
                  <a:pt x="6495493" y="1671715"/>
                  <a:pt x="6482908" y="1675051"/>
                  <a:pt x="6471012" y="1678604"/>
                </a:cubicBezTo>
                <a:cubicBezTo>
                  <a:pt x="6457809" y="1668164"/>
                  <a:pt x="6415506" y="1688334"/>
                  <a:pt x="6415265" y="1665317"/>
                </a:cubicBezTo>
                <a:cubicBezTo>
                  <a:pt x="6399063" y="1669446"/>
                  <a:pt x="6391173" y="1680085"/>
                  <a:pt x="6393343" y="1664672"/>
                </a:cubicBezTo>
                <a:lnTo>
                  <a:pt x="6380457" y="1662376"/>
                </a:lnTo>
                <a:lnTo>
                  <a:pt x="6280959" y="1689329"/>
                </a:lnTo>
                <a:lnTo>
                  <a:pt x="6266765" y="1695560"/>
                </a:lnTo>
                <a:cubicBezTo>
                  <a:pt x="6262331" y="1698152"/>
                  <a:pt x="6258580" y="1701192"/>
                  <a:pt x="6255823" y="1704850"/>
                </a:cubicBezTo>
                <a:cubicBezTo>
                  <a:pt x="6200184" y="1694834"/>
                  <a:pt x="6155082" y="1716996"/>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99949" y="1814490"/>
                </a:lnTo>
                <a:lnTo>
                  <a:pt x="5453307" y="1815450"/>
                </a:lnTo>
                <a:cubicBezTo>
                  <a:pt x="5433075" y="1827706"/>
                  <a:pt x="5395563" y="1821122"/>
                  <a:pt x="5364192" y="1826074"/>
                </a:cubicBezTo>
                <a:lnTo>
                  <a:pt x="5350380" y="1830891"/>
                </a:lnTo>
                <a:lnTo>
                  <a:pt x="5259633" y="1837160"/>
                </a:lnTo>
                <a:lnTo>
                  <a:pt x="5197513" y="1844718"/>
                </a:lnTo>
                <a:lnTo>
                  <a:pt x="5184170" y="1849402"/>
                </a:lnTo>
                <a:lnTo>
                  <a:pt x="5168852" y="1844846"/>
                </a:lnTo>
                <a:cubicBezTo>
                  <a:pt x="5166986" y="1843561"/>
                  <a:pt x="5165478" y="1842127"/>
                  <a:pt x="5164370" y="1840597"/>
                </a:cubicBezTo>
                <a:lnTo>
                  <a:pt x="5114927" y="1847827"/>
                </a:ln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63743" y="1799478"/>
                  <a:pt x="4655044" y="1795479"/>
                  <a:pt x="4647449" y="1793181"/>
                </a:cubicBezTo>
                <a:lnTo>
                  <a:pt x="4645504" y="1787606"/>
                </a:lnTo>
                <a:lnTo>
                  <a:pt x="4632229" y="1785815"/>
                </a:lnTo>
                <a:lnTo>
                  <a:pt x="4629273" y="1784355"/>
                </a:lnTo>
                <a:cubicBezTo>
                  <a:pt x="4623639" y="1781544"/>
                  <a:pt x="4617950" y="1778917"/>
                  <a:pt x="4611738" y="1776964"/>
                </a:cubicBezTo>
                <a:cubicBezTo>
                  <a:pt x="4601379" y="1800272"/>
                  <a:pt x="4557197" y="1764196"/>
                  <a:pt x="4560070" y="1785640"/>
                </a:cubicBezTo>
                <a:lnTo>
                  <a:pt x="4536503" y="1785334"/>
                </a:lnTo>
                <a:lnTo>
                  <a:pt x="4513724" y="1791996"/>
                </a:lnTo>
                <a:lnTo>
                  <a:pt x="4501513" y="1799835"/>
                </a:lnTo>
                <a:lnTo>
                  <a:pt x="4459076" y="1813003"/>
                </a:lnTo>
                <a:lnTo>
                  <a:pt x="4459810" y="1797886"/>
                </a:lnTo>
                <a:lnTo>
                  <a:pt x="4379064" y="1817177"/>
                </a:lnTo>
                <a:lnTo>
                  <a:pt x="4319209" y="1834833"/>
                </a:lnTo>
                <a:lnTo>
                  <a:pt x="4306907" y="1841641"/>
                </a:lnTo>
                <a:lnTo>
                  <a:pt x="4290981" y="1839677"/>
                </a:lnTo>
                <a:cubicBezTo>
                  <a:pt x="4288909" y="1838717"/>
                  <a:pt x="4287163" y="1837555"/>
                  <a:pt x="4285792" y="1836231"/>
                </a:cubicBezTo>
                <a:lnTo>
                  <a:pt x="4238372" y="1851480"/>
                </a:ln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84875" y="1878116"/>
                  <a:pt x="3775574" y="1875612"/>
                  <a:pt x="3767672" y="1874600"/>
                </a:cubicBezTo>
                <a:lnTo>
                  <a:pt x="3764741" y="1869433"/>
                </a:lnTo>
                <a:lnTo>
                  <a:pt x="3751332" y="1869854"/>
                </a:lnTo>
                <a:lnTo>
                  <a:pt x="3748155" y="1868903"/>
                </a:lnTo>
                <a:cubicBezTo>
                  <a:pt x="3742091" y="1867062"/>
                  <a:pt x="3736007" y="1865414"/>
                  <a:pt x="3729530" y="1864513"/>
                </a:cubicBezTo>
                <a:cubicBezTo>
                  <a:pt x="3723549" y="1889158"/>
                  <a:pt x="3673453" y="1860919"/>
                  <a:pt x="3680177" y="1881552"/>
                </a:cubicBezTo>
                <a:cubicBezTo>
                  <a:pt x="3643549" y="1880892"/>
                  <a:pt x="3599470" y="1913398"/>
                  <a:pt x="3567259" y="1893482"/>
                </a:cubicBezTo>
                <a:cubicBezTo>
                  <a:pt x="3512865" y="1897927"/>
                  <a:pt x="3463644" y="1898121"/>
                  <a:pt x="3405770" y="1904591"/>
                </a:cubicBezTo>
                <a:cubicBezTo>
                  <a:pt x="3361027" y="1917619"/>
                  <a:pt x="3312439" y="1902759"/>
                  <a:pt x="3280097" y="1919610"/>
                </a:cubicBezTo>
                <a:cubicBezTo>
                  <a:pt x="3228353" y="1917339"/>
                  <a:pt x="3163854" y="1927961"/>
                  <a:pt x="3123424" y="1952930"/>
                </a:cubicBezTo>
                <a:cubicBezTo>
                  <a:pt x="3067921" y="1955455"/>
                  <a:pt x="3058626" y="1970554"/>
                  <a:pt x="3009910" y="1957866"/>
                </a:cubicBezTo>
                <a:cubicBezTo>
                  <a:pt x="3005875" y="1961558"/>
                  <a:pt x="3001138" y="1964570"/>
                  <a:pt x="2995934" y="1967085"/>
                </a:cubicBezTo>
                <a:lnTo>
                  <a:pt x="2980071" y="1972988"/>
                </a:lnTo>
                <a:lnTo>
                  <a:pt x="2978094" y="1972369"/>
                </a:lnTo>
                <a:lnTo>
                  <a:pt x="2942858" y="1981367"/>
                </a:lnTo>
                <a:lnTo>
                  <a:pt x="2875436" y="1996977"/>
                </a:lnTo>
                <a:lnTo>
                  <a:pt x="2874892" y="1996085"/>
                </a:lnTo>
                <a:cubicBezTo>
                  <a:pt x="2872808" y="1994277"/>
                  <a:pt x="2869648" y="1993306"/>
                  <a:pt x="2864145" y="1994061"/>
                </a:cubicBezTo>
                <a:cubicBezTo>
                  <a:pt x="2872218" y="1978115"/>
                  <a:pt x="2860603" y="1988862"/>
                  <a:pt x="2843662" y="1992498"/>
                </a:cubicBezTo>
                <a:cubicBezTo>
                  <a:pt x="2852423" y="1968542"/>
                  <a:pt x="2804535" y="1987804"/>
                  <a:pt x="2796128" y="1976403"/>
                </a:cubicBezTo>
                <a:cubicBezTo>
                  <a:pt x="2783487" y="1979614"/>
                  <a:pt x="2770278" y="1982573"/>
                  <a:pt x="2756784" y="1985116"/>
                </a:cubicBezTo>
                <a:lnTo>
                  <a:pt x="2748833" y="1986323"/>
                </a:lnTo>
                <a:cubicBezTo>
                  <a:pt x="2748775" y="1986256"/>
                  <a:pt x="2748719" y="1986188"/>
                  <a:pt x="2748661" y="1986122"/>
                </a:cubicBezTo>
                <a:cubicBezTo>
                  <a:pt x="2746906" y="1985902"/>
                  <a:pt x="2744280" y="1986117"/>
                  <a:pt x="2740251" y="1986946"/>
                </a:cubicBezTo>
                <a:lnTo>
                  <a:pt x="2718916" y="1990867"/>
                </a:lnTo>
                <a:lnTo>
                  <a:pt x="2713522" y="1990173"/>
                </a:lnTo>
                <a:lnTo>
                  <a:pt x="2680597" y="1984996"/>
                </a:lnTo>
                <a:cubicBezTo>
                  <a:pt x="2658416" y="1985461"/>
                  <a:pt x="2612251" y="1988312"/>
                  <a:pt x="2578178" y="1990531"/>
                </a:cubicBezTo>
                <a:cubicBezTo>
                  <a:pt x="2545413" y="1998704"/>
                  <a:pt x="2513846" y="1994934"/>
                  <a:pt x="2476147" y="1998305"/>
                </a:cubicBezTo>
                <a:cubicBezTo>
                  <a:pt x="2437134" y="2013637"/>
                  <a:pt x="2413847" y="1999542"/>
                  <a:pt x="2373568" y="2003219"/>
                </a:cubicBezTo>
                <a:cubicBezTo>
                  <a:pt x="2341422" y="2024631"/>
                  <a:pt x="2342856" y="1992997"/>
                  <a:pt x="2321399" y="1989467"/>
                </a:cubicBezTo>
                <a:lnTo>
                  <a:pt x="2315525" y="1989708"/>
                </a:lnTo>
                <a:lnTo>
                  <a:pt x="2300792" y="1994290"/>
                </a:lnTo>
                <a:lnTo>
                  <a:pt x="2295469" y="1996659"/>
                </a:lnTo>
                <a:cubicBezTo>
                  <a:pt x="2291722" y="1998049"/>
                  <a:pt x="2289127" y="1998665"/>
                  <a:pt x="2287219" y="1998750"/>
                </a:cubicBezTo>
                <a:lnTo>
                  <a:pt x="2286948" y="1998596"/>
                </a:lnTo>
                <a:lnTo>
                  <a:pt x="2243069" y="2015111"/>
                </a:lnTo>
                <a:cubicBezTo>
                  <a:pt x="2229030" y="2006206"/>
                  <a:pt x="2188966" y="2031217"/>
                  <a:pt x="2186609" y="2008263"/>
                </a:cubicBezTo>
                <a:cubicBezTo>
                  <a:pt x="2170936" y="2014251"/>
                  <a:pt x="2164097" y="2025782"/>
                  <a:pt x="2164831" y="2010143"/>
                </a:cubicBezTo>
                <a:cubicBezTo>
                  <a:pt x="2159536" y="2011705"/>
                  <a:pt x="2155830" y="2011340"/>
                  <a:pt x="2152836" y="2010048"/>
                </a:cubicBezTo>
                <a:lnTo>
                  <a:pt x="2117102" y="2023004"/>
                </a:lnTo>
                <a:lnTo>
                  <a:pt x="2111935" y="2023163"/>
                </a:lnTo>
                <a:lnTo>
                  <a:pt x="2089991" y="2034193"/>
                </a:lnTo>
                <a:lnTo>
                  <a:pt x="2058061" y="2047942"/>
                </a:lnTo>
                <a:lnTo>
                  <a:pt x="2055737" y="2047704"/>
                </a:lnTo>
                <a:lnTo>
                  <a:pt x="2042244" y="2055560"/>
                </a:lnTo>
                <a:cubicBezTo>
                  <a:pt x="2038090" y="2058656"/>
                  <a:pt x="1978623" y="2070285"/>
                  <a:pt x="1976224" y="2074257"/>
                </a:cubicBezTo>
                <a:cubicBezTo>
                  <a:pt x="1920172" y="2070662"/>
                  <a:pt x="1933546" y="2089824"/>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402655" y="2224964"/>
                  <a:pt x="1409212" y="2231152"/>
                  <a:pt x="1398481" y="2237074"/>
                </a:cubicBezTo>
                <a:cubicBezTo>
                  <a:pt x="1398456" y="2237082"/>
                  <a:pt x="1398432" y="2237089"/>
                  <a:pt x="1398407" y="2237095"/>
                </a:cubicBezTo>
                <a:lnTo>
                  <a:pt x="1370962" y="2237474"/>
                </a:lnTo>
                <a:lnTo>
                  <a:pt x="1356367" y="2235089"/>
                </a:lnTo>
                <a:cubicBezTo>
                  <a:pt x="1346056" y="2233320"/>
                  <a:pt x="1335986" y="2231930"/>
                  <a:pt x="1324828" y="2231968"/>
                </a:cubicBezTo>
                <a:lnTo>
                  <a:pt x="1297744" y="2235849"/>
                </a:lnTo>
                <a:lnTo>
                  <a:pt x="1286236" y="2233135"/>
                </a:lnTo>
                <a:lnTo>
                  <a:pt x="1283504" y="2233797"/>
                </a:lnTo>
                <a:lnTo>
                  <a:pt x="1279765" y="2229639"/>
                </a:lnTo>
                <a:cubicBezTo>
                  <a:pt x="1260110" y="2221111"/>
                  <a:pt x="1209850" y="2211602"/>
                  <a:pt x="1195347" y="2212354"/>
                </a:cubicBezTo>
                <a:cubicBezTo>
                  <a:pt x="1171903" y="2216875"/>
                  <a:pt x="1033292" y="2222456"/>
                  <a:pt x="970251" y="2221029"/>
                </a:cubicBezTo>
                <a:cubicBezTo>
                  <a:pt x="913858" y="2213074"/>
                  <a:pt x="864984" y="2224767"/>
                  <a:pt x="812914" y="2202752"/>
                </a:cubicBezTo>
                <a:cubicBezTo>
                  <a:pt x="809419" y="2205714"/>
                  <a:pt x="805091" y="2207855"/>
                  <a:pt x="800195" y="2209407"/>
                </a:cubicBezTo>
                <a:lnTo>
                  <a:pt x="784978" y="2212360"/>
                </a:lnTo>
                <a:lnTo>
                  <a:pt x="681987" y="2216757"/>
                </a:lnTo>
                <a:lnTo>
                  <a:pt x="669923" y="2211682"/>
                </a:lnTo>
                <a:cubicBezTo>
                  <a:pt x="675432" y="2197125"/>
                  <a:pt x="665394" y="2205767"/>
                  <a:pt x="648680" y="2206229"/>
                </a:cubicBezTo>
                <a:cubicBezTo>
                  <a:pt x="653511" y="2183723"/>
                  <a:pt x="607806" y="2194090"/>
                  <a:pt x="597225" y="2180999"/>
                </a:cubicBezTo>
                <a:cubicBezTo>
                  <a:pt x="584838" y="2181847"/>
                  <a:pt x="571827" y="2182333"/>
                  <a:pt x="558449" y="2182346"/>
                </a:cubicBezTo>
                <a:lnTo>
                  <a:pt x="550517" y="2182060"/>
                </a:lnTo>
                <a:lnTo>
                  <a:pt x="550309" y="2181825"/>
                </a:lnTo>
                <a:cubicBezTo>
                  <a:pt x="548471" y="2181269"/>
                  <a:pt x="545824" y="2180990"/>
                  <a:pt x="541836" y="2181063"/>
                </a:cubicBezTo>
                <a:lnTo>
                  <a:pt x="536057" y="2181537"/>
                </a:lnTo>
                <a:lnTo>
                  <a:pt x="520671" y="2180980"/>
                </a:lnTo>
                <a:lnTo>
                  <a:pt x="515024" y="2179258"/>
                </a:lnTo>
                <a:lnTo>
                  <a:pt x="512278" y="2176369"/>
                </a:lnTo>
                <a:lnTo>
                  <a:pt x="480419" y="2167807"/>
                </a:lnTo>
                <a:cubicBezTo>
                  <a:pt x="458012" y="2174781"/>
                  <a:pt x="449332" y="2162566"/>
                  <a:pt x="413835" y="2156783"/>
                </a:cubicBezTo>
                <a:cubicBezTo>
                  <a:pt x="401959" y="2163765"/>
                  <a:pt x="389622" y="2160522"/>
                  <a:pt x="376513" y="2154014"/>
                </a:cubicBezTo>
                <a:cubicBezTo>
                  <a:pt x="344376" y="2156059"/>
                  <a:pt x="311403" y="2146283"/>
                  <a:pt x="273386" y="2142551"/>
                </a:cubicBezTo>
                <a:cubicBezTo>
                  <a:pt x="236093" y="2150634"/>
                  <a:pt x="209811" y="2132011"/>
                  <a:pt x="169207" y="2128100"/>
                </a:cubicBezTo>
                <a:lnTo>
                  <a:pt x="93149" y="2105324"/>
                </a:lnTo>
                <a:lnTo>
                  <a:pt x="88109" y="2106704"/>
                </a:lnTo>
                <a:cubicBezTo>
                  <a:pt x="84511" y="2107398"/>
                  <a:pt x="81960" y="2107528"/>
                  <a:pt x="80022" y="2107254"/>
                </a:cubicBezTo>
                <a:lnTo>
                  <a:pt x="79717" y="2107046"/>
                </a:lnTo>
                <a:lnTo>
                  <a:pt x="72352" y="2107991"/>
                </a:lnTo>
                <a:cubicBezTo>
                  <a:pt x="60160" y="2110089"/>
                  <a:pt x="48530" y="2112610"/>
                  <a:pt x="37645" y="2115401"/>
                </a:cubicBezTo>
                <a:cubicBezTo>
                  <a:pt x="29688" y="2109582"/>
                  <a:pt x="16534" y="2111084"/>
                  <a:pt x="4572" y="2111091"/>
                </a:cubicBezTo>
                <a:lnTo>
                  <a:pt x="0" y="2110468"/>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0" name="Google Shape;590;p47"/>
          <p:cNvSpPr txBox="1">
            <a:spLocks noGrp="1"/>
          </p:cNvSpPr>
          <p:nvPr>
            <p:ph type="title"/>
          </p:nvPr>
        </p:nvSpPr>
        <p:spPr>
          <a:xfrm>
            <a:off x="-13150" y="137233"/>
            <a:ext cx="12207491" cy="94960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244444"/>
              <a:buFont typeface="Play"/>
              <a:buNone/>
            </a:pPr>
            <a:r>
              <a:rPr lang="sv-SE"/>
              <a:t>Olika format för ML-modeller. </a:t>
            </a:r>
            <a:br>
              <a:rPr lang="sv-SE"/>
            </a:br>
            <a:r>
              <a:rPr lang="sv-SE" sz="1800"/>
              <a:t>För vårt projekt är .pkl med joblib perfekt – det är standard för scikit-learn, enkelt och fungerar utmärkt i vår Python-baserade pipeline</a:t>
            </a:r>
            <a:endParaRPr sz="1800"/>
          </a:p>
        </p:txBody>
      </p:sp>
      <p:sp>
        <p:nvSpPr>
          <p:cNvPr id="591" name="Google Shape;591;p47"/>
          <p:cNvSpPr/>
          <p:nvPr/>
        </p:nvSpPr>
        <p:spPr>
          <a:xfrm>
            <a:off x="4360460" y="6189260"/>
            <a:ext cx="7831541" cy="668740"/>
          </a:xfrm>
          <a:custGeom>
            <a:avLst/>
            <a:gdLst/>
            <a:ahLst/>
            <a:cxnLst/>
            <a:rect l="l" t="t" r="r" b="b"/>
            <a:pathLst>
              <a:path w="9517857" h="918356" extrusionOk="0">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592" name="Google Shape;592;p47"/>
          <p:cNvGraphicFramePr/>
          <p:nvPr/>
        </p:nvGraphicFramePr>
        <p:xfrm>
          <a:off x="57509" y="1797169"/>
          <a:ext cx="3000000" cy="3000000"/>
        </p:xfrm>
        <a:graphic>
          <a:graphicData uri="http://schemas.openxmlformats.org/drawingml/2006/table">
            <a:tbl>
              <a:tblPr firstRow="1" bandRow="1">
                <a:noFill/>
                <a:tableStyleId>{822C3B93-EF79-491A-80E4-DA79D8C4CF44}</a:tableStyleId>
              </a:tblPr>
              <a:tblGrid>
                <a:gridCol w="1539075">
                  <a:extLst>
                    <a:ext uri="{9D8B030D-6E8A-4147-A177-3AD203B41FA5}">
                      <a16:colId xmlns:a16="http://schemas.microsoft.com/office/drawing/2014/main" val="20000"/>
                    </a:ext>
                  </a:extLst>
                </a:gridCol>
                <a:gridCol w="1418300">
                  <a:extLst>
                    <a:ext uri="{9D8B030D-6E8A-4147-A177-3AD203B41FA5}">
                      <a16:colId xmlns:a16="http://schemas.microsoft.com/office/drawing/2014/main" val="20001"/>
                    </a:ext>
                  </a:extLst>
                </a:gridCol>
                <a:gridCol w="2374000">
                  <a:extLst>
                    <a:ext uri="{9D8B030D-6E8A-4147-A177-3AD203B41FA5}">
                      <a16:colId xmlns:a16="http://schemas.microsoft.com/office/drawing/2014/main" val="20002"/>
                    </a:ext>
                  </a:extLst>
                </a:gridCol>
                <a:gridCol w="2962350">
                  <a:extLst>
                    <a:ext uri="{9D8B030D-6E8A-4147-A177-3AD203B41FA5}">
                      <a16:colId xmlns:a16="http://schemas.microsoft.com/office/drawing/2014/main" val="20003"/>
                    </a:ext>
                  </a:extLst>
                </a:gridCol>
                <a:gridCol w="2204325">
                  <a:extLst>
                    <a:ext uri="{9D8B030D-6E8A-4147-A177-3AD203B41FA5}">
                      <a16:colId xmlns:a16="http://schemas.microsoft.com/office/drawing/2014/main" val="20004"/>
                    </a:ext>
                  </a:extLst>
                </a:gridCol>
                <a:gridCol w="1611300">
                  <a:extLst>
                    <a:ext uri="{9D8B030D-6E8A-4147-A177-3AD203B41FA5}">
                      <a16:colId xmlns:a16="http://schemas.microsoft.com/office/drawing/2014/main" val="20005"/>
                    </a:ext>
                  </a:extLst>
                </a:gridCol>
              </a:tblGrid>
              <a:tr h="7306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Format</a:t>
                      </a:r>
                      <a:endParaRPr sz="1800" b="0" u="none" strike="noStrike" cap="none">
                        <a:solidFill>
                          <a:schemeClr val="dk1"/>
                        </a:solidFill>
                        <a:latin typeface="Arial"/>
                        <a:ea typeface="Arial"/>
                        <a:cs typeface="Arial"/>
                        <a:sym typeface="Arial"/>
                      </a:endParaRPr>
                    </a:p>
                  </a:txBody>
                  <a:tcPr marL="72625"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Filändelse</a:t>
                      </a:r>
                      <a:endParaRPr sz="1800" b="0" u="none" strike="noStrike" cap="none">
                        <a:solidFill>
                          <a:schemeClr val="dk1"/>
                        </a:solidFill>
                        <a:latin typeface="Arial"/>
                        <a:ea typeface="Arial"/>
                        <a:cs typeface="Arial"/>
                        <a:sym typeface="Arial"/>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detta?</a:t>
                      </a:r>
                      <a:endParaRPr sz="1800" b="0" u="none" strike="noStrike" cap="none">
                        <a:solidFill>
                          <a:schemeClr val="dk1"/>
                        </a:solidFill>
                        <a:latin typeface="Arial"/>
                        <a:ea typeface="Arial"/>
                        <a:cs typeface="Arial"/>
                        <a:sym typeface="Arial"/>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Fördelar</a:t>
                      </a:r>
                      <a:endParaRPr sz="1800" b="0" u="none" strike="noStrike" cap="none">
                        <a:solidFill>
                          <a:schemeClr val="dk1"/>
                        </a:solidFill>
                        <a:latin typeface="Arial"/>
                        <a:ea typeface="Arial"/>
                        <a:cs typeface="Arial"/>
                        <a:sym typeface="Arial"/>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Nackdelar</a:t>
                      </a:r>
                      <a:endParaRPr sz="1800" b="0" u="none" strike="noStrike" cap="none">
                        <a:solidFill>
                          <a:schemeClr val="dk1"/>
                        </a:solidFill>
                        <a:latin typeface="Arial"/>
                        <a:ea typeface="Arial"/>
                        <a:cs typeface="Arial"/>
                        <a:sym typeface="Arial"/>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När använder vi?</a:t>
                      </a:r>
                      <a:endParaRPr sz="1800" b="0" u="none" strike="noStrike" cap="none">
                        <a:solidFill>
                          <a:schemeClr val="dk1"/>
                        </a:solidFill>
                        <a:latin typeface="Arial"/>
                        <a:ea typeface="Arial"/>
                        <a:cs typeface="Arial"/>
                        <a:sym typeface="Arial"/>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2690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Pickle/Joblib</a:t>
                      </a:r>
                      <a:endParaRPr sz="1800" b="0" u="none" strike="noStrike" cap="none">
                        <a:latin typeface="Arial"/>
                        <a:ea typeface="Arial"/>
                        <a:cs typeface="Arial"/>
                        <a:sym typeface="Arial"/>
                      </a:endParaRPr>
                    </a:p>
                  </a:txBody>
                  <a:tcPr marL="72625"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.pkl, .joblib</a:t>
                      </a:r>
                      <a:endParaRPr sz="1800" b="0" u="none" strike="noStrike" cap="none">
                        <a:latin typeface="Arial"/>
                        <a:ea typeface="Arial"/>
                        <a:cs typeface="Arial"/>
                        <a:sym typeface="Arial"/>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Pythons "inbyggda fryspåse" – sparar exakt det tränade objektet</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 Enklast för nybörjare</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 Snabbt att spara/ladda</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 Inget extra att installera</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 Bara för Python</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 Säkerhetsrisk med okända filer</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Vårt val!</a:t>
                      </a:r>
                      <a:r>
                        <a:rPr lang="sv-SE" sz="1800" b="0" u="none" strike="noStrike" cap="none">
                          <a:latin typeface="Arial"/>
                          <a:ea typeface="Arial"/>
                          <a:cs typeface="Arial"/>
                          <a:sym typeface="Arial"/>
                        </a:rPr>
                        <a:t> Perfekt för Python-projekt</a:t>
                      </a:r>
                      <a:endParaRPr/>
                    </a:p>
                  </a:txBody>
                  <a:tcPr marL="121050" marR="72625"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2690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ONNX</a:t>
                      </a:r>
                      <a:endParaRPr sz="1800" b="0" u="none" strike="noStrike" cap="none">
                        <a:latin typeface="Arial"/>
                        <a:ea typeface="Arial"/>
                        <a:cs typeface="Arial"/>
                        <a:sym typeface="Arial"/>
                      </a:endParaRPr>
                    </a:p>
                  </a:txBody>
                  <a:tcPr marL="72625"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.onnx</a:t>
                      </a:r>
                      <a:endParaRPr sz="1800" b="0" u="none" strike="noStrike" cap="none">
                        <a:latin typeface="Arial"/>
                        <a:ea typeface="Arial"/>
                        <a:cs typeface="Arial"/>
                        <a:sym typeface="Arial"/>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"Universalkontakten" – fungerar med olika språk</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 Fungerar i C#, Java, Python</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 Optimerad för prediktion</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 Krångligare för nybörjare</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 Alla modeller stöds inte</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När modellen ska köras i andra språk</a:t>
                      </a:r>
                      <a:endParaRPr/>
                    </a:p>
                  </a:txBody>
                  <a:tcPr marL="121050" marR="72625"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9998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TensorFlow SavedModel</a:t>
                      </a:r>
                      <a:endParaRPr sz="1800" b="0" u="none" strike="noStrike" cap="none">
                        <a:latin typeface="Arial"/>
                        <a:ea typeface="Arial"/>
                        <a:cs typeface="Arial"/>
                        <a:sym typeface="Arial"/>
                      </a:endParaRPr>
                    </a:p>
                  </a:txBody>
                  <a:tcPr marL="72625"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Mapp med flera filer</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TensorFlows eget format för djupinlärning</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 Sparar allt (modell + vikter)</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 Bara för TensorFlow</a:t>
                      </a:r>
                      <a:br>
                        <a:rPr lang="sv-SE" sz="1800" b="0" u="none" strike="noStrike" cap="none">
                          <a:latin typeface="Arial"/>
                          <a:ea typeface="Arial"/>
                          <a:cs typeface="Arial"/>
                          <a:sym typeface="Arial"/>
                        </a:rPr>
                      </a:br>
                      <a:r>
                        <a:rPr lang="sv-SE" sz="1800" b="0" u="none" strike="noStrike" cap="none">
                          <a:latin typeface="Arial"/>
                          <a:ea typeface="Arial"/>
                          <a:cs typeface="Arial"/>
                          <a:sym typeface="Arial"/>
                        </a:rPr>
                        <a:t>⚠️ Större filer</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Avancerad djupinlärning</a:t>
                      </a:r>
                      <a:endParaRPr/>
                    </a:p>
                  </a:txBody>
                  <a:tcPr marL="121050" marR="72625"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7306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PyTorch</a:t>
                      </a:r>
                      <a:endParaRPr sz="1800" b="0" u="none" strike="noStrike" cap="none">
                        <a:latin typeface="Arial"/>
                        <a:ea typeface="Arial"/>
                        <a:cs typeface="Arial"/>
                        <a:sym typeface="Arial"/>
                      </a:endParaRPr>
                    </a:p>
                  </a:txBody>
                  <a:tcPr marL="72625"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.pt, .pth</a:t>
                      </a:r>
                      <a:endParaRPr sz="1800" b="0" u="none" strike="noStrike" cap="none">
                        <a:latin typeface="Arial"/>
                        <a:ea typeface="Arial"/>
                        <a:cs typeface="Arial"/>
                        <a:sym typeface="Arial"/>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PyTorchs format</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 Bra för forskning</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 Bara för PyTorch</a:t>
                      </a:r>
                      <a:endParaRPr/>
                    </a:p>
                  </a:txBody>
                  <a:tcPr marL="121050" marR="121050"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Akademiska projekt</a:t>
                      </a:r>
                      <a:endParaRPr/>
                    </a:p>
                  </a:txBody>
                  <a:tcPr marL="121050" marR="72625" marT="75675" marB="75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6"/>
        <p:cNvGrpSpPr/>
        <p:nvPr/>
      </p:nvGrpSpPr>
      <p:grpSpPr>
        <a:xfrm>
          <a:off x="0" y="0"/>
          <a:ext cx="0" cy="0"/>
          <a:chOff x="0" y="0"/>
          <a:chExt cx="0" cy="0"/>
        </a:xfrm>
      </p:grpSpPr>
      <p:sp>
        <p:nvSpPr>
          <p:cNvPr id="597" name="Google Shape;597;p4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8" name="Google Shape;598;p48"/>
          <p:cNvSpPr/>
          <p:nvPr/>
        </p:nvSpPr>
        <p:spPr>
          <a:xfrm rot="-5400000" flipH="1">
            <a:off x="2666617" y="-2666188"/>
            <a:ext cx="6858000" cy="12191233"/>
          </a:xfrm>
          <a:prstGeom prst="rect">
            <a:avLst/>
          </a:prstGeom>
          <a:gradFill>
            <a:gsLst>
              <a:gs pos="0">
                <a:schemeClr val="accent1"/>
              </a:gs>
              <a:gs pos="8000">
                <a:schemeClr val="accent1"/>
              </a:gs>
              <a:gs pos="100000">
                <a:srgbClr val="0A3041"/>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9" name="Google Shape;599;p48"/>
          <p:cNvSpPr/>
          <p:nvPr/>
        </p:nvSpPr>
        <p:spPr>
          <a:xfrm rot="10800000" flipH="1">
            <a:off x="-2311" y="0"/>
            <a:ext cx="9070846" cy="6857572"/>
          </a:xfrm>
          <a:prstGeom prst="rect">
            <a:avLst/>
          </a:prstGeom>
          <a:gradFill>
            <a:gsLst>
              <a:gs pos="0">
                <a:srgbClr val="000000">
                  <a:alpha val="52156"/>
                </a:srgbClr>
              </a:gs>
              <a:gs pos="8000">
                <a:srgbClr val="000000">
                  <a:alpha val="52156"/>
                </a:srgbClr>
              </a:gs>
              <a:gs pos="100000">
                <a:schemeClr val="accent1"/>
              </a:gs>
            </a:gsLst>
            <a:lin ang="4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00" name="Google Shape;600;p48"/>
          <p:cNvSpPr/>
          <p:nvPr/>
        </p:nvSpPr>
        <p:spPr>
          <a:xfrm rot="-5400000" flipH="1">
            <a:off x="3649491" y="-1685840"/>
            <a:ext cx="4894564" cy="12193546"/>
          </a:xfrm>
          <a:prstGeom prst="rect">
            <a:avLst/>
          </a:prstGeom>
          <a:gradFill>
            <a:gsLst>
              <a:gs pos="0">
                <a:srgbClr val="D86CCC">
                  <a:alpha val="0"/>
                </a:srgbClr>
              </a:gs>
              <a:gs pos="100000">
                <a:srgbClr val="000000">
                  <a:alpha val="45882"/>
                </a:srgbClr>
              </a:gs>
            </a:gsLst>
            <a:lin ang="1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601" name="Google Shape;601;p48"/>
          <p:cNvGraphicFramePr/>
          <p:nvPr/>
        </p:nvGraphicFramePr>
        <p:xfrm>
          <a:off x="11502" y="5835"/>
          <a:ext cx="3000000" cy="3000000"/>
        </p:xfrm>
        <a:graphic>
          <a:graphicData uri="http://schemas.openxmlformats.org/drawingml/2006/table">
            <a:tbl>
              <a:tblPr firstRow="1" bandRow="1">
                <a:solidFill>
                  <a:srgbClr val="3F3F3F"/>
                </a:solidFill>
                <a:tableStyleId>{822C3B93-EF79-491A-80E4-DA79D8C4CF44}</a:tableStyleId>
              </a:tblPr>
              <a:tblGrid>
                <a:gridCol w="897375">
                  <a:extLst>
                    <a:ext uri="{9D8B030D-6E8A-4147-A177-3AD203B41FA5}">
                      <a16:colId xmlns:a16="http://schemas.microsoft.com/office/drawing/2014/main" val="20000"/>
                    </a:ext>
                  </a:extLst>
                </a:gridCol>
                <a:gridCol w="1963125">
                  <a:extLst>
                    <a:ext uri="{9D8B030D-6E8A-4147-A177-3AD203B41FA5}">
                      <a16:colId xmlns:a16="http://schemas.microsoft.com/office/drawing/2014/main" val="20001"/>
                    </a:ext>
                  </a:extLst>
                </a:gridCol>
                <a:gridCol w="9341525">
                  <a:extLst>
                    <a:ext uri="{9D8B030D-6E8A-4147-A177-3AD203B41FA5}">
                      <a16:colId xmlns:a16="http://schemas.microsoft.com/office/drawing/2014/main" val="20002"/>
                    </a:ext>
                  </a:extLst>
                </a:gridCol>
              </a:tblGrid>
              <a:tr h="192800">
                <a:tc>
                  <a:txBody>
                    <a:bodyPr/>
                    <a:lstStyle/>
                    <a:p>
                      <a:pPr marL="0" marR="0" lvl="0" indent="0" algn="l" rtl="0">
                        <a:lnSpc>
                          <a:spcPct val="104166"/>
                        </a:lnSpc>
                        <a:spcBef>
                          <a:spcPts val="0"/>
                        </a:spcBef>
                        <a:spcAft>
                          <a:spcPts val="0"/>
                        </a:spcAft>
                        <a:buClr>
                          <a:schemeClr val="lt1"/>
                        </a:buClr>
                        <a:buSzPts val="1800"/>
                        <a:buFont typeface="Arial"/>
                        <a:buNone/>
                      </a:pPr>
                      <a:r>
                        <a:rPr lang="sv-SE" sz="1800" b="1" u="none" strike="noStrike" cap="none">
                          <a:solidFill>
                            <a:schemeClr val="lt1"/>
                          </a:solidFill>
                          <a:latin typeface="Arial"/>
                          <a:ea typeface="Arial"/>
                          <a:cs typeface="Arial"/>
                          <a:sym typeface="Arial"/>
                        </a:rPr>
                        <a:t>Steg</a:t>
                      </a:r>
                      <a:endParaRPr/>
                    </a:p>
                  </a:txBody>
                  <a:tcPr marL="78625" marR="100800" marT="0" marB="0"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104166"/>
                        </a:lnSpc>
                        <a:spcBef>
                          <a:spcPts val="0"/>
                        </a:spcBef>
                        <a:spcAft>
                          <a:spcPts val="0"/>
                        </a:spcAft>
                        <a:buClr>
                          <a:schemeClr val="lt1"/>
                        </a:buClr>
                        <a:buSzPts val="1800"/>
                        <a:buFont typeface="Arial"/>
                        <a:buNone/>
                      </a:pPr>
                      <a:r>
                        <a:rPr lang="sv-SE" sz="1800" b="1" u="none" strike="noStrike" cap="none">
                          <a:solidFill>
                            <a:schemeClr val="lt1"/>
                          </a:solidFill>
                          <a:latin typeface="Arial"/>
                          <a:ea typeface="Arial"/>
                          <a:cs typeface="Arial"/>
                          <a:sym typeface="Arial"/>
                        </a:rPr>
                        <a:t>Vad ska du göra?</a:t>
                      </a:r>
                      <a:endParaRPr/>
                    </a:p>
                  </a:txBody>
                  <a:tcPr marL="78625" marR="100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104166"/>
                        </a:lnSpc>
                        <a:spcBef>
                          <a:spcPts val="0"/>
                        </a:spcBef>
                        <a:spcAft>
                          <a:spcPts val="0"/>
                        </a:spcAft>
                        <a:buClr>
                          <a:schemeClr val="lt1"/>
                        </a:buClr>
                        <a:buSzPts val="1800"/>
                        <a:buFont typeface="Arial"/>
                        <a:buNone/>
                      </a:pPr>
                      <a:r>
                        <a:rPr lang="sv-SE" sz="1800" b="1" u="none" strike="noStrike" cap="none">
                          <a:solidFill>
                            <a:schemeClr val="lt1"/>
                          </a:solidFill>
                          <a:latin typeface="Arial"/>
                          <a:ea typeface="Arial"/>
                          <a:cs typeface="Arial"/>
                          <a:sym typeface="Arial"/>
                        </a:rPr>
                        <a:t>Instruktioner (anpassat för nybörjare)</a:t>
                      </a:r>
                      <a:endParaRPr/>
                    </a:p>
                  </a:txBody>
                  <a:tcPr marL="78625" marR="100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192800">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1</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000000">
                          <a:alpha val="0"/>
                        </a:srgbClr>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Öppna Google Colab</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0" u="none" strike="noStrike" cap="none">
                          <a:solidFill>
                            <a:schemeClr val="lt1"/>
                          </a:solidFill>
                          <a:latin typeface="Arial"/>
                          <a:ea typeface="Arial"/>
                          <a:cs typeface="Arial"/>
                          <a:sym typeface="Arial"/>
                        </a:rPr>
                        <a:t>Gå till </a:t>
                      </a:r>
                      <a:r>
                        <a:rPr lang="sv-SE" sz="1300" b="0" u="sng" strike="noStrike" cap="none">
                          <a:solidFill>
                            <a:schemeClr val="lt1"/>
                          </a:solidFill>
                          <a:latin typeface="Arial"/>
                          <a:ea typeface="Arial"/>
                          <a:cs typeface="Arial"/>
                          <a:sym typeface="Arial"/>
                          <a:hlinkClick r:id="rId3">
                            <a:extLst>
                              <a:ext uri="{A12FA001-AC4F-418D-AE19-62706E023703}">
                                <ahyp:hlinkClr xmlns:ahyp="http://schemas.microsoft.com/office/drawing/2018/hyperlinkcolor" val="tx"/>
                              </a:ext>
                            </a:extLst>
                          </a:hlinkClick>
                        </a:rPr>
                        <a:t>colab.research.google.com</a:t>
                      </a:r>
                      <a:r>
                        <a:rPr lang="sv-SE" sz="1300" b="0" u="none" strike="noStrike" cap="none">
                          <a:solidFill>
                            <a:schemeClr val="lt1"/>
                          </a:solidFill>
                          <a:latin typeface="Arial"/>
                          <a:ea typeface="Arial"/>
                          <a:cs typeface="Arial"/>
                          <a:sym typeface="Arial"/>
                        </a:rPr>
                        <a:t> i din webbläsare. Logga in med ditt Google-konto.</a:t>
                      </a:r>
                      <a:endParaRPr/>
                    </a:p>
                  </a:txBody>
                  <a:tcPr marL="78625" marR="10080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extLst>
                  <a:ext uri="{0D108BD9-81ED-4DB2-BD59-A6C34878D82A}">
                    <a16:rowId xmlns:a16="http://schemas.microsoft.com/office/drawing/2014/main" val="10001"/>
                  </a:ext>
                </a:extLst>
              </a:tr>
              <a:tr h="192800">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2</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Skapa ny anteckningsbok</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0" u="none" strike="noStrike" cap="none">
                          <a:solidFill>
                            <a:schemeClr val="lt1"/>
                          </a:solidFill>
                          <a:latin typeface="Arial"/>
                          <a:ea typeface="Arial"/>
                          <a:cs typeface="Arial"/>
                          <a:sym typeface="Arial"/>
                        </a:rPr>
                        <a:t>Klicka på </a:t>
                      </a:r>
                      <a:r>
                        <a:rPr lang="sv-SE" sz="1300" b="1" u="none" strike="noStrike" cap="none">
                          <a:solidFill>
                            <a:schemeClr val="lt1"/>
                          </a:solidFill>
                          <a:latin typeface="Arial"/>
                          <a:ea typeface="Arial"/>
                          <a:cs typeface="Arial"/>
                          <a:sym typeface="Arial"/>
                        </a:rPr>
                        <a:t>"Ny anteckningsbok"</a:t>
                      </a:r>
                      <a:r>
                        <a:rPr lang="sv-SE" sz="1300" b="0" u="none" strike="noStrike" cap="none">
                          <a:solidFill>
                            <a:schemeClr val="lt1"/>
                          </a:solidFill>
                          <a:latin typeface="Arial"/>
                          <a:ea typeface="Arial"/>
                          <a:cs typeface="Arial"/>
                          <a:sym typeface="Arial"/>
                        </a:rPr>
                        <a:t> (New Notebook). En ny flik öppnas med en tom arbetsyta.</a:t>
                      </a:r>
                      <a:endParaRPr/>
                    </a:p>
                  </a:txBody>
                  <a:tcPr marL="78625" marR="10080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extLst>
                  <a:ext uri="{0D108BD9-81ED-4DB2-BD59-A6C34878D82A}">
                    <a16:rowId xmlns:a16="http://schemas.microsoft.com/office/drawing/2014/main" val="10002"/>
                  </a:ext>
                </a:extLst>
              </a:tr>
              <a:tr h="192800">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3</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000000">
                          <a:alpha val="0"/>
                        </a:srgbClr>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Namnge anteckningsboken</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0" u="none" strike="noStrike" cap="none">
                          <a:solidFill>
                            <a:schemeClr val="lt1"/>
                          </a:solidFill>
                          <a:latin typeface="Arial"/>
                          <a:ea typeface="Arial"/>
                          <a:cs typeface="Arial"/>
                          <a:sym typeface="Arial"/>
                        </a:rPr>
                        <a:t>Klicka på titeln "Untitled.ipynb" högst upp och döp om till: NetworkSecurity_Training</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extLst>
                  <a:ext uri="{0D108BD9-81ED-4DB2-BD59-A6C34878D82A}">
                    <a16:rowId xmlns:a16="http://schemas.microsoft.com/office/drawing/2014/main" val="10003"/>
                  </a:ext>
                </a:extLst>
              </a:tr>
              <a:tr h="296800">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4</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Välj bättre hårdvara (för snabbare träning)</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0" u="none" strike="noStrike" cap="none">
                          <a:solidFill>
                            <a:schemeClr val="lt1"/>
                          </a:solidFill>
                          <a:latin typeface="Arial"/>
                          <a:ea typeface="Arial"/>
                          <a:cs typeface="Arial"/>
                          <a:sym typeface="Arial"/>
                        </a:rPr>
                        <a:t>Klicka på </a:t>
                      </a:r>
                      <a:r>
                        <a:rPr lang="sv-SE" sz="1300" b="1" u="none" strike="noStrike" cap="none">
                          <a:solidFill>
                            <a:schemeClr val="lt1"/>
                          </a:solidFill>
                          <a:latin typeface="Arial"/>
                          <a:ea typeface="Arial"/>
                          <a:cs typeface="Arial"/>
                          <a:sym typeface="Arial"/>
                        </a:rPr>
                        <a:t>"Runtime"</a:t>
                      </a:r>
                      <a:r>
                        <a:rPr lang="sv-SE" sz="1300" b="0" u="none" strike="noStrike" cap="none">
                          <a:solidFill>
                            <a:schemeClr val="lt1"/>
                          </a:solidFill>
                          <a:latin typeface="Arial"/>
                          <a:ea typeface="Arial"/>
                          <a:cs typeface="Arial"/>
                          <a:sym typeface="Arial"/>
                        </a:rPr>
                        <a:t> (Körtid) → </a:t>
                      </a:r>
                      <a:r>
                        <a:rPr lang="sv-SE" sz="1300" b="1" u="none" strike="noStrike" cap="none">
                          <a:solidFill>
                            <a:schemeClr val="lt1"/>
                          </a:solidFill>
                          <a:latin typeface="Arial"/>
                          <a:ea typeface="Arial"/>
                          <a:cs typeface="Arial"/>
                          <a:sym typeface="Arial"/>
                        </a:rPr>
                        <a:t>"Change runtime type"</a:t>
                      </a:r>
                      <a:r>
                        <a:rPr lang="sv-SE" sz="1300" b="0" u="none" strike="noStrike" cap="none">
                          <a:solidFill>
                            <a:schemeClr val="lt1"/>
                          </a:solidFill>
                          <a:latin typeface="Arial"/>
                          <a:ea typeface="Arial"/>
                          <a:cs typeface="Arial"/>
                          <a:sym typeface="Arial"/>
                        </a:rPr>
                        <a:t> (Ändra körningstyp). Välj </a:t>
                      </a:r>
                      <a:r>
                        <a:rPr lang="sv-SE" sz="1300" b="1" u="none" strike="noStrike" cap="none">
                          <a:solidFill>
                            <a:schemeClr val="lt1"/>
                          </a:solidFill>
                          <a:latin typeface="Arial"/>
                          <a:ea typeface="Arial"/>
                          <a:cs typeface="Arial"/>
                          <a:sym typeface="Arial"/>
                        </a:rPr>
                        <a:t>"T4 GPU"</a:t>
                      </a:r>
                      <a:r>
                        <a:rPr lang="sv-SE" sz="1300" b="0" u="none" strike="noStrike" cap="none">
                          <a:solidFill>
                            <a:schemeClr val="lt1"/>
                          </a:solidFill>
                          <a:latin typeface="Arial"/>
                          <a:ea typeface="Arial"/>
                          <a:cs typeface="Arial"/>
                          <a:sym typeface="Arial"/>
                        </a:rPr>
                        <a:t> under "Hardware accelerator". Klicka </a:t>
                      </a:r>
                      <a:r>
                        <a:rPr lang="sv-SE" sz="1300" b="1" u="none" strike="noStrike" cap="none">
                          <a:solidFill>
                            <a:schemeClr val="lt1"/>
                          </a:solidFill>
                          <a:latin typeface="Arial"/>
                          <a:ea typeface="Arial"/>
                          <a:cs typeface="Arial"/>
                          <a:sym typeface="Arial"/>
                        </a:rPr>
                        <a:t>"Save"</a:t>
                      </a:r>
                      <a:r>
                        <a:rPr lang="sv-SE" sz="1300" b="0" u="none" strike="noStrike" cap="none">
                          <a:solidFill>
                            <a:schemeClr val="lt1"/>
                          </a:solidFill>
                          <a:latin typeface="Arial"/>
                          <a:ea typeface="Arial"/>
                          <a:cs typeface="Arial"/>
                          <a:sym typeface="Arial"/>
                        </a:rPr>
                        <a:t> (Spara). Detta ger dig gratis tillgång till en kraftfullare dator i molnet .</a:t>
                      </a:r>
                      <a:endParaRPr/>
                    </a:p>
                  </a:txBody>
                  <a:tcPr marL="78625" marR="10080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extLst>
                  <a:ext uri="{0D108BD9-81ED-4DB2-BD59-A6C34878D82A}">
                    <a16:rowId xmlns:a16="http://schemas.microsoft.com/office/drawing/2014/main" val="10004"/>
                  </a:ext>
                </a:extLst>
              </a:tr>
              <a:tr h="277650">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5</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000000">
                          <a:alpha val="0"/>
                        </a:srgbClr>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CELL 1: Importera bibliotek</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tc>
                  <a:txBody>
                    <a:bodyPr/>
                    <a:lstStyle/>
                    <a:p>
                      <a:pPr marL="0" marR="0" lvl="0" indent="0" algn="l" rtl="0">
                        <a:lnSpc>
                          <a:spcPct val="126923"/>
                        </a:lnSpc>
                        <a:spcBef>
                          <a:spcPts val="0"/>
                        </a:spcBef>
                        <a:spcAft>
                          <a:spcPts val="0"/>
                        </a:spcAft>
                        <a:buClr>
                          <a:schemeClr val="lt1"/>
                        </a:buClr>
                        <a:buSzPts val="1300"/>
                        <a:buFont typeface="Arial"/>
                        <a:buNone/>
                      </a:pPr>
                      <a:r>
                        <a:rPr lang="sv-SE" sz="1300" b="0" u="none" strike="noStrike" cap="none">
                          <a:solidFill>
                            <a:schemeClr val="lt1"/>
                          </a:solidFill>
                          <a:latin typeface="Arial"/>
                          <a:ea typeface="Arial"/>
                          <a:cs typeface="Arial"/>
                          <a:sym typeface="Arial"/>
                        </a:rPr>
                        <a:t>Klicka i den första tomma cellen. Kopiera koden för CELL 1 och klistra in. Tryck Shift+Enter för att köra. Du bör se: ✅ CELL 1 KLAR: Alla bibliotek är importerade!</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extLst>
                  <a:ext uri="{0D108BD9-81ED-4DB2-BD59-A6C34878D82A}">
                    <a16:rowId xmlns:a16="http://schemas.microsoft.com/office/drawing/2014/main" val="10005"/>
                  </a:ext>
                </a:extLst>
              </a:tr>
              <a:tr h="277650">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6</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CELL 2: Skapa träningsdata</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tc>
                  <a:txBody>
                    <a:bodyPr/>
                    <a:lstStyle/>
                    <a:p>
                      <a:pPr marL="0" marR="0" lvl="0" indent="0" algn="l" rtl="0">
                        <a:lnSpc>
                          <a:spcPct val="126923"/>
                        </a:lnSpc>
                        <a:spcBef>
                          <a:spcPts val="0"/>
                        </a:spcBef>
                        <a:spcAft>
                          <a:spcPts val="0"/>
                        </a:spcAft>
                        <a:buClr>
                          <a:schemeClr val="lt1"/>
                        </a:buClr>
                        <a:buSzPts val="1300"/>
                        <a:buFont typeface="Arial"/>
                        <a:buNone/>
                      </a:pPr>
                      <a:r>
                        <a:rPr lang="sv-SE" sz="1300" b="0" u="none" strike="noStrike" cap="none">
                          <a:solidFill>
                            <a:schemeClr val="lt1"/>
                          </a:solidFill>
                          <a:latin typeface="Arial"/>
                          <a:ea typeface="Arial"/>
                          <a:cs typeface="Arial"/>
                          <a:sym typeface="Arial"/>
                        </a:rPr>
                        <a:t>Klicka på </a:t>
                      </a:r>
                      <a:r>
                        <a:rPr lang="sv-SE" sz="1300" b="1" u="none" strike="noStrike" cap="none">
                          <a:solidFill>
                            <a:schemeClr val="lt1"/>
                          </a:solidFill>
                          <a:latin typeface="Arial"/>
                          <a:ea typeface="Arial"/>
                          <a:cs typeface="Arial"/>
                          <a:sym typeface="Arial"/>
                        </a:rPr>
                        <a:t>"+ Kod"</a:t>
                      </a:r>
                      <a:r>
                        <a:rPr lang="sv-SE" sz="1300" b="0" u="none" strike="noStrike" cap="none">
                          <a:solidFill>
                            <a:schemeClr val="lt1"/>
                          </a:solidFill>
                          <a:latin typeface="Arial"/>
                          <a:ea typeface="Arial"/>
                          <a:cs typeface="Arial"/>
                          <a:sym typeface="Arial"/>
                        </a:rPr>
                        <a:t> (eller Ctrl+M B) för att skapa en ny cell. Kopiera CELL 2-koden och klistra in. Kör med Shift+Enter. Detta skapar 5000 rader med simulerad nätverkstrafik som matchar vår SQL-databas .</a:t>
                      </a:r>
                      <a:endParaRPr/>
                    </a:p>
                  </a:txBody>
                  <a:tcPr marL="78625" marR="10080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extLst>
                  <a:ext uri="{0D108BD9-81ED-4DB2-BD59-A6C34878D82A}">
                    <a16:rowId xmlns:a16="http://schemas.microsoft.com/office/drawing/2014/main" val="10006"/>
                  </a:ext>
                </a:extLst>
              </a:tr>
              <a:tr h="192800">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7</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000000">
                          <a:alpha val="0"/>
                        </a:srgbClr>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CELL 3: Förbereda data för ML</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0" u="none" strike="noStrike" cap="none">
                          <a:solidFill>
                            <a:schemeClr val="lt1"/>
                          </a:solidFill>
                          <a:latin typeface="Arial"/>
                          <a:ea typeface="Arial"/>
                          <a:cs typeface="Arial"/>
                          <a:sym typeface="Arial"/>
                        </a:rPr>
                        <a:t>Skapa ny cell. Kopiera CELL 3-koden och kör. Detta omvandlar text till siffror (one-hot encoding) och delar upp data i träning (80%) och test (20%).</a:t>
                      </a:r>
                      <a:endParaRPr/>
                    </a:p>
                  </a:txBody>
                  <a:tcPr marL="78625" marR="10080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extLst>
                  <a:ext uri="{0D108BD9-81ED-4DB2-BD59-A6C34878D82A}">
                    <a16:rowId xmlns:a16="http://schemas.microsoft.com/office/drawing/2014/main" val="10007"/>
                  </a:ext>
                </a:extLst>
              </a:tr>
              <a:tr h="296800">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8</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CELL 4: Träna modellen</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0" u="none" strike="noStrike" cap="none">
                          <a:solidFill>
                            <a:schemeClr val="lt1"/>
                          </a:solidFill>
                          <a:latin typeface="Arial"/>
                          <a:ea typeface="Arial"/>
                          <a:cs typeface="Arial"/>
                          <a:sym typeface="Arial"/>
                        </a:rPr>
                        <a:t>Skapa ny cell. Kopiera CELL 4-koden och kör. Detta skapar en Random Forest-modell med 100 träd och tränar den på vår data. Det kan ta några sekunder .</a:t>
                      </a:r>
                      <a:endParaRPr/>
                    </a:p>
                  </a:txBody>
                  <a:tcPr marL="78625" marR="10080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extLst>
                  <a:ext uri="{0D108BD9-81ED-4DB2-BD59-A6C34878D82A}">
                    <a16:rowId xmlns:a16="http://schemas.microsoft.com/office/drawing/2014/main" val="10008"/>
                  </a:ext>
                </a:extLst>
              </a:tr>
              <a:tr h="608800">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9</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000000">
                          <a:alpha val="0"/>
                        </a:srgbClr>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CELL 5: Utvärdera modellen</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0" u="none" strike="noStrike" cap="none">
                          <a:solidFill>
                            <a:schemeClr val="lt1"/>
                          </a:solidFill>
                          <a:latin typeface="Arial"/>
                          <a:ea typeface="Arial"/>
                          <a:cs typeface="Arial"/>
                          <a:sym typeface="Arial"/>
                        </a:rPr>
                        <a:t>Skapa ny cell. Kopiera CELL 5-koden och kör. Detta testar modellen på data den inte sett förut och visar:</a:t>
                      </a:r>
                      <a:br>
                        <a:rPr lang="sv-SE" sz="1300" b="0" u="none" strike="noStrike" cap="none">
                          <a:solidFill>
                            <a:srgbClr val="FFFFFF"/>
                          </a:solidFill>
                          <a:latin typeface="Arial"/>
                          <a:ea typeface="Arial"/>
                          <a:cs typeface="Arial"/>
                          <a:sym typeface="Arial"/>
                        </a:rPr>
                      </a:br>
                      <a:r>
                        <a:rPr lang="sv-SE" sz="1300" b="0" u="none" strike="noStrike" cap="none">
                          <a:solidFill>
                            <a:schemeClr val="lt1"/>
                          </a:solidFill>
                          <a:latin typeface="Arial"/>
                          <a:ea typeface="Arial"/>
                          <a:cs typeface="Arial"/>
                          <a:sym typeface="Arial"/>
                        </a:rPr>
                        <a:t>• </a:t>
                      </a:r>
                      <a:r>
                        <a:rPr lang="sv-SE" sz="1300" b="1" u="none" strike="noStrike" cap="none">
                          <a:solidFill>
                            <a:schemeClr val="lt1"/>
                          </a:solidFill>
                          <a:latin typeface="Arial"/>
                          <a:ea typeface="Arial"/>
                          <a:cs typeface="Arial"/>
                          <a:sym typeface="Arial"/>
                        </a:rPr>
                        <a:t>Noggrannhet</a:t>
                      </a:r>
                      <a:r>
                        <a:rPr lang="sv-SE" sz="1300" b="0" u="none" strike="noStrike" cap="none">
                          <a:solidFill>
                            <a:schemeClr val="lt1"/>
                          </a:solidFill>
                          <a:latin typeface="Arial"/>
                          <a:ea typeface="Arial"/>
                          <a:cs typeface="Arial"/>
                          <a:sym typeface="Arial"/>
                        </a:rPr>
                        <a:t> (accuracy) – hur ofta modellen har rätt</a:t>
                      </a:r>
                      <a:br>
                        <a:rPr lang="sv-SE" sz="1300" b="0" u="none" strike="noStrike" cap="none">
                          <a:solidFill>
                            <a:srgbClr val="FFFFFF"/>
                          </a:solidFill>
                          <a:latin typeface="Arial"/>
                          <a:ea typeface="Arial"/>
                          <a:cs typeface="Arial"/>
                          <a:sym typeface="Arial"/>
                        </a:rPr>
                      </a:br>
                      <a:r>
                        <a:rPr lang="sv-SE" sz="1300" b="0" u="none" strike="noStrike" cap="none">
                          <a:solidFill>
                            <a:schemeClr val="lt1"/>
                          </a:solidFill>
                          <a:latin typeface="Arial"/>
                          <a:ea typeface="Arial"/>
                          <a:cs typeface="Arial"/>
                          <a:sym typeface="Arial"/>
                        </a:rPr>
                        <a:t>• </a:t>
                      </a:r>
                      <a:r>
                        <a:rPr lang="sv-SE" sz="1300" b="1" u="none" strike="noStrike" cap="none">
                          <a:solidFill>
                            <a:schemeClr val="lt1"/>
                          </a:solidFill>
                          <a:latin typeface="Arial"/>
                          <a:ea typeface="Arial"/>
                          <a:cs typeface="Arial"/>
                          <a:sym typeface="Arial"/>
                        </a:rPr>
                        <a:t>Precision</a:t>
                      </a:r>
                      <a:r>
                        <a:rPr lang="sv-SE" sz="1300" b="0" u="none" strike="noStrike" cap="none">
                          <a:solidFill>
                            <a:schemeClr val="lt1"/>
                          </a:solidFill>
                          <a:latin typeface="Arial"/>
                          <a:ea typeface="Arial"/>
                          <a:cs typeface="Arial"/>
                          <a:sym typeface="Arial"/>
                        </a:rPr>
                        <a:t> – hur många av de flaggade attackerna som verkligen var attacker</a:t>
                      </a:r>
                      <a:br>
                        <a:rPr lang="sv-SE" sz="1300" b="0" u="none" strike="noStrike" cap="none">
                          <a:solidFill>
                            <a:srgbClr val="FFFFFF"/>
                          </a:solidFill>
                          <a:latin typeface="Arial"/>
                          <a:ea typeface="Arial"/>
                          <a:cs typeface="Arial"/>
                          <a:sym typeface="Arial"/>
                        </a:rPr>
                      </a:br>
                      <a:r>
                        <a:rPr lang="sv-SE" sz="1300" b="0" u="none" strike="noStrike" cap="none">
                          <a:solidFill>
                            <a:schemeClr val="lt1"/>
                          </a:solidFill>
                          <a:latin typeface="Arial"/>
                          <a:ea typeface="Arial"/>
                          <a:cs typeface="Arial"/>
                          <a:sym typeface="Arial"/>
                        </a:rPr>
                        <a:t>• </a:t>
                      </a:r>
                      <a:r>
                        <a:rPr lang="sv-SE" sz="1300" b="1" u="none" strike="noStrike" cap="none">
                          <a:solidFill>
                            <a:schemeClr val="lt1"/>
                          </a:solidFill>
                          <a:latin typeface="Arial"/>
                          <a:ea typeface="Arial"/>
                          <a:cs typeface="Arial"/>
                          <a:sym typeface="Arial"/>
                        </a:rPr>
                        <a:t>Recall</a:t>
                      </a:r>
                      <a:r>
                        <a:rPr lang="sv-SE" sz="1300" b="0" u="none" strike="noStrike" cap="none">
                          <a:solidFill>
                            <a:schemeClr val="lt1"/>
                          </a:solidFill>
                          <a:latin typeface="Arial"/>
                          <a:ea typeface="Arial"/>
                          <a:cs typeface="Arial"/>
                          <a:sym typeface="Arial"/>
                        </a:rPr>
                        <a:t> – hur många av de verkliga attackerna som hittades</a:t>
                      </a:r>
                      <a:br>
                        <a:rPr lang="sv-SE" sz="1300" b="0" u="none" strike="noStrike" cap="none">
                          <a:solidFill>
                            <a:srgbClr val="FFFFFF"/>
                          </a:solidFill>
                          <a:latin typeface="Arial"/>
                          <a:ea typeface="Arial"/>
                          <a:cs typeface="Arial"/>
                          <a:sym typeface="Arial"/>
                        </a:rPr>
                      </a:br>
                      <a:r>
                        <a:rPr lang="sv-SE" sz="1300" b="0" u="none" strike="noStrike" cap="none">
                          <a:solidFill>
                            <a:schemeClr val="lt1"/>
                          </a:solidFill>
                          <a:latin typeface="Arial"/>
                          <a:ea typeface="Arial"/>
                          <a:cs typeface="Arial"/>
                          <a:sym typeface="Arial"/>
                        </a:rPr>
                        <a:t>• </a:t>
                      </a:r>
                      <a:r>
                        <a:rPr lang="sv-SE" sz="1300" b="1" u="none" strike="noStrike" cap="none">
                          <a:solidFill>
                            <a:schemeClr val="lt1"/>
                          </a:solidFill>
                          <a:latin typeface="Arial"/>
                          <a:ea typeface="Arial"/>
                          <a:cs typeface="Arial"/>
                          <a:sym typeface="Arial"/>
                        </a:rPr>
                        <a:t>Confusion Matrix</a:t>
                      </a:r>
                      <a:r>
                        <a:rPr lang="sv-SE" sz="1300" b="0" u="none" strike="noStrike" cap="none">
                          <a:solidFill>
                            <a:schemeClr val="lt1"/>
                          </a:solidFill>
                          <a:latin typeface="Arial"/>
                          <a:ea typeface="Arial"/>
                          <a:cs typeface="Arial"/>
                          <a:sym typeface="Arial"/>
                        </a:rPr>
                        <a:t> – detaljerad träffbild</a:t>
                      </a:r>
                      <a:endParaRPr/>
                    </a:p>
                  </a:txBody>
                  <a:tcPr marL="78625" marR="10080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extLst>
                  <a:ext uri="{0D108BD9-81ED-4DB2-BD59-A6C34878D82A}">
                    <a16:rowId xmlns:a16="http://schemas.microsoft.com/office/drawing/2014/main" val="10009"/>
                  </a:ext>
                </a:extLst>
              </a:tr>
              <a:tr h="556800">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10</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CELL 6: Spara modellen</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tc>
                  <a:txBody>
                    <a:bodyPr/>
                    <a:lstStyle/>
                    <a:p>
                      <a:pPr marL="0" marR="0" lvl="0" indent="0" algn="l" rtl="0">
                        <a:lnSpc>
                          <a:spcPct val="126923"/>
                        </a:lnSpc>
                        <a:spcBef>
                          <a:spcPts val="0"/>
                        </a:spcBef>
                        <a:spcAft>
                          <a:spcPts val="0"/>
                        </a:spcAft>
                        <a:buClr>
                          <a:schemeClr val="lt1"/>
                        </a:buClr>
                        <a:buSzPts val="1300"/>
                        <a:buFont typeface="Arial"/>
                        <a:buNone/>
                      </a:pPr>
                      <a:r>
                        <a:rPr lang="sv-SE" sz="1300" b="0" u="none" strike="noStrike" cap="none">
                          <a:solidFill>
                            <a:schemeClr val="lt1"/>
                          </a:solidFill>
                          <a:latin typeface="Arial"/>
                          <a:ea typeface="Arial"/>
                          <a:cs typeface="Arial"/>
                          <a:sym typeface="Arial"/>
                        </a:rPr>
                        <a:t>Skapa ny cell. Kopiera CELL 6-koden och kör. Detta sparar:</a:t>
                      </a:r>
                      <a:br>
                        <a:rPr lang="sv-SE" sz="1300" b="0" u="none" strike="noStrike" cap="none">
                          <a:solidFill>
                            <a:srgbClr val="FFFFFF"/>
                          </a:solidFill>
                          <a:latin typeface="Arial"/>
                          <a:ea typeface="Arial"/>
                          <a:cs typeface="Arial"/>
                          <a:sym typeface="Arial"/>
                        </a:rPr>
                      </a:br>
                      <a:r>
                        <a:rPr lang="sv-SE" sz="1300" b="0" u="none" strike="noStrike" cap="none">
                          <a:solidFill>
                            <a:schemeClr val="lt1"/>
                          </a:solidFill>
                          <a:latin typeface="Arial"/>
                          <a:ea typeface="Arial"/>
                          <a:cs typeface="Arial"/>
                          <a:sym typeface="Arial"/>
                        </a:rPr>
                        <a:t>• network_intrusion_model.pkl – själva modellen</a:t>
                      </a:r>
                      <a:br>
                        <a:rPr lang="sv-SE" sz="1300" b="0" u="none" strike="noStrike" cap="none">
                          <a:solidFill>
                            <a:srgbClr val="FFFFFF"/>
                          </a:solidFill>
                          <a:latin typeface="Arial"/>
                          <a:ea typeface="Arial"/>
                          <a:cs typeface="Arial"/>
                          <a:sym typeface="Arial"/>
                        </a:rPr>
                      </a:br>
                      <a:r>
                        <a:rPr lang="sv-SE" sz="1300" b="0" u="none" strike="noStrike" cap="none">
                          <a:solidFill>
                            <a:schemeClr val="lt1"/>
                          </a:solidFill>
                          <a:latin typeface="Arial"/>
                          <a:ea typeface="Arial"/>
                          <a:cs typeface="Arial"/>
                          <a:sym typeface="Arial"/>
                        </a:rPr>
                        <a:t>• feature_columns.pkl – kolumnnamnen (otroligt viktigt för senare!)</a:t>
                      </a:r>
                      <a:br>
                        <a:rPr lang="sv-SE" sz="1300" b="0" u="none" strike="noStrike" cap="none">
                          <a:solidFill>
                            <a:srgbClr val="FFFFFF"/>
                          </a:solidFill>
                          <a:latin typeface="Arial"/>
                          <a:ea typeface="Arial"/>
                          <a:cs typeface="Arial"/>
                          <a:sym typeface="Arial"/>
                        </a:rPr>
                      </a:br>
                      <a:r>
                        <a:rPr lang="sv-SE" sz="1300" b="0" u="none" strike="noStrike" cap="none">
                          <a:solidFill>
                            <a:schemeClr val="lt1"/>
                          </a:solidFill>
                          <a:latin typeface="Arial"/>
                          <a:ea typeface="Arial"/>
                          <a:cs typeface="Arial"/>
                          <a:sym typeface="Arial"/>
                        </a:rPr>
                        <a:t>• model_metadata.pkl – information om modellen</a:t>
                      </a:r>
                      <a:br>
                        <a:rPr lang="sv-SE" sz="1300" b="0" u="none" strike="noStrike" cap="none">
                          <a:solidFill>
                            <a:srgbClr val="FFFFFF"/>
                          </a:solidFill>
                          <a:latin typeface="Arial"/>
                          <a:ea typeface="Arial"/>
                          <a:cs typeface="Arial"/>
                          <a:sym typeface="Arial"/>
                        </a:rPr>
                      </a:br>
                      <a:r>
                        <a:rPr lang="sv-SE" sz="1300" b="0" u="none" strike="noStrike" cap="none">
                          <a:solidFill>
                            <a:schemeClr val="lt1"/>
                          </a:solidFill>
                          <a:latin typeface="Arial"/>
                          <a:ea typeface="Arial"/>
                          <a:cs typeface="Arial"/>
                          <a:sym typeface="Arial"/>
                        </a:rPr>
                        <a:t>• README.txt – dokumentation</a:t>
                      </a:r>
                      <a:endParaRPr/>
                    </a:p>
                  </a:txBody>
                  <a:tcPr marL="78625" marR="10080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extLst>
                  <a:ext uri="{0D108BD9-81ED-4DB2-BD59-A6C34878D82A}">
                    <a16:rowId xmlns:a16="http://schemas.microsoft.com/office/drawing/2014/main" val="10010"/>
                  </a:ext>
                </a:extLst>
              </a:tr>
              <a:tr h="192800">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11</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000000">
                          <a:alpha val="0"/>
                        </a:srgbClr>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Ladda ner modellen</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0" u="none" strike="noStrike" cap="none">
                          <a:solidFill>
                            <a:schemeClr val="lt1"/>
                          </a:solidFill>
                          <a:latin typeface="Arial"/>
                          <a:ea typeface="Arial"/>
                          <a:cs typeface="Arial"/>
                          <a:sym typeface="Arial"/>
                        </a:rPr>
                        <a:t>Efter att CELL 6 kört klart laddas en fil network_model.zip ner automatiskt till din dator (sparas vanligtvis i mappen "Nedladdningar").</a:t>
                      </a:r>
                      <a:endParaRPr/>
                    </a:p>
                  </a:txBody>
                  <a:tcPr marL="78625" marR="10080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rgbClr val="3F3F3F"/>
                    </a:solidFill>
                  </a:tcPr>
                </a:tc>
                <a:extLst>
                  <a:ext uri="{0D108BD9-81ED-4DB2-BD59-A6C34878D82A}">
                    <a16:rowId xmlns:a16="http://schemas.microsoft.com/office/drawing/2014/main" val="10011"/>
                  </a:ext>
                </a:extLst>
              </a:tr>
              <a:tr h="277650">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12</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tc>
                  <a:txBody>
                    <a:bodyPr/>
                    <a:lstStyle/>
                    <a:p>
                      <a:pPr marL="0" marR="0" lvl="0" indent="0" algn="l" rtl="0">
                        <a:lnSpc>
                          <a:spcPct val="144230"/>
                        </a:lnSpc>
                        <a:spcBef>
                          <a:spcPts val="0"/>
                        </a:spcBef>
                        <a:spcAft>
                          <a:spcPts val="0"/>
                        </a:spcAft>
                        <a:buClr>
                          <a:schemeClr val="lt1"/>
                        </a:buClr>
                        <a:buSzPts val="1300"/>
                        <a:buFont typeface="Arial"/>
                        <a:buNone/>
                      </a:pPr>
                      <a:r>
                        <a:rPr lang="sv-SE" sz="1300" b="1" u="none" strike="noStrike" cap="none">
                          <a:solidFill>
                            <a:schemeClr val="lt1"/>
                          </a:solidFill>
                          <a:latin typeface="Arial"/>
                          <a:ea typeface="Arial"/>
                          <a:cs typeface="Arial"/>
                          <a:sym typeface="Arial"/>
                        </a:rPr>
                        <a:t>Packa upp modellen</a:t>
                      </a:r>
                      <a:endParaRPr sz="1300" b="0" u="none" strike="noStrike" cap="none">
                        <a:solidFill>
                          <a:schemeClr val="lt1"/>
                        </a:solidFill>
                        <a:latin typeface="Arial"/>
                        <a:ea typeface="Arial"/>
                        <a:cs typeface="Arial"/>
                        <a:sym typeface="Arial"/>
                      </a:endParaRPr>
                    </a:p>
                  </a:txBody>
                  <a:tcPr marL="78625" marR="100800" marT="0" marB="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tc>
                  <a:txBody>
                    <a:bodyPr/>
                    <a:lstStyle/>
                    <a:p>
                      <a:pPr marL="0" marR="0" lvl="0" indent="0" algn="l" rtl="0">
                        <a:lnSpc>
                          <a:spcPct val="126923"/>
                        </a:lnSpc>
                        <a:spcBef>
                          <a:spcPts val="0"/>
                        </a:spcBef>
                        <a:spcAft>
                          <a:spcPts val="0"/>
                        </a:spcAft>
                        <a:buClr>
                          <a:schemeClr val="lt1"/>
                        </a:buClr>
                        <a:buSzPts val="1300"/>
                        <a:buFont typeface="Arial"/>
                        <a:buNone/>
                      </a:pPr>
                      <a:r>
                        <a:rPr lang="sv-SE" sz="1300" b="0" u="none" strike="noStrike" cap="none">
                          <a:solidFill>
                            <a:schemeClr val="lt1"/>
                          </a:solidFill>
                          <a:latin typeface="Arial"/>
                          <a:ea typeface="Arial"/>
                          <a:cs typeface="Arial"/>
                          <a:sym typeface="Arial"/>
                        </a:rPr>
                        <a:t>Leta upp den nedladdade zip-filen. Högerklicka och välj </a:t>
                      </a:r>
                      <a:r>
                        <a:rPr lang="sv-SE" sz="1300" b="1" u="none" strike="noStrike" cap="none">
                          <a:solidFill>
                            <a:schemeClr val="lt1"/>
                          </a:solidFill>
                          <a:latin typeface="Arial"/>
                          <a:ea typeface="Arial"/>
                          <a:cs typeface="Arial"/>
                          <a:sym typeface="Arial"/>
                        </a:rPr>
                        <a:t>"Extrahera alla..."</a:t>
                      </a:r>
                      <a:r>
                        <a:rPr lang="sv-SE" sz="1300" b="0" u="none" strike="noStrike" cap="none">
                          <a:solidFill>
                            <a:schemeClr val="lt1"/>
                          </a:solidFill>
                          <a:latin typeface="Arial"/>
                          <a:ea typeface="Arial"/>
                          <a:cs typeface="Arial"/>
                          <a:sym typeface="Arial"/>
                        </a:rPr>
                        <a:t> (Extract All...). Välj destinationsmapp: din projektmapp (t.ex. D:\FSHI\...\SQL2025\). Du bör nu ha en mapp som heter network_model med fyra filer i .</a:t>
                      </a:r>
                      <a:endParaRPr/>
                    </a:p>
                  </a:txBody>
                  <a:tcPr marL="78625" marR="100800" marT="0" marB="0"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5"/>
        <p:cNvGrpSpPr/>
        <p:nvPr/>
      </p:nvGrpSpPr>
      <p:grpSpPr>
        <a:xfrm>
          <a:off x="0" y="0"/>
          <a:ext cx="0" cy="0"/>
          <a:chOff x="0" y="0"/>
          <a:chExt cx="0" cy="0"/>
        </a:xfrm>
      </p:grpSpPr>
      <p:sp>
        <p:nvSpPr>
          <p:cNvPr id="606" name="Google Shape;606;p4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07" name="Google Shape;607;p49"/>
          <p:cNvSpPr/>
          <p:nvPr/>
        </p:nvSpPr>
        <p:spPr>
          <a:xfrm rot="10800000" flipH="1">
            <a:off x="2" y="0"/>
            <a:ext cx="12191998" cy="1575955"/>
          </a:xfrm>
          <a:prstGeom prst="rect">
            <a:avLst/>
          </a:prstGeom>
          <a:gradFill>
            <a:gsLst>
              <a:gs pos="0">
                <a:srgbClr val="000000">
                  <a:alpha val="96078"/>
                </a:srgbClr>
              </a:gs>
              <a:gs pos="100000">
                <a:srgbClr val="0F4861"/>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08" name="Google Shape;608;p49"/>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09" name="Google Shape;609;p49"/>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10" name="Google Shape;610;p49"/>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700"/>
              <a:buFont typeface="Play"/>
              <a:buNone/>
            </a:pPr>
            <a:r>
              <a:rPr lang="sv-SE" sz="3700">
                <a:solidFill>
                  <a:srgbClr val="FFFFFF"/>
                </a:solidFill>
                <a:latin typeface="Play"/>
                <a:ea typeface="Play"/>
                <a:cs typeface="Play"/>
                <a:sym typeface="Play"/>
              </a:rPr>
              <a:t>Vad innehåller den nedladdade zip-filen? network_model.zip</a:t>
            </a:r>
            <a:endParaRPr/>
          </a:p>
        </p:txBody>
      </p:sp>
      <p:graphicFrame>
        <p:nvGraphicFramePr>
          <p:cNvPr id="611" name="Google Shape;611;p49"/>
          <p:cNvGraphicFramePr/>
          <p:nvPr/>
        </p:nvGraphicFramePr>
        <p:xfrm>
          <a:off x="432225" y="2184464"/>
          <a:ext cx="3000000" cy="3000000"/>
        </p:xfrm>
        <a:graphic>
          <a:graphicData uri="http://schemas.openxmlformats.org/drawingml/2006/table">
            <a:tbl>
              <a:tblPr firstRow="1" bandRow="1">
                <a:solidFill>
                  <a:schemeClr val="lt1"/>
                </a:solidFill>
                <a:tableStyleId>{822C3B93-EF79-491A-80E4-DA79D8C4CF44}</a:tableStyleId>
              </a:tblPr>
              <a:tblGrid>
                <a:gridCol w="3739375">
                  <a:extLst>
                    <a:ext uri="{9D8B030D-6E8A-4147-A177-3AD203B41FA5}">
                      <a16:colId xmlns:a16="http://schemas.microsoft.com/office/drawing/2014/main" val="20000"/>
                    </a:ext>
                  </a:extLst>
                </a:gridCol>
                <a:gridCol w="1430225">
                  <a:extLst>
                    <a:ext uri="{9D8B030D-6E8A-4147-A177-3AD203B41FA5}">
                      <a16:colId xmlns:a16="http://schemas.microsoft.com/office/drawing/2014/main" val="20001"/>
                    </a:ext>
                  </a:extLst>
                </a:gridCol>
                <a:gridCol w="3415850">
                  <a:extLst>
                    <a:ext uri="{9D8B030D-6E8A-4147-A177-3AD203B41FA5}">
                      <a16:colId xmlns:a16="http://schemas.microsoft.com/office/drawing/2014/main" val="20002"/>
                    </a:ext>
                  </a:extLst>
                </a:gridCol>
                <a:gridCol w="2742100">
                  <a:extLst>
                    <a:ext uri="{9D8B030D-6E8A-4147-A177-3AD203B41FA5}">
                      <a16:colId xmlns:a16="http://schemas.microsoft.com/office/drawing/2014/main" val="20003"/>
                    </a:ext>
                  </a:extLst>
                </a:gridCol>
              </a:tblGrid>
              <a:tr h="660625">
                <a:tc>
                  <a:txBody>
                    <a:bodyPr/>
                    <a:lstStyle/>
                    <a:p>
                      <a:pPr marL="0" marR="0" lvl="0" indent="0" algn="l" rtl="0">
                        <a:lnSpc>
                          <a:spcPct val="89285"/>
                        </a:lnSpc>
                        <a:spcBef>
                          <a:spcPts val="0"/>
                        </a:spcBef>
                        <a:spcAft>
                          <a:spcPts val="0"/>
                        </a:spcAft>
                        <a:buClr>
                          <a:schemeClr val="lt1"/>
                        </a:buClr>
                        <a:buSzPts val="2100"/>
                        <a:buFont typeface="Arial"/>
                        <a:buNone/>
                      </a:pPr>
                      <a:r>
                        <a:rPr lang="sv-SE" sz="2100" b="0" u="none" strike="noStrike" cap="none">
                          <a:solidFill>
                            <a:schemeClr val="lt1"/>
                          </a:solidFill>
                          <a:latin typeface="Arial"/>
                          <a:ea typeface="Arial"/>
                          <a:cs typeface="Arial"/>
                          <a:sym typeface="Arial"/>
                        </a:rPr>
                        <a:t>Fil</a:t>
                      </a:r>
                      <a:endParaRPr/>
                    </a:p>
                  </a:txBody>
                  <a:tcPr marL="175550" marR="225050" marT="135025" marB="1350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89285"/>
                        </a:lnSpc>
                        <a:spcBef>
                          <a:spcPts val="0"/>
                        </a:spcBef>
                        <a:spcAft>
                          <a:spcPts val="0"/>
                        </a:spcAft>
                        <a:buClr>
                          <a:schemeClr val="lt1"/>
                        </a:buClr>
                        <a:buSzPts val="2100"/>
                        <a:buFont typeface="Arial"/>
                        <a:buNone/>
                      </a:pPr>
                      <a:r>
                        <a:rPr lang="sv-SE" sz="2100" b="0" u="none" strike="noStrike" cap="none">
                          <a:solidFill>
                            <a:schemeClr val="lt1"/>
                          </a:solidFill>
                          <a:latin typeface="Arial"/>
                          <a:ea typeface="Arial"/>
                          <a:cs typeface="Arial"/>
                          <a:sym typeface="Arial"/>
                        </a:rPr>
                        <a:t>Storlek</a:t>
                      </a:r>
                      <a:endParaRPr/>
                    </a:p>
                  </a:txBody>
                  <a:tcPr marL="175550" marR="225050" marT="135025" marB="1350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89285"/>
                        </a:lnSpc>
                        <a:spcBef>
                          <a:spcPts val="0"/>
                        </a:spcBef>
                        <a:spcAft>
                          <a:spcPts val="0"/>
                        </a:spcAft>
                        <a:buClr>
                          <a:schemeClr val="lt1"/>
                        </a:buClr>
                        <a:buSzPts val="2100"/>
                        <a:buFont typeface="Arial"/>
                        <a:buNone/>
                      </a:pPr>
                      <a:r>
                        <a:rPr lang="sv-SE" sz="2100" b="0" u="none" strike="noStrike" cap="none">
                          <a:solidFill>
                            <a:schemeClr val="lt1"/>
                          </a:solidFill>
                          <a:latin typeface="Arial"/>
                          <a:ea typeface="Arial"/>
                          <a:cs typeface="Arial"/>
                          <a:sym typeface="Arial"/>
                        </a:rPr>
                        <a:t>Syfte</a:t>
                      </a:r>
                      <a:endParaRPr/>
                    </a:p>
                  </a:txBody>
                  <a:tcPr marL="175550" marR="225050" marT="135025" marB="1350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89285"/>
                        </a:lnSpc>
                        <a:spcBef>
                          <a:spcPts val="0"/>
                        </a:spcBef>
                        <a:spcAft>
                          <a:spcPts val="0"/>
                        </a:spcAft>
                        <a:buClr>
                          <a:schemeClr val="lt1"/>
                        </a:buClr>
                        <a:buSzPts val="2100"/>
                        <a:buFont typeface="Arial"/>
                        <a:buNone/>
                      </a:pPr>
                      <a:r>
                        <a:rPr lang="sv-SE" sz="2100" b="0" u="none" strike="noStrike" cap="none">
                          <a:solidFill>
                            <a:schemeClr val="lt1"/>
                          </a:solidFill>
                          <a:latin typeface="Arial"/>
                          <a:ea typeface="Arial"/>
                          <a:cs typeface="Arial"/>
                          <a:sym typeface="Arial"/>
                        </a:rPr>
                        <a:t>Viktig?</a:t>
                      </a:r>
                      <a:endParaRPr/>
                    </a:p>
                  </a:txBody>
                  <a:tcPr marL="175550" marR="225050" marT="135025" marB="135025"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660625">
                <a:tc>
                  <a:txBody>
                    <a:bodyPr/>
                    <a:lstStyle/>
                    <a:p>
                      <a:pPr marL="0" marR="0" lvl="0" indent="0" algn="l" rtl="0">
                        <a:lnSpc>
                          <a:spcPct val="78571"/>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network_intrusion_model.pkl</a:t>
                      </a:r>
                      <a:endParaRPr sz="2100" b="0" u="none" strike="noStrike" cap="none">
                        <a:solidFill>
                          <a:schemeClr val="dk1"/>
                        </a:solidFill>
                        <a:latin typeface="Arial"/>
                        <a:ea typeface="Arial"/>
                        <a:cs typeface="Arial"/>
                        <a:sym typeface="Arial"/>
                      </a:endParaRPr>
                    </a:p>
                  </a:txBody>
                  <a:tcPr marL="175550" marR="225050" marT="135025" marB="135025"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~400 KB</a:t>
                      </a:r>
                      <a:endParaRPr/>
                    </a:p>
                  </a:txBody>
                  <a:tcPr marL="175550" marR="225050" marT="135025" marB="1350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Den tränade modellen</a:t>
                      </a:r>
                      <a:endParaRPr/>
                    </a:p>
                  </a:txBody>
                  <a:tcPr marL="175550" marR="225050" marT="135025" marB="1350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 </a:t>
                      </a:r>
                      <a:endParaRPr sz="1800" u="none" strike="noStrike" cap="none"/>
                    </a:p>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MÅSTE HA</a:t>
                      </a:r>
                      <a:endParaRPr/>
                    </a:p>
                  </a:txBody>
                  <a:tcPr marL="175550" marR="135025" marT="135025" marB="135025"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16975">
                <a:tc>
                  <a:txBody>
                    <a:bodyPr/>
                    <a:lstStyle/>
                    <a:p>
                      <a:pPr marL="0" marR="0" lvl="0" indent="0" algn="l" rtl="0">
                        <a:lnSpc>
                          <a:spcPct val="78571"/>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feature_columns.pkl</a:t>
                      </a:r>
                      <a:endParaRPr sz="2100" b="0" u="none" strike="noStrike" cap="none">
                        <a:solidFill>
                          <a:schemeClr val="dk1"/>
                        </a:solidFill>
                        <a:latin typeface="Arial"/>
                        <a:ea typeface="Arial"/>
                        <a:cs typeface="Arial"/>
                        <a:sym typeface="Arial"/>
                      </a:endParaRPr>
                    </a:p>
                  </a:txBody>
                  <a:tcPr marL="175550" marR="225050" marT="135025" marB="1350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&lt;1 KB</a:t>
                      </a:r>
                      <a:endParaRPr/>
                    </a:p>
                  </a:txBody>
                  <a:tcPr marL="175550" marR="225050" marT="135025" marB="1350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Lista över kolumner som modellen förväntar sig</a:t>
                      </a:r>
                      <a:endParaRPr/>
                    </a:p>
                  </a:txBody>
                  <a:tcPr marL="175550" marR="225050" marT="135025" marB="1350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 </a:t>
                      </a:r>
                      <a:endParaRPr sz="1800" u="none" strike="noStrike" cap="none"/>
                    </a:p>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MÅSTE HA</a:t>
                      </a:r>
                      <a:endParaRPr/>
                    </a:p>
                  </a:txBody>
                  <a:tcPr marL="175550" marR="135025" marT="135025" marB="135025"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1016975">
                <a:tc>
                  <a:txBody>
                    <a:bodyPr/>
                    <a:lstStyle/>
                    <a:p>
                      <a:pPr marL="0" marR="0" lvl="0" indent="0" algn="l" rtl="0">
                        <a:lnSpc>
                          <a:spcPct val="78571"/>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model_metadata.pkl</a:t>
                      </a:r>
                      <a:endParaRPr sz="2100" b="0" u="none" strike="noStrike" cap="none">
                        <a:solidFill>
                          <a:schemeClr val="dk1"/>
                        </a:solidFill>
                        <a:latin typeface="Arial"/>
                        <a:ea typeface="Arial"/>
                        <a:cs typeface="Arial"/>
                        <a:sym typeface="Arial"/>
                      </a:endParaRPr>
                    </a:p>
                  </a:txBody>
                  <a:tcPr marL="175550" marR="225050" marT="135025" marB="135025"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&lt;1 KB</a:t>
                      </a:r>
                      <a:endParaRPr/>
                    </a:p>
                  </a:txBody>
                  <a:tcPr marL="175550" marR="225050" marT="135025" marB="1350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Prestanda och information om modellen</a:t>
                      </a:r>
                      <a:endParaRPr/>
                    </a:p>
                  </a:txBody>
                  <a:tcPr marL="175550" marR="225050" marT="135025" marB="1350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 </a:t>
                      </a:r>
                      <a:endParaRPr sz="1800" u="none" strike="noStrike" cap="none"/>
                    </a:p>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Bra att ha</a:t>
                      </a:r>
                      <a:endParaRPr/>
                    </a:p>
                  </a:txBody>
                  <a:tcPr marL="175550" marR="135025" marT="135025" marB="135025"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60625">
                <a:tc>
                  <a:txBody>
                    <a:bodyPr/>
                    <a:lstStyle/>
                    <a:p>
                      <a:pPr marL="0" marR="0" lvl="0" indent="0" algn="l" rtl="0">
                        <a:lnSpc>
                          <a:spcPct val="78571"/>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README.txt</a:t>
                      </a:r>
                      <a:endParaRPr sz="2100" b="0" u="none" strike="noStrike" cap="none">
                        <a:solidFill>
                          <a:schemeClr val="dk1"/>
                        </a:solidFill>
                        <a:latin typeface="Arial"/>
                        <a:ea typeface="Arial"/>
                        <a:cs typeface="Arial"/>
                        <a:sym typeface="Arial"/>
                      </a:endParaRPr>
                    </a:p>
                  </a:txBody>
                  <a:tcPr marL="175550" marR="225050" marT="135025" marB="1350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&lt;1 KB</a:t>
                      </a:r>
                      <a:endParaRPr/>
                    </a:p>
                  </a:txBody>
                  <a:tcPr marL="175550" marR="225050" marT="135025" marB="1350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Dokumentation</a:t>
                      </a:r>
                      <a:endParaRPr/>
                    </a:p>
                  </a:txBody>
                  <a:tcPr marL="175550" marR="225050" marT="135025" marB="1350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 </a:t>
                      </a:r>
                      <a:endParaRPr sz="1800" u="none" strike="noStrike" cap="none"/>
                    </a:p>
                    <a:p>
                      <a:pPr marL="0" marR="0" lvl="0" indent="0" algn="l" rtl="0">
                        <a:lnSpc>
                          <a:spcPct val="89285"/>
                        </a:lnSpc>
                        <a:spcBef>
                          <a:spcPts val="0"/>
                        </a:spcBef>
                        <a:spcAft>
                          <a:spcPts val="0"/>
                        </a:spcAft>
                        <a:buClr>
                          <a:schemeClr val="dk1"/>
                        </a:buClr>
                        <a:buSzPts val="2100"/>
                        <a:buFont typeface="Arial"/>
                        <a:buNone/>
                      </a:pPr>
                      <a:r>
                        <a:rPr lang="sv-SE" sz="2100" b="0" u="none" strike="noStrike" cap="none">
                          <a:solidFill>
                            <a:schemeClr val="dk1"/>
                          </a:solidFill>
                          <a:latin typeface="Arial"/>
                          <a:ea typeface="Arial"/>
                          <a:cs typeface="Arial"/>
                          <a:sym typeface="Arial"/>
                        </a:rPr>
                        <a:t>Valfri</a:t>
                      </a:r>
                      <a:endParaRPr/>
                    </a:p>
                  </a:txBody>
                  <a:tcPr marL="175550" marR="135025" marT="135025" marB="135025"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5"/>
        <p:cNvGrpSpPr/>
        <p:nvPr/>
      </p:nvGrpSpPr>
      <p:grpSpPr>
        <a:xfrm>
          <a:off x="0" y="0"/>
          <a:ext cx="0" cy="0"/>
          <a:chOff x="0" y="0"/>
          <a:chExt cx="0" cy="0"/>
        </a:xfrm>
      </p:grpSpPr>
      <p:sp>
        <p:nvSpPr>
          <p:cNvPr id="616" name="Google Shape;616;p5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17" name="Google Shape;617;p50"/>
          <p:cNvSpPr/>
          <p:nvPr/>
        </p:nvSpPr>
        <p:spPr>
          <a:xfrm rot="-2700000" flipH="1">
            <a:off x="-376156" y="-253670"/>
            <a:ext cx="1827638" cy="1376989"/>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18" name="Google Shape;618;p50"/>
          <p:cNvSpPr/>
          <p:nvPr/>
        </p:nvSpPr>
        <p:spPr>
          <a:xfrm rot="-2700000" flipH="1">
            <a:off x="891641" y="422146"/>
            <a:ext cx="645368" cy="645368"/>
          </a:xfrm>
          <a:prstGeom prst="rect">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19" name="Google Shape;619;p50"/>
          <p:cNvSpPr/>
          <p:nvPr/>
        </p:nvSpPr>
        <p:spPr>
          <a:xfrm rot="-2700000" flipH="1">
            <a:off x="10043482" y="655140"/>
            <a:ext cx="687472" cy="687472"/>
          </a:xfrm>
          <a:prstGeom prst="rect">
            <a:avLst/>
          </a:pr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0" name="Google Shape;620;p50"/>
          <p:cNvSpPr/>
          <p:nvPr/>
        </p:nvSpPr>
        <p:spPr>
          <a:xfrm rot="10800000" flipH="1">
            <a:off x="9356643" y="0"/>
            <a:ext cx="2835357" cy="1480837"/>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1" name="Google Shape;621;p50"/>
          <p:cNvSpPr/>
          <p:nvPr/>
        </p:nvSpPr>
        <p:spPr>
          <a:xfrm flipH="1">
            <a:off x="7976344" y="6115501"/>
            <a:ext cx="1494513" cy="742499"/>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2" name="Google Shape;622;p50"/>
          <p:cNvSpPr/>
          <p:nvPr/>
        </p:nvSpPr>
        <p:spPr>
          <a:xfrm flipH="1">
            <a:off x="7604080" y="6453143"/>
            <a:ext cx="814903" cy="404857"/>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623" name="Google Shape;623;p50"/>
          <p:cNvGraphicFramePr/>
          <p:nvPr/>
        </p:nvGraphicFramePr>
        <p:xfrm>
          <a:off x="0" y="28755"/>
          <a:ext cx="3000000" cy="3000000"/>
        </p:xfrm>
        <a:graphic>
          <a:graphicData uri="http://schemas.openxmlformats.org/drawingml/2006/table">
            <a:tbl>
              <a:tblPr firstRow="1" bandRow="1">
                <a:noFill/>
                <a:tableStyleId>{822C3B93-EF79-491A-80E4-DA79D8C4CF44}</a:tableStyleId>
              </a:tblPr>
              <a:tblGrid>
                <a:gridCol w="2479725">
                  <a:extLst>
                    <a:ext uri="{9D8B030D-6E8A-4147-A177-3AD203B41FA5}">
                      <a16:colId xmlns:a16="http://schemas.microsoft.com/office/drawing/2014/main" val="20000"/>
                    </a:ext>
                  </a:extLst>
                </a:gridCol>
                <a:gridCol w="9698425">
                  <a:extLst>
                    <a:ext uri="{9D8B030D-6E8A-4147-A177-3AD203B41FA5}">
                      <a16:colId xmlns:a16="http://schemas.microsoft.com/office/drawing/2014/main" val="20001"/>
                    </a:ext>
                  </a:extLst>
                </a:gridCol>
              </a:tblGrid>
              <a:tr h="324900">
                <a:tc>
                  <a:txBody>
                    <a:bodyPr/>
                    <a:lstStyle/>
                    <a:p>
                      <a:pPr marL="0" marR="0" lvl="0" indent="0" algn="l" rtl="0">
                        <a:lnSpc>
                          <a:spcPct val="66964"/>
                        </a:lnSpc>
                        <a:spcBef>
                          <a:spcPts val="0"/>
                        </a:spcBef>
                        <a:spcAft>
                          <a:spcPts val="0"/>
                        </a:spcAft>
                        <a:buClr>
                          <a:schemeClr val="lt1"/>
                        </a:buClr>
                        <a:buSzPts val="2800"/>
                        <a:buFont typeface="Arial"/>
                        <a:buNone/>
                      </a:pPr>
                      <a:r>
                        <a:rPr lang="sv-SE" sz="2800" b="0" u="none" strike="noStrike" cap="none">
                          <a:solidFill>
                            <a:schemeClr val="lt1"/>
                          </a:solidFill>
                          <a:latin typeface="Arial"/>
                          <a:ea typeface="Arial"/>
                          <a:cs typeface="Arial"/>
                          <a:sym typeface="Arial"/>
                        </a:rPr>
                        <a:t>Fråga</a:t>
                      </a:r>
                      <a:endParaRPr/>
                    </a:p>
                  </a:txBody>
                  <a:tcPr marL="61875"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0" marR="0" lvl="0" indent="0" algn="l" rtl="0">
                        <a:lnSpc>
                          <a:spcPct val="66964"/>
                        </a:lnSpc>
                        <a:spcBef>
                          <a:spcPts val="0"/>
                        </a:spcBef>
                        <a:spcAft>
                          <a:spcPts val="0"/>
                        </a:spcAft>
                        <a:buClr>
                          <a:schemeClr val="lt1"/>
                        </a:buClr>
                        <a:buSzPts val="2800"/>
                        <a:buFont typeface="Arial"/>
                        <a:buNone/>
                      </a:pPr>
                      <a:r>
                        <a:rPr lang="sv-SE" sz="2800" b="0" u="none" strike="noStrike" cap="none">
                          <a:solidFill>
                            <a:schemeClr val="lt1"/>
                          </a:solidFill>
                          <a:latin typeface="Arial"/>
                          <a:ea typeface="Arial"/>
                          <a:cs typeface="Arial"/>
                          <a:sym typeface="Arial"/>
                        </a:rPr>
                        <a:t>Svar</a:t>
                      </a:r>
                      <a:endParaRPr/>
                    </a:p>
                  </a:txBody>
                  <a:tcPr marL="103100"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5345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Google Colab?</a:t>
                      </a:r>
                      <a:endParaRPr sz="1800" b="0" u="none" strike="noStrike" cap="none">
                        <a:solidFill>
                          <a:schemeClr val="dk1"/>
                        </a:solidFill>
                        <a:latin typeface="Arial"/>
                        <a:ea typeface="Arial"/>
                        <a:cs typeface="Arial"/>
                        <a:sym typeface="Arial"/>
                      </a:endParaRPr>
                    </a:p>
                  </a:txBody>
                  <a:tcPr marL="61875"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En gratis onlinetjänst från Google där du kan skriva och köra Python-kod i din webbläsare. Du får tillgång till en kraftfull dator (med GPU) helt gratis .</a:t>
                      </a:r>
                      <a:endParaRPr/>
                    </a:p>
                  </a:txBody>
                  <a:tcPr marL="103100" marR="618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249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Måste jag installera något?</a:t>
                      </a:r>
                      <a:endParaRPr sz="1800" b="0" u="none" strike="noStrike" cap="none">
                        <a:solidFill>
                          <a:schemeClr val="dk1"/>
                        </a:solidFill>
                        <a:latin typeface="Arial"/>
                        <a:ea typeface="Arial"/>
                        <a:cs typeface="Arial"/>
                        <a:sym typeface="Arial"/>
                      </a:endParaRPr>
                    </a:p>
                  </a:txBody>
                  <a:tcPr marL="61875"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Nej! Allt körs i webbläsaren. Perfekt för nybörjare .</a:t>
                      </a:r>
                      <a:endParaRPr/>
                    </a:p>
                  </a:txBody>
                  <a:tcPr marL="103100" marR="618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5345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en "cell"?</a:t>
                      </a:r>
                      <a:endParaRPr sz="1800" b="0" u="none" strike="noStrike" cap="none">
                        <a:solidFill>
                          <a:schemeClr val="dk1"/>
                        </a:solidFill>
                        <a:latin typeface="Arial"/>
                        <a:ea typeface="Arial"/>
                        <a:cs typeface="Arial"/>
                        <a:sym typeface="Arial"/>
                      </a:endParaRPr>
                    </a:p>
                  </a:txBody>
                  <a:tcPr marL="61875"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En cell är ett block med kod som du kan köra separat. Du kan ha många celler i en anteckningsbok, och de körs i ordning uppifrån och ner .</a:t>
                      </a:r>
                      <a:endParaRPr/>
                    </a:p>
                  </a:txBody>
                  <a:tcPr marL="103100" marR="618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249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betyder </a:t>
                      </a:r>
                      <a:r>
                        <a:rPr lang="sv-SE" sz="1800" b="0" u="none" strike="noStrike" cap="none">
                          <a:solidFill>
                            <a:schemeClr val="dk1"/>
                          </a:solidFill>
                          <a:latin typeface="Arial"/>
                          <a:ea typeface="Arial"/>
                          <a:cs typeface="Arial"/>
                          <a:sym typeface="Arial"/>
                        </a:rPr>
                        <a:t>Shift+Enter</a:t>
                      </a:r>
                      <a:r>
                        <a:rPr lang="sv-SE" sz="1800" b="1" u="none" strike="noStrike" cap="none">
                          <a:solidFill>
                            <a:schemeClr val="dk1"/>
                          </a:solidFill>
                          <a:latin typeface="Arial"/>
                          <a:ea typeface="Arial"/>
                          <a:cs typeface="Arial"/>
                          <a:sym typeface="Arial"/>
                        </a:rPr>
                        <a:t>?</a:t>
                      </a:r>
                      <a:endParaRPr sz="1800" b="0" u="none" strike="noStrike" cap="none">
                        <a:solidFill>
                          <a:schemeClr val="dk1"/>
                        </a:solidFill>
                        <a:latin typeface="Arial"/>
                        <a:ea typeface="Arial"/>
                        <a:cs typeface="Arial"/>
                        <a:sym typeface="Arial"/>
                      </a:endParaRPr>
                    </a:p>
                  </a:txBody>
                  <a:tcPr marL="61875"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Det kör den aktuella cellen och skapar en ny cell under.</a:t>
                      </a:r>
                      <a:endParaRPr/>
                    </a:p>
                  </a:txBody>
                  <a:tcPr marL="103100" marR="618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5345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en Random Forest-modell?</a:t>
                      </a:r>
                      <a:endParaRPr sz="1800" b="0" u="none" strike="noStrike" cap="none">
                        <a:solidFill>
                          <a:schemeClr val="dk1"/>
                        </a:solidFill>
                        <a:latin typeface="Arial"/>
                        <a:ea typeface="Arial"/>
                        <a:cs typeface="Arial"/>
                        <a:sym typeface="Arial"/>
                      </a:endParaRPr>
                    </a:p>
                  </a:txBody>
                  <a:tcPr marL="61875"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En Random Forest är som en "skog" av många beslutsträd. Varje träd får "rösta" om en trafik är attack eller inte, och majoriteten vinner. Det är en kraftfull och populär algoritm för klassificering .</a:t>
                      </a:r>
                      <a:endParaRPr/>
                    </a:p>
                  </a:txBody>
                  <a:tcPr marL="103100" marR="618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5345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a:t>
                      </a:r>
                      <a:r>
                        <a:rPr lang="sv-SE" sz="1800" b="0" u="none" strike="noStrike" cap="none">
                          <a:solidFill>
                            <a:schemeClr val="dk1"/>
                          </a:solidFill>
                          <a:latin typeface="Arial"/>
                          <a:ea typeface="Arial"/>
                          <a:cs typeface="Arial"/>
                          <a:sym typeface="Arial"/>
                        </a:rPr>
                        <a:t>n_estimators=100</a:t>
                      </a:r>
                      <a:r>
                        <a:rPr lang="sv-SE" sz="1800" b="1" u="none" strike="noStrike" cap="none">
                          <a:solidFill>
                            <a:schemeClr val="dk1"/>
                          </a:solidFill>
                          <a:latin typeface="Arial"/>
                          <a:ea typeface="Arial"/>
                          <a:cs typeface="Arial"/>
                          <a:sym typeface="Arial"/>
                        </a:rPr>
                        <a:t>?</a:t>
                      </a:r>
                      <a:endParaRPr sz="1800" b="0" u="none" strike="noStrike" cap="none">
                        <a:solidFill>
                          <a:schemeClr val="dk1"/>
                        </a:solidFill>
                        <a:latin typeface="Arial"/>
                        <a:ea typeface="Arial"/>
                        <a:cs typeface="Arial"/>
                        <a:sym typeface="Arial"/>
                      </a:endParaRPr>
                    </a:p>
                  </a:txBody>
                  <a:tcPr marL="61875"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Det betyder att modellen bygger 100 olika beslutsträd. Fler träd ger ofta bättre resultat, men tar längre tid att träna .</a:t>
                      </a:r>
                      <a:endParaRPr/>
                    </a:p>
                  </a:txBody>
                  <a:tcPr marL="103100" marR="618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r h="5345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a:t>
                      </a:r>
                      <a:r>
                        <a:rPr lang="sv-SE" sz="1800" b="0" u="none" strike="noStrike" cap="none">
                          <a:solidFill>
                            <a:schemeClr val="dk1"/>
                          </a:solidFill>
                          <a:latin typeface="Arial"/>
                          <a:ea typeface="Arial"/>
                          <a:cs typeface="Arial"/>
                          <a:sym typeface="Arial"/>
                        </a:rPr>
                        <a:t>random_state=42</a:t>
                      </a:r>
                      <a:r>
                        <a:rPr lang="sv-SE" sz="1800" b="1" u="none" strike="noStrike" cap="none">
                          <a:solidFill>
                            <a:schemeClr val="dk1"/>
                          </a:solidFill>
                          <a:latin typeface="Arial"/>
                          <a:ea typeface="Arial"/>
                          <a:cs typeface="Arial"/>
                          <a:sym typeface="Arial"/>
                        </a:rPr>
                        <a:t>?</a:t>
                      </a:r>
                      <a:endParaRPr sz="1800" b="0" u="none" strike="noStrike" cap="none">
                        <a:solidFill>
                          <a:schemeClr val="dk1"/>
                        </a:solidFill>
                        <a:latin typeface="Arial"/>
                        <a:ea typeface="Arial"/>
                        <a:cs typeface="Arial"/>
                        <a:sym typeface="Arial"/>
                      </a:endParaRPr>
                    </a:p>
                  </a:txBody>
                  <a:tcPr marL="61875"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Det är ett "frö" som gör att slumptalen blir samma varje gång. Det gör att du och jag får exakt samma resultat – bra för reproducerbarhet .</a:t>
                      </a:r>
                      <a:endParaRPr/>
                    </a:p>
                  </a:txBody>
                  <a:tcPr marL="103100" marR="618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5345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feature importance?</a:t>
                      </a:r>
                      <a:endParaRPr sz="1800" b="0" u="none" strike="noStrike" cap="none">
                        <a:solidFill>
                          <a:schemeClr val="dk1"/>
                        </a:solidFill>
                        <a:latin typeface="Arial"/>
                        <a:ea typeface="Arial"/>
                        <a:cs typeface="Arial"/>
                        <a:sym typeface="Arial"/>
                      </a:endParaRPr>
                    </a:p>
                  </a:txBody>
                  <a:tcPr marL="61875"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Det visar vilka kolumner som är viktigast för modellens beslut. DestinationPort kanske är viktigast, medan SourcePort kanske är mindre viktig .</a:t>
                      </a:r>
                      <a:endParaRPr/>
                    </a:p>
                  </a:txBody>
                  <a:tcPr marL="103100" marR="618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8"/>
                  </a:ext>
                </a:extLst>
              </a:tr>
              <a:tr h="11633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Confusion Matrix?</a:t>
                      </a:r>
                      <a:endParaRPr sz="1800" b="0" u="none" strike="noStrike" cap="none">
                        <a:solidFill>
                          <a:schemeClr val="dk1"/>
                        </a:solidFill>
                        <a:latin typeface="Arial"/>
                        <a:ea typeface="Arial"/>
                        <a:cs typeface="Arial"/>
                        <a:sym typeface="Arial"/>
                      </a:endParaRPr>
                    </a:p>
                  </a:txBody>
                  <a:tcPr marL="61875"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En tabell som visar:</a:t>
                      </a:r>
                      <a:br>
                        <a:rPr lang="sv-SE" sz="1800" b="0" u="none" strike="noStrike" cap="none">
                          <a:solidFill>
                            <a:srgbClr val="000000"/>
                          </a:solidFill>
                          <a:latin typeface="Arial"/>
                          <a:ea typeface="Arial"/>
                          <a:cs typeface="Arial"/>
                          <a:sym typeface="Arial"/>
                        </a:rPr>
                      </a:br>
                      <a:r>
                        <a:rPr lang="sv-SE" sz="1800" b="0" u="none" strike="noStrike" cap="none">
                          <a:solidFill>
                            <a:schemeClr val="dk1"/>
                          </a:solidFill>
                          <a:latin typeface="Arial"/>
                          <a:ea typeface="Arial"/>
                          <a:cs typeface="Arial"/>
                          <a:sym typeface="Arial"/>
                        </a:rPr>
                        <a:t>• </a:t>
                      </a:r>
                      <a:r>
                        <a:rPr lang="sv-SE" sz="1800" b="1" u="none" strike="noStrike" cap="none">
                          <a:solidFill>
                            <a:schemeClr val="dk1"/>
                          </a:solidFill>
                          <a:latin typeface="Arial"/>
                          <a:ea typeface="Arial"/>
                          <a:cs typeface="Arial"/>
                          <a:sym typeface="Arial"/>
                        </a:rPr>
                        <a:t>TP</a:t>
                      </a:r>
                      <a:r>
                        <a:rPr lang="sv-SE" sz="1800" b="0" u="none" strike="noStrike" cap="none">
                          <a:solidFill>
                            <a:schemeClr val="dk1"/>
                          </a:solidFill>
                          <a:latin typeface="Arial"/>
                          <a:ea typeface="Arial"/>
                          <a:cs typeface="Arial"/>
                          <a:sym typeface="Arial"/>
                        </a:rPr>
                        <a:t> (True Positive) – attacker som upptäcktes korrekt</a:t>
                      </a:r>
                      <a:br>
                        <a:rPr lang="sv-SE" sz="1800" b="0" u="none" strike="noStrike" cap="none">
                          <a:solidFill>
                            <a:srgbClr val="000000"/>
                          </a:solidFill>
                          <a:latin typeface="Arial"/>
                          <a:ea typeface="Arial"/>
                          <a:cs typeface="Arial"/>
                          <a:sym typeface="Arial"/>
                        </a:rPr>
                      </a:br>
                      <a:r>
                        <a:rPr lang="sv-SE" sz="1800" b="0" u="none" strike="noStrike" cap="none">
                          <a:solidFill>
                            <a:schemeClr val="dk1"/>
                          </a:solidFill>
                          <a:latin typeface="Arial"/>
                          <a:ea typeface="Arial"/>
                          <a:cs typeface="Arial"/>
                          <a:sym typeface="Arial"/>
                        </a:rPr>
                        <a:t>• </a:t>
                      </a:r>
                      <a:r>
                        <a:rPr lang="sv-SE" sz="1800" b="1" u="none" strike="noStrike" cap="none">
                          <a:solidFill>
                            <a:schemeClr val="dk1"/>
                          </a:solidFill>
                          <a:latin typeface="Arial"/>
                          <a:ea typeface="Arial"/>
                          <a:cs typeface="Arial"/>
                          <a:sym typeface="Arial"/>
                        </a:rPr>
                        <a:t>TN</a:t>
                      </a:r>
                      <a:r>
                        <a:rPr lang="sv-SE" sz="1800" b="0" u="none" strike="noStrike" cap="none">
                          <a:solidFill>
                            <a:schemeClr val="dk1"/>
                          </a:solidFill>
                          <a:latin typeface="Arial"/>
                          <a:ea typeface="Arial"/>
                          <a:cs typeface="Arial"/>
                          <a:sym typeface="Arial"/>
                        </a:rPr>
                        <a:t> (True Negative) – normal trafik som klassades rätt</a:t>
                      </a:r>
                      <a:br>
                        <a:rPr lang="sv-SE" sz="1800" b="0" u="none" strike="noStrike" cap="none">
                          <a:solidFill>
                            <a:srgbClr val="000000"/>
                          </a:solidFill>
                          <a:latin typeface="Arial"/>
                          <a:ea typeface="Arial"/>
                          <a:cs typeface="Arial"/>
                          <a:sym typeface="Arial"/>
                        </a:rPr>
                      </a:br>
                      <a:r>
                        <a:rPr lang="sv-SE" sz="1800" b="0" u="none" strike="noStrike" cap="none">
                          <a:solidFill>
                            <a:schemeClr val="dk1"/>
                          </a:solidFill>
                          <a:latin typeface="Arial"/>
                          <a:ea typeface="Arial"/>
                          <a:cs typeface="Arial"/>
                          <a:sym typeface="Arial"/>
                        </a:rPr>
                        <a:t>• </a:t>
                      </a:r>
                      <a:r>
                        <a:rPr lang="sv-SE" sz="1800" b="1" u="none" strike="noStrike" cap="none">
                          <a:solidFill>
                            <a:schemeClr val="dk1"/>
                          </a:solidFill>
                          <a:latin typeface="Arial"/>
                          <a:ea typeface="Arial"/>
                          <a:cs typeface="Arial"/>
                          <a:sym typeface="Arial"/>
                        </a:rPr>
                        <a:t>FP</a:t>
                      </a:r>
                      <a:r>
                        <a:rPr lang="sv-SE" sz="1800" b="0" u="none" strike="noStrike" cap="none">
                          <a:solidFill>
                            <a:schemeClr val="dk1"/>
                          </a:solidFill>
                          <a:latin typeface="Arial"/>
                          <a:ea typeface="Arial"/>
                          <a:cs typeface="Arial"/>
                          <a:sym typeface="Arial"/>
                        </a:rPr>
                        <a:t> (False Positive) – falsklarm (normal som flaggades som attack)</a:t>
                      </a:r>
                      <a:br>
                        <a:rPr lang="sv-SE" sz="1800" b="0" u="none" strike="noStrike" cap="none">
                          <a:solidFill>
                            <a:srgbClr val="000000"/>
                          </a:solidFill>
                          <a:latin typeface="Arial"/>
                          <a:ea typeface="Arial"/>
                          <a:cs typeface="Arial"/>
                          <a:sym typeface="Arial"/>
                        </a:rPr>
                      </a:br>
                      <a:r>
                        <a:rPr lang="sv-SE" sz="1800" b="0" u="none" strike="noStrike" cap="none">
                          <a:solidFill>
                            <a:schemeClr val="dk1"/>
                          </a:solidFill>
                          <a:latin typeface="Arial"/>
                          <a:ea typeface="Arial"/>
                          <a:cs typeface="Arial"/>
                          <a:sym typeface="Arial"/>
                        </a:rPr>
                        <a:t>• </a:t>
                      </a:r>
                      <a:r>
                        <a:rPr lang="sv-SE" sz="1800" b="1" u="none" strike="noStrike" cap="none">
                          <a:solidFill>
                            <a:schemeClr val="dk1"/>
                          </a:solidFill>
                          <a:latin typeface="Arial"/>
                          <a:ea typeface="Arial"/>
                          <a:cs typeface="Arial"/>
                          <a:sym typeface="Arial"/>
                        </a:rPr>
                        <a:t>FN</a:t>
                      </a:r>
                      <a:r>
                        <a:rPr lang="sv-SE" sz="1800" b="0" u="none" strike="noStrike" cap="none">
                          <a:solidFill>
                            <a:schemeClr val="dk1"/>
                          </a:solidFill>
                          <a:latin typeface="Arial"/>
                          <a:ea typeface="Arial"/>
                          <a:cs typeface="Arial"/>
                          <a:sym typeface="Arial"/>
                        </a:rPr>
                        <a:t> (False Negative) – missade attacker .</a:t>
                      </a:r>
                      <a:endParaRPr/>
                    </a:p>
                  </a:txBody>
                  <a:tcPr marL="103100" marR="618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4821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Varför måste jag spara feature_columns.pkl?</a:t>
                      </a:r>
                      <a:endParaRPr sz="1800" b="0" u="none" strike="noStrike" cap="none">
                        <a:solidFill>
                          <a:schemeClr val="dk1"/>
                        </a:solidFill>
                        <a:latin typeface="Arial"/>
                        <a:ea typeface="Arial"/>
                        <a:cs typeface="Arial"/>
                        <a:sym typeface="Arial"/>
                      </a:endParaRPr>
                    </a:p>
                  </a:txBody>
                  <a:tcPr marL="61875"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Otroligt viktigt! När du ska analysera NY data måste du förbereda den på EXAKT samma sätt som träningsdatan. feature_columns.pkl talar om vilka kolumner modellen förväntar sig och i vilken ordning .</a:t>
                      </a:r>
                      <a:endParaRPr/>
                    </a:p>
                  </a:txBody>
                  <a:tcPr marL="103100" marR="618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10"/>
                  </a:ext>
                </a:extLst>
              </a:tr>
              <a:tr h="4821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Kan jag träna om modellen senare?</a:t>
                      </a:r>
                      <a:endParaRPr sz="1800" b="0" u="none" strike="noStrike" cap="none">
                        <a:solidFill>
                          <a:schemeClr val="dk1"/>
                        </a:solidFill>
                        <a:latin typeface="Arial"/>
                        <a:ea typeface="Arial"/>
                        <a:cs typeface="Arial"/>
                        <a:sym typeface="Arial"/>
                      </a:endParaRPr>
                    </a:p>
                  </a:txBody>
                  <a:tcPr marL="61875" marR="1031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Ja! Du kan alltid komma tillbaka till Colab, ändra data och träna om. Spara bara den nya .pkl-filen och ersätt den gamla.</a:t>
                      </a:r>
                      <a:endParaRPr/>
                    </a:p>
                  </a:txBody>
                  <a:tcPr marL="103100" marR="618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7"/>
        <p:cNvGrpSpPr/>
        <p:nvPr/>
      </p:nvGrpSpPr>
      <p:grpSpPr>
        <a:xfrm>
          <a:off x="0" y="0"/>
          <a:ext cx="0" cy="0"/>
          <a:chOff x="0" y="0"/>
          <a:chExt cx="0" cy="0"/>
        </a:xfrm>
      </p:grpSpPr>
      <p:sp>
        <p:nvSpPr>
          <p:cNvPr id="628" name="Google Shape;628;p5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9" name="Google Shape;629;p51"/>
          <p:cNvSpPr/>
          <p:nvPr/>
        </p:nvSpPr>
        <p:spPr>
          <a:xfrm>
            <a:off x="-1147" y="-5"/>
            <a:ext cx="12193149" cy="2200064"/>
          </a:xfrm>
          <a:custGeom>
            <a:avLst/>
            <a:gdLst/>
            <a:ahLst/>
            <a:cxnLst/>
            <a:rect l="l" t="t" r="r" b="b"/>
            <a:pathLst>
              <a:path w="12193149" h="3171710" extrusionOk="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0" name="Google Shape;630;p51"/>
          <p:cNvSpPr txBox="1">
            <a:spLocks noGrp="1"/>
          </p:cNvSpPr>
          <p:nvPr>
            <p:ph type="title"/>
          </p:nvPr>
        </p:nvSpPr>
        <p:spPr>
          <a:xfrm>
            <a:off x="1137036" y="548640"/>
            <a:ext cx="9916632" cy="11887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62626"/>
              </a:buClr>
              <a:buSzPts val="3700"/>
              <a:buFont typeface="Play"/>
              <a:buNone/>
            </a:pPr>
            <a:r>
              <a:rPr lang="sv-SE" sz="3700">
                <a:solidFill>
                  <a:srgbClr val="262626"/>
                </a:solidFill>
              </a:rPr>
              <a:t>Steg 10: Koppla ML-modellen till databasen och kör analys</a:t>
            </a:r>
            <a:endParaRPr sz="3700">
              <a:solidFill>
                <a:srgbClr val="262626"/>
              </a:solidFill>
            </a:endParaRPr>
          </a:p>
        </p:txBody>
      </p:sp>
      <p:sp>
        <p:nvSpPr>
          <p:cNvPr id="631" name="Google Shape;631;p51"/>
          <p:cNvSpPr txBox="1">
            <a:spLocks noGrp="1"/>
          </p:cNvSpPr>
          <p:nvPr>
            <p:ph type="body" idx="1"/>
          </p:nvPr>
        </p:nvSpPr>
        <p:spPr>
          <a:xfrm>
            <a:off x="189572" y="2431767"/>
            <a:ext cx="11640327" cy="3987080"/>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rgbClr val="262626"/>
              </a:buClr>
              <a:buSzPts val="2400"/>
              <a:buChar char="•"/>
            </a:pPr>
            <a:r>
              <a:rPr lang="sv-SE" sz="2400">
                <a:solidFill>
                  <a:srgbClr val="262626"/>
                </a:solidFill>
                <a:highlight>
                  <a:srgbClr val="FFFFFF"/>
                </a:highlight>
              </a:rPr>
              <a:t>Nu ska vi äntligen koppla ihop vår tränade ML-modell med databasen! Vi skapar ett </a:t>
            </a:r>
            <a:r>
              <a:rPr lang="sv-SE" sz="2400" b="1">
                <a:solidFill>
                  <a:srgbClr val="262626"/>
                </a:solidFill>
                <a:highlight>
                  <a:srgbClr val="FFFFFF"/>
                </a:highlight>
              </a:rPr>
              <a:t>produktionssystem</a:t>
            </a:r>
            <a:r>
              <a:rPr lang="sv-SE" sz="2400">
                <a:solidFill>
                  <a:srgbClr val="262626"/>
                </a:solidFill>
                <a:highlight>
                  <a:srgbClr val="FFFFFF"/>
                </a:highlight>
              </a:rPr>
              <a:t> i VS Code som automatiskt:</a:t>
            </a:r>
            <a:endParaRPr sz="2400">
              <a:solidFill>
                <a:srgbClr val="262626"/>
              </a:solidFill>
            </a:endParaRPr>
          </a:p>
          <a:p>
            <a:pPr marL="228600" lvl="0" indent="-228600" algn="l" rtl="0">
              <a:lnSpc>
                <a:spcPct val="90000"/>
              </a:lnSpc>
              <a:spcBef>
                <a:spcPts val="1000"/>
              </a:spcBef>
              <a:spcAft>
                <a:spcPts val="0"/>
              </a:spcAft>
              <a:buClr>
                <a:srgbClr val="262626"/>
              </a:buClr>
              <a:buSzPts val="2400"/>
              <a:buChar char="•"/>
            </a:pPr>
            <a:r>
              <a:rPr lang="sv-SE" sz="2400" b="1">
                <a:solidFill>
                  <a:srgbClr val="262626"/>
                </a:solidFill>
                <a:highlight>
                  <a:srgbClr val="FFFFFF"/>
                </a:highlight>
              </a:rPr>
              <a:t>Hämtar ny data</a:t>
            </a:r>
            <a:r>
              <a:rPr lang="sv-SE" sz="2400">
                <a:solidFill>
                  <a:srgbClr val="262626"/>
                </a:solidFill>
                <a:highlight>
                  <a:srgbClr val="FFFFFF"/>
                </a:highlight>
              </a:rPr>
              <a:t> från SQL Server (tabellen </a:t>
            </a:r>
            <a:r>
              <a:rPr lang="sv-SE" sz="2400">
                <a:solidFill>
                  <a:srgbClr val="262626"/>
                </a:solidFill>
                <a:highlight>
                  <a:srgbClr val="EBEEF2"/>
                </a:highlight>
                <a:latin typeface="Consolas"/>
                <a:ea typeface="Consolas"/>
                <a:cs typeface="Consolas"/>
                <a:sym typeface="Consolas"/>
              </a:rPr>
              <a:t>NetworkTrafficLogs</a:t>
            </a:r>
            <a:r>
              <a:rPr lang="sv-SE" sz="2400">
                <a:solidFill>
                  <a:srgbClr val="262626"/>
                </a:solidFill>
                <a:highlight>
                  <a:srgbClr val="FFFFFF"/>
                </a:highlight>
              </a:rPr>
              <a:t>)</a:t>
            </a:r>
            <a:endParaRPr sz="2400">
              <a:solidFill>
                <a:srgbClr val="262626"/>
              </a:solidFill>
            </a:endParaRPr>
          </a:p>
          <a:p>
            <a:pPr marL="228600" lvl="0" indent="-228600" algn="l" rtl="0">
              <a:lnSpc>
                <a:spcPct val="90000"/>
              </a:lnSpc>
              <a:spcBef>
                <a:spcPts val="1000"/>
              </a:spcBef>
              <a:spcAft>
                <a:spcPts val="0"/>
              </a:spcAft>
              <a:buClr>
                <a:srgbClr val="262626"/>
              </a:buClr>
              <a:buSzPts val="2400"/>
              <a:buChar char="•"/>
            </a:pPr>
            <a:r>
              <a:rPr lang="sv-SE" sz="2400" b="1">
                <a:solidFill>
                  <a:srgbClr val="262626"/>
                </a:solidFill>
                <a:highlight>
                  <a:srgbClr val="FFFFFF"/>
                </a:highlight>
              </a:rPr>
              <a:t>Använder vår tränade modell</a:t>
            </a:r>
            <a:r>
              <a:rPr lang="sv-SE" sz="2400">
                <a:solidFill>
                  <a:srgbClr val="262626"/>
                </a:solidFill>
                <a:highlight>
                  <a:srgbClr val="FFFFFF"/>
                </a:highlight>
              </a:rPr>
              <a:t> (</a:t>
            </a:r>
            <a:r>
              <a:rPr lang="sv-SE" sz="2400">
                <a:solidFill>
                  <a:srgbClr val="262626"/>
                </a:solidFill>
                <a:highlight>
                  <a:srgbClr val="EBEEF2"/>
                </a:highlight>
                <a:latin typeface="Consolas"/>
                <a:ea typeface="Consolas"/>
                <a:cs typeface="Consolas"/>
                <a:sym typeface="Consolas"/>
              </a:rPr>
              <a:t>.pkl</a:t>
            </a:r>
            <a:r>
              <a:rPr lang="sv-SE" sz="2400">
                <a:solidFill>
                  <a:srgbClr val="262626"/>
                </a:solidFill>
                <a:highlight>
                  <a:srgbClr val="FFFFFF"/>
                </a:highlight>
              </a:rPr>
              <a:t>-filen) för att analysera datan</a:t>
            </a:r>
            <a:endParaRPr sz="2400">
              <a:solidFill>
                <a:srgbClr val="262626"/>
              </a:solidFill>
            </a:endParaRPr>
          </a:p>
          <a:p>
            <a:pPr marL="228600" lvl="0" indent="-228600" algn="l" rtl="0">
              <a:lnSpc>
                <a:spcPct val="90000"/>
              </a:lnSpc>
              <a:spcBef>
                <a:spcPts val="1000"/>
              </a:spcBef>
              <a:spcAft>
                <a:spcPts val="0"/>
              </a:spcAft>
              <a:buClr>
                <a:srgbClr val="262626"/>
              </a:buClr>
              <a:buSzPts val="2400"/>
              <a:buChar char="•"/>
            </a:pPr>
            <a:r>
              <a:rPr lang="sv-SE" sz="2400" b="1">
                <a:solidFill>
                  <a:srgbClr val="262626"/>
                </a:solidFill>
                <a:highlight>
                  <a:srgbClr val="FFFFFF"/>
                </a:highlight>
              </a:rPr>
              <a:t>Sparar resultaten</a:t>
            </a:r>
            <a:r>
              <a:rPr lang="sv-SE" sz="2400">
                <a:solidFill>
                  <a:srgbClr val="262626"/>
                </a:solidFill>
                <a:highlight>
                  <a:srgbClr val="FFFFFF"/>
                </a:highlight>
              </a:rPr>
              <a:t> tillbaka i SQL Server (tabellen </a:t>
            </a:r>
            <a:r>
              <a:rPr lang="sv-SE" sz="2400">
                <a:solidFill>
                  <a:srgbClr val="262626"/>
                </a:solidFill>
                <a:highlight>
                  <a:srgbClr val="EBEEF2"/>
                </a:highlight>
                <a:latin typeface="Consolas"/>
                <a:ea typeface="Consolas"/>
                <a:cs typeface="Consolas"/>
                <a:sym typeface="Consolas"/>
              </a:rPr>
              <a:t>ThreatDetections</a:t>
            </a:r>
            <a:r>
              <a:rPr lang="sv-SE" sz="2400">
                <a:solidFill>
                  <a:srgbClr val="262626"/>
                </a:solidFill>
                <a:highlight>
                  <a:srgbClr val="FFFFFF"/>
                </a:highlight>
              </a:rPr>
              <a:t>)</a:t>
            </a:r>
            <a:endParaRPr sz="2400">
              <a:solidFill>
                <a:srgbClr val="262626"/>
              </a:solidFill>
            </a:endParaRPr>
          </a:p>
          <a:p>
            <a:pPr marL="228600" lvl="0" indent="-228600" algn="l" rtl="0">
              <a:lnSpc>
                <a:spcPct val="90000"/>
              </a:lnSpc>
              <a:spcBef>
                <a:spcPts val="1000"/>
              </a:spcBef>
              <a:spcAft>
                <a:spcPts val="0"/>
              </a:spcAft>
              <a:buClr>
                <a:srgbClr val="262626"/>
              </a:buClr>
              <a:buSzPts val="2400"/>
              <a:buChar char="•"/>
            </a:pPr>
            <a:r>
              <a:rPr lang="sv-SE" sz="2400">
                <a:solidFill>
                  <a:srgbClr val="262626"/>
                </a:solidFill>
                <a:highlight>
                  <a:srgbClr val="FFFFFF"/>
                </a:highlight>
              </a:rPr>
              <a:t>Detta är exakt hur det fungerar i verklig produktion – ett automatiskt system som analyserar ny data när den kommer in .</a:t>
            </a:r>
            <a:endParaRPr sz="2400">
              <a:solidFill>
                <a:srgbClr val="262626"/>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5"/>
        <p:cNvGrpSpPr/>
        <p:nvPr/>
      </p:nvGrpSpPr>
      <p:grpSpPr>
        <a:xfrm>
          <a:off x="0" y="0"/>
          <a:ext cx="0" cy="0"/>
          <a:chOff x="0" y="0"/>
          <a:chExt cx="0" cy="0"/>
        </a:xfrm>
      </p:grpSpPr>
      <p:sp>
        <p:nvSpPr>
          <p:cNvPr id="636" name="Google Shape;636;p5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7" name="Google Shape;637;p52"/>
          <p:cNvSpPr txBox="1">
            <a:spLocks noGrp="1"/>
          </p:cNvSpPr>
          <p:nvPr>
            <p:ph type="title"/>
          </p:nvPr>
        </p:nvSpPr>
        <p:spPr>
          <a:xfrm>
            <a:off x="1629751" y="934327"/>
            <a:ext cx="8924392" cy="105827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sv-SE"/>
              <a:t>Förberedelser </a:t>
            </a:r>
            <a:endParaRPr/>
          </a:p>
        </p:txBody>
      </p:sp>
      <p:sp>
        <p:nvSpPr>
          <p:cNvPr id="638" name="Google Shape;638;p52"/>
          <p:cNvSpPr/>
          <p:nvPr/>
        </p:nvSpPr>
        <p:spPr>
          <a:xfrm>
            <a:off x="1293813" y="2337807"/>
            <a:ext cx="9604374" cy="3585866"/>
          </a:xfrm>
          <a:custGeom>
            <a:avLst/>
            <a:gdLst/>
            <a:ahLst/>
            <a:cxnLst/>
            <a:rect l="l" t="t" r="r" b="b"/>
            <a:pathLst>
              <a:path w="9604374" h="3585866" extrusionOk="0">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9" name="Google Shape;639;p52"/>
          <p:cNvSpPr/>
          <p:nvPr/>
        </p:nvSpPr>
        <p:spPr>
          <a:xfrm>
            <a:off x="5421727" y="2190741"/>
            <a:ext cx="1348547" cy="407804"/>
          </a:xfrm>
          <a:custGeom>
            <a:avLst/>
            <a:gdLst/>
            <a:ahLst/>
            <a:cxnLst/>
            <a:rect l="l" t="t" r="r" b="b"/>
            <a:pathLst>
              <a:path w="2201784" h="594531" extrusionOk="0">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0" name="Google Shape;640;p52"/>
          <p:cNvSpPr txBox="1">
            <a:spLocks noGrp="1"/>
          </p:cNvSpPr>
          <p:nvPr>
            <p:ph type="body" idx="1"/>
          </p:nvPr>
        </p:nvSpPr>
        <p:spPr>
          <a:xfrm>
            <a:off x="1941207" y="2752316"/>
            <a:ext cx="8309586" cy="275684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900"/>
              <a:buChar char="•"/>
            </a:pPr>
            <a:r>
              <a:rPr lang="sv-SE" sz="1900">
                <a:latin typeface="Consolas"/>
                <a:ea typeface="Consolas"/>
                <a:cs typeface="Consolas"/>
                <a:sym typeface="Consolas"/>
              </a:rPr>
              <a:t>D:\FSHI\...\SQL2025\network_model\</a:t>
            </a:r>
            <a:br>
              <a:rPr lang="sv-SE" sz="1900">
                <a:latin typeface="Consolas"/>
                <a:ea typeface="Consolas"/>
                <a:cs typeface="Consolas"/>
                <a:sym typeface="Consolas"/>
              </a:rPr>
            </a:br>
            <a:r>
              <a:rPr lang="sv-SE" sz="1900">
                <a:latin typeface="Consolas"/>
                <a:ea typeface="Consolas"/>
                <a:cs typeface="Consolas"/>
                <a:sym typeface="Consolas"/>
              </a:rPr>
              <a:t>├── network_intrusion_model.pkl      (från Steg 9)</a:t>
            </a:r>
            <a:br>
              <a:rPr lang="sv-SE" sz="1900">
                <a:latin typeface="Consolas"/>
                <a:ea typeface="Consolas"/>
                <a:cs typeface="Consolas"/>
                <a:sym typeface="Consolas"/>
              </a:rPr>
            </a:br>
            <a:r>
              <a:rPr lang="sv-SE" sz="1900">
                <a:latin typeface="Consolas"/>
                <a:ea typeface="Consolas"/>
                <a:cs typeface="Consolas"/>
                <a:sym typeface="Consolas"/>
              </a:rPr>
              <a:t>├── feature_columns.pkl               (från Steg 9)</a:t>
            </a:r>
            <a:br>
              <a:rPr lang="sv-SE" sz="1900">
                <a:latin typeface="Consolas"/>
                <a:ea typeface="Consolas"/>
                <a:cs typeface="Consolas"/>
                <a:sym typeface="Consolas"/>
              </a:rPr>
            </a:br>
            <a:r>
              <a:rPr lang="sv-SE" sz="1900">
                <a:latin typeface="Consolas"/>
                <a:ea typeface="Consolas"/>
                <a:cs typeface="Consolas"/>
                <a:sym typeface="Consolas"/>
              </a:rPr>
              <a:t>├── analyze_network_traffic.py        (skapas automatiskt)</a:t>
            </a:r>
            <a:br>
              <a:rPr lang="sv-SE" sz="1900">
                <a:latin typeface="Consolas"/>
                <a:ea typeface="Consolas"/>
                <a:cs typeface="Consolas"/>
                <a:sym typeface="Consolas"/>
              </a:rPr>
            </a:br>
            <a:r>
              <a:rPr lang="sv-SE" sz="1900">
                <a:latin typeface="Consolas"/>
                <a:ea typeface="Consolas"/>
                <a:cs typeface="Consolas"/>
                <a:sym typeface="Consolas"/>
              </a:rPr>
              <a:t>├── run_ml_analysis.ps1               (detta skript)</a:t>
            </a:r>
            <a:br>
              <a:rPr lang="sv-SE" sz="1900">
                <a:latin typeface="Consolas"/>
                <a:ea typeface="Consolas"/>
                <a:cs typeface="Consolas"/>
                <a:sym typeface="Consolas"/>
              </a:rPr>
            </a:br>
            <a:r>
              <a:rPr lang="sv-SE" sz="1900">
                <a:latin typeface="Consolas"/>
                <a:ea typeface="Consolas"/>
                <a:cs typeface="Consolas"/>
                <a:sym typeface="Consolas"/>
              </a:rPr>
              <a:t>└── requirements.txt                   (skapas automatiskt)</a:t>
            </a:r>
            <a:endParaRPr sz="19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4"/>
        <p:cNvGrpSpPr/>
        <p:nvPr/>
      </p:nvGrpSpPr>
      <p:grpSpPr>
        <a:xfrm>
          <a:off x="0" y="0"/>
          <a:ext cx="0" cy="0"/>
          <a:chOff x="0" y="0"/>
          <a:chExt cx="0" cy="0"/>
        </a:xfrm>
      </p:grpSpPr>
      <p:sp>
        <p:nvSpPr>
          <p:cNvPr id="645" name="Google Shape;645;p53"/>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6" name="Google Shape;646;p53"/>
          <p:cNvSpPr txBox="1">
            <a:spLocks noGrp="1"/>
          </p:cNvSpPr>
          <p:nvPr>
            <p:ph type="title"/>
          </p:nvPr>
        </p:nvSpPr>
        <p:spPr>
          <a:xfrm>
            <a:off x="2197101" y="735283"/>
            <a:ext cx="4978399" cy="316504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200"/>
              <a:buFont typeface="Play"/>
              <a:buNone/>
            </a:pPr>
            <a:r>
              <a:rPr lang="sv-SE" sz="5200">
                <a:solidFill>
                  <a:schemeClr val="dk1"/>
                </a:solidFill>
                <a:latin typeface="Play"/>
                <a:ea typeface="Play"/>
                <a:cs typeface="Play"/>
                <a:sym typeface="Play"/>
              </a:rPr>
              <a:t>Steg-för-steg instruktioner för att köra ML-analysen</a:t>
            </a:r>
            <a:endParaRPr/>
          </a:p>
        </p:txBody>
      </p:sp>
      <p:pic>
        <p:nvPicPr>
          <p:cNvPr id="647" name="Google Shape;647;p53" descr="Fotavtryck"/>
          <p:cNvPicPr preferRelativeResize="0"/>
          <p:nvPr/>
        </p:nvPicPr>
        <p:blipFill rotWithShape="1">
          <a:blip r:embed="rId3">
            <a:alphaModFix/>
          </a:blip>
          <a:srcRect/>
          <a:stretch/>
        </p:blipFill>
        <p:spPr>
          <a:xfrm>
            <a:off x="717549" y="2776619"/>
            <a:ext cx="1289051" cy="1289051"/>
          </a:xfrm>
          <a:prstGeom prst="rect">
            <a:avLst/>
          </a:prstGeom>
          <a:noFill/>
          <a:ln>
            <a:noFill/>
          </a:ln>
        </p:spPr>
      </p:pic>
      <p:pic>
        <p:nvPicPr>
          <p:cNvPr id="648" name="Google Shape;648;p53" descr="Fotavtryck"/>
          <p:cNvPicPr preferRelativeResize="0"/>
          <p:nvPr/>
        </p:nvPicPr>
        <p:blipFill rotWithShape="1">
          <a:blip r:embed="rId3">
            <a:alphaModFix amt="15000"/>
          </a:blip>
          <a:srcRect/>
          <a:stretch/>
        </p:blipFill>
        <p:spPr>
          <a:xfrm>
            <a:off x="6607815" y="716407"/>
            <a:ext cx="5411343" cy="5411343"/>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2"/>
        <p:cNvGrpSpPr/>
        <p:nvPr/>
      </p:nvGrpSpPr>
      <p:grpSpPr>
        <a:xfrm>
          <a:off x="0" y="0"/>
          <a:ext cx="0" cy="0"/>
          <a:chOff x="0" y="0"/>
          <a:chExt cx="0" cy="0"/>
        </a:xfrm>
      </p:grpSpPr>
      <p:sp>
        <p:nvSpPr>
          <p:cNvPr id="653" name="Google Shape;653;p5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4" name="Google Shape;654;p54"/>
          <p:cNvSpPr/>
          <p:nvPr/>
        </p:nvSpPr>
        <p:spPr>
          <a:xfrm rot="-2700000" flipH="1">
            <a:off x="-376156" y="-253670"/>
            <a:ext cx="1827638" cy="1376989"/>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5" name="Google Shape;655;p54"/>
          <p:cNvSpPr/>
          <p:nvPr/>
        </p:nvSpPr>
        <p:spPr>
          <a:xfrm rot="-2700000" flipH="1">
            <a:off x="891641" y="422146"/>
            <a:ext cx="645368" cy="645368"/>
          </a:xfrm>
          <a:prstGeom prst="rect">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6" name="Google Shape;656;p54"/>
          <p:cNvSpPr/>
          <p:nvPr/>
        </p:nvSpPr>
        <p:spPr>
          <a:xfrm rot="-2700000" flipH="1">
            <a:off x="10043482" y="655140"/>
            <a:ext cx="687472" cy="687472"/>
          </a:xfrm>
          <a:prstGeom prst="rect">
            <a:avLst/>
          </a:pr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7" name="Google Shape;657;p54"/>
          <p:cNvSpPr/>
          <p:nvPr/>
        </p:nvSpPr>
        <p:spPr>
          <a:xfrm rot="10800000" flipH="1">
            <a:off x="9356643" y="0"/>
            <a:ext cx="2835357" cy="1480837"/>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8" name="Google Shape;658;p54"/>
          <p:cNvSpPr/>
          <p:nvPr/>
        </p:nvSpPr>
        <p:spPr>
          <a:xfrm flipH="1">
            <a:off x="7976344" y="6115501"/>
            <a:ext cx="1494513" cy="742499"/>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9" name="Google Shape;659;p54"/>
          <p:cNvSpPr/>
          <p:nvPr/>
        </p:nvSpPr>
        <p:spPr>
          <a:xfrm flipH="1">
            <a:off x="7604080" y="6453143"/>
            <a:ext cx="814903" cy="404857"/>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660" name="Google Shape;660;p54"/>
          <p:cNvGraphicFramePr/>
          <p:nvPr/>
        </p:nvGraphicFramePr>
        <p:xfrm>
          <a:off x="28755" y="129396"/>
          <a:ext cx="3000000" cy="3000000"/>
        </p:xfrm>
        <a:graphic>
          <a:graphicData uri="http://schemas.openxmlformats.org/drawingml/2006/table">
            <a:tbl>
              <a:tblPr firstRow="1" bandRow="1">
                <a:noFill/>
                <a:tableStyleId>{822C3B93-EF79-491A-80E4-DA79D8C4CF44}</a:tableStyleId>
              </a:tblPr>
              <a:tblGrid>
                <a:gridCol w="297875">
                  <a:extLst>
                    <a:ext uri="{9D8B030D-6E8A-4147-A177-3AD203B41FA5}">
                      <a16:colId xmlns:a16="http://schemas.microsoft.com/office/drawing/2014/main" val="20000"/>
                    </a:ext>
                  </a:extLst>
                </a:gridCol>
                <a:gridCol w="2840175">
                  <a:extLst>
                    <a:ext uri="{9D8B030D-6E8A-4147-A177-3AD203B41FA5}">
                      <a16:colId xmlns:a16="http://schemas.microsoft.com/office/drawing/2014/main" val="20001"/>
                    </a:ext>
                  </a:extLst>
                </a:gridCol>
                <a:gridCol w="9032450">
                  <a:extLst>
                    <a:ext uri="{9D8B030D-6E8A-4147-A177-3AD203B41FA5}">
                      <a16:colId xmlns:a16="http://schemas.microsoft.com/office/drawing/2014/main" val="20002"/>
                    </a:ext>
                  </a:extLst>
                </a:gridCol>
              </a:tblGrid>
              <a:tr h="135975">
                <a:tc>
                  <a:txBody>
                    <a:bodyPr/>
                    <a:lstStyle/>
                    <a:p>
                      <a:pPr marL="0" marR="0" lvl="0" indent="0" algn="l" rtl="0">
                        <a:lnSpc>
                          <a:spcPct val="10000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N</a:t>
                      </a:r>
                      <a:endParaRPr/>
                    </a:p>
                  </a:txBody>
                  <a:tcPr marL="37125" marR="0" marT="1060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Vad ska du göra?</a:t>
                      </a:r>
                      <a:endParaRPr/>
                    </a:p>
                  </a:txBody>
                  <a:tcPr marL="37125" marR="0" marT="1060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Instruktioner (anpassat för nybörjare)</a:t>
                      </a:r>
                      <a:endParaRPr/>
                    </a:p>
                  </a:txBody>
                  <a:tcPr marL="37125" marR="0" marT="1060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35975">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1</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Öppna VS Code</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Sök efter </a:t>
                      </a:r>
                      <a:r>
                        <a:rPr lang="sv-SE" sz="1200" b="1" u="none" strike="noStrike" cap="none">
                          <a:solidFill>
                            <a:schemeClr val="dk1"/>
                          </a:solidFill>
                          <a:latin typeface="Arial"/>
                          <a:ea typeface="Arial"/>
                          <a:cs typeface="Arial"/>
                          <a:sym typeface="Arial"/>
                        </a:rPr>
                        <a:t>"Visual Studio Code"</a:t>
                      </a:r>
                      <a:r>
                        <a:rPr lang="sv-SE" sz="1200" b="0" u="none" strike="noStrike" cap="none">
                          <a:solidFill>
                            <a:schemeClr val="dk1"/>
                          </a:solidFill>
                          <a:latin typeface="Arial"/>
                          <a:ea typeface="Arial"/>
                          <a:cs typeface="Arial"/>
                          <a:sym typeface="Arial"/>
                        </a:rPr>
                        <a:t> i Windows startmeny och öppna programmet.</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2150">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2</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Öppna din projektmapp</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Klicka på </a:t>
                      </a:r>
                      <a:r>
                        <a:rPr lang="sv-SE" sz="1200" b="1" u="none" strike="noStrike" cap="none">
                          <a:solidFill>
                            <a:schemeClr val="dk1"/>
                          </a:solidFill>
                          <a:latin typeface="Arial"/>
                          <a:ea typeface="Arial"/>
                          <a:cs typeface="Arial"/>
                          <a:sym typeface="Arial"/>
                        </a:rPr>
                        <a:t>"File"</a:t>
                      </a:r>
                      <a:r>
                        <a:rPr lang="sv-SE" sz="1200" b="0" u="none" strike="noStrike" cap="none">
                          <a:solidFill>
                            <a:schemeClr val="dk1"/>
                          </a:solidFill>
                          <a:latin typeface="Arial"/>
                          <a:ea typeface="Arial"/>
                          <a:cs typeface="Arial"/>
                          <a:sym typeface="Arial"/>
                        </a:rPr>
                        <a:t> (Arkiv) → </a:t>
                      </a:r>
                      <a:r>
                        <a:rPr lang="sv-SE" sz="1200" b="1" u="none" strike="noStrike" cap="none">
                          <a:solidFill>
                            <a:schemeClr val="dk1"/>
                          </a:solidFill>
                          <a:latin typeface="Arial"/>
                          <a:ea typeface="Arial"/>
                          <a:cs typeface="Arial"/>
                          <a:sym typeface="Arial"/>
                        </a:rPr>
                        <a:t>"Open Folder..."</a:t>
                      </a:r>
                      <a:r>
                        <a:rPr lang="sv-SE" sz="1200" b="0" u="none" strike="noStrike" cap="none">
                          <a:solidFill>
                            <a:schemeClr val="dk1"/>
                          </a:solidFill>
                          <a:latin typeface="Arial"/>
                          <a:ea typeface="Arial"/>
                          <a:cs typeface="Arial"/>
                          <a:sym typeface="Arial"/>
                        </a:rPr>
                        <a:t> (Öppna mapp...). Navigera till:</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D:\FSHI\...\SQL2025\network_model\</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Klicka på </a:t>
                      </a:r>
                      <a:r>
                        <a:rPr lang="sv-SE" sz="1200" b="1" u="none" strike="noStrike" cap="none">
                          <a:solidFill>
                            <a:schemeClr val="dk1"/>
                          </a:solidFill>
                          <a:latin typeface="Arial"/>
                          <a:ea typeface="Arial"/>
                          <a:cs typeface="Arial"/>
                          <a:sym typeface="Arial"/>
                        </a:rPr>
                        <a:t>"Välj mapp"</a:t>
                      </a:r>
                      <a:r>
                        <a:rPr lang="sv-SE" sz="1200" b="0" u="none" strike="noStrike" cap="none">
                          <a:solidFill>
                            <a:schemeClr val="dk1"/>
                          </a:solidFill>
                          <a:latin typeface="Arial"/>
                          <a:ea typeface="Arial"/>
                          <a:cs typeface="Arial"/>
                          <a:sym typeface="Arial"/>
                        </a:rPr>
                        <a:t> (Select Folder).</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135975">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3</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Skapa PowerShell-skriptet</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I vänsterpanelen, högerklicka → </a:t>
                      </a:r>
                      <a:r>
                        <a:rPr lang="sv-SE" sz="1200" b="1" u="none" strike="noStrike" cap="none">
                          <a:solidFill>
                            <a:schemeClr val="dk1"/>
                          </a:solidFill>
                          <a:latin typeface="Arial"/>
                          <a:ea typeface="Arial"/>
                          <a:cs typeface="Arial"/>
                          <a:sym typeface="Arial"/>
                        </a:rPr>
                        <a:t>"New File"</a:t>
                      </a:r>
                      <a:r>
                        <a:rPr lang="sv-SE" sz="1200" b="0" u="none" strike="noStrike" cap="none">
                          <a:solidFill>
                            <a:schemeClr val="dk1"/>
                          </a:solidFill>
                          <a:latin typeface="Arial"/>
                          <a:ea typeface="Arial"/>
                          <a:cs typeface="Arial"/>
                          <a:sym typeface="Arial"/>
                        </a:rPr>
                        <a:t> (Ny fil). Döp filen till: run_ml_analysis.ps1 .</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35975">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4</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Kopiera in skriptet</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Markera ALL kod i rutan ovan (hela PowerShell-skriptet). Högerklicka och välj </a:t>
                      </a:r>
                      <a:r>
                        <a:rPr lang="sv-SE" sz="1200" b="1" u="none" strike="noStrike" cap="none">
                          <a:solidFill>
                            <a:schemeClr val="dk1"/>
                          </a:solidFill>
                          <a:latin typeface="Arial"/>
                          <a:ea typeface="Arial"/>
                          <a:cs typeface="Arial"/>
                          <a:sym typeface="Arial"/>
                        </a:rPr>
                        <a:t>"Kopiera"</a:t>
                      </a:r>
                      <a:r>
                        <a:rPr lang="sv-SE" sz="1200" b="0" u="none" strike="noStrike" cap="none">
                          <a:solidFill>
                            <a:schemeClr val="dk1"/>
                          </a:solidFill>
                          <a:latin typeface="Arial"/>
                          <a:ea typeface="Arial"/>
                          <a:cs typeface="Arial"/>
                          <a:sym typeface="Arial"/>
                        </a:rPr>
                        <a:t> (Copy). Gå till VS Code och klistra in i filen (Ctrl+V). Spara (Ctrl+S).</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211500">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5</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Skapa Python-skriptet</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Skapa en ny fil (Ctrl+N) och spara som analyze_network_traffic.py. Kopiera in Python-koden från tidigare i chatten (den som ansluter till SQL, laddar modell och sparar resultat). Spara .</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35975">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6</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Öppna terminalen i VS Code</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Klicka på </a:t>
                      </a:r>
                      <a:r>
                        <a:rPr lang="sv-SE" sz="1200" b="1" u="none" strike="noStrike" cap="none">
                          <a:solidFill>
                            <a:schemeClr val="dk1"/>
                          </a:solidFill>
                          <a:latin typeface="Arial"/>
                          <a:ea typeface="Arial"/>
                          <a:cs typeface="Arial"/>
                          <a:sym typeface="Arial"/>
                        </a:rPr>
                        <a:t>"Terminal"</a:t>
                      </a:r>
                      <a:r>
                        <a:rPr lang="sv-SE" sz="1200" b="0" u="none" strike="noStrike" cap="none">
                          <a:solidFill>
                            <a:schemeClr val="dk1"/>
                          </a:solidFill>
                          <a:latin typeface="Arial"/>
                          <a:ea typeface="Arial"/>
                          <a:cs typeface="Arial"/>
                          <a:sym typeface="Arial"/>
                        </a:rPr>
                        <a:t> i toppmenyn → </a:t>
                      </a:r>
                      <a:r>
                        <a:rPr lang="sv-SE" sz="1200" b="1" u="none" strike="noStrike" cap="none">
                          <a:solidFill>
                            <a:schemeClr val="dk1"/>
                          </a:solidFill>
                          <a:latin typeface="Arial"/>
                          <a:ea typeface="Arial"/>
                          <a:cs typeface="Arial"/>
                          <a:sym typeface="Arial"/>
                        </a:rPr>
                        <a:t>"New Terminal"</a:t>
                      </a:r>
                      <a:r>
                        <a:rPr lang="sv-SE" sz="1200" b="0" u="none" strike="noStrike" cap="none">
                          <a:solidFill>
                            <a:schemeClr val="dk1"/>
                          </a:solidFill>
                          <a:latin typeface="Arial"/>
                          <a:ea typeface="Arial"/>
                          <a:cs typeface="Arial"/>
                          <a:sym typeface="Arial"/>
                        </a:rPr>
                        <a:t> (Ny terminal). En terminalruta öppnas längst ner.</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r h="302150">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7</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Kör PowerShell-skriptet</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I terminalen, skriv:</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.\run_ml_analysis.ps1</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och tryck </a:t>
                      </a:r>
                      <a:r>
                        <a:rPr lang="sv-SE" sz="1200" b="1" u="none" strike="noStrike" cap="none">
                          <a:solidFill>
                            <a:schemeClr val="dk1"/>
                          </a:solidFill>
                          <a:latin typeface="Arial"/>
                          <a:ea typeface="Arial"/>
                          <a:cs typeface="Arial"/>
                          <a:sym typeface="Arial"/>
                        </a:rPr>
                        <a:t>Enter</a:t>
                      </a:r>
                      <a:r>
                        <a:rPr lang="sv-SE" sz="1200" b="0" u="none" strike="noStrike" cap="none">
                          <a:solidFill>
                            <a:schemeClr val="dk1"/>
                          </a:solidFill>
                          <a:latin typeface="Arial"/>
                          <a:ea typeface="Arial"/>
                          <a:cs typeface="Arial"/>
                          <a:sym typeface="Arial"/>
                        </a:rPr>
                        <a:t>.</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558975">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8</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Skriptet körs – följ instruktionerna</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Nu ser du en färgglad utskrift i terminalen. Skriptet kommer att:</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Kontrollera Python</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Skapa requirements.txt</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Installera alla nödvändiga paket</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Kontrollera att modellfilerna finns</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Fråga om servernamn</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8"/>
                  </a:ext>
                </a:extLst>
              </a:tr>
              <a:tr h="211500">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9</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Ange servernamn vid behov</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Skriptet visar nuvarande servernamn (förmodligen localhost). Om du använder ett annat servernamn (t.ex. DESKTOP-ABC123 eller (localdb)\MSSQLLocalDB), svara </a:t>
                      </a:r>
                      <a:r>
                        <a:rPr lang="sv-SE" sz="1200" b="1" u="none" strike="noStrike" cap="none">
                          <a:solidFill>
                            <a:schemeClr val="dk1"/>
                          </a:solidFill>
                          <a:latin typeface="Arial"/>
                          <a:ea typeface="Arial"/>
                          <a:cs typeface="Arial"/>
                          <a:sym typeface="Arial"/>
                        </a:rPr>
                        <a:t>"j"</a:t>
                      </a:r>
                      <a:r>
                        <a:rPr lang="sv-SE" sz="1200" b="0" u="none" strike="noStrike" cap="none">
                          <a:solidFill>
                            <a:schemeClr val="dk1"/>
                          </a:solidFill>
                          <a:latin typeface="Arial"/>
                          <a:ea typeface="Arial"/>
                          <a:cs typeface="Arial"/>
                          <a:sym typeface="Arial"/>
                        </a:rPr>
                        <a:t> och skriv in rätt namn. Annars svara </a:t>
                      </a:r>
                      <a:r>
                        <a:rPr lang="sv-SE" sz="1200" b="1" u="none" strike="noStrike" cap="none">
                          <a:solidFill>
                            <a:schemeClr val="dk1"/>
                          </a:solidFill>
                          <a:latin typeface="Arial"/>
                          <a:ea typeface="Arial"/>
                          <a:cs typeface="Arial"/>
                          <a:sym typeface="Arial"/>
                        </a:rPr>
                        <a:t>"N"</a:t>
                      </a:r>
                      <a:r>
                        <a:rPr lang="sv-SE" sz="1200" b="0" u="none" strike="noStrike" cap="none">
                          <a:solidFill>
                            <a:schemeClr val="dk1"/>
                          </a:solidFill>
                          <a:latin typeface="Arial"/>
                          <a:ea typeface="Arial"/>
                          <a:cs typeface="Arial"/>
                          <a:sym typeface="Arial"/>
                        </a:rPr>
                        <a:t> (eller bara tryck Enter).</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135975">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10</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Bekräfta att du vill köra analysen</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Skriptet frågar: Vill du kora ML-analysen nu? (j/N). Svara </a:t>
                      </a:r>
                      <a:r>
                        <a:rPr lang="sv-SE" sz="1200" b="1" u="none" strike="noStrike" cap="none">
                          <a:solidFill>
                            <a:schemeClr val="dk1"/>
                          </a:solidFill>
                          <a:latin typeface="Arial"/>
                          <a:ea typeface="Arial"/>
                          <a:cs typeface="Arial"/>
                          <a:sym typeface="Arial"/>
                        </a:rPr>
                        <a:t>"j"</a:t>
                      </a:r>
                      <a:r>
                        <a:rPr lang="sv-SE" sz="1200" b="0" u="none" strike="noStrike" cap="none">
                          <a:solidFill>
                            <a:schemeClr val="dk1"/>
                          </a:solidFill>
                          <a:latin typeface="Arial"/>
                          <a:ea typeface="Arial"/>
                          <a:cs typeface="Arial"/>
                          <a:sym typeface="Arial"/>
                        </a:rPr>
                        <a:t> och tryck Enter.</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10"/>
                  </a:ext>
                </a:extLst>
              </a:tr>
              <a:tr h="634525">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11</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Analysen körs!</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Nu ser du utskrifter från Python-skriptet:</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Anslutning till SQL Server</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Laddning av modell</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Hämtning av ny data</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Analys och prediktioner</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Sparande av resultat</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1"/>
                  </a:ext>
                </a:extLst>
              </a:tr>
              <a:tr h="438125">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12</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Analys klar!</a:t>
                      </a:r>
                      <a:endParaRPr sz="1400" b="0" u="none" strike="noStrike" cap="none">
                        <a:solidFill>
                          <a:schemeClr val="dk1"/>
                        </a:solidFill>
                        <a:latin typeface="Arial"/>
                        <a:ea typeface="Arial"/>
                        <a:cs typeface="Arial"/>
                        <a:sym typeface="Arial"/>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sv-SE" sz="1200" b="0" u="none" strike="noStrike" cap="none">
                          <a:solidFill>
                            <a:schemeClr val="dk1"/>
                          </a:solidFill>
                          <a:latin typeface="Arial"/>
                          <a:ea typeface="Arial"/>
                          <a:cs typeface="Arial"/>
                          <a:sym typeface="Arial"/>
                        </a:rPr>
                        <a:t>När allt är klart ser du en sammanfattning med:</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Totalt antal analyserade rader</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Antal upptäckta attacker</a:t>
                      </a:r>
                      <a:br>
                        <a:rPr lang="sv-SE" sz="1200" b="0" u="none" strike="noStrike" cap="none">
                          <a:solidFill>
                            <a:srgbClr val="000000"/>
                          </a:solidFill>
                          <a:latin typeface="Arial"/>
                          <a:ea typeface="Arial"/>
                          <a:cs typeface="Arial"/>
                          <a:sym typeface="Arial"/>
                        </a:rPr>
                      </a:br>
                      <a:r>
                        <a:rPr lang="sv-SE" sz="1200" b="0" u="none" strike="noStrike" cap="none">
                          <a:solidFill>
                            <a:schemeClr val="dk1"/>
                          </a:solidFill>
                          <a:latin typeface="Arial"/>
                          <a:ea typeface="Arial"/>
                          <a:cs typeface="Arial"/>
                          <a:sym typeface="Arial"/>
                        </a:rPr>
                        <a:t>• Genomsnittlig konfidens</a:t>
                      </a:r>
                      <a:endParaRPr/>
                    </a:p>
                  </a:txBody>
                  <a:tcPr marL="37125" marR="0" marT="10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4"/>
        <p:cNvGrpSpPr/>
        <p:nvPr/>
      </p:nvGrpSpPr>
      <p:grpSpPr>
        <a:xfrm>
          <a:off x="0" y="0"/>
          <a:ext cx="0" cy="0"/>
          <a:chOff x="0" y="0"/>
          <a:chExt cx="0" cy="0"/>
        </a:xfrm>
      </p:grpSpPr>
      <p:sp>
        <p:nvSpPr>
          <p:cNvPr id="665" name="Google Shape;665;p5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66" name="Google Shape;666;p55"/>
          <p:cNvSpPr/>
          <p:nvPr/>
        </p:nvSpPr>
        <p:spPr>
          <a:xfrm flipH="1">
            <a:off x="2" y="0"/>
            <a:ext cx="12191998" cy="1575955"/>
          </a:xfrm>
          <a:prstGeom prst="rect">
            <a:avLst/>
          </a:prstGeom>
          <a:gradFill>
            <a:gsLst>
              <a:gs pos="0">
                <a:srgbClr val="000000">
                  <a:alpha val="96078"/>
                </a:srgbClr>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67" name="Google Shape;667;p55"/>
          <p:cNvSpPr/>
          <p:nvPr/>
        </p:nvSpPr>
        <p:spPr>
          <a:xfrm rot="10800000" flipH="1">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68" name="Google Shape;668;p55"/>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69" name="Google Shape;669;p55"/>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rPr>
              <a:t>Vad betyder utskrifterna?</a:t>
            </a:r>
            <a:endParaRPr sz="4000">
              <a:solidFill>
                <a:srgbClr val="FFFFFF"/>
              </a:solidFill>
            </a:endParaRPr>
          </a:p>
        </p:txBody>
      </p:sp>
      <p:graphicFrame>
        <p:nvGraphicFramePr>
          <p:cNvPr id="670" name="Google Shape;670;p55"/>
          <p:cNvGraphicFramePr/>
          <p:nvPr/>
        </p:nvGraphicFramePr>
        <p:xfrm>
          <a:off x="644056" y="2297535"/>
          <a:ext cx="3000000" cy="3000000"/>
        </p:xfrm>
        <a:graphic>
          <a:graphicData uri="http://schemas.openxmlformats.org/drawingml/2006/table">
            <a:tbl>
              <a:tblPr firstRow="1" bandRow="1">
                <a:noFill/>
                <a:tableStyleId>{822C3B93-EF79-491A-80E4-DA79D8C4CF44}</a:tableStyleId>
              </a:tblPr>
              <a:tblGrid>
                <a:gridCol w="5463925">
                  <a:extLst>
                    <a:ext uri="{9D8B030D-6E8A-4147-A177-3AD203B41FA5}">
                      <a16:colId xmlns:a16="http://schemas.microsoft.com/office/drawing/2014/main" val="20000"/>
                    </a:ext>
                  </a:extLst>
                </a:gridCol>
                <a:gridCol w="5463925">
                  <a:extLst>
                    <a:ext uri="{9D8B030D-6E8A-4147-A177-3AD203B41FA5}">
                      <a16:colId xmlns:a16="http://schemas.microsoft.com/office/drawing/2014/main" val="20001"/>
                    </a:ext>
                  </a:extLst>
                </a:gridCol>
              </a:tblGrid>
              <a:tr h="486750">
                <a:tc>
                  <a:txBody>
                    <a:bodyPr/>
                    <a:lstStyle/>
                    <a:p>
                      <a:pPr marL="0" marR="0" lvl="0" indent="0" algn="l" rtl="0">
                        <a:lnSpc>
                          <a:spcPct val="98684"/>
                        </a:lnSpc>
                        <a:spcBef>
                          <a:spcPts val="0"/>
                        </a:spcBef>
                        <a:spcAft>
                          <a:spcPts val="0"/>
                        </a:spcAft>
                        <a:buClr>
                          <a:schemeClr val="dk1"/>
                        </a:buClr>
                        <a:buSzPts val="1900"/>
                        <a:buFont typeface="Arial"/>
                        <a:buNone/>
                      </a:pPr>
                      <a:r>
                        <a:rPr lang="sv-SE" sz="1900" b="1" u="none" strike="noStrike" cap="none">
                          <a:latin typeface="Arial"/>
                          <a:ea typeface="Arial"/>
                          <a:cs typeface="Arial"/>
                          <a:sym typeface="Arial"/>
                        </a:rPr>
                        <a:t>Utskrift</a:t>
                      </a:r>
                      <a:endParaRPr sz="1900" b="0" u="none" strike="noStrike" cap="none">
                        <a:latin typeface="Arial"/>
                        <a:ea typeface="Arial"/>
                        <a:cs typeface="Arial"/>
                        <a:sym typeface="Arial"/>
                      </a:endParaRPr>
                    </a:p>
                  </a:txBody>
                  <a:tcPr marL="95025" marR="15837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8684"/>
                        </a:lnSpc>
                        <a:spcBef>
                          <a:spcPts val="0"/>
                        </a:spcBef>
                        <a:spcAft>
                          <a:spcPts val="0"/>
                        </a:spcAft>
                        <a:buClr>
                          <a:schemeClr val="dk1"/>
                        </a:buClr>
                        <a:buSzPts val="1900"/>
                        <a:buFont typeface="Arial"/>
                        <a:buNone/>
                      </a:pPr>
                      <a:r>
                        <a:rPr lang="sv-SE" sz="1900" b="1" u="none" strike="noStrike" cap="none">
                          <a:latin typeface="Arial"/>
                          <a:ea typeface="Arial"/>
                          <a:cs typeface="Arial"/>
                          <a:sym typeface="Arial"/>
                        </a:rPr>
                        <a:t>Betydelse</a:t>
                      </a:r>
                      <a:endParaRPr sz="1900" b="0" u="none" strike="noStrike" cap="none">
                        <a:latin typeface="Arial"/>
                        <a:ea typeface="Arial"/>
                        <a:cs typeface="Arial"/>
                        <a:sym typeface="Arial"/>
                      </a:endParaRPr>
                    </a:p>
                  </a:txBody>
                  <a:tcPr marL="158375" marR="15837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86750">
                <a:tc>
                  <a:txBody>
                    <a:bodyPr/>
                    <a:lstStyle/>
                    <a:p>
                      <a:pPr marL="0" marR="0" lvl="0" indent="0" algn="l" rtl="0">
                        <a:lnSpc>
                          <a:spcPct val="86842"/>
                        </a:lnSpc>
                        <a:spcBef>
                          <a:spcPts val="0"/>
                        </a:spcBef>
                        <a:spcAft>
                          <a:spcPts val="0"/>
                        </a:spcAft>
                        <a:buClr>
                          <a:schemeClr val="dk1"/>
                        </a:buClr>
                        <a:buSzPts val="1900"/>
                        <a:buFont typeface="Arial"/>
                        <a:buNone/>
                      </a:pPr>
                      <a:r>
                        <a:rPr lang="sv-SE" sz="1900" b="0" u="none" strike="noStrike" cap="none">
                          <a:latin typeface="Arial"/>
                          <a:ea typeface="Arial"/>
                          <a:cs typeface="Arial"/>
                          <a:sym typeface="Arial"/>
                        </a:rPr>
                        <a:t>[1/6] ANSLUTEN TILL SQL SERVER</a:t>
                      </a:r>
                      <a:endParaRPr sz="1900" b="0" u="none" strike="noStrike" cap="none">
                        <a:latin typeface="Arial"/>
                        <a:ea typeface="Arial"/>
                        <a:cs typeface="Arial"/>
                        <a:sym typeface="Arial"/>
                      </a:endParaRPr>
                    </a:p>
                  </a:txBody>
                  <a:tcPr marL="95025" marR="15837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8684"/>
                        </a:lnSpc>
                        <a:spcBef>
                          <a:spcPts val="0"/>
                        </a:spcBef>
                        <a:spcAft>
                          <a:spcPts val="0"/>
                        </a:spcAft>
                        <a:buClr>
                          <a:schemeClr val="dk1"/>
                        </a:buClr>
                        <a:buSzPts val="1900"/>
                        <a:buFont typeface="Arial"/>
                        <a:buNone/>
                      </a:pPr>
                      <a:r>
                        <a:rPr lang="sv-SE" sz="1900" b="0" u="none" strike="noStrike" cap="none">
                          <a:latin typeface="Arial"/>
                          <a:ea typeface="Arial"/>
                          <a:cs typeface="Arial"/>
                          <a:sym typeface="Arial"/>
                        </a:rPr>
                        <a:t>Anslutningen till databasen lyckades</a:t>
                      </a:r>
                      <a:endParaRPr/>
                    </a:p>
                  </a:txBody>
                  <a:tcPr marL="158375" marR="9502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86750">
                <a:tc>
                  <a:txBody>
                    <a:bodyPr/>
                    <a:lstStyle/>
                    <a:p>
                      <a:pPr marL="0" marR="0" lvl="0" indent="0" algn="l" rtl="0">
                        <a:lnSpc>
                          <a:spcPct val="86842"/>
                        </a:lnSpc>
                        <a:spcBef>
                          <a:spcPts val="0"/>
                        </a:spcBef>
                        <a:spcAft>
                          <a:spcPts val="0"/>
                        </a:spcAft>
                        <a:buClr>
                          <a:schemeClr val="dk1"/>
                        </a:buClr>
                        <a:buSzPts val="1900"/>
                        <a:buFont typeface="Arial"/>
                        <a:buNone/>
                      </a:pPr>
                      <a:r>
                        <a:rPr lang="sv-SE" sz="1900" b="0" u="none" strike="noStrike" cap="none">
                          <a:latin typeface="Arial"/>
                          <a:ea typeface="Arial"/>
                          <a:cs typeface="Arial"/>
                          <a:sym typeface="Arial"/>
                        </a:rPr>
                        <a:t>[2/6] LADDAR ML-MODELL... OK - 9 features</a:t>
                      </a:r>
                      <a:endParaRPr sz="1900" b="0" u="none" strike="noStrike" cap="none">
                        <a:latin typeface="Arial"/>
                        <a:ea typeface="Arial"/>
                        <a:cs typeface="Arial"/>
                        <a:sym typeface="Arial"/>
                      </a:endParaRPr>
                    </a:p>
                  </a:txBody>
                  <a:tcPr marL="95025" marR="15837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8684"/>
                        </a:lnSpc>
                        <a:spcBef>
                          <a:spcPts val="0"/>
                        </a:spcBef>
                        <a:spcAft>
                          <a:spcPts val="0"/>
                        </a:spcAft>
                        <a:buClr>
                          <a:schemeClr val="dk1"/>
                        </a:buClr>
                        <a:buSzPts val="1900"/>
                        <a:buFont typeface="Arial"/>
                        <a:buNone/>
                      </a:pPr>
                      <a:r>
                        <a:rPr lang="sv-SE" sz="1900" b="0" u="none" strike="noStrike" cap="none">
                          <a:latin typeface="Arial"/>
                          <a:ea typeface="Arial"/>
                          <a:cs typeface="Arial"/>
                          <a:sym typeface="Arial"/>
                        </a:rPr>
                        <a:t>Modellen laddades och förväntar sig 9 kolumner</a:t>
                      </a:r>
                      <a:endParaRPr/>
                    </a:p>
                  </a:txBody>
                  <a:tcPr marL="158375" marR="9502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66950">
                <a:tc>
                  <a:txBody>
                    <a:bodyPr/>
                    <a:lstStyle/>
                    <a:p>
                      <a:pPr marL="0" marR="0" lvl="0" indent="0" algn="l" rtl="0">
                        <a:lnSpc>
                          <a:spcPct val="86842"/>
                        </a:lnSpc>
                        <a:spcBef>
                          <a:spcPts val="0"/>
                        </a:spcBef>
                        <a:spcAft>
                          <a:spcPts val="0"/>
                        </a:spcAft>
                        <a:buClr>
                          <a:schemeClr val="dk1"/>
                        </a:buClr>
                        <a:buSzPts val="1900"/>
                        <a:buFont typeface="Arial"/>
                        <a:buNone/>
                      </a:pPr>
                      <a:r>
                        <a:rPr lang="sv-SE" sz="1900" b="0" u="none" strike="noStrike" cap="none">
                          <a:latin typeface="Arial"/>
                          <a:ea typeface="Arial"/>
                          <a:cs typeface="Arial"/>
                          <a:sym typeface="Arial"/>
                        </a:rPr>
                        <a:t>[3/6] HAMTAR DATA... HAMTADE 5 RADER</a:t>
                      </a:r>
                      <a:endParaRPr sz="1900" b="0" u="none" strike="noStrike" cap="none">
                        <a:latin typeface="Arial"/>
                        <a:ea typeface="Arial"/>
                        <a:cs typeface="Arial"/>
                        <a:sym typeface="Arial"/>
                      </a:endParaRPr>
                    </a:p>
                  </a:txBody>
                  <a:tcPr marL="95025" marR="15837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86842"/>
                        </a:lnSpc>
                        <a:spcBef>
                          <a:spcPts val="0"/>
                        </a:spcBef>
                        <a:spcAft>
                          <a:spcPts val="0"/>
                        </a:spcAft>
                        <a:buClr>
                          <a:schemeClr val="dk1"/>
                        </a:buClr>
                        <a:buSzPts val="1900"/>
                        <a:buFont typeface="Arial"/>
                        <a:buNone/>
                      </a:pPr>
                      <a:r>
                        <a:rPr lang="sv-SE" sz="1900" b="0" u="none" strike="noStrike" cap="none">
                          <a:latin typeface="Arial"/>
                          <a:ea typeface="Arial"/>
                          <a:cs typeface="Arial"/>
                          <a:sym typeface="Arial"/>
                        </a:rPr>
                        <a:t>5 nya rader hämtades från NetworkTrafficLogs</a:t>
                      </a:r>
                      <a:endParaRPr sz="1900" b="0" u="none" strike="noStrike" cap="none">
                        <a:latin typeface="Arial"/>
                        <a:ea typeface="Arial"/>
                        <a:cs typeface="Arial"/>
                        <a:sym typeface="Arial"/>
                      </a:endParaRPr>
                    </a:p>
                  </a:txBody>
                  <a:tcPr marL="158375" marR="9502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737500">
                <a:tc>
                  <a:txBody>
                    <a:bodyPr/>
                    <a:lstStyle/>
                    <a:p>
                      <a:pPr marL="0" marR="0" lvl="0" indent="0" algn="l" rtl="0">
                        <a:lnSpc>
                          <a:spcPct val="86842"/>
                        </a:lnSpc>
                        <a:spcBef>
                          <a:spcPts val="0"/>
                        </a:spcBef>
                        <a:spcAft>
                          <a:spcPts val="0"/>
                        </a:spcAft>
                        <a:buClr>
                          <a:schemeClr val="dk1"/>
                        </a:buClr>
                        <a:buSzPts val="1900"/>
                        <a:buFont typeface="Arial"/>
                        <a:buNone/>
                      </a:pPr>
                      <a:r>
                        <a:rPr lang="sv-SE" sz="1900" b="0" u="none" strike="noStrike" cap="none">
                          <a:latin typeface="Arial"/>
                          <a:ea typeface="Arial"/>
                          <a:cs typeface="Arial"/>
                          <a:sym typeface="Arial"/>
                        </a:rPr>
                        <a:t>[4/6] FORBEREDER DATA...</a:t>
                      </a:r>
                      <a:endParaRPr sz="1900" b="0" u="none" strike="noStrike" cap="none">
                        <a:latin typeface="Arial"/>
                        <a:ea typeface="Arial"/>
                        <a:cs typeface="Arial"/>
                        <a:sym typeface="Arial"/>
                      </a:endParaRPr>
                    </a:p>
                  </a:txBody>
                  <a:tcPr marL="95025" marR="15837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8684"/>
                        </a:lnSpc>
                        <a:spcBef>
                          <a:spcPts val="0"/>
                        </a:spcBef>
                        <a:spcAft>
                          <a:spcPts val="0"/>
                        </a:spcAft>
                        <a:buClr>
                          <a:schemeClr val="dk1"/>
                        </a:buClr>
                        <a:buSzPts val="1900"/>
                        <a:buFont typeface="Arial"/>
                        <a:buNone/>
                      </a:pPr>
                      <a:r>
                        <a:rPr lang="sv-SE" sz="1900" b="0" u="none" strike="noStrike" cap="none">
                          <a:latin typeface="Arial"/>
                          <a:ea typeface="Arial"/>
                          <a:cs typeface="Arial"/>
                          <a:sym typeface="Arial"/>
                        </a:rPr>
                        <a:t>Datan omvandlas till samma format som träningsdatan</a:t>
                      </a:r>
                      <a:endParaRPr/>
                    </a:p>
                  </a:txBody>
                  <a:tcPr marL="158375" marR="9502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691300">
                <a:tc>
                  <a:txBody>
                    <a:bodyPr/>
                    <a:lstStyle/>
                    <a:p>
                      <a:pPr marL="0" marR="0" lvl="0" indent="0" algn="l" rtl="0">
                        <a:lnSpc>
                          <a:spcPct val="86842"/>
                        </a:lnSpc>
                        <a:spcBef>
                          <a:spcPts val="0"/>
                        </a:spcBef>
                        <a:spcAft>
                          <a:spcPts val="0"/>
                        </a:spcAft>
                        <a:buClr>
                          <a:schemeClr val="dk1"/>
                        </a:buClr>
                        <a:buSzPts val="1900"/>
                        <a:buFont typeface="Arial"/>
                        <a:buNone/>
                      </a:pPr>
                      <a:r>
                        <a:rPr lang="sv-SE" sz="1900" b="0" u="none" strike="noStrike" cap="none">
                          <a:latin typeface="Arial"/>
                          <a:ea typeface="Arial"/>
                          <a:cs typeface="Arial"/>
                          <a:sym typeface="Arial"/>
                        </a:rPr>
                        <a:t>[5/6] ANALYSERAR... HITTADE 2 POTENTIELLA ATTACKER</a:t>
                      </a:r>
                      <a:endParaRPr sz="1900" b="0" u="none" strike="noStrike" cap="none">
                        <a:latin typeface="Arial"/>
                        <a:ea typeface="Arial"/>
                        <a:cs typeface="Arial"/>
                        <a:sym typeface="Arial"/>
                      </a:endParaRPr>
                    </a:p>
                  </a:txBody>
                  <a:tcPr marL="95025" marR="15837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8684"/>
                        </a:lnSpc>
                        <a:spcBef>
                          <a:spcPts val="0"/>
                        </a:spcBef>
                        <a:spcAft>
                          <a:spcPts val="0"/>
                        </a:spcAft>
                        <a:buClr>
                          <a:schemeClr val="dk1"/>
                        </a:buClr>
                        <a:buSzPts val="1900"/>
                        <a:buFont typeface="Arial"/>
                        <a:buNone/>
                      </a:pPr>
                      <a:r>
                        <a:rPr lang="sv-SE" sz="1900" b="0" u="none" strike="noStrike" cap="none">
                          <a:latin typeface="Arial"/>
                          <a:ea typeface="Arial"/>
                          <a:cs typeface="Arial"/>
                          <a:sym typeface="Arial"/>
                        </a:rPr>
                        <a:t>Modellen hittade 2 attacker i datan</a:t>
                      </a:r>
                      <a:endParaRPr/>
                    </a:p>
                  </a:txBody>
                  <a:tcPr marL="158375" marR="9502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66950">
                <a:tc>
                  <a:txBody>
                    <a:bodyPr/>
                    <a:lstStyle/>
                    <a:p>
                      <a:pPr marL="0" marR="0" lvl="0" indent="0" algn="l" rtl="0">
                        <a:lnSpc>
                          <a:spcPct val="86842"/>
                        </a:lnSpc>
                        <a:spcBef>
                          <a:spcPts val="0"/>
                        </a:spcBef>
                        <a:spcAft>
                          <a:spcPts val="0"/>
                        </a:spcAft>
                        <a:buClr>
                          <a:schemeClr val="dk1"/>
                        </a:buClr>
                        <a:buSzPts val="1900"/>
                        <a:buFont typeface="Arial"/>
                        <a:buNone/>
                      </a:pPr>
                      <a:r>
                        <a:rPr lang="sv-SE" sz="1900" b="0" u="none" strike="noStrike" cap="none">
                          <a:latin typeface="Arial"/>
                          <a:ea typeface="Arial"/>
                          <a:cs typeface="Arial"/>
                          <a:sym typeface="Arial"/>
                        </a:rPr>
                        <a:t>[6/6] SPARAR I SQL SERVER... SPARADE 5 RADER</a:t>
                      </a:r>
                      <a:endParaRPr sz="1900" b="0" u="none" strike="noStrike" cap="none">
                        <a:latin typeface="Arial"/>
                        <a:ea typeface="Arial"/>
                        <a:cs typeface="Arial"/>
                        <a:sym typeface="Arial"/>
                      </a:endParaRPr>
                    </a:p>
                  </a:txBody>
                  <a:tcPr marL="95025" marR="15837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86842"/>
                        </a:lnSpc>
                        <a:spcBef>
                          <a:spcPts val="0"/>
                        </a:spcBef>
                        <a:spcAft>
                          <a:spcPts val="0"/>
                        </a:spcAft>
                        <a:buClr>
                          <a:schemeClr val="dk1"/>
                        </a:buClr>
                        <a:buSzPts val="1900"/>
                        <a:buFont typeface="Arial"/>
                        <a:buNone/>
                      </a:pPr>
                      <a:r>
                        <a:rPr lang="sv-SE" sz="1900" b="0" u="none" strike="noStrike" cap="none">
                          <a:latin typeface="Arial"/>
                          <a:ea typeface="Arial"/>
                          <a:cs typeface="Arial"/>
                          <a:sym typeface="Arial"/>
                        </a:rPr>
                        <a:t>Resultaten sparades i ThreatDetections</a:t>
                      </a:r>
                      <a:endParaRPr sz="1900" b="0" u="none" strike="noStrike" cap="none">
                        <a:latin typeface="Arial"/>
                        <a:ea typeface="Arial"/>
                        <a:cs typeface="Arial"/>
                        <a:sym typeface="Arial"/>
                      </a:endParaRPr>
                    </a:p>
                  </a:txBody>
                  <a:tcPr marL="158375" marR="95025" marT="98975" marB="989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74"/>
        <p:cNvGrpSpPr/>
        <p:nvPr/>
      </p:nvGrpSpPr>
      <p:grpSpPr>
        <a:xfrm>
          <a:off x="0" y="0"/>
          <a:ext cx="0" cy="0"/>
          <a:chOff x="0" y="0"/>
          <a:chExt cx="0" cy="0"/>
        </a:xfrm>
      </p:grpSpPr>
      <p:sp>
        <p:nvSpPr>
          <p:cNvPr id="675" name="Google Shape;675;p5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6" name="Google Shape;676;p56"/>
          <p:cNvSpPr/>
          <p:nvPr/>
        </p:nvSpPr>
        <p:spPr>
          <a:xfrm flipH="1">
            <a:off x="2" y="0"/>
            <a:ext cx="12191998" cy="1575955"/>
          </a:xfrm>
          <a:prstGeom prst="rect">
            <a:avLst/>
          </a:prstGeom>
          <a:gradFill>
            <a:gsLst>
              <a:gs pos="0">
                <a:srgbClr val="000000">
                  <a:alpha val="96078"/>
                </a:srgbClr>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7" name="Google Shape;677;p56"/>
          <p:cNvSpPr/>
          <p:nvPr/>
        </p:nvSpPr>
        <p:spPr>
          <a:xfrm rot="10800000" flipH="1">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8" name="Google Shape;678;p56"/>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9" name="Google Shape;679;p56"/>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rPr>
              <a:t>Vanliga frågor</a:t>
            </a:r>
            <a:endParaRPr sz="4000">
              <a:solidFill>
                <a:srgbClr val="FFFFFF"/>
              </a:solidFill>
            </a:endParaRPr>
          </a:p>
        </p:txBody>
      </p:sp>
      <p:graphicFrame>
        <p:nvGraphicFramePr>
          <p:cNvPr id="680" name="Google Shape;680;p56"/>
          <p:cNvGraphicFramePr/>
          <p:nvPr/>
        </p:nvGraphicFramePr>
        <p:xfrm>
          <a:off x="-2925" y="1582429"/>
          <a:ext cx="3000000" cy="3000000"/>
        </p:xfrm>
        <a:graphic>
          <a:graphicData uri="http://schemas.openxmlformats.org/drawingml/2006/table">
            <a:tbl>
              <a:tblPr firstRow="1" bandRow="1">
                <a:noFill/>
                <a:tableStyleId>{822C3B93-EF79-491A-80E4-DA79D8C4CF44}</a:tableStyleId>
              </a:tblPr>
              <a:tblGrid>
                <a:gridCol w="3642100">
                  <a:extLst>
                    <a:ext uri="{9D8B030D-6E8A-4147-A177-3AD203B41FA5}">
                      <a16:colId xmlns:a16="http://schemas.microsoft.com/office/drawing/2014/main" val="20000"/>
                    </a:ext>
                  </a:extLst>
                </a:gridCol>
                <a:gridCol w="8534925">
                  <a:extLst>
                    <a:ext uri="{9D8B030D-6E8A-4147-A177-3AD203B41FA5}">
                      <a16:colId xmlns:a16="http://schemas.microsoft.com/office/drawing/2014/main" val="20001"/>
                    </a:ext>
                  </a:extLst>
                </a:gridCol>
              </a:tblGrid>
              <a:tr h="41567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Fråga</a:t>
                      </a:r>
                      <a:endParaRPr sz="2000" b="0" u="none" strike="noStrike" cap="none">
                        <a:solidFill>
                          <a:schemeClr val="dk1"/>
                        </a:solidFill>
                        <a:latin typeface="Arial"/>
                        <a:ea typeface="Arial"/>
                        <a:cs typeface="Arial"/>
                        <a:sym typeface="Arial"/>
                      </a:endParaRPr>
                    </a:p>
                  </a:txBody>
                  <a:tcPr marL="63225" marR="10537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Svar</a:t>
                      </a:r>
                      <a:endParaRPr sz="2000" b="0" u="none" strike="noStrike" cap="none">
                        <a:solidFill>
                          <a:schemeClr val="dk1"/>
                        </a:solidFill>
                        <a:latin typeface="Arial"/>
                        <a:ea typeface="Arial"/>
                        <a:cs typeface="Arial"/>
                        <a:sym typeface="Arial"/>
                      </a:endParaRPr>
                    </a:p>
                  </a:txBody>
                  <a:tcPr marL="105375" marR="10537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5903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Vad är PowerShell?</a:t>
                      </a:r>
                      <a:endParaRPr sz="1800" b="0" u="none" strike="noStrike" cap="none">
                        <a:latin typeface="Arial"/>
                        <a:ea typeface="Arial"/>
                        <a:cs typeface="Arial"/>
                        <a:sym typeface="Arial"/>
                      </a:endParaRPr>
                    </a:p>
                  </a:txBody>
                  <a:tcPr marL="63225" marR="10537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Ett script-språk från Microsoft som används för att automatisera uppgifter i Windows. Vårt .ps1-skript kontrollerar miljön och installerar paket .</a:t>
                      </a:r>
                      <a:endParaRPr/>
                    </a:p>
                  </a:txBody>
                  <a:tcPr marL="105375" marR="6322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8439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Varför använder vi både PowerShell och Python?</a:t>
                      </a:r>
                      <a:endParaRPr sz="1800" b="0" u="none" strike="noStrike" cap="none">
                        <a:latin typeface="Arial"/>
                        <a:ea typeface="Arial"/>
                        <a:cs typeface="Arial"/>
                        <a:sym typeface="Arial"/>
                      </a:endParaRPr>
                    </a:p>
                  </a:txBody>
                  <a:tcPr marL="63225" marR="10537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PowerShell sköter </a:t>
                      </a:r>
                      <a:r>
                        <a:rPr lang="sv-SE" sz="1800" b="1" u="none" strike="noStrike" cap="none">
                          <a:latin typeface="Arial"/>
                          <a:ea typeface="Arial"/>
                          <a:cs typeface="Arial"/>
                          <a:sym typeface="Arial"/>
                        </a:rPr>
                        <a:t>miljökontroll och installation</a:t>
                      </a:r>
                      <a:r>
                        <a:rPr lang="sv-SE" sz="1800" b="0" u="none" strike="noStrike" cap="none">
                          <a:latin typeface="Arial"/>
                          <a:ea typeface="Arial"/>
                          <a:cs typeface="Arial"/>
                          <a:sym typeface="Arial"/>
                        </a:rPr>
                        <a:t> (kontrollera Python, installera paket). Python utför själva </a:t>
                      </a:r>
                      <a:r>
                        <a:rPr lang="sv-SE" sz="1800" b="1" u="none" strike="noStrike" cap="none">
                          <a:latin typeface="Arial"/>
                          <a:ea typeface="Arial"/>
                          <a:cs typeface="Arial"/>
                          <a:sym typeface="Arial"/>
                        </a:rPr>
                        <a:t>ML-analysen</a:t>
                      </a:r>
                      <a:r>
                        <a:rPr lang="sv-SE" sz="1800" b="0" u="none" strike="noStrike" cap="none">
                          <a:latin typeface="Arial"/>
                          <a:ea typeface="Arial"/>
                          <a:cs typeface="Arial"/>
                          <a:sym typeface="Arial"/>
                        </a:rPr>
                        <a:t> (hämta data, göra prediktioner, spara resultat).</a:t>
                      </a:r>
                      <a:endParaRPr/>
                    </a:p>
                  </a:txBody>
                  <a:tcPr marL="105375" marR="6322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298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Vad är </a:t>
                      </a:r>
                      <a:r>
                        <a:rPr lang="sv-SE" sz="1800" b="0" u="none" strike="noStrike" cap="none">
                          <a:latin typeface="Arial"/>
                          <a:ea typeface="Arial"/>
                          <a:cs typeface="Arial"/>
                          <a:sym typeface="Arial"/>
                        </a:rPr>
                        <a:t>requirements.txt</a:t>
                      </a:r>
                      <a:r>
                        <a:rPr lang="sv-SE" sz="1800" b="1" u="none" strike="noStrike" cap="none">
                          <a:latin typeface="Arial"/>
                          <a:ea typeface="Arial"/>
                          <a:cs typeface="Arial"/>
                          <a:sym typeface="Arial"/>
                        </a:rPr>
                        <a:t>?</a:t>
                      </a:r>
                      <a:endParaRPr sz="1800" b="0" u="none" strike="noStrike" cap="none">
                        <a:latin typeface="Arial"/>
                        <a:ea typeface="Arial"/>
                        <a:cs typeface="Arial"/>
                        <a:sym typeface="Arial"/>
                      </a:endParaRPr>
                    </a:p>
                  </a:txBody>
                  <a:tcPr marL="63225" marR="10537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En textfil som listar alla Python-bibliotek som behövs, med exakta versioner. Detta är industristandard för att säkerställa att alla använder samma versioner .</a:t>
                      </a:r>
                      <a:endParaRPr/>
                    </a:p>
                  </a:txBody>
                  <a:tcPr marL="105375" marR="6322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7820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Vad är servernamn och var hittar jag det?</a:t>
                      </a:r>
                      <a:endParaRPr sz="1800" b="0" u="none" strike="noStrike" cap="none">
                        <a:latin typeface="Arial"/>
                        <a:ea typeface="Arial"/>
                        <a:cs typeface="Arial"/>
                        <a:sym typeface="Arial"/>
                      </a:endParaRPr>
                    </a:p>
                  </a:txBody>
                  <a:tcPr marL="63225" marR="10537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Servernamnet är adressen till din SQL Server. Du hittar det i SSMS när du ansluter – det står i rutan "Servernamn". Vanliga exempel: localhost, DESKTOP-ABC123, (localdb)\MSSQLLocalDB .</a:t>
                      </a:r>
                      <a:endParaRPr/>
                    </a:p>
                  </a:txBody>
                  <a:tcPr marL="105375" marR="6322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7820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Vad händer om jag får "0 rader hämtade"?</a:t>
                      </a:r>
                      <a:endParaRPr sz="1800" b="0" u="none" strike="noStrike" cap="none">
                        <a:latin typeface="Arial"/>
                        <a:ea typeface="Arial"/>
                        <a:cs typeface="Arial"/>
                        <a:sym typeface="Arial"/>
                      </a:endParaRPr>
                    </a:p>
                  </a:txBody>
                  <a:tcPr marL="63225" marR="10537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Det betyder att det inte fanns någon NY data att analysera. Alla rader i NetworkTrafficLogs har redan analyserats och finns i ThreatDetections. Lägg in ny testdata så körs analysen igen .</a:t>
                      </a:r>
                      <a:endParaRPr/>
                    </a:p>
                  </a:txBody>
                  <a:tcPr marL="105375" marR="6322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6298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Måste jag köra PowerShell-skriptet varje gång?</a:t>
                      </a:r>
                      <a:endParaRPr sz="1800" b="0" u="none" strike="noStrike" cap="none">
                        <a:latin typeface="Arial"/>
                        <a:ea typeface="Arial"/>
                        <a:cs typeface="Arial"/>
                        <a:sym typeface="Arial"/>
                      </a:endParaRPr>
                    </a:p>
                  </a:txBody>
                  <a:tcPr marL="63225" marR="10537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Ja, för att analysera ny data. Men du kan schemalägga det (Steg 10.5) så körs det automatiskt.</a:t>
                      </a:r>
                      <a:endParaRPr/>
                    </a:p>
                  </a:txBody>
                  <a:tcPr marL="105375" marR="6322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6298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latin typeface="Arial"/>
                          <a:ea typeface="Arial"/>
                          <a:cs typeface="Arial"/>
                          <a:sym typeface="Arial"/>
                        </a:rPr>
                        <a:t>Vad gör jag om jag får fel om "python hittas inte"?</a:t>
                      </a:r>
                      <a:endParaRPr sz="1800" b="0" u="none" strike="noStrike" cap="none">
                        <a:latin typeface="Arial"/>
                        <a:ea typeface="Arial"/>
                        <a:cs typeface="Arial"/>
                        <a:sym typeface="Arial"/>
                      </a:endParaRPr>
                    </a:p>
                  </a:txBody>
                  <a:tcPr marL="63225" marR="10537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latin typeface="Arial"/>
                          <a:ea typeface="Arial"/>
                          <a:cs typeface="Arial"/>
                          <a:sym typeface="Arial"/>
                        </a:rPr>
                        <a:t>Python är inte installerat eller inte i PATH. Gå tillbaka till Steg 4 och installera Python – </a:t>
                      </a:r>
                      <a:r>
                        <a:rPr lang="sv-SE" sz="1800" b="1" u="none" strike="noStrike" cap="none">
                          <a:latin typeface="Arial"/>
                          <a:ea typeface="Arial"/>
                          <a:cs typeface="Arial"/>
                          <a:sym typeface="Arial"/>
                        </a:rPr>
                        <a:t>kryssa i "Add Python to PATH"</a:t>
                      </a:r>
                      <a:r>
                        <a:rPr lang="sv-SE" sz="1800" b="0" u="none" strike="noStrike" cap="none">
                          <a:latin typeface="Arial"/>
                          <a:ea typeface="Arial"/>
                          <a:cs typeface="Arial"/>
                          <a:sym typeface="Arial"/>
                        </a:rPr>
                        <a:t> .</a:t>
                      </a:r>
                      <a:endParaRPr/>
                    </a:p>
                  </a:txBody>
                  <a:tcPr marL="105375" marR="63225" marT="65850" marB="65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4"/>
        <p:cNvGrpSpPr/>
        <p:nvPr/>
      </p:nvGrpSpPr>
      <p:grpSpPr>
        <a:xfrm>
          <a:off x="0" y="0"/>
          <a:ext cx="0" cy="0"/>
          <a:chOff x="0" y="0"/>
          <a:chExt cx="0" cy="0"/>
        </a:xfrm>
      </p:grpSpPr>
      <p:sp>
        <p:nvSpPr>
          <p:cNvPr id="685" name="Google Shape;685;p5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86" name="Google Shape;686;p57"/>
          <p:cNvSpPr/>
          <p:nvPr/>
        </p:nvSpPr>
        <p:spPr>
          <a:xfrm flipH="1">
            <a:off x="2" y="0"/>
            <a:ext cx="12191998" cy="1575955"/>
          </a:xfrm>
          <a:prstGeom prst="rect">
            <a:avLst/>
          </a:prstGeom>
          <a:gradFill>
            <a:gsLst>
              <a:gs pos="0">
                <a:srgbClr val="000000">
                  <a:alpha val="96078"/>
                </a:srgbClr>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87" name="Google Shape;687;p57"/>
          <p:cNvSpPr/>
          <p:nvPr/>
        </p:nvSpPr>
        <p:spPr>
          <a:xfrm rot="10800000" flipH="1">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88" name="Google Shape;688;p57"/>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89" name="Google Shape;689;p57"/>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rPr>
              <a:t>Felsökning</a:t>
            </a:r>
            <a:endParaRPr sz="4000">
              <a:solidFill>
                <a:srgbClr val="FFFFFF"/>
              </a:solidFill>
            </a:endParaRPr>
          </a:p>
        </p:txBody>
      </p:sp>
      <p:graphicFrame>
        <p:nvGraphicFramePr>
          <p:cNvPr id="690" name="Google Shape;690;p57"/>
          <p:cNvGraphicFramePr/>
          <p:nvPr/>
        </p:nvGraphicFramePr>
        <p:xfrm>
          <a:off x="86264" y="1682150"/>
          <a:ext cx="3000000" cy="3000000"/>
        </p:xfrm>
        <a:graphic>
          <a:graphicData uri="http://schemas.openxmlformats.org/drawingml/2006/table">
            <a:tbl>
              <a:tblPr firstRow="1" bandRow="1">
                <a:noFill/>
                <a:tableStyleId>{822C3B93-EF79-491A-80E4-DA79D8C4CF44}</a:tableStyleId>
              </a:tblPr>
              <a:tblGrid>
                <a:gridCol w="2815525">
                  <a:extLst>
                    <a:ext uri="{9D8B030D-6E8A-4147-A177-3AD203B41FA5}">
                      <a16:colId xmlns:a16="http://schemas.microsoft.com/office/drawing/2014/main" val="20000"/>
                    </a:ext>
                  </a:extLst>
                </a:gridCol>
                <a:gridCol w="3706675">
                  <a:extLst>
                    <a:ext uri="{9D8B030D-6E8A-4147-A177-3AD203B41FA5}">
                      <a16:colId xmlns:a16="http://schemas.microsoft.com/office/drawing/2014/main" val="20001"/>
                    </a:ext>
                  </a:extLst>
                </a:gridCol>
                <a:gridCol w="5483225">
                  <a:extLst>
                    <a:ext uri="{9D8B030D-6E8A-4147-A177-3AD203B41FA5}">
                      <a16:colId xmlns:a16="http://schemas.microsoft.com/office/drawing/2014/main" val="20002"/>
                    </a:ext>
                  </a:extLst>
                </a:gridCol>
              </a:tblGrid>
              <a:tr h="469050">
                <a:tc>
                  <a:txBody>
                    <a:bodyPr/>
                    <a:lstStyle/>
                    <a:p>
                      <a:pPr marL="0" marR="0" lvl="0" indent="0" algn="l" rtl="0">
                        <a:lnSpc>
                          <a:spcPct val="104166"/>
                        </a:lnSpc>
                        <a:spcBef>
                          <a:spcPts val="0"/>
                        </a:spcBef>
                        <a:spcAft>
                          <a:spcPts val="0"/>
                        </a:spcAft>
                        <a:buClr>
                          <a:srgbClr val="3F3F3F"/>
                        </a:buClr>
                        <a:buSzPts val="1800"/>
                        <a:buFont typeface="Arial"/>
                        <a:buNone/>
                      </a:pPr>
                      <a:r>
                        <a:rPr lang="sv-SE" sz="1800" b="1" u="none" strike="noStrike" cap="none">
                          <a:solidFill>
                            <a:srgbClr val="3F3F3F"/>
                          </a:solidFill>
                          <a:latin typeface="Arial"/>
                          <a:ea typeface="Arial"/>
                          <a:cs typeface="Arial"/>
                          <a:sym typeface="Arial"/>
                        </a:rPr>
                        <a:t>Problem</a:t>
                      </a:r>
                      <a:endParaRPr/>
                    </a:p>
                  </a:txBody>
                  <a:tcPr marL="161875" marR="134875" marT="80925" marB="80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8DCDC"/>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rgbClr val="3F3F3F"/>
                        </a:buClr>
                        <a:buSzPts val="1800"/>
                        <a:buFont typeface="Arial"/>
                        <a:buNone/>
                      </a:pPr>
                      <a:r>
                        <a:rPr lang="sv-SE" sz="1800" b="1" u="none" strike="noStrike" cap="none">
                          <a:solidFill>
                            <a:srgbClr val="3F3F3F"/>
                          </a:solidFill>
                          <a:latin typeface="Arial"/>
                          <a:ea typeface="Arial"/>
                          <a:cs typeface="Arial"/>
                          <a:sym typeface="Arial"/>
                        </a:rPr>
                        <a:t>Felmeddelande</a:t>
                      </a:r>
                      <a:endParaRPr/>
                    </a:p>
                  </a:txBody>
                  <a:tcPr marL="161875" marR="134875" marT="80925" marB="80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8DCDC"/>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rgbClr val="3F3F3F"/>
                        </a:buClr>
                        <a:buSzPts val="1800"/>
                        <a:buFont typeface="Arial"/>
                        <a:buNone/>
                      </a:pPr>
                      <a:r>
                        <a:rPr lang="sv-SE" sz="1800" b="1" u="none" strike="noStrike" cap="none">
                          <a:solidFill>
                            <a:srgbClr val="3F3F3F"/>
                          </a:solidFill>
                          <a:latin typeface="Arial"/>
                          <a:ea typeface="Arial"/>
                          <a:cs typeface="Arial"/>
                          <a:sym typeface="Arial"/>
                        </a:rPr>
                        <a:t>Lösning</a:t>
                      </a:r>
                      <a:endParaRPr/>
                    </a:p>
                  </a:txBody>
                  <a:tcPr marL="161875" marR="134875" marT="80925" marB="80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8DCDC"/>
                      </a:solidFill>
                      <a:prstDash val="solid"/>
                      <a:round/>
                      <a:headEnd type="none" w="sm" len="sm"/>
                      <a:tailEnd type="none" w="sm" len="sm"/>
                    </a:lnB>
                  </a:tcPr>
                </a:tc>
                <a:extLst>
                  <a:ext uri="{0D108BD9-81ED-4DB2-BD59-A6C34878D82A}">
                    <a16:rowId xmlns:a16="http://schemas.microsoft.com/office/drawing/2014/main" val="10000"/>
                  </a:ext>
                </a:extLst>
              </a:tr>
              <a:tr h="739100">
                <a:tc>
                  <a:txBody>
                    <a:bodyPr/>
                    <a:lstStyle/>
                    <a:p>
                      <a:pPr marL="0" marR="0" lvl="0" indent="0" algn="l" rtl="0">
                        <a:lnSpc>
                          <a:spcPct val="104166"/>
                        </a:lnSpc>
                        <a:spcBef>
                          <a:spcPts val="0"/>
                        </a:spcBef>
                        <a:spcAft>
                          <a:spcPts val="0"/>
                        </a:spcAft>
                        <a:buClr>
                          <a:srgbClr val="3F3F3F"/>
                        </a:buClr>
                        <a:buSzPts val="1800"/>
                        <a:buFont typeface="Arial"/>
                        <a:buNone/>
                      </a:pPr>
                      <a:r>
                        <a:rPr lang="sv-SE" sz="1800" b="1" u="none" strike="noStrike" cap="none">
                          <a:solidFill>
                            <a:srgbClr val="3F3F3F"/>
                          </a:solidFill>
                          <a:latin typeface="Arial"/>
                          <a:ea typeface="Arial"/>
                          <a:cs typeface="Arial"/>
                          <a:sym typeface="Arial"/>
                        </a:rPr>
                        <a:t>Python hittas inte</a:t>
                      </a:r>
                      <a:endParaRPr sz="1800" b="0" u="none" strike="noStrike" cap="none">
                        <a:solidFill>
                          <a:srgbClr val="3F3F3F"/>
                        </a:solidFill>
                        <a:latin typeface="Arial"/>
                        <a:ea typeface="Arial"/>
                        <a:cs typeface="Arial"/>
                        <a:sym typeface="Arial"/>
                      </a:endParaRPr>
                    </a:p>
                  </a:txBody>
                  <a:tcPr marL="161875" marR="134875" marT="80925" marB="80925" anchor="ctr">
                    <a:lnL w="9525" cap="flat" cmpd="sng">
                      <a:solidFill>
                        <a:srgbClr val="D8DCDC"/>
                      </a:solidFill>
                      <a:prstDash val="solid"/>
                      <a:round/>
                      <a:headEnd type="none" w="sm" len="sm"/>
                      <a:tailEnd type="none" w="sm" len="sm"/>
                    </a:lnL>
                    <a:lnR w="9525" cap="flat" cmpd="sng">
                      <a:solidFill>
                        <a:srgbClr val="D8DC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solidFill>
                      <a:srgbClr val="D8DEDC">
                        <a:alpha val="20000"/>
                      </a:srgbClr>
                    </a:solidFill>
                  </a:tcPr>
                </a:tc>
                <a:tc>
                  <a:txBody>
                    <a:bodyPr/>
                    <a:lstStyle/>
                    <a:p>
                      <a:pPr marL="0" marR="0" lvl="0" indent="0" algn="l" rtl="0">
                        <a:lnSpc>
                          <a:spcPct val="91666"/>
                        </a:lnSpc>
                        <a:spcBef>
                          <a:spcPts val="0"/>
                        </a:spcBef>
                        <a:spcAft>
                          <a:spcPts val="0"/>
                        </a:spcAft>
                        <a:buClr>
                          <a:srgbClr val="3F3F3F"/>
                        </a:buClr>
                        <a:buSzPts val="1800"/>
                        <a:buFont typeface="Arial"/>
                        <a:buNone/>
                      </a:pPr>
                      <a:r>
                        <a:rPr lang="sv-SE" sz="1800" b="0" u="none" strike="noStrike" cap="none">
                          <a:solidFill>
                            <a:srgbClr val="3F3F3F"/>
                          </a:solidFill>
                          <a:latin typeface="Arial"/>
                          <a:ea typeface="Arial"/>
                          <a:cs typeface="Arial"/>
                          <a:sym typeface="Arial"/>
                        </a:rPr>
                        <a:t>FEL: Python ar inte installerat!</a:t>
                      </a:r>
                      <a:endParaRPr sz="1800" b="0" u="none" strike="noStrike" cap="none">
                        <a:solidFill>
                          <a:srgbClr val="3F3F3F"/>
                        </a:solidFill>
                        <a:latin typeface="Arial"/>
                        <a:ea typeface="Arial"/>
                        <a:cs typeface="Arial"/>
                        <a:sym typeface="Arial"/>
                      </a:endParaRPr>
                    </a:p>
                  </a:txBody>
                  <a:tcPr marL="161875" marR="134875" marT="80925" marB="80925" anchor="ctr">
                    <a:lnL w="9525" cap="flat" cmpd="sng">
                      <a:solidFill>
                        <a:srgbClr val="D8DCDC"/>
                      </a:solidFill>
                      <a:prstDash val="solid"/>
                      <a:round/>
                      <a:headEnd type="none" w="sm" len="sm"/>
                      <a:tailEnd type="none" w="sm" len="sm"/>
                    </a:lnL>
                    <a:lnR w="9525" cap="flat" cmpd="sng">
                      <a:solidFill>
                        <a:srgbClr val="D8DC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solidFill>
                      <a:srgbClr val="D8DEDC">
                        <a:alpha val="20000"/>
                      </a:srgbClr>
                    </a:solidFill>
                  </a:tcPr>
                </a:tc>
                <a:tc>
                  <a:txBody>
                    <a:bodyPr/>
                    <a:lstStyle/>
                    <a:p>
                      <a:pPr marL="0" marR="0" lvl="0" indent="0" algn="l" rtl="0">
                        <a:lnSpc>
                          <a:spcPct val="104166"/>
                        </a:lnSpc>
                        <a:spcBef>
                          <a:spcPts val="0"/>
                        </a:spcBef>
                        <a:spcAft>
                          <a:spcPts val="0"/>
                        </a:spcAft>
                        <a:buClr>
                          <a:srgbClr val="3F3F3F"/>
                        </a:buClr>
                        <a:buSzPts val="1800"/>
                        <a:buFont typeface="Arial"/>
                        <a:buNone/>
                      </a:pPr>
                      <a:r>
                        <a:rPr lang="sv-SE" sz="1800" b="0" u="none" strike="noStrike" cap="none">
                          <a:solidFill>
                            <a:srgbClr val="3F3F3F"/>
                          </a:solidFill>
                          <a:latin typeface="Arial"/>
                          <a:ea typeface="Arial"/>
                          <a:cs typeface="Arial"/>
                          <a:sym typeface="Arial"/>
                        </a:rPr>
                        <a:t>Installera Python (Steg 4) och kryssa i "Add Python to PATH".</a:t>
                      </a:r>
                      <a:endParaRPr/>
                    </a:p>
                  </a:txBody>
                  <a:tcPr marL="161875" marR="80925" marT="80925" marB="80925" anchor="ctr">
                    <a:lnL w="9525" cap="flat" cmpd="sng">
                      <a:solidFill>
                        <a:srgbClr val="D8DCDC"/>
                      </a:solidFill>
                      <a:prstDash val="solid"/>
                      <a:round/>
                      <a:headEnd type="none" w="sm" len="sm"/>
                      <a:tailEnd type="none" w="sm" len="sm"/>
                    </a:lnL>
                    <a:lnR w="9525" cap="flat" cmpd="sng">
                      <a:solidFill>
                        <a:srgbClr val="D8DC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solidFill>
                      <a:srgbClr val="D8DEDC">
                        <a:alpha val="20000"/>
                      </a:srgbClr>
                    </a:solidFill>
                  </a:tcPr>
                </a:tc>
                <a:extLst>
                  <a:ext uri="{0D108BD9-81ED-4DB2-BD59-A6C34878D82A}">
                    <a16:rowId xmlns:a16="http://schemas.microsoft.com/office/drawing/2014/main" val="10001"/>
                  </a:ext>
                </a:extLst>
              </a:tr>
              <a:tr h="739100">
                <a:tc>
                  <a:txBody>
                    <a:bodyPr/>
                    <a:lstStyle/>
                    <a:p>
                      <a:pPr marL="0" marR="0" lvl="0" indent="0" algn="l" rtl="0">
                        <a:lnSpc>
                          <a:spcPct val="104166"/>
                        </a:lnSpc>
                        <a:spcBef>
                          <a:spcPts val="0"/>
                        </a:spcBef>
                        <a:spcAft>
                          <a:spcPts val="0"/>
                        </a:spcAft>
                        <a:buClr>
                          <a:srgbClr val="3F3F3F"/>
                        </a:buClr>
                        <a:buSzPts val="1800"/>
                        <a:buFont typeface="Arial"/>
                        <a:buNone/>
                      </a:pPr>
                      <a:r>
                        <a:rPr lang="sv-SE" sz="1800" b="1" u="none" strike="noStrike" cap="none">
                          <a:solidFill>
                            <a:srgbClr val="3F3F3F"/>
                          </a:solidFill>
                          <a:latin typeface="Arial"/>
                          <a:ea typeface="Arial"/>
                          <a:cs typeface="Arial"/>
                          <a:sym typeface="Arial"/>
                        </a:rPr>
                        <a:t>Paketinstallation misslyckas</a:t>
                      </a:r>
                      <a:endParaRPr sz="1800" b="0" u="none" strike="noStrike" cap="none">
                        <a:solidFill>
                          <a:srgbClr val="3F3F3F"/>
                        </a:solidFill>
                        <a:latin typeface="Arial"/>
                        <a:ea typeface="Arial"/>
                        <a:cs typeface="Arial"/>
                        <a:sym typeface="Arial"/>
                      </a:endParaRPr>
                    </a:p>
                  </a:txBody>
                  <a:tcPr marL="161875" marR="134875" marT="80925" marB="80925" anchor="ctr">
                    <a:lnL w="9525" cap="flat" cmpd="sng">
                      <a:solidFill>
                        <a:srgbClr val="D8DEDC"/>
                      </a:solidFill>
                      <a:prstDash val="solid"/>
                      <a:round/>
                      <a:headEnd type="none" w="sm" len="sm"/>
                      <a:tailEnd type="none" w="sm" len="sm"/>
                    </a:lnL>
                    <a:lnR w="9525" cap="flat" cmpd="sng">
                      <a:solidFill>
                        <a:srgbClr val="D8DE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tcPr>
                </a:tc>
                <a:tc>
                  <a:txBody>
                    <a:bodyPr/>
                    <a:lstStyle/>
                    <a:p>
                      <a:pPr marL="0" marR="0" lvl="0" indent="0" algn="l" rtl="0">
                        <a:lnSpc>
                          <a:spcPct val="91666"/>
                        </a:lnSpc>
                        <a:spcBef>
                          <a:spcPts val="0"/>
                        </a:spcBef>
                        <a:spcAft>
                          <a:spcPts val="0"/>
                        </a:spcAft>
                        <a:buClr>
                          <a:srgbClr val="3F3F3F"/>
                        </a:buClr>
                        <a:buSzPts val="1800"/>
                        <a:buFont typeface="Arial"/>
                        <a:buNone/>
                      </a:pPr>
                      <a:r>
                        <a:rPr lang="sv-SE" sz="1800" b="0" u="none" strike="noStrike" cap="none">
                          <a:solidFill>
                            <a:srgbClr val="3F3F3F"/>
                          </a:solidFill>
                          <a:latin typeface="Arial"/>
                          <a:ea typeface="Arial"/>
                          <a:cs typeface="Arial"/>
                          <a:sym typeface="Arial"/>
                        </a:rPr>
                        <a:t>ERROR: Could not install packages</a:t>
                      </a:r>
                      <a:endParaRPr sz="1800" b="0" u="none" strike="noStrike" cap="none">
                        <a:solidFill>
                          <a:srgbClr val="3F3F3F"/>
                        </a:solidFill>
                        <a:latin typeface="Arial"/>
                        <a:ea typeface="Arial"/>
                        <a:cs typeface="Arial"/>
                        <a:sym typeface="Arial"/>
                      </a:endParaRPr>
                    </a:p>
                  </a:txBody>
                  <a:tcPr marL="161875" marR="134875" marT="80925" marB="80925" anchor="ctr">
                    <a:lnL w="9525" cap="flat" cmpd="sng">
                      <a:solidFill>
                        <a:srgbClr val="D8DEDC"/>
                      </a:solidFill>
                      <a:prstDash val="solid"/>
                      <a:round/>
                      <a:headEnd type="none" w="sm" len="sm"/>
                      <a:tailEnd type="none" w="sm" len="sm"/>
                    </a:lnL>
                    <a:lnR w="9525" cap="flat" cmpd="sng">
                      <a:solidFill>
                        <a:srgbClr val="D8DE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rgbClr val="3F3F3F"/>
                        </a:buClr>
                        <a:buSzPts val="1800"/>
                        <a:buFont typeface="Arial"/>
                        <a:buNone/>
                      </a:pPr>
                      <a:r>
                        <a:rPr lang="sv-SE" sz="1800" b="0" u="none" strike="noStrike" cap="none">
                          <a:solidFill>
                            <a:srgbClr val="3F3F3F"/>
                          </a:solidFill>
                          <a:latin typeface="Arial"/>
                          <a:ea typeface="Arial"/>
                          <a:cs typeface="Arial"/>
                          <a:sym typeface="Arial"/>
                        </a:rPr>
                        <a:t>Kör PowerShell som administratör. Kontrollera internetanslutningen.</a:t>
                      </a:r>
                      <a:endParaRPr/>
                    </a:p>
                  </a:txBody>
                  <a:tcPr marL="161875" marR="80925" marT="80925" marB="80925" anchor="ctr">
                    <a:lnL w="9525" cap="flat" cmpd="sng">
                      <a:solidFill>
                        <a:srgbClr val="D8DEDC"/>
                      </a:solidFill>
                      <a:prstDash val="solid"/>
                      <a:round/>
                      <a:headEnd type="none" w="sm" len="sm"/>
                      <a:tailEnd type="none" w="sm" len="sm"/>
                    </a:lnL>
                    <a:lnR w="9525" cap="flat" cmpd="sng">
                      <a:solidFill>
                        <a:srgbClr val="D8DE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tcPr>
                </a:tc>
                <a:extLst>
                  <a:ext uri="{0D108BD9-81ED-4DB2-BD59-A6C34878D82A}">
                    <a16:rowId xmlns:a16="http://schemas.microsoft.com/office/drawing/2014/main" val="10002"/>
                  </a:ext>
                </a:extLst>
              </a:tr>
              <a:tr h="739100">
                <a:tc>
                  <a:txBody>
                    <a:bodyPr/>
                    <a:lstStyle/>
                    <a:p>
                      <a:pPr marL="0" marR="0" lvl="0" indent="0" algn="l" rtl="0">
                        <a:lnSpc>
                          <a:spcPct val="104166"/>
                        </a:lnSpc>
                        <a:spcBef>
                          <a:spcPts val="0"/>
                        </a:spcBef>
                        <a:spcAft>
                          <a:spcPts val="0"/>
                        </a:spcAft>
                        <a:buClr>
                          <a:srgbClr val="3F3F3F"/>
                        </a:buClr>
                        <a:buSzPts val="1800"/>
                        <a:buFont typeface="Arial"/>
                        <a:buNone/>
                      </a:pPr>
                      <a:r>
                        <a:rPr lang="sv-SE" sz="1800" b="1" u="none" strike="noStrike" cap="none">
                          <a:solidFill>
                            <a:srgbClr val="3F3F3F"/>
                          </a:solidFill>
                          <a:latin typeface="Arial"/>
                          <a:ea typeface="Arial"/>
                          <a:cs typeface="Arial"/>
                          <a:sym typeface="Arial"/>
                        </a:rPr>
                        <a:t>Kan inte ansluta till SQL Server</a:t>
                      </a:r>
                      <a:endParaRPr sz="1800" b="0" u="none" strike="noStrike" cap="none">
                        <a:solidFill>
                          <a:srgbClr val="3F3F3F"/>
                        </a:solidFill>
                        <a:latin typeface="Arial"/>
                        <a:ea typeface="Arial"/>
                        <a:cs typeface="Arial"/>
                        <a:sym typeface="Arial"/>
                      </a:endParaRPr>
                    </a:p>
                  </a:txBody>
                  <a:tcPr marL="161875" marR="134875" marT="80925" marB="80925" anchor="ctr">
                    <a:lnL w="9525" cap="flat" cmpd="sng">
                      <a:solidFill>
                        <a:srgbClr val="D8DCDC"/>
                      </a:solidFill>
                      <a:prstDash val="solid"/>
                      <a:round/>
                      <a:headEnd type="none" w="sm" len="sm"/>
                      <a:tailEnd type="none" w="sm" len="sm"/>
                    </a:lnL>
                    <a:lnR w="9525" cap="flat" cmpd="sng">
                      <a:solidFill>
                        <a:srgbClr val="D8DC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solidFill>
                      <a:srgbClr val="D8DEDC">
                        <a:alpha val="20000"/>
                      </a:srgbClr>
                    </a:solidFill>
                  </a:tcPr>
                </a:tc>
                <a:tc>
                  <a:txBody>
                    <a:bodyPr/>
                    <a:lstStyle/>
                    <a:p>
                      <a:pPr marL="0" marR="0" lvl="0" indent="0" algn="l" rtl="0">
                        <a:lnSpc>
                          <a:spcPct val="91666"/>
                        </a:lnSpc>
                        <a:spcBef>
                          <a:spcPts val="0"/>
                        </a:spcBef>
                        <a:spcAft>
                          <a:spcPts val="0"/>
                        </a:spcAft>
                        <a:buClr>
                          <a:srgbClr val="3F3F3F"/>
                        </a:buClr>
                        <a:buSzPts val="1800"/>
                        <a:buFont typeface="Arial"/>
                        <a:buNone/>
                      </a:pPr>
                      <a:r>
                        <a:rPr lang="sv-SE" sz="1800" b="0" u="none" strike="noStrike" cap="none">
                          <a:solidFill>
                            <a:srgbClr val="3F3F3F"/>
                          </a:solidFill>
                          <a:latin typeface="Arial"/>
                          <a:ea typeface="Arial"/>
                          <a:cs typeface="Arial"/>
                          <a:sym typeface="Arial"/>
                        </a:rPr>
                        <a:t>pymssql.OperationalError</a:t>
                      </a:r>
                      <a:endParaRPr sz="1800" b="0" u="none" strike="noStrike" cap="none">
                        <a:solidFill>
                          <a:srgbClr val="3F3F3F"/>
                        </a:solidFill>
                        <a:latin typeface="Arial"/>
                        <a:ea typeface="Arial"/>
                        <a:cs typeface="Arial"/>
                        <a:sym typeface="Arial"/>
                      </a:endParaRPr>
                    </a:p>
                  </a:txBody>
                  <a:tcPr marL="161875" marR="134875" marT="80925" marB="80925" anchor="ctr">
                    <a:lnL w="9525" cap="flat" cmpd="sng">
                      <a:solidFill>
                        <a:srgbClr val="D8DCDC"/>
                      </a:solidFill>
                      <a:prstDash val="solid"/>
                      <a:round/>
                      <a:headEnd type="none" w="sm" len="sm"/>
                      <a:tailEnd type="none" w="sm" len="sm"/>
                    </a:lnL>
                    <a:lnR w="9525" cap="flat" cmpd="sng">
                      <a:solidFill>
                        <a:srgbClr val="D8DC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solidFill>
                      <a:srgbClr val="D8DEDC">
                        <a:alpha val="20000"/>
                      </a:srgbClr>
                    </a:solidFill>
                  </a:tcPr>
                </a:tc>
                <a:tc>
                  <a:txBody>
                    <a:bodyPr/>
                    <a:lstStyle/>
                    <a:p>
                      <a:pPr marL="0" marR="0" lvl="0" indent="0" algn="l" rtl="0">
                        <a:lnSpc>
                          <a:spcPct val="104166"/>
                        </a:lnSpc>
                        <a:spcBef>
                          <a:spcPts val="0"/>
                        </a:spcBef>
                        <a:spcAft>
                          <a:spcPts val="0"/>
                        </a:spcAft>
                        <a:buClr>
                          <a:srgbClr val="3F3F3F"/>
                        </a:buClr>
                        <a:buSzPts val="1800"/>
                        <a:buFont typeface="Arial"/>
                        <a:buNone/>
                      </a:pPr>
                      <a:r>
                        <a:rPr lang="sv-SE" sz="1800" b="0" u="none" strike="noStrike" cap="none">
                          <a:solidFill>
                            <a:srgbClr val="3F3F3F"/>
                          </a:solidFill>
                          <a:latin typeface="Arial"/>
                          <a:ea typeface="Arial"/>
                          <a:cs typeface="Arial"/>
                          <a:sym typeface="Arial"/>
                        </a:rPr>
                        <a:t>Kontrollera servernamnet. Är SQL Server igång? Fungerar det i SSMS?</a:t>
                      </a:r>
                      <a:endParaRPr/>
                    </a:p>
                  </a:txBody>
                  <a:tcPr marL="161875" marR="80925" marT="80925" marB="80925" anchor="ctr">
                    <a:lnL w="9525" cap="flat" cmpd="sng">
                      <a:solidFill>
                        <a:srgbClr val="D8DCDC"/>
                      </a:solidFill>
                      <a:prstDash val="solid"/>
                      <a:round/>
                      <a:headEnd type="none" w="sm" len="sm"/>
                      <a:tailEnd type="none" w="sm" len="sm"/>
                    </a:lnL>
                    <a:lnR w="9525" cap="flat" cmpd="sng">
                      <a:solidFill>
                        <a:srgbClr val="D8DC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solidFill>
                      <a:srgbClr val="D8DEDC">
                        <a:alpha val="20000"/>
                      </a:srgbClr>
                    </a:solidFill>
                  </a:tcPr>
                </a:tc>
                <a:extLst>
                  <a:ext uri="{0D108BD9-81ED-4DB2-BD59-A6C34878D82A}">
                    <a16:rowId xmlns:a16="http://schemas.microsoft.com/office/drawing/2014/main" val="10003"/>
                  </a:ext>
                </a:extLst>
              </a:tr>
              <a:tr h="682250">
                <a:tc>
                  <a:txBody>
                    <a:bodyPr/>
                    <a:lstStyle/>
                    <a:p>
                      <a:pPr marL="0" marR="0" lvl="0" indent="0" algn="l" rtl="0">
                        <a:lnSpc>
                          <a:spcPct val="104166"/>
                        </a:lnSpc>
                        <a:spcBef>
                          <a:spcPts val="0"/>
                        </a:spcBef>
                        <a:spcAft>
                          <a:spcPts val="0"/>
                        </a:spcAft>
                        <a:buClr>
                          <a:srgbClr val="3F3F3F"/>
                        </a:buClr>
                        <a:buSzPts val="1800"/>
                        <a:buFont typeface="Arial"/>
                        <a:buNone/>
                      </a:pPr>
                      <a:r>
                        <a:rPr lang="sv-SE" sz="1800" b="1" u="none" strike="noStrike" cap="none">
                          <a:solidFill>
                            <a:srgbClr val="3F3F3F"/>
                          </a:solidFill>
                          <a:latin typeface="Arial"/>
                          <a:ea typeface="Arial"/>
                          <a:cs typeface="Arial"/>
                          <a:sym typeface="Arial"/>
                        </a:rPr>
                        <a:t>Modellfiler saknas</a:t>
                      </a:r>
                      <a:endParaRPr sz="1800" b="0" u="none" strike="noStrike" cap="none">
                        <a:solidFill>
                          <a:srgbClr val="3F3F3F"/>
                        </a:solidFill>
                        <a:latin typeface="Arial"/>
                        <a:ea typeface="Arial"/>
                        <a:cs typeface="Arial"/>
                        <a:sym typeface="Arial"/>
                      </a:endParaRPr>
                    </a:p>
                  </a:txBody>
                  <a:tcPr marL="161875" marR="134875" marT="80925" marB="80925" anchor="ctr">
                    <a:lnL w="9525" cap="flat" cmpd="sng">
                      <a:solidFill>
                        <a:srgbClr val="D8DEDC"/>
                      </a:solidFill>
                      <a:prstDash val="solid"/>
                      <a:round/>
                      <a:headEnd type="none" w="sm" len="sm"/>
                      <a:tailEnd type="none" w="sm" len="sm"/>
                    </a:lnL>
                    <a:lnR w="9525" cap="flat" cmpd="sng">
                      <a:solidFill>
                        <a:srgbClr val="D8DE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tcPr>
                </a:tc>
                <a:tc>
                  <a:txBody>
                    <a:bodyPr/>
                    <a:lstStyle/>
                    <a:p>
                      <a:pPr marL="0" marR="0" lvl="0" indent="0" algn="l" rtl="0">
                        <a:lnSpc>
                          <a:spcPct val="91666"/>
                        </a:lnSpc>
                        <a:spcBef>
                          <a:spcPts val="0"/>
                        </a:spcBef>
                        <a:spcAft>
                          <a:spcPts val="0"/>
                        </a:spcAft>
                        <a:buClr>
                          <a:srgbClr val="3F3F3F"/>
                        </a:buClr>
                        <a:buSzPts val="1800"/>
                        <a:buFont typeface="Arial"/>
                        <a:buNone/>
                      </a:pPr>
                      <a:r>
                        <a:rPr lang="sv-SE" sz="1800" b="0" u="none" strike="noStrike" cap="none">
                          <a:solidFill>
                            <a:srgbClr val="3F3F3F"/>
                          </a:solidFill>
                          <a:latin typeface="Arial"/>
                          <a:ea typeface="Arial"/>
                          <a:cs typeface="Arial"/>
                          <a:sym typeface="Arial"/>
                        </a:rPr>
                        <a:t>VARNING: network_intrusion_model.pkl saknas!</a:t>
                      </a:r>
                      <a:endParaRPr sz="1800" b="0" u="none" strike="noStrike" cap="none">
                        <a:solidFill>
                          <a:srgbClr val="3F3F3F"/>
                        </a:solidFill>
                        <a:latin typeface="Arial"/>
                        <a:ea typeface="Arial"/>
                        <a:cs typeface="Arial"/>
                        <a:sym typeface="Arial"/>
                      </a:endParaRPr>
                    </a:p>
                  </a:txBody>
                  <a:tcPr marL="161875" marR="134875" marT="80925" marB="80925" anchor="ctr">
                    <a:lnL w="9525" cap="flat" cmpd="sng">
                      <a:solidFill>
                        <a:srgbClr val="D8DEDC"/>
                      </a:solidFill>
                      <a:prstDash val="solid"/>
                      <a:round/>
                      <a:headEnd type="none" w="sm" len="sm"/>
                      <a:tailEnd type="none" w="sm" len="sm"/>
                    </a:lnL>
                    <a:lnR w="9525" cap="flat" cmpd="sng">
                      <a:solidFill>
                        <a:srgbClr val="D8DE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tcPr>
                </a:tc>
                <a:tc>
                  <a:txBody>
                    <a:bodyPr/>
                    <a:lstStyle/>
                    <a:p>
                      <a:pPr marL="0" marR="0" lvl="0" indent="0" algn="l" rtl="0">
                        <a:lnSpc>
                          <a:spcPct val="91666"/>
                        </a:lnSpc>
                        <a:spcBef>
                          <a:spcPts val="0"/>
                        </a:spcBef>
                        <a:spcAft>
                          <a:spcPts val="0"/>
                        </a:spcAft>
                        <a:buClr>
                          <a:srgbClr val="3F3F3F"/>
                        </a:buClr>
                        <a:buSzPts val="1800"/>
                        <a:buFont typeface="Arial"/>
                        <a:buNone/>
                      </a:pPr>
                      <a:r>
                        <a:rPr lang="sv-SE" sz="1800" b="0" u="none" strike="noStrike" cap="none">
                          <a:solidFill>
                            <a:srgbClr val="3F3F3F"/>
                          </a:solidFill>
                          <a:latin typeface="Arial"/>
                          <a:ea typeface="Arial"/>
                          <a:cs typeface="Arial"/>
                          <a:sym typeface="Arial"/>
                        </a:rPr>
                        <a:t>Packa upp network_model.zip i rätt mapp. Kontrollera att filerna finns.</a:t>
                      </a:r>
                      <a:endParaRPr/>
                    </a:p>
                  </a:txBody>
                  <a:tcPr marL="161875" marR="80925" marT="80925" marB="80925" anchor="ctr">
                    <a:lnL w="9525" cap="flat" cmpd="sng">
                      <a:solidFill>
                        <a:srgbClr val="D8DEDC"/>
                      </a:solidFill>
                      <a:prstDash val="solid"/>
                      <a:round/>
                      <a:headEnd type="none" w="sm" len="sm"/>
                      <a:tailEnd type="none" w="sm" len="sm"/>
                    </a:lnL>
                    <a:lnR w="9525" cap="flat" cmpd="sng">
                      <a:solidFill>
                        <a:srgbClr val="D8DE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tcPr>
                </a:tc>
                <a:extLst>
                  <a:ext uri="{0D108BD9-81ED-4DB2-BD59-A6C34878D82A}">
                    <a16:rowId xmlns:a16="http://schemas.microsoft.com/office/drawing/2014/main" val="10004"/>
                  </a:ext>
                </a:extLst>
              </a:tr>
              <a:tr h="923875">
                <a:tc>
                  <a:txBody>
                    <a:bodyPr/>
                    <a:lstStyle/>
                    <a:p>
                      <a:pPr marL="0" marR="0" lvl="0" indent="0" algn="l" rtl="0">
                        <a:lnSpc>
                          <a:spcPct val="104166"/>
                        </a:lnSpc>
                        <a:spcBef>
                          <a:spcPts val="0"/>
                        </a:spcBef>
                        <a:spcAft>
                          <a:spcPts val="0"/>
                        </a:spcAft>
                        <a:buClr>
                          <a:srgbClr val="3F3F3F"/>
                        </a:buClr>
                        <a:buSzPts val="1800"/>
                        <a:buFont typeface="Arial"/>
                        <a:buNone/>
                      </a:pPr>
                      <a:r>
                        <a:rPr lang="sv-SE" sz="1800" b="1" u="none" strike="noStrike" cap="none">
                          <a:solidFill>
                            <a:srgbClr val="3F3F3F"/>
                          </a:solidFill>
                          <a:latin typeface="Arial"/>
                          <a:ea typeface="Arial"/>
                          <a:cs typeface="Arial"/>
                          <a:sym typeface="Arial"/>
                        </a:rPr>
                        <a:t>Feature columns saknas</a:t>
                      </a:r>
                      <a:endParaRPr sz="1800" b="0" u="none" strike="noStrike" cap="none">
                        <a:solidFill>
                          <a:srgbClr val="3F3F3F"/>
                        </a:solidFill>
                        <a:latin typeface="Arial"/>
                        <a:ea typeface="Arial"/>
                        <a:cs typeface="Arial"/>
                        <a:sym typeface="Arial"/>
                      </a:endParaRPr>
                    </a:p>
                  </a:txBody>
                  <a:tcPr marL="161875" marR="134875" marT="80925" marB="80925" anchor="ctr">
                    <a:lnL w="9525" cap="flat" cmpd="sng">
                      <a:solidFill>
                        <a:srgbClr val="D8DCDC"/>
                      </a:solidFill>
                      <a:prstDash val="solid"/>
                      <a:round/>
                      <a:headEnd type="none" w="sm" len="sm"/>
                      <a:tailEnd type="none" w="sm" len="sm"/>
                    </a:lnL>
                    <a:lnR w="9525" cap="flat" cmpd="sng">
                      <a:solidFill>
                        <a:srgbClr val="D8DC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solidFill>
                      <a:srgbClr val="D8DEDC">
                        <a:alpha val="20000"/>
                      </a:srgbClr>
                    </a:solidFill>
                  </a:tcPr>
                </a:tc>
                <a:tc>
                  <a:txBody>
                    <a:bodyPr/>
                    <a:lstStyle/>
                    <a:p>
                      <a:pPr marL="0" marR="0" lvl="0" indent="0" algn="l" rtl="0">
                        <a:lnSpc>
                          <a:spcPct val="91666"/>
                        </a:lnSpc>
                        <a:spcBef>
                          <a:spcPts val="0"/>
                        </a:spcBef>
                        <a:spcAft>
                          <a:spcPts val="0"/>
                        </a:spcAft>
                        <a:buClr>
                          <a:srgbClr val="3F3F3F"/>
                        </a:buClr>
                        <a:buSzPts val="1800"/>
                        <a:buFont typeface="Arial"/>
                        <a:buNone/>
                      </a:pPr>
                      <a:r>
                        <a:rPr lang="sv-SE" sz="1800" b="0" u="none" strike="noStrike" cap="none">
                          <a:solidFill>
                            <a:srgbClr val="3F3F3F"/>
                          </a:solidFill>
                          <a:latin typeface="Arial"/>
                          <a:ea typeface="Arial"/>
                          <a:cs typeface="Arial"/>
                          <a:sym typeface="Arial"/>
                        </a:rPr>
                        <a:t>ValueError: The feature names should match those that were passed during fit</a:t>
                      </a:r>
                      <a:endParaRPr sz="1800" b="0" u="none" strike="noStrike" cap="none">
                        <a:solidFill>
                          <a:srgbClr val="3F3F3F"/>
                        </a:solidFill>
                        <a:latin typeface="Arial"/>
                        <a:ea typeface="Arial"/>
                        <a:cs typeface="Arial"/>
                        <a:sym typeface="Arial"/>
                      </a:endParaRPr>
                    </a:p>
                  </a:txBody>
                  <a:tcPr marL="161875" marR="134875" marT="80925" marB="80925" anchor="ctr">
                    <a:lnL w="9525" cap="flat" cmpd="sng">
                      <a:solidFill>
                        <a:srgbClr val="D8DCDC"/>
                      </a:solidFill>
                      <a:prstDash val="solid"/>
                      <a:round/>
                      <a:headEnd type="none" w="sm" len="sm"/>
                      <a:tailEnd type="none" w="sm" len="sm"/>
                    </a:lnL>
                    <a:lnR w="9525" cap="flat" cmpd="sng">
                      <a:solidFill>
                        <a:srgbClr val="D8DC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solidFill>
                      <a:srgbClr val="D8DEDC">
                        <a:alpha val="20000"/>
                      </a:srgbClr>
                    </a:solidFill>
                  </a:tcPr>
                </a:tc>
                <a:tc>
                  <a:txBody>
                    <a:bodyPr/>
                    <a:lstStyle/>
                    <a:p>
                      <a:pPr marL="0" marR="0" lvl="0" indent="0" algn="l" rtl="0">
                        <a:lnSpc>
                          <a:spcPct val="91666"/>
                        </a:lnSpc>
                        <a:spcBef>
                          <a:spcPts val="0"/>
                        </a:spcBef>
                        <a:spcAft>
                          <a:spcPts val="0"/>
                        </a:spcAft>
                        <a:buClr>
                          <a:srgbClr val="3F3F3F"/>
                        </a:buClr>
                        <a:buSzPts val="1800"/>
                        <a:buFont typeface="Arial"/>
                        <a:buNone/>
                      </a:pPr>
                      <a:r>
                        <a:rPr lang="sv-SE" sz="1800" b="0" u="none" strike="noStrike" cap="none">
                          <a:solidFill>
                            <a:srgbClr val="3F3F3F"/>
                          </a:solidFill>
                          <a:latin typeface="Arial"/>
                          <a:ea typeface="Arial"/>
                          <a:cs typeface="Arial"/>
                          <a:sym typeface="Arial"/>
                        </a:rPr>
                        <a:t>feature_columns.pkl måste finnas. Den talar om för modellen vilka kolumner som förväntas.</a:t>
                      </a:r>
                      <a:endParaRPr/>
                    </a:p>
                  </a:txBody>
                  <a:tcPr marL="161875" marR="80925" marT="80925" marB="80925" anchor="ctr">
                    <a:lnL w="9525" cap="flat" cmpd="sng">
                      <a:solidFill>
                        <a:srgbClr val="D8DCDC"/>
                      </a:solidFill>
                      <a:prstDash val="solid"/>
                      <a:round/>
                      <a:headEnd type="none" w="sm" len="sm"/>
                      <a:tailEnd type="none" w="sm" len="sm"/>
                    </a:lnL>
                    <a:lnR w="9525" cap="flat" cmpd="sng">
                      <a:solidFill>
                        <a:srgbClr val="D8DC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CDC"/>
                      </a:solidFill>
                      <a:prstDash val="solid"/>
                      <a:round/>
                      <a:headEnd type="none" w="sm" len="sm"/>
                      <a:tailEnd type="none" w="sm" len="sm"/>
                    </a:lnB>
                    <a:solidFill>
                      <a:srgbClr val="D8DEDC">
                        <a:alpha val="20000"/>
                      </a:srgbClr>
                    </a:solidFill>
                  </a:tcPr>
                </a:tc>
                <a:extLst>
                  <a:ext uri="{0D108BD9-81ED-4DB2-BD59-A6C34878D82A}">
                    <a16:rowId xmlns:a16="http://schemas.microsoft.com/office/drawing/2014/main" val="10005"/>
                  </a:ext>
                </a:extLst>
              </a:tr>
              <a:tr h="739100">
                <a:tc>
                  <a:txBody>
                    <a:bodyPr/>
                    <a:lstStyle/>
                    <a:p>
                      <a:pPr marL="0" marR="0" lvl="0" indent="0" algn="l" rtl="0">
                        <a:lnSpc>
                          <a:spcPct val="104166"/>
                        </a:lnSpc>
                        <a:spcBef>
                          <a:spcPts val="0"/>
                        </a:spcBef>
                        <a:spcAft>
                          <a:spcPts val="0"/>
                        </a:spcAft>
                        <a:buClr>
                          <a:srgbClr val="3F3F3F"/>
                        </a:buClr>
                        <a:buSzPts val="1800"/>
                        <a:buFont typeface="Arial"/>
                        <a:buNone/>
                      </a:pPr>
                      <a:r>
                        <a:rPr lang="sv-SE" sz="1800" b="1" u="none" strike="noStrike" cap="none">
                          <a:solidFill>
                            <a:srgbClr val="3F3F3F"/>
                          </a:solidFill>
                          <a:latin typeface="Arial"/>
                          <a:ea typeface="Arial"/>
                          <a:cs typeface="Arial"/>
                          <a:sym typeface="Arial"/>
                        </a:rPr>
                        <a:t>0 rader hämtade</a:t>
                      </a:r>
                      <a:endParaRPr sz="1800" b="0" u="none" strike="noStrike" cap="none">
                        <a:solidFill>
                          <a:srgbClr val="3F3F3F"/>
                        </a:solidFill>
                        <a:latin typeface="Arial"/>
                        <a:ea typeface="Arial"/>
                        <a:cs typeface="Arial"/>
                        <a:sym typeface="Arial"/>
                      </a:endParaRPr>
                    </a:p>
                  </a:txBody>
                  <a:tcPr marL="161875" marR="134875" marT="80925" marB="80925" anchor="ctr">
                    <a:lnL w="9525" cap="flat" cmpd="sng">
                      <a:solidFill>
                        <a:srgbClr val="D8DEDC"/>
                      </a:solidFill>
                      <a:prstDash val="solid"/>
                      <a:round/>
                      <a:headEnd type="none" w="sm" len="sm"/>
                      <a:tailEnd type="none" w="sm" len="sm"/>
                    </a:lnL>
                    <a:lnR w="9525" cap="flat" cmpd="sng">
                      <a:solidFill>
                        <a:srgbClr val="D8DE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EDC"/>
                      </a:solidFill>
                      <a:prstDash val="solid"/>
                      <a:round/>
                      <a:headEnd type="none" w="sm" len="sm"/>
                      <a:tailEnd type="none" w="sm" len="sm"/>
                    </a:lnB>
                  </a:tcPr>
                </a:tc>
                <a:tc>
                  <a:txBody>
                    <a:bodyPr/>
                    <a:lstStyle/>
                    <a:p>
                      <a:pPr marL="0" marR="0" lvl="0" indent="0" algn="l" rtl="0">
                        <a:lnSpc>
                          <a:spcPct val="91666"/>
                        </a:lnSpc>
                        <a:spcBef>
                          <a:spcPts val="0"/>
                        </a:spcBef>
                        <a:spcAft>
                          <a:spcPts val="0"/>
                        </a:spcAft>
                        <a:buClr>
                          <a:srgbClr val="3F3F3F"/>
                        </a:buClr>
                        <a:buSzPts val="1800"/>
                        <a:buFont typeface="Arial"/>
                        <a:buNone/>
                      </a:pPr>
                      <a:r>
                        <a:rPr lang="sv-SE" sz="1800" b="0" u="none" strike="noStrike" cap="none">
                          <a:solidFill>
                            <a:srgbClr val="3F3F3F"/>
                          </a:solidFill>
                          <a:latin typeface="Arial"/>
                          <a:ea typeface="Arial"/>
                          <a:cs typeface="Arial"/>
                          <a:sym typeface="Arial"/>
                        </a:rPr>
                        <a:t>HAMTADE 0 RADER</a:t>
                      </a:r>
                      <a:endParaRPr sz="1800" b="0" u="none" strike="noStrike" cap="none">
                        <a:solidFill>
                          <a:srgbClr val="3F3F3F"/>
                        </a:solidFill>
                        <a:latin typeface="Arial"/>
                        <a:ea typeface="Arial"/>
                        <a:cs typeface="Arial"/>
                        <a:sym typeface="Arial"/>
                      </a:endParaRPr>
                    </a:p>
                  </a:txBody>
                  <a:tcPr marL="161875" marR="134875" marT="80925" marB="80925" anchor="ctr">
                    <a:lnL w="9525" cap="flat" cmpd="sng">
                      <a:solidFill>
                        <a:srgbClr val="D8DEDC"/>
                      </a:solidFill>
                      <a:prstDash val="solid"/>
                      <a:round/>
                      <a:headEnd type="none" w="sm" len="sm"/>
                      <a:tailEnd type="none" w="sm" len="sm"/>
                    </a:lnL>
                    <a:lnR w="9525" cap="flat" cmpd="sng">
                      <a:solidFill>
                        <a:srgbClr val="D8DE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EDC"/>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rgbClr val="3F3F3F"/>
                        </a:buClr>
                        <a:buSzPts val="1800"/>
                        <a:buFont typeface="Arial"/>
                        <a:buNone/>
                      </a:pPr>
                      <a:r>
                        <a:rPr lang="sv-SE" sz="1800" b="0" u="none" strike="noStrike" cap="none">
                          <a:solidFill>
                            <a:srgbClr val="3F3F3F"/>
                          </a:solidFill>
                          <a:latin typeface="Arial"/>
                          <a:ea typeface="Arial"/>
                          <a:cs typeface="Arial"/>
                          <a:sym typeface="Arial"/>
                        </a:rPr>
                        <a:t>Inget fel! Det finns ingen ny data att analysera. Lägg in testdata från Steg 8.</a:t>
                      </a:r>
                      <a:endParaRPr/>
                    </a:p>
                  </a:txBody>
                  <a:tcPr marL="161875" marR="80925" marT="80925" marB="80925" anchor="ctr">
                    <a:lnL w="9525" cap="flat" cmpd="sng">
                      <a:solidFill>
                        <a:srgbClr val="D8DEDC"/>
                      </a:solidFill>
                      <a:prstDash val="solid"/>
                      <a:round/>
                      <a:headEnd type="none" w="sm" len="sm"/>
                      <a:tailEnd type="none" w="sm" len="sm"/>
                    </a:lnL>
                    <a:lnR w="9525" cap="flat" cmpd="sng">
                      <a:solidFill>
                        <a:srgbClr val="D8DEDC"/>
                      </a:solidFill>
                      <a:prstDash val="solid"/>
                      <a:round/>
                      <a:headEnd type="none" w="sm" len="sm"/>
                      <a:tailEnd type="none" w="sm" len="sm"/>
                    </a:lnR>
                    <a:lnT w="9525" cap="flat" cmpd="sng">
                      <a:solidFill>
                        <a:srgbClr val="D8DCDC"/>
                      </a:solidFill>
                      <a:prstDash val="solid"/>
                      <a:round/>
                      <a:headEnd type="none" w="sm" len="sm"/>
                      <a:tailEnd type="none" w="sm" len="sm"/>
                    </a:lnT>
                    <a:lnB w="9525" cap="flat" cmpd="sng">
                      <a:solidFill>
                        <a:srgbClr val="D8DED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58"/>
          <p:cNvSpPr txBox="1">
            <a:spLocks noGrp="1"/>
          </p:cNvSpPr>
          <p:nvPr>
            <p:ph type="body" idx="1"/>
          </p:nvPr>
        </p:nvSpPr>
        <p:spPr>
          <a:xfrm>
            <a:off x="4313" y="416644"/>
            <a:ext cx="6303035" cy="3344922"/>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F1115"/>
              </a:buClr>
              <a:buSzPts val="2000"/>
              <a:buChar char="•"/>
            </a:pPr>
            <a:r>
              <a:rPr lang="sv-SE" sz="2000" b="1">
                <a:solidFill>
                  <a:srgbClr val="0F1115"/>
                </a:solidFill>
                <a:highlight>
                  <a:srgbClr val="FFFFFF"/>
                </a:highlight>
              </a:rPr>
              <a:t>1. PowerShell-skriptet </a:t>
            </a:r>
            <a:r>
              <a:rPr lang="sv-SE" sz="2000" b="1">
                <a:solidFill>
                  <a:srgbClr val="0F1115"/>
                </a:solidFill>
                <a:highlight>
                  <a:srgbClr val="EBEEF2"/>
                </a:highlight>
                <a:latin typeface="Consolas"/>
                <a:ea typeface="Consolas"/>
                <a:cs typeface="Consolas"/>
                <a:sym typeface="Consolas"/>
              </a:rPr>
              <a:t>run_ml_analysis.ps1</a:t>
            </a:r>
            <a:endParaRPr sz="2000"/>
          </a:p>
          <a:p>
            <a:pPr marL="228600" lvl="0" indent="-228600" algn="l" rtl="0">
              <a:lnSpc>
                <a:spcPct val="90000"/>
              </a:lnSpc>
              <a:spcBef>
                <a:spcPts val="1000"/>
              </a:spcBef>
              <a:spcAft>
                <a:spcPts val="0"/>
              </a:spcAft>
              <a:buClr>
                <a:srgbClr val="0F1115"/>
              </a:buClr>
              <a:buSzPts val="1800"/>
              <a:buChar char="•"/>
            </a:pPr>
            <a:r>
              <a:rPr lang="sv-SE" sz="1800">
                <a:solidFill>
                  <a:srgbClr val="0F1115"/>
                </a:solidFill>
                <a:highlight>
                  <a:srgbClr val="FFFFFF"/>
                </a:highlight>
              </a:rPr>
              <a:t>Skriptet använder </a:t>
            </a:r>
            <a:r>
              <a:rPr lang="sv-SE" sz="1800">
                <a:solidFill>
                  <a:srgbClr val="0F1115"/>
                </a:solidFill>
                <a:highlight>
                  <a:srgbClr val="EBEEF2"/>
                </a:highlight>
                <a:latin typeface="Consolas"/>
                <a:ea typeface="Consolas"/>
                <a:cs typeface="Consolas"/>
                <a:sym typeface="Consolas"/>
              </a:rPr>
              <a:t>$SCRIPT_PATH</a:t>
            </a:r>
            <a:r>
              <a:rPr lang="sv-SE" sz="1800">
                <a:solidFill>
                  <a:srgbClr val="0F1115"/>
                </a:solidFill>
                <a:highlight>
                  <a:srgbClr val="FFFFFF"/>
                </a:highlight>
              </a:rPr>
              <a:t> som automatiskt blir </a:t>
            </a:r>
            <a:r>
              <a:rPr lang="sv-SE" sz="1800" b="1">
                <a:solidFill>
                  <a:srgbClr val="0F1115"/>
                </a:solidFill>
                <a:highlight>
                  <a:srgbClr val="FFFFFF"/>
                </a:highlight>
              </a:rPr>
              <a:t>den mapp där skriptet ligger</a:t>
            </a:r>
            <a:r>
              <a:rPr lang="sv-SE" sz="1800">
                <a:solidFill>
                  <a:srgbClr val="0F1115"/>
                </a:solidFill>
                <a:highlight>
                  <a:srgbClr val="FFFFFF"/>
                </a:highlight>
              </a:rPr>
              <a:t>. Detta är </a:t>
            </a:r>
            <a:r>
              <a:rPr lang="sv-SE" sz="1800" b="1">
                <a:solidFill>
                  <a:srgbClr val="0F1115"/>
                </a:solidFill>
                <a:highlight>
                  <a:srgbClr val="FFFFFF"/>
                </a:highlight>
              </a:rPr>
              <a:t>smart</a:t>
            </a:r>
            <a:r>
              <a:rPr lang="sv-SE" sz="1800">
                <a:solidFill>
                  <a:srgbClr val="0F1115"/>
                </a:solidFill>
                <a:highlight>
                  <a:srgbClr val="FFFFFF"/>
                </a:highlight>
              </a:rPr>
              <a:t> och anpassar sig automatiskt!</a:t>
            </a:r>
            <a:endParaRPr sz="1800"/>
          </a:p>
          <a:p>
            <a:pPr marL="228600" lvl="0" indent="-228600" algn="l" rtl="0">
              <a:lnSpc>
                <a:spcPct val="90000"/>
              </a:lnSpc>
              <a:spcBef>
                <a:spcPts val="1000"/>
              </a:spcBef>
              <a:spcAft>
                <a:spcPts val="0"/>
              </a:spcAft>
              <a:buClr>
                <a:srgbClr val="0F1115"/>
              </a:buClr>
              <a:buSzPts val="1800"/>
              <a:buChar char="•"/>
            </a:pPr>
            <a:r>
              <a:rPr lang="sv-SE" sz="1800" b="1">
                <a:solidFill>
                  <a:srgbClr val="0F1115"/>
                </a:solidFill>
                <a:highlight>
                  <a:srgbClr val="FFFFFF"/>
                </a:highlight>
              </a:rPr>
              <a:t>Exempel:</a:t>
            </a:r>
            <a:endParaRPr sz="1800"/>
          </a:p>
          <a:p>
            <a:pPr marL="228600" lvl="0" indent="-228600" algn="l" rtl="0">
              <a:lnSpc>
                <a:spcPct val="90000"/>
              </a:lnSpc>
              <a:spcBef>
                <a:spcPts val="1000"/>
              </a:spcBef>
              <a:spcAft>
                <a:spcPts val="0"/>
              </a:spcAft>
              <a:buClr>
                <a:srgbClr val="0F1115"/>
              </a:buClr>
              <a:buSzPts val="1800"/>
              <a:buChar char="•"/>
            </a:pPr>
            <a:r>
              <a:rPr lang="sv-SE" sz="1800">
                <a:solidFill>
                  <a:srgbClr val="0F1115"/>
                </a:solidFill>
                <a:highlight>
                  <a:srgbClr val="FFFFFF"/>
                </a:highlight>
              </a:rPr>
              <a:t>På din dator: </a:t>
            </a:r>
            <a:r>
              <a:rPr lang="sv-SE" sz="1800">
                <a:solidFill>
                  <a:srgbClr val="0F1115"/>
                </a:solidFill>
                <a:highlight>
                  <a:srgbClr val="EBEEF2"/>
                </a:highlight>
                <a:latin typeface="Consolas"/>
                <a:ea typeface="Consolas"/>
                <a:cs typeface="Consolas"/>
                <a:sym typeface="Consolas"/>
              </a:rPr>
              <a:t>D:\FSHI\...\SQL2025\network_model\</a:t>
            </a:r>
            <a:endParaRPr sz="1800"/>
          </a:p>
          <a:p>
            <a:pPr marL="228600" lvl="0" indent="-228600" algn="l" rtl="0">
              <a:lnSpc>
                <a:spcPct val="90000"/>
              </a:lnSpc>
              <a:spcBef>
                <a:spcPts val="1000"/>
              </a:spcBef>
              <a:spcAft>
                <a:spcPts val="0"/>
              </a:spcAft>
              <a:buClr>
                <a:srgbClr val="0F1115"/>
              </a:buClr>
              <a:buSzPts val="1800"/>
              <a:buChar char="•"/>
            </a:pPr>
            <a:r>
              <a:rPr lang="sv-SE" sz="1800">
                <a:solidFill>
                  <a:srgbClr val="0F1115"/>
                </a:solidFill>
                <a:highlight>
                  <a:srgbClr val="FFFFFF"/>
                </a:highlight>
              </a:rPr>
              <a:t>På studentens dator: </a:t>
            </a:r>
            <a:r>
              <a:rPr lang="sv-SE" sz="1800">
                <a:solidFill>
                  <a:srgbClr val="0F1115"/>
                </a:solidFill>
                <a:highlight>
                  <a:srgbClr val="EBEEF2"/>
                </a:highlight>
                <a:latin typeface="Consolas"/>
                <a:ea typeface="Consolas"/>
                <a:cs typeface="Consolas"/>
                <a:sym typeface="Consolas"/>
              </a:rPr>
              <a:t>C:\Users\Student\Desktop\Projekt\network_model\</a:t>
            </a:r>
            <a:endParaRPr sz="1800"/>
          </a:p>
          <a:p>
            <a:pPr marL="228600" lvl="0" indent="-228600" algn="l" rtl="0">
              <a:lnSpc>
                <a:spcPct val="90000"/>
              </a:lnSpc>
              <a:spcBef>
                <a:spcPts val="1000"/>
              </a:spcBef>
              <a:spcAft>
                <a:spcPts val="0"/>
              </a:spcAft>
              <a:buClr>
                <a:srgbClr val="0F1115"/>
              </a:buClr>
              <a:buSzPts val="1800"/>
              <a:buChar char="•"/>
            </a:pPr>
            <a:r>
              <a:rPr lang="sv-SE" sz="1800">
                <a:solidFill>
                  <a:srgbClr val="0F1115"/>
                </a:solidFill>
                <a:highlight>
                  <a:srgbClr val="EBEEF2"/>
                </a:highlight>
                <a:latin typeface="Consolas"/>
                <a:ea typeface="Consolas"/>
                <a:cs typeface="Consolas"/>
                <a:sym typeface="Consolas"/>
              </a:rPr>
              <a:t>$SCRIPT_PATH</a:t>
            </a:r>
            <a:r>
              <a:rPr lang="sv-SE" sz="1800">
                <a:solidFill>
                  <a:srgbClr val="0F1115"/>
                </a:solidFill>
                <a:highlight>
                  <a:srgbClr val="FFFFFF"/>
                </a:highlight>
              </a:rPr>
              <a:t> blir automatiskt rätt på båda datorerna!</a:t>
            </a:r>
            <a:endParaRPr sz="1800"/>
          </a:p>
        </p:txBody>
      </p:sp>
      <p:sp>
        <p:nvSpPr>
          <p:cNvPr id="696" name="Google Shape;696;p58"/>
          <p:cNvSpPr txBox="1"/>
          <p:nvPr/>
        </p:nvSpPr>
        <p:spPr>
          <a:xfrm>
            <a:off x="6094562" y="410893"/>
            <a:ext cx="6317412" cy="2165979"/>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F1115"/>
              </a:buClr>
              <a:buSzPts val="2000"/>
              <a:buFont typeface="Arial"/>
              <a:buChar char="•"/>
            </a:pPr>
            <a:r>
              <a:rPr lang="sv-SE" sz="2000" b="1">
                <a:solidFill>
                  <a:srgbClr val="0F1115"/>
                </a:solidFill>
                <a:highlight>
                  <a:srgbClr val="FFFFFF"/>
                </a:highlight>
                <a:latin typeface="Arial"/>
                <a:ea typeface="Arial"/>
                <a:cs typeface="Arial"/>
                <a:sym typeface="Arial"/>
              </a:rPr>
              <a:t>2. Python-skriptet </a:t>
            </a:r>
            <a:r>
              <a:rPr lang="sv-SE" sz="2000" b="1">
                <a:solidFill>
                  <a:srgbClr val="0F1115"/>
                </a:solidFill>
                <a:highlight>
                  <a:srgbClr val="EBEEF2"/>
                </a:highlight>
                <a:latin typeface="Consolas"/>
                <a:ea typeface="Consolas"/>
                <a:cs typeface="Consolas"/>
                <a:sym typeface="Consolas"/>
              </a:rPr>
              <a:t>analyze_network_traffic.py</a:t>
            </a:r>
            <a:endParaRPr sz="200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rgbClr val="0F1115"/>
              </a:buClr>
              <a:buSzPts val="1800"/>
              <a:buFont typeface="Arial"/>
              <a:buChar char="•"/>
            </a:pPr>
            <a:r>
              <a:rPr lang="sv-SE" sz="1800">
                <a:solidFill>
                  <a:srgbClr val="0F1115"/>
                </a:solidFill>
                <a:highlight>
                  <a:srgbClr val="FFFFFF"/>
                </a:highlight>
                <a:latin typeface="Arial"/>
                <a:ea typeface="Arial"/>
                <a:cs typeface="Arial"/>
                <a:sym typeface="Arial"/>
              </a:rPr>
              <a:t>Detta skript använder också relativ sökväg:</a:t>
            </a:r>
            <a:endParaRPr sz="180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rgbClr val="0F1115"/>
              </a:buClr>
              <a:buSzPts val="1100"/>
              <a:buFont typeface="Arial"/>
              <a:buChar char="•"/>
            </a:pPr>
            <a:r>
              <a:rPr lang="sv-SE" sz="1100">
                <a:solidFill>
                  <a:srgbClr val="0F1115"/>
                </a:solidFill>
                <a:highlight>
                  <a:srgbClr val="F9FAFB"/>
                </a:highlight>
                <a:latin typeface="Arial"/>
                <a:ea typeface="Arial"/>
                <a:cs typeface="Arial"/>
                <a:sym typeface="Arial"/>
              </a:rPr>
              <a:t>python</a:t>
            </a:r>
            <a:endParaRPr sz="110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rgbClr val="0F1115"/>
              </a:buClr>
              <a:buSzPts val="1200"/>
              <a:buFont typeface="Arial"/>
              <a:buChar char="•"/>
            </a:pPr>
            <a:r>
              <a:rPr lang="sv-SE" sz="1200">
                <a:solidFill>
                  <a:srgbClr val="0F1115"/>
                </a:solidFill>
                <a:highlight>
                  <a:srgbClr val="F9FAFB"/>
                </a:highlight>
                <a:latin typeface="Consolas"/>
                <a:ea typeface="Consolas"/>
                <a:cs typeface="Consolas"/>
                <a:sym typeface="Consolas"/>
              </a:rPr>
              <a:t>MODEL_DIR </a:t>
            </a:r>
            <a:r>
              <a:rPr lang="sv-SE" sz="1200">
                <a:solidFill>
                  <a:srgbClr val="4078F2"/>
                </a:solidFill>
                <a:highlight>
                  <a:srgbClr val="F9FAFB"/>
                </a:highlight>
                <a:latin typeface="Consolas"/>
                <a:ea typeface="Consolas"/>
                <a:cs typeface="Consolas"/>
                <a:sym typeface="Consolas"/>
              </a:rPr>
              <a:t>=</a:t>
            </a:r>
            <a:r>
              <a:rPr lang="sv-SE" sz="1200">
                <a:solidFill>
                  <a:srgbClr val="0F1115"/>
                </a:solidFill>
                <a:highlight>
                  <a:srgbClr val="F9FAFB"/>
                </a:highlight>
                <a:latin typeface="Consolas"/>
                <a:ea typeface="Consolas"/>
                <a:cs typeface="Consolas"/>
                <a:sym typeface="Consolas"/>
              </a:rPr>
              <a:t> os</a:t>
            </a:r>
            <a:r>
              <a:rPr lang="sv-SE" sz="1200">
                <a:solidFill>
                  <a:srgbClr val="383A42"/>
                </a:solidFill>
                <a:highlight>
                  <a:srgbClr val="F9FAFB"/>
                </a:highlight>
                <a:latin typeface="Consolas"/>
                <a:ea typeface="Consolas"/>
                <a:cs typeface="Consolas"/>
                <a:sym typeface="Consolas"/>
              </a:rPr>
              <a:t>.</a:t>
            </a:r>
            <a:r>
              <a:rPr lang="sv-SE" sz="1200">
                <a:solidFill>
                  <a:srgbClr val="0F1115"/>
                </a:solidFill>
                <a:highlight>
                  <a:srgbClr val="F9FAFB"/>
                </a:highlight>
                <a:latin typeface="Consolas"/>
                <a:ea typeface="Consolas"/>
                <a:cs typeface="Consolas"/>
                <a:sym typeface="Consolas"/>
              </a:rPr>
              <a:t>path</a:t>
            </a:r>
            <a:r>
              <a:rPr lang="sv-SE" sz="1200">
                <a:solidFill>
                  <a:srgbClr val="383A42"/>
                </a:solidFill>
                <a:highlight>
                  <a:srgbClr val="F9FAFB"/>
                </a:highlight>
                <a:latin typeface="Consolas"/>
                <a:ea typeface="Consolas"/>
                <a:cs typeface="Consolas"/>
                <a:sym typeface="Consolas"/>
              </a:rPr>
              <a:t>.</a:t>
            </a:r>
            <a:r>
              <a:rPr lang="sv-SE" sz="1200">
                <a:solidFill>
                  <a:srgbClr val="0F1115"/>
                </a:solidFill>
                <a:highlight>
                  <a:srgbClr val="F9FAFB"/>
                </a:highlight>
                <a:latin typeface="Consolas"/>
                <a:ea typeface="Consolas"/>
                <a:cs typeface="Consolas"/>
                <a:sym typeface="Consolas"/>
              </a:rPr>
              <a:t>dirname</a:t>
            </a:r>
            <a:r>
              <a:rPr lang="sv-SE" sz="1200">
                <a:solidFill>
                  <a:srgbClr val="383A42"/>
                </a:solidFill>
                <a:highlight>
                  <a:srgbClr val="F9FAFB"/>
                </a:highlight>
                <a:latin typeface="Consolas"/>
                <a:ea typeface="Consolas"/>
                <a:cs typeface="Consolas"/>
                <a:sym typeface="Consolas"/>
              </a:rPr>
              <a:t>(</a:t>
            </a:r>
            <a:r>
              <a:rPr lang="sv-SE" sz="1200">
                <a:solidFill>
                  <a:srgbClr val="0F1115"/>
                </a:solidFill>
                <a:highlight>
                  <a:srgbClr val="F9FAFB"/>
                </a:highlight>
                <a:latin typeface="Consolas"/>
                <a:ea typeface="Consolas"/>
                <a:cs typeface="Consolas"/>
                <a:sym typeface="Consolas"/>
              </a:rPr>
              <a:t>os</a:t>
            </a:r>
            <a:r>
              <a:rPr lang="sv-SE" sz="1200">
                <a:solidFill>
                  <a:srgbClr val="383A42"/>
                </a:solidFill>
                <a:highlight>
                  <a:srgbClr val="F9FAFB"/>
                </a:highlight>
                <a:latin typeface="Consolas"/>
                <a:ea typeface="Consolas"/>
                <a:cs typeface="Consolas"/>
                <a:sym typeface="Consolas"/>
              </a:rPr>
              <a:t>.</a:t>
            </a:r>
            <a:r>
              <a:rPr lang="sv-SE" sz="1200">
                <a:solidFill>
                  <a:srgbClr val="0F1115"/>
                </a:solidFill>
                <a:highlight>
                  <a:srgbClr val="F9FAFB"/>
                </a:highlight>
                <a:latin typeface="Consolas"/>
                <a:ea typeface="Consolas"/>
                <a:cs typeface="Consolas"/>
                <a:sym typeface="Consolas"/>
              </a:rPr>
              <a:t>path</a:t>
            </a:r>
            <a:r>
              <a:rPr lang="sv-SE" sz="1200">
                <a:solidFill>
                  <a:srgbClr val="383A42"/>
                </a:solidFill>
                <a:highlight>
                  <a:srgbClr val="F9FAFB"/>
                </a:highlight>
                <a:latin typeface="Consolas"/>
                <a:ea typeface="Consolas"/>
                <a:cs typeface="Consolas"/>
                <a:sym typeface="Consolas"/>
              </a:rPr>
              <a:t>.</a:t>
            </a:r>
            <a:r>
              <a:rPr lang="sv-SE" sz="1200">
                <a:solidFill>
                  <a:srgbClr val="0F1115"/>
                </a:solidFill>
                <a:highlight>
                  <a:srgbClr val="F9FAFB"/>
                </a:highlight>
                <a:latin typeface="Consolas"/>
                <a:ea typeface="Consolas"/>
                <a:cs typeface="Consolas"/>
                <a:sym typeface="Consolas"/>
              </a:rPr>
              <a:t>abspath</a:t>
            </a:r>
            <a:r>
              <a:rPr lang="sv-SE" sz="1200">
                <a:solidFill>
                  <a:srgbClr val="383A42"/>
                </a:solidFill>
                <a:highlight>
                  <a:srgbClr val="F9FAFB"/>
                </a:highlight>
                <a:latin typeface="Consolas"/>
                <a:ea typeface="Consolas"/>
                <a:cs typeface="Consolas"/>
                <a:sym typeface="Consolas"/>
              </a:rPr>
              <a:t>(</a:t>
            </a:r>
            <a:r>
              <a:rPr lang="sv-SE" sz="1200">
                <a:solidFill>
                  <a:srgbClr val="0F1115"/>
                </a:solidFill>
                <a:highlight>
                  <a:srgbClr val="F9FAFB"/>
                </a:highlight>
                <a:latin typeface="Consolas"/>
                <a:ea typeface="Consolas"/>
                <a:cs typeface="Consolas"/>
                <a:sym typeface="Consolas"/>
              </a:rPr>
              <a:t>__file__</a:t>
            </a:r>
            <a:r>
              <a:rPr lang="sv-SE" sz="1200">
                <a:solidFill>
                  <a:srgbClr val="383A42"/>
                </a:solidFill>
                <a:highlight>
                  <a:srgbClr val="F9FAFB"/>
                </a:highlight>
                <a:latin typeface="Consolas"/>
                <a:ea typeface="Consolas"/>
                <a:cs typeface="Consolas"/>
                <a:sym typeface="Consolas"/>
              </a:rPr>
              <a:t>))</a:t>
            </a:r>
            <a:endParaRPr sz="120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rgbClr val="0F1115"/>
              </a:buClr>
              <a:buSzPts val="1800"/>
              <a:buFont typeface="Arial"/>
              <a:buChar char="•"/>
            </a:pPr>
            <a:r>
              <a:rPr lang="sv-SE" sz="1800">
                <a:solidFill>
                  <a:srgbClr val="0F1115"/>
                </a:solidFill>
                <a:highlight>
                  <a:srgbClr val="FFFFFF"/>
                </a:highlight>
                <a:latin typeface="Arial"/>
                <a:ea typeface="Arial"/>
                <a:cs typeface="Arial"/>
                <a:sym typeface="Arial"/>
              </a:rPr>
              <a:t>Detta betyder "hämta sökvägen till mappen där denna fil ligger". </a:t>
            </a:r>
            <a:r>
              <a:rPr lang="sv-SE" sz="1800" b="1">
                <a:solidFill>
                  <a:srgbClr val="0F1115"/>
                </a:solidFill>
                <a:highlight>
                  <a:srgbClr val="FFFFFF"/>
                </a:highlight>
                <a:latin typeface="Arial"/>
                <a:ea typeface="Arial"/>
                <a:cs typeface="Arial"/>
                <a:sym typeface="Arial"/>
              </a:rPr>
              <a:t>Fungerar automatiskt!</a:t>
            </a:r>
            <a:r>
              <a:rPr lang="sv-SE" sz="1800">
                <a:solidFill>
                  <a:srgbClr val="0F1115"/>
                </a:solidFill>
                <a:highlight>
                  <a:srgbClr val="FFFFFF"/>
                </a:highlight>
                <a:latin typeface="Arial"/>
                <a:ea typeface="Arial"/>
                <a:cs typeface="Arial"/>
                <a:sym typeface="Arial"/>
              </a:rPr>
              <a:t> </a:t>
            </a:r>
            <a:endParaRPr sz="1800">
              <a:solidFill>
                <a:schemeClr val="dk1"/>
              </a:solidFill>
              <a:latin typeface="Arial"/>
              <a:ea typeface="Arial"/>
              <a:cs typeface="Arial"/>
              <a:sym typeface="Arial"/>
            </a:endParaRPr>
          </a:p>
        </p:txBody>
      </p:sp>
      <p:sp>
        <p:nvSpPr>
          <p:cNvPr id="697" name="Google Shape;697;p58"/>
          <p:cNvSpPr txBox="1"/>
          <p:nvPr/>
        </p:nvSpPr>
        <p:spPr>
          <a:xfrm>
            <a:off x="2888412" y="4321535"/>
            <a:ext cx="6863751" cy="2554168"/>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rgbClr val="0F1115"/>
              </a:buClr>
              <a:buSzPts val="2000"/>
              <a:buFont typeface="Arial"/>
              <a:buChar char="•"/>
            </a:pPr>
            <a:r>
              <a:rPr lang="sv-SE" sz="2000" b="1">
                <a:solidFill>
                  <a:srgbClr val="0F1115"/>
                </a:solidFill>
                <a:highlight>
                  <a:srgbClr val="FFFFFF"/>
                </a:highlight>
                <a:latin typeface="Arial"/>
                <a:ea typeface="Arial"/>
                <a:cs typeface="Arial"/>
                <a:sym typeface="Arial"/>
              </a:rPr>
              <a:t>3. Servernamn i Python-skriptet</a:t>
            </a:r>
            <a:endParaRPr sz="200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rgbClr val="0F1115"/>
              </a:buClr>
              <a:buSzPts val="1800"/>
              <a:buFont typeface="Arial"/>
              <a:buChar char="•"/>
            </a:pPr>
            <a:r>
              <a:rPr lang="sv-SE" sz="1800">
                <a:solidFill>
                  <a:srgbClr val="0F1115"/>
                </a:solidFill>
                <a:highlight>
                  <a:srgbClr val="FFFFFF"/>
                </a:highlight>
                <a:latin typeface="Arial"/>
                <a:ea typeface="Arial"/>
                <a:cs typeface="Arial"/>
                <a:sym typeface="Arial"/>
              </a:rPr>
              <a:t>Detta är det </a:t>
            </a:r>
            <a:r>
              <a:rPr lang="sv-SE" sz="1800" b="1">
                <a:solidFill>
                  <a:srgbClr val="0F1115"/>
                </a:solidFill>
                <a:highlight>
                  <a:srgbClr val="FFFFFF"/>
                </a:highlight>
                <a:latin typeface="Arial"/>
                <a:ea typeface="Arial"/>
                <a:cs typeface="Arial"/>
                <a:sym typeface="Arial"/>
              </a:rPr>
              <a:t>enda som måste ändras manuellt</a:t>
            </a:r>
            <a:r>
              <a:rPr lang="sv-SE" sz="1800">
                <a:solidFill>
                  <a:srgbClr val="0F1115"/>
                </a:solidFill>
                <a:highlight>
                  <a:srgbClr val="FFFFFF"/>
                </a:highlight>
                <a:latin typeface="Arial"/>
                <a:ea typeface="Arial"/>
                <a:cs typeface="Arial"/>
                <a:sym typeface="Arial"/>
              </a:rPr>
              <a:t>:</a:t>
            </a:r>
            <a:endParaRPr sz="180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rgbClr val="0F1115"/>
              </a:buClr>
              <a:buSzPts val="1100"/>
              <a:buFont typeface="Arial"/>
              <a:buChar char="•"/>
            </a:pPr>
            <a:r>
              <a:rPr lang="sv-SE" sz="1100">
                <a:solidFill>
                  <a:srgbClr val="0F1115"/>
                </a:solidFill>
                <a:highlight>
                  <a:srgbClr val="F9FAFB"/>
                </a:highlight>
                <a:latin typeface="Arial"/>
                <a:ea typeface="Arial"/>
                <a:cs typeface="Arial"/>
                <a:sym typeface="Arial"/>
              </a:rPr>
              <a:t>python</a:t>
            </a:r>
            <a:endParaRPr sz="110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rgbClr val="0F1115"/>
              </a:buClr>
              <a:buSzPts val="1200"/>
              <a:buFont typeface="Arial"/>
              <a:buChar char="•"/>
            </a:pPr>
            <a:r>
              <a:rPr lang="sv-SE" sz="1200">
                <a:solidFill>
                  <a:srgbClr val="0F1115"/>
                </a:solidFill>
                <a:highlight>
                  <a:srgbClr val="F9FAFB"/>
                </a:highlight>
                <a:latin typeface="Consolas"/>
                <a:ea typeface="Consolas"/>
                <a:cs typeface="Consolas"/>
                <a:sym typeface="Consolas"/>
              </a:rPr>
              <a:t>SERVER_NAME </a:t>
            </a:r>
            <a:r>
              <a:rPr lang="sv-SE" sz="1200">
                <a:solidFill>
                  <a:srgbClr val="4078F2"/>
                </a:solidFill>
                <a:highlight>
                  <a:srgbClr val="F9FAFB"/>
                </a:highlight>
                <a:latin typeface="Consolas"/>
                <a:ea typeface="Consolas"/>
                <a:cs typeface="Consolas"/>
                <a:sym typeface="Consolas"/>
              </a:rPr>
              <a:t>=</a:t>
            </a:r>
            <a:r>
              <a:rPr lang="sv-SE" sz="1200">
                <a:solidFill>
                  <a:srgbClr val="0F1115"/>
                </a:solidFill>
                <a:highlight>
                  <a:srgbClr val="F9FAFB"/>
                </a:highlight>
                <a:latin typeface="Consolas"/>
                <a:ea typeface="Consolas"/>
                <a:cs typeface="Consolas"/>
                <a:sym typeface="Consolas"/>
              </a:rPr>
              <a:t> </a:t>
            </a:r>
            <a:r>
              <a:rPr lang="sv-SE" sz="1200">
                <a:solidFill>
                  <a:srgbClr val="50A14F"/>
                </a:solidFill>
                <a:highlight>
                  <a:srgbClr val="F9FAFB"/>
                </a:highlight>
                <a:latin typeface="Consolas"/>
                <a:ea typeface="Consolas"/>
                <a:cs typeface="Consolas"/>
                <a:sym typeface="Consolas"/>
              </a:rPr>
              <a:t>"localhost"</a:t>
            </a:r>
            <a:r>
              <a:rPr lang="sv-SE" sz="1200">
                <a:solidFill>
                  <a:srgbClr val="0F1115"/>
                </a:solidFill>
                <a:highlight>
                  <a:srgbClr val="F9FAFB"/>
                </a:highlight>
                <a:latin typeface="Consolas"/>
                <a:ea typeface="Consolas"/>
                <a:cs typeface="Consolas"/>
                <a:sym typeface="Consolas"/>
              </a:rPr>
              <a:t>  </a:t>
            </a:r>
            <a:r>
              <a:rPr lang="sv-SE" sz="1200" i="1">
                <a:solidFill>
                  <a:srgbClr val="A0A1A7"/>
                </a:solidFill>
                <a:highlight>
                  <a:srgbClr val="F9FAFB"/>
                </a:highlight>
                <a:latin typeface="Consolas"/>
                <a:ea typeface="Consolas"/>
                <a:cs typeface="Consolas"/>
                <a:sym typeface="Consolas"/>
              </a:rPr>
              <a:t># Måste ändras till studentens servernamn!</a:t>
            </a:r>
            <a:endParaRPr sz="1200" i="1">
              <a:solidFill>
                <a:srgbClr val="A0A1A7"/>
              </a:solidFill>
              <a:highlight>
                <a:srgbClr val="F9FAFB"/>
              </a:highlight>
              <a:latin typeface="Consolas"/>
              <a:ea typeface="Consolas"/>
              <a:cs typeface="Consolas"/>
              <a:sym typeface="Consolas"/>
            </a:endParaRPr>
          </a:p>
          <a:p>
            <a:pPr marL="228600" marR="0" lvl="0" indent="-228600" algn="l" rtl="0">
              <a:lnSpc>
                <a:spcPct val="90000"/>
              </a:lnSpc>
              <a:spcBef>
                <a:spcPts val="1000"/>
              </a:spcBef>
              <a:spcAft>
                <a:spcPts val="0"/>
              </a:spcAft>
              <a:buClr>
                <a:srgbClr val="0F1115"/>
              </a:buClr>
              <a:buSzPts val="1800"/>
              <a:buFont typeface="Arial"/>
              <a:buChar char="•"/>
            </a:pPr>
            <a:r>
              <a:rPr lang="sv-SE" sz="1800" b="1">
                <a:solidFill>
                  <a:srgbClr val="0F1115"/>
                </a:solidFill>
                <a:highlight>
                  <a:srgbClr val="FFFFFF"/>
                </a:highlight>
                <a:latin typeface="Arial"/>
                <a:ea typeface="Arial"/>
                <a:cs typeface="Arial"/>
                <a:sym typeface="Arial"/>
              </a:rPr>
              <a:t>Studenten måste:</a:t>
            </a:r>
            <a:endParaRPr sz="180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rgbClr val="0F1115"/>
              </a:buClr>
              <a:buSzPts val="1800"/>
              <a:buFont typeface="Arial"/>
              <a:buChar char="•"/>
            </a:pPr>
            <a:r>
              <a:rPr lang="sv-SE" sz="1800">
                <a:solidFill>
                  <a:srgbClr val="0F1115"/>
                </a:solidFill>
                <a:highlight>
                  <a:srgbClr val="FFFFFF"/>
                </a:highlight>
                <a:latin typeface="Arial"/>
                <a:ea typeface="Arial"/>
                <a:cs typeface="Arial"/>
                <a:sym typeface="Arial"/>
              </a:rPr>
              <a:t>Öppna </a:t>
            </a:r>
            <a:r>
              <a:rPr lang="sv-SE" sz="1800">
                <a:solidFill>
                  <a:srgbClr val="0F1115"/>
                </a:solidFill>
                <a:highlight>
                  <a:srgbClr val="EBEEF2"/>
                </a:highlight>
                <a:latin typeface="Consolas"/>
                <a:ea typeface="Consolas"/>
                <a:cs typeface="Consolas"/>
                <a:sym typeface="Consolas"/>
              </a:rPr>
              <a:t>analyze_network_traffic.py</a:t>
            </a:r>
            <a:r>
              <a:rPr lang="sv-SE" sz="1800">
                <a:solidFill>
                  <a:srgbClr val="0F1115"/>
                </a:solidFill>
                <a:highlight>
                  <a:srgbClr val="FFFFFF"/>
                </a:highlight>
                <a:latin typeface="Arial"/>
                <a:ea typeface="Arial"/>
                <a:cs typeface="Arial"/>
                <a:sym typeface="Arial"/>
              </a:rPr>
              <a:t> i VS Code</a:t>
            </a:r>
            <a:endParaRPr sz="180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rgbClr val="0F1115"/>
              </a:buClr>
              <a:buSzPts val="1800"/>
              <a:buFont typeface="Arial"/>
              <a:buChar char="•"/>
            </a:pPr>
            <a:r>
              <a:rPr lang="sv-SE" sz="1800">
                <a:solidFill>
                  <a:srgbClr val="0F1115"/>
                </a:solidFill>
                <a:highlight>
                  <a:srgbClr val="FFFFFF"/>
                </a:highlight>
                <a:latin typeface="Arial"/>
                <a:ea typeface="Arial"/>
                <a:cs typeface="Arial"/>
                <a:sym typeface="Arial"/>
              </a:rPr>
              <a:t>Ändra </a:t>
            </a:r>
            <a:r>
              <a:rPr lang="sv-SE" sz="1800">
                <a:solidFill>
                  <a:srgbClr val="0F1115"/>
                </a:solidFill>
                <a:highlight>
                  <a:srgbClr val="EBEEF2"/>
                </a:highlight>
                <a:latin typeface="Consolas"/>
                <a:ea typeface="Consolas"/>
                <a:cs typeface="Consolas"/>
                <a:sym typeface="Consolas"/>
              </a:rPr>
              <a:t>localhost</a:t>
            </a:r>
            <a:r>
              <a:rPr lang="sv-SE" sz="1800">
                <a:solidFill>
                  <a:srgbClr val="0F1115"/>
                </a:solidFill>
                <a:highlight>
                  <a:srgbClr val="FFFFFF"/>
                </a:highlight>
                <a:latin typeface="Arial"/>
                <a:ea typeface="Arial"/>
                <a:cs typeface="Arial"/>
                <a:sym typeface="Arial"/>
              </a:rPr>
              <a:t> till sitt eget servernamn (hittas i SSMS)</a:t>
            </a:r>
            <a:endParaRPr sz="1800">
              <a:solidFill>
                <a:schemeClr val="dk1"/>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1"/>
        <p:cNvGrpSpPr/>
        <p:nvPr/>
      </p:nvGrpSpPr>
      <p:grpSpPr>
        <a:xfrm>
          <a:off x="0" y="0"/>
          <a:ext cx="0" cy="0"/>
          <a:chOff x="0" y="0"/>
          <a:chExt cx="0" cy="0"/>
        </a:xfrm>
      </p:grpSpPr>
      <p:sp>
        <p:nvSpPr>
          <p:cNvPr id="702" name="Google Shape;702;p5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3" name="Google Shape;703;p59"/>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4" name="Google Shape;704;p59"/>
          <p:cNvSpPr/>
          <p:nvPr/>
        </p:nvSpPr>
        <p:spPr>
          <a:xfrm rot="-5400000">
            <a:off x="-158495" y="2660473"/>
            <a:ext cx="4355594" cy="4038603"/>
          </a:xfrm>
          <a:prstGeom prst="rect">
            <a:avLst/>
          </a:prstGeom>
          <a:gradFill>
            <a:gsLst>
              <a:gs pos="0">
                <a:srgbClr val="156082">
                  <a:alpha val="50196"/>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5" name="Google Shape;705;p59"/>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6" name="Google Shape;706;p59"/>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7" name="Google Shape;707;p59"/>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Så här får du projektet att fungera på din dator</a:t>
            </a:r>
            <a:endParaRPr/>
          </a:p>
        </p:txBody>
      </p:sp>
      <p:graphicFrame>
        <p:nvGraphicFramePr>
          <p:cNvPr id="708" name="Google Shape;708;p59"/>
          <p:cNvGraphicFramePr/>
          <p:nvPr/>
        </p:nvGraphicFramePr>
        <p:xfrm>
          <a:off x="4578156" y="467208"/>
          <a:ext cx="3000000" cy="3000000"/>
        </p:xfrm>
        <a:graphic>
          <a:graphicData uri="http://schemas.openxmlformats.org/drawingml/2006/table">
            <a:tbl>
              <a:tblPr firstRow="1" bandRow="1">
                <a:solidFill>
                  <a:srgbClr val="F2F2F2">
                    <a:alpha val="30196"/>
                  </a:srgbClr>
                </a:solidFill>
                <a:tableStyleId>{822C3B93-EF79-491A-80E4-DA79D8C4CF44}</a:tableStyleId>
              </a:tblPr>
              <a:tblGrid>
                <a:gridCol w="893950">
                  <a:extLst>
                    <a:ext uri="{9D8B030D-6E8A-4147-A177-3AD203B41FA5}">
                      <a16:colId xmlns:a16="http://schemas.microsoft.com/office/drawing/2014/main" val="20000"/>
                    </a:ext>
                  </a:extLst>
                </a:gridCol>
                <a:gridCol w="6180350">
                  <a:extLst>
                    <a:ext uri="{9D8B030D-6E8A-4147-A177-3AD203B41FA5}">
                      <a16:colId xmlns:a16="http://schemas.microsoft.com/office/drawing/2014/main" val="20001"/>
                    </a:ext>
                  </a:extLst>
                </a:gridCol>
              </a:tblGrid>
              <a:tr h="757250">
                <a:tc>
                  <a:txBody>
                    <a:bodyPr/>
                    <a:lstStyle/>
                    <a:p>
                      <a:pPr marL="0" marR="0" lvl="0" indent="0" algn="l" rtl="0">
                        <a:lnSpc>
                          <a:spcPct val="117187"/>
                        </a:lnSpc>
                        <a:spcBef>
                          <a:spcPts val="0"/>
                        </a:spcBef>
                        <a:spcAft>
                          <a:spcPts val="0"/>
                        </a:spcAft>
                        <a:buClr>
                          <a:schemeClr val="lt1"/>
                        </a:buClr>
                        <a:buSzPts val="1600"/>
                        <a:buFont typeface="Arial"/>
                        <a:buNone/>
                      </a:pPr>
                      <a:r>
                        <a:rPr lang="sv-SE" sz="1600" b="0" u="none" strike="noStrike" cap="none">
                          <a:solidFill>
                            <a:schemeClr val="lt1"/>
                          </a:solidFill>
                          <a:latin typeface="Arial"/>
                          <a:ea typeface="Arial"/>
                          <a:cs typeface="Arial"/>
                          <a:sym typeface="Arial"/>
                        </a:rPr>
                        <a:t>1</a:t>
                      </a:r>
                      <a:endParaRPr/>
                    </a:p>
                  </a:txBody>
                  <a:tcPr marL="139725" marR="179150" marT="107475" marB="107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0" marR="0" lvl="0" indent="0" algn="l" rtl="0">
                        <a:lnSpc>
                          <a:spcPct val="103125"/>
                        </a:lnSpc>
                        <a:spcBef>
                          <a:spcPts val="0"/>
                        </a:spcBef>
                        <a:spcAft>
                          <a:spcPts val="0"/>
                        </a:spcAft>
                        <a:buClr>
                          <a:schemeClr val="lt1"/>
                        </a:buClr>
                        <a:buSzPts val="1600"/>
                        <a:buFont typeface="Arial"/>
                        <a:buNone/>
                      </a:pPr>
                      <a:r>
                        <a:rPr lang="sv-SE" sz="1600" b="0" u="none" strike="noStrike" cap="none">
                          <a:solidFill>
                            <a:schemeClr val="lt1"/>
                          </a:solidFill>
                          <a:latin typeface="Arial"/>
                          <a:ea typeface="Arial"/>
                          <a:cs typeface="Arial"/>
                          <a:sym typeface="Arial"/>
                        </a:rPr>
                        <a:t>Packa upp mappen network_model på din dator (var som helst – spelar ingen roll!)</a:t>
                      </a:r>
                      <a:endParaRPr/>
                    </a:p>
                  </a:txBody>
                  <a:tcPr marL="139725" marR="107475" marT="107475" marB="107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80950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2</a:t>
                      </a:r>
                      <a:endParaRPr sz="1600" b="0" u="none" strike="noStrike" cap="none">
                        <a:solidFill>
                          <a:schemeClr val="dk1"/>
                        </a:solidFill>
                        <a:latin typeface="Arial"/>
                        <a:ea typeface="Arial"/>
                        <a:cs typeface="Arial"/>
                        <a:sym typeface="Arial"/>
                      </a:endParaRPr>
                    </a:p>
                  </a:txBody>
                  <a:tcPr marL="139725" marR="179150" marT="107475" marB="107475" anchor="ctr">
                    <a:lnL w="9525" cap="flat" cmpd="sng">
                      <a:solidFill>
                        <a:srgbClr val="000000">
                          <a:alpha val="0"/>
                        </a:srgbClr>
                      </a:solidFill>
                      <a:prstDash val="solid"/>
                      <a:round/>
                      <a:headEnd type="none" w="sm" len="sm"/>
                      <a:tailEnd type="none" w="sm" len="sm"/>
                    </a:lnL>
                    <a:lnR w="9525" cap="flat" cmpd="sng">
                      <a:solidFill>
                        <a:srgbClr val="3F3F3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Installera Python</a:t>
                      </a:r>
                      <a:r>
                        <a:rPr lang="sv-SE" sz="1600" b="0" u="none" strike="noStrike" cap="none">
                          <a:solidFill>
                            <a:schemeClr val="dk1"/>
                          </a:solidFill>
                          <a:latin typeface="Arial"/>
                          <a:ea typeface="Arial"/>
                          <a:cs typeface="Arial"/>
                          <a:sym typeface="Arial"/>
                        </a:rPr>
                        <a:t> (om du inte redan har det) – </a:t>
                      </a:r>
                      <a:r>
                        <a:rPr lang="sv-SE" sz="1600" b="1" u="none" strike="noStrike" cap="none">
                          <a:solidFill>
                            <a:schemeClr val="dk1"/>
                          </a:solidFill>
                          <a:latin typeface="Arial"/>
                          <a:ea typeface="Arial"/>
                          <a:cs typeface="Arial"/>
                          <a:sym typeface="Arial"/>
                        </a:rPr>
                        <a:t>kryssa i "Add Python to PATH"</a:t>
                      </a:r>
                      <a:endParaRPr sz="1600" b="0" u="none" strike="noStrike" cap="none">
                        <a:solidFill>
                          <a:schemeClr val="dk1"/>
                        </a:solidFill>
                        <a:latin typeface="Arial"/>
                        <a:ea typeface="Arial"/>
                        <a:cs typeface="Arial"/>
                        <a:sym typeface="Arial"/>
                      </a:endParaRPr>
                    </a:p>
                  </a:txBody>
                  <a:tcPr marL="139725" marR="107475" marT="107475" marB="107475" anchor="ctr">
                    <a:lnL w="9525" cap="flat" cmpd="sng">
                      <a:solidFill>
                        <a:srgbClr val="3F3F3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extLst>
                  <a:ext uri="{0D108BD9-81ED-4DB2-BD59-A6C34878D82A}">
                    <a16:rowId xmlns:a16="http://schemas.microsoft.com/office/drawing/2014/main" val="10001"/>
                  </a:ext>
                </a:extLst>
              </a:tr>
              <a:tr h="52585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3</a:t>
                      </a:r>
                      <a:endParaRPr sz="1600" b="0" u="none" strike="noStrike" cap="none">
                        <a:solidFill>
                          <a:schemeClr val="dk1"/>
                        </a:solidFill>
                        <a:latin typeface="Arial"/>
                        <a:ea typeface="Arial"/>
                        <a:cs typeface="Arial"/>
                        <a:sym typeface="Arial"/>
                      </a:endParaRPr>
                    </a:p>
                  </a:txBody>
                  <a:tcPr marL="139725" marR="179150" marT="107475" marB="107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Installera SQL Server och SSMS</a:t>
                      </a:r>
                      <a:r>
                        <a:rPr lang="sv-SE" sz="1600" b="0" u="none" strike="noStrike" cap="none">
                          <a:solidFill>
                            <a:schemeClr val="dk1"/>
                          </a:solidFill>
                          <a:latin typeface="Arial"/>
                          <a:ea typeface="Arial"/>
                          <a:cs typeface="Arial"/>
                          <a:sym typeface="Arial"/>
                        </a:rPr>
                        <a:t> (om du inte redan har det)</a:t>
                      </a:r>
                      <a:endParaRPr/>
                    </a:p>
                  </a:txBody>
                  <a:tcPr marL="139725" marR="107475" marT="107475" marB="107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75725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4</a:t>
                      </a:r>
                      <a:endParaRPr sz="1600" b="0" u="none" strike="noStrike" cap="none">
                        <a:solidFill>
                          <a:schemeClr val="dk1"/>
                        </a:solidFill>
                        <a:latin typeface="Arial"/>
                        <a:ea typeface="Arial"/>
                        <a:cs typeface="Arial"/>
                        <a:sym typeface="Arial"/>
                      </a:endParaRPr>
                    </a:p>
                  </a:txBody>
                  <a:tcPr marL="139725" marR="179150" marT="107475" marB="107475" anchor="ctr">
                    <a:lnL w="9525" cap="flat" cmpd="sng">
                      <a:solidFill>
                        <a:srgbClr val="000000">
                          <a:alpha val="0"/>
                        </a:srgbClr>
                      </a:solidFill>
                      <a:prstDash val="solid"/>
                      <a:round/>
                      <a:headEnd type="none" w="sm" len="sm"/>
                      <a:tailEnd type="none" w="sm" len="sm"/>
                    </a:lnL>
                    <a:lnR w="9525" cap="flat" cmpd="sng">
                      <a:solidFill>
                        <a:srgbClr val="3F3F3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tc>
                  <a:txBody>
                    <a:bodyPr/>
                    <a:lstStyle/>
                    <a:p>
                      <a:pPr marL="0" marR="0" lvl="0" indent="0" algn="l" rtl="0">
                        <a:lnSpc>
                          <a:spcPct val="103125"/>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Skapa databasen</a:t>
                      </a:r>
                      <a:r>
                        <a:rPr lang="sv-SE" sz="1600" b="0" u="none" strike="noStrike" cap="none">
                          <a:solidFill>
                            <a:schemeClr val="dk1"/>
                          </a:solidFill>
                          <a:latin typeface="Arial"/>
                          <a:ea typeface="Arial"/>
                          <a:cs typeface="Arial"/>
                          <a:sym typeface="Arial"/>
                        </a:rPr>
                        <a:t> NetworkSecurityML med tabeller (använd skriptet från lektionen)</a:t>
                      </a:r>
                      <a:endParaRPr/>
                    </a:p>
                  </a:txBody>
                  <a:tcPr marL="139725" marR="107475" marT="107475" marB="107475" anchor="ctr">
                    <a:lnL w="9525" cap="flat" cmpd="sng">
                      <a:solidFill>
                        <a:srgbClr val="3F3F3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extLst>
                  <a:ext uri="{0D108BD9-81ED-4DB2-BD59-A6C34878D82A}">
                    <a16:rowId xmlns:a16="http://schemas.microsoft.com/office/drawing/2014/main" val="10003"/>
                  </a:ext>
                </a:extLst>
              </a:tr>
              <a:tr h="52585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5</a:t>
                      </a:r>
                      <a:endParaRPr sz="1600" b="0" u="none" strike="noStrike" cap="none">
                        <a:solidFill>
                          <a:schemeClr val="dk1"/>
                        </a:solidFill>
                        <a:latin typeface="Arial"/>
                        <a:ea typeface="Arial"/>
                        <a:cs typeface="Arial"/>
                        <a:sym typeface="Arial"/>
                      </a:endParaRPr>
                    </a:p>
                  </a:txBody>
                  <a:tcPr marL="139725" marR="179150" marT="107475" marB="107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3125"/>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Öppna analyze_network_traffic.py i VS Code</a:t>
                      </a:r>
                      <a:endParaRPr/>
                    </a:p>
                  </a:txBody>
                  <a:tcPr marL="139725" marR="107475" marT="107475" marB="107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126480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6</a:t>
                      </a:r>
                      <a:endParaRPr sz="1600" b="0" u="none" strike="noStrike" cap="none">
                        <a:solidFill>
                          <a:schemeClr val="dk1"/>
                        </a:solidFill>
                        <a:latin typeface="Arial"/>
                        <a:ea typeface="Arial"/>
                        <a:cs typeface="Arial"/>
                        <a:sym typeface="Arial"/>
                      </a:endParaRPr>
                    </a:p>
                  </a:txBody>
                  <a:tcPr marL="139725" marR="179150" marT="107475" marB="107475" anchor="ctr">
                    <a:lnL w="9525" cap="flat" cmpd="sng">
                      <a:solidFill>
                        <a:srgbClr val="000000">
                          <a:alpha val="0"/>
                        </a:srgbClr>
                      </a:solidFill>
                      <a:prstDash val="solid"/>
                      <a:round/>
                      <a:headEnd type="none" w="sm" len="sm"/>
                      <a:tailEnd type="none" w="sm" len="sm"/>
                    </a:lnL>
                    <a:lnR w="9525" cap="flat" cmpd="sng">
                      <a:solidFill>
                        <a:srgbClr val="3F3F3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tc>
                  <a:txBody>
                    <a:bodyPr/>
                    <a:lstStyle/>
                    <a:p>
                      <a:pPr marL="0" marR="0" lvl="0" indent="0" algn="l" rtl="0">
                        <a:lnSpc>
                          <a:spcPct val="103125"/>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Ändra servernamnet</a:t>
                      </a:r>
                      <a:r>
                        <a:rPr lang="sv-SE" sz="1600" b="0" u="none" strike="noStrike" cap="none">
                          <a:solidFill>
                            <a:schemeClr val="dk1"/>
                          </a:solidFill>
                          <a:latin typeface="Arial"/>
                          <a:ea typeface="Arial"/>
                          <a:cs typeface="Arial"/>
                          <a:sym typeface="Arial"/>
                        </a:rPr>
                        <a:t> på rad ca 15:</a:t>
                      </a:r>
                      <a:br>
                        <a:rPr lang="sv-SE" sz="1600" b="0" u="none" strike="noStrike" cap="none">
                          <a:solidFill>
                            <a:schemeClr val="dk1"/>
                          </a:solidFill>
                          <a:latin typeface="Arial"/>
                          <a:ea typeface="Arial"/>
                          <a:cs typeface="Arial"/>
                          <a:sym typeface="Arial"/>
                        </a:rPr>
                      </a:br>
                      <a:r>
                        <a:rPr lang="sv-SE" sz="1600" b="0" u="none" strike="noStrike" cap="none">
                          <a:solidFill>
                            <a:schemeClr val="dk1"/>
                          </a:solidFill>
                          <a:latin typeface="Arial"/>
                          <a:ea typeface="Arial"/>
                          <a:cs typeface="Arial"/>
                          <a:sym typeface="Arial"/>
                        </a:rPr>
                        <a:t>SERVER_NAME = "localhost" → SERVER_NAME = "DITT_SERVERNAMN"</a:t>
                      </a:r>
                      <a:br>
                        <a:rPr lang="sv-SE" sz="1600" b="0" u="none" strike="noStrike" cap="none">
                          <a:solidFill>
                            <a:schemeClr val="dk1"/>
                          </a:solidFill>
                          <a:latin typeface="Arial"/>
                          <a:ea typeface="Arial"/>
                          <a:cs typeface="Arial"/>
                          <a:sym typeface="Arial"/>
                        </a:rPr>
                      </a:br>
                      <a:r>
                        <a:rPr lang="sv-SE" sz="1600" b="0" u="none" strike="noStrike" cap="none">
                          <a:solidFill>
                            <a:schemeClr val="dk1"/>
                          </a:solidFill>
                          <a:latin typeface="Arial"/>
                          <a:ea typeface="Arial"/>
                          <a:cs typeface="Arial"/>
                          <a:sym typeface="Arial"/>
                        </a:rPr>
                        <a:t>(hitta ditt servernamn i SSMS)</a:t>
                      </a:r>
                      <a:endParaRPr/>
                    </a:p>
                  </a:txBody>
                  <a:tcPr marL="139725" marR="107475" marT="107475" marB="107475" anchor="ctr">
                    <a:lnL w="9525" cap="flat" cmpd="sng">
                      <a:solidFill>
                        <a:srgbClr val="3F3F3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extLst>
                  <a:ext uri="{0D108BD9-81ED-4DB2-BD59-A6C34878D82A}">
                    <a16:rowId xmlns:a16="http://schemas.microsoft.com/office/drawing/2014/main" val="10005"/>
                  </a:ext>
                </a:extLst>
              </a:tr>
              <a:tr h="75725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7</a:t>
                      </a:r>
                      <a:endParaRPr sz="1600" b="0" u="none" strike="noStrike" cap="none">
                        <a:solidFill>
                          <a:schemeClr val="dk1"/>
                        </a:solidFill>
                        <a:latin typeface="Arial"/>
                        <a:ea typeface="Arial"/>
                        <a:cs typeface="Arial"/>
                        <a:sym typeface="Arial"/>
                      </a:endParaRPr>
                    </a:p>
                  </a:txBody>
                  <a:tcPr marL="139725" marR="179150" marT="107475" marB="107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3125"/>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Öppna PowerShell i VS Code och kör:</a:t>
                      </a:r>
                      <a:br>
                        <a:rPr lang="sv-SE" sz="1600" b="0" u="none" strike="noStrike" cap="none">
                          <a:solidFill>
                            <a:schemeClr val="dk1"/>
                          </a:solidFill>
                          <a:latin typeface="Arial"/>
                          <a:ea typeface="Arial"/>
                          <a:cs typeface="Arial"/>
                          <a:sym typeface="Arial"/>
                        </a:rPr>
                      </a:br>
                      <a:r>
                        <a:rPr lang="sv-SE" sz="1600" b="0" u="none" strike="noStrike" cap="none">
                          <a:solidFill>
                            <a:schemeClr val="dk1"/>
                          </a:solidFill>
                          <a:latin typeface="Arial"/>
                          <a:ea typeface="Arial"/>
                          <a:cs typeface="Arial"/>
                          <a:sym typeface="Arial"/>
                        </a:rPr>
                        <a:t>.\run_ml_analysis.ps1</a:t>
                      </a:r>
                      <a:endParaRPr sz="1600" b="0" u="none" strike="noStrike" cap="none">
                        <a:solidFill>
                          <a:schemeClr val="dk1"/>
                        </a:solidFill>
                        <a:latin typeface="Arial"/>
                        <a:ea typeface="Arial"/>
                        <a:cs typeface="Arial"/>
                        <a:sym typeface="Arial"/>
                      </a:endParaRPr>
                    </a:p>
                  </a:txBody>
                  <a:tcPr marL="139725" marR="107475" marT="107475" marB="107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r h="52585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8</a:t>
                      </a:r>
                      <a:endParaRPr sz="1600" b="0" u="none" strike="noStrike" cap="none">
                        <a:solidFill>
                          <a:schemeClr val="dk1"/>
                        </a:solidFill>
                        <a:latin typeface="Arial"/>
                        <a:ea typeface="Arial"/>
                        <a:cs typeface="Arial"/>
                        <a:sym typeface="Arial"/>
                      </a:endParaRPr>
                    </a:p>
                  </a:txBody>
                  <a:tcPr marL="139725" marR="179150" marT="107475" marB="107475" anchor="ctr">
                    <a:lnL w="9525" cap="flat" cmpd="sng">
                      <a:solidFill>
                        <a:srgbClr val="000000">
                          <a:alpha val="0"/>
                        </a:srgbClr>
                      </a:solidFill>
                      <a:prstDash val="solid"/>
                      <a:round/>
                      <a:headEnd type="none" w="sm" len="sm"/>
                      <a:tailEnd type="none" w="sm" len="sm"/>
                    </a:lnL>
                    <a:lnR w="9525" cap="flat" cmpd="sng">
                      <a:solidFill>
                        <a:srgbClr val="3F3F3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Följ instruktionerna i skriptet – det installerar alla paket automatiskt</a:t>
                      </a:r>
                      <a:endParaRPr/>
                    </a:p>
                  </a:txBody>
                  <a:tcPr marL="139725" marR="107475" marT="107475" marB="107475" anchor="ctr">
                    <a:lnL w="9525" cap="flat" cmpd="sng">
                      <a:solidFill>
                        <a:srgbClr val="3F3F3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alpha val="30196"/>
                      </a:srgbClr>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2"/>
        <p:cNvGrpSpPr/>
        <p:nvPr/>
      </p:nvGrpSpPr>
      <p:grpSpPr>
        <a:xfrm>
          <a:off x="0" y="0"/>
          <a:ext cx="0" cy="0"/>
          <a:chOff x="0" y="0"/>
          <a:chExt cx="0" cy="0"/>
        </a:xfrm>
      </p:grpSpPr>
      <p:sp>
        <p:nvSpPr>
          <p:cNvPr id="713" name="Google Shape;713;p6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14" name="Google Shape;714;p60"/>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15" name="Google Shape;715;p60"/>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16" name="Google Shape;716;p60"/>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17" name="Google Shape;717;p60"/>
          <p:cNvSpPr/>
          <p:nvPr/>
        </p:nvSpPr>
        <p:spPr>
          <a:xfrm rot="5400000" flipH="1">
            <a:off x="767923" y="3588085"/>
            <a:ext cx="2501979" cy="403784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18" name="Google Shape;718;p60"/>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19" name="Google Shape;719;p60"/>
          <p:cNvSpPr/>
          <p:nvPr/>
        </p:nvSpPr>
        <p:spPr>
          <a:xfrm rot="5400000" flipH="1">
            <a:off x="-1410093" y="1399943"/>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20" name="Google Shape;720;p60"/>
          <p:cNvSpPr txBox="1">
            <a:spLocks noGrp="1"/>
          </p:cNvSpPr>
          <p:nvPr>
            <p:ph type="title"/>
          </p:nvPr>
        </p:nvSpPr>
        <p:spPr>
          <a:xfrm>
            <a:off x="466722" y="586855"/>
            <a:ext cx="3201366" cy="338749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4000"/>
              <a:buFont typeface="Play"/>
              <a:buNone/>
            </a:pPr>
            <a:r>
              <a:rPr lang="sv-SE" sz="4000">
                <a:solidFill>
                  <a:srgbClr val="FFFFFF"/>
                </a:solidFill>
              </a:rPr>
              <a:t>Steg 11: Koppla Power BI till SQL Server</a:t>
            </a:r>
            <a:endParaRPr sz="4000">
              <a:solidFill>
                <a:srgbClr val="FFFFFF"/>
              </a:solidFill>
            </a:endParaRPr>
          </a:p>
        </p:txBody>
      </p:sp>
      <p:sp>
        <p:nvSpPr>
          <p:cNvPr id="721" name="Google Shape;721;p60"/>
          <p:cNvSpPr txBox="1">
            <a:spLocks noGrp="1"/>
          </p:cNvSpPr>
          <p:nvPr>
            <p:ph type="body" idx="1"/>
          </p:nvPr>
        </p:nvSpPr>
        <p:spPr>
          <a:xfrm>
            <a:off x="4810259" y="649480"/>
            <a:ext cx="6555347" cy="5546047"/>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sv-SE" sz="2000">
                <a:highlight>
                  <a:srgbClr val="FFFFFF"/>
                </a:highlight>
              </a:rPr>
              <a:t>Nu ska vi bygga en bro mellan vår databas (där ML-resultaten ligger) och Power BI (visualiseringsverktyget). Power BI är Microsofts verktyg för att skapa snygga diagram och rapporter. Det finns två sätt att koppla: via </a:t>
            </a:r>
            <a:r>
              <a:rPr lang="sv-SE" sz="2000" b="1">
                <a:highlight>
                  <a:srgbClr val="FFFFFF"/>
                </a:highlight>
              </a:rPr>
              <a:t>Import</a:t>
            </a:r>
            <a:r>
              <a:rPr lang="sv-SE" sz="2000">
                <a:highlight>
                  <a:srgbClr val="FFFFFF"/>
                </a:highlight>
              </a:rPr>
              <a:t> (kopierar data till Power BI, snabbast) eller </a:t>
            </a:r>
            <a:r>
              <a:rPr lang="sv-SE" sz="2000" b="1">
                <a:highlight>
                  <a:srgbClr val="FFFFFF"/>
                </a:highlight>
              </a:rPr>
              <a:t>DirectQuery</a:t>
            </a:r>
            <a:r>
              <a:rPr lang="sv-SE" sz="2000">
                <a:highlight>
                  <a:srgbClr val="FFFFFF"/>
                </a:highlight>
              </a:rPr>
              <a:t> (frågar databasen i realtid). För vårt ML-projekt med nätverkssäkerhet använder vi </a:t>
            </a:r>
            <a:r>
              <a:rPr lang="sv-SE" sz="2000" b="1">
                <a:highlight>
                  <a:srgbClr val="FFFFFF"/>
                </a:highlight>
              </a:rPr>
              <a:t>Import</a:t>
            </a:r>
            <a:r>
              <a:rPr lang="sv-SE" sz="2000">
                <a:highlight>
                  <a:srgbClr val="FFFFFF"/>
                </a:highlight>
              </a:rPr>
              <a:t> – det är enklast och snabbast för rapporter .</a:t>
            </a:r>
            <a:endParaRPr sz="20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25"/>
        <p:cNvGrpSpPr/>
        <p:nvPr/>
      </p:nvGrpSpPr>
      <p:grpSpPr>
        <a:xfrm>
          <a:off x="0" y="0"/>
          <a:ext cx="0" cy="0"/>
          <a:chOff x="0" y="0"/>
          <a:chExt cx="0" cy="0"/>
        </a:xfrm>
      </p:grpSpPr>
      <p:sp>
        <p:nvSpPr>
          <p:cNvPr id="726" name="Google Shape;726;p6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27" name="Google Shape;727;p61"/>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28" name="Google Shape;728;p61"/>
          <p:cNvSpPr/>
          <p:nvPr/>
        </p:nvSpPr>
        <p:spPr>
          <a:xfrm rot="-5400000">
            <a:off x="-158495" y="2660473"/>
            <a:ext cx="4355594" cy="4038603"/>
          </a:xfrm>
          <a:prstGeom prst="rect">
            <a:avLst/>
          </a:prstGeom>
          <a:gradFill>
            <a:gsLst>
              <a:gs pos="0">
                <a:srgbClr val="156082">
                  <a:alpha val="50196"/>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29" name="Google Shape;729;p61"/>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30" name="Google Shape;730;p61"/>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31" name="Google Shape;731;p61"/>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Instruktioner för att koppla Power BI till SQL Server</a:t>
            </a:r>
            <a:endParaRPr/>
          </a:p>
        </p:txBody>
      </p:sp>
      <p:graphicFrame>
        <p:nvGraphicFramePr>
          <p:cNvPr id="732" name="Google Shape;732;p61"/>
          <p:cNvGraphicFramePr/>
          <p:nvPr/>
        </p:nvGraphicFramePr>
        <p:xfrm>
          <a:off x="4083169" y="0"/>
          <a:ext cx="3000000" cy="3000000"/>
        </p:xfrm>
        <a:graphic>
          <a:graphicData uri="http://schemas.openxmlformats.org/drawingml/2006/table">
            <a:tbl>
              <a:tblPr firstRow="1" bandRow="1">
                <a:solidFill>
                  <a:srgbClr val="F7F7F7"/>
                </a:solidFill>
                <a:tableStyleId>{822C3B93-EF79-491A-80E4-DA79D8C4CF44}</a:tableStyleId>
              </a:tblPr>
              <a:tblGrid>
                <a:gridCol w="200900">
                  <a:extLst>
                    <a:ext uri="{9D8B030D-6E8A-4147-A177-3AD203B41FA5}">
                      <a16:colId xmlns:a16="http://schemas.microsoft.com/office/drawing/2014/main" val="20000"/>
                    </a:ext>
                  </a:extLst>
                </a:gridCol>
                <a:gridCol w="1496300">
                  <a:extLst>
                    <a:ext uri="{9D8B030D-6E8A-4147-A177-3AD203B41FA5}">
                      <a16:colId xmlns:a16="http://schemas.microsoft.com/office/drawing/2014/main" val="20001"/>
                    </a:ext>
                  </a:extLst>
                </a:gridCol>
                <a:gridCol w="6403125">
                  <a:extLst>
                    <a:ext uri="{9D8B030D-6E8A-4147-A177-3AD203B41FA5}">
                      <a16:colId xmlns:a16="http://schemas.microsoft.com/office/drawing/2014/main" val="20002"/>
                    </a:ext>
                  </a:extLst>
                </a:gridCol>
              </a:tblGrid>
              <a:tr h="408075">
                <a:tc>
                  <a:txBody>
                    <a:bodyPr/>
                    <a:lstStyle/>
                    <a:p>
                      <a:pPr marL="0" marR="0" lvl="0" indent="0" algn="l" rtl="0">
                        <a:lnSpc>
                          <a:spcPct val="100000"/>
                        </a:lnSpc>
                        <a:spcBef>
                          <a:spcPts val="0"/>
                        </a:spcBef>
                        <a:spcAft>
                          <a:spcPts val="0"/>
                        </a:spcAft>
                        <a:buClr>
                          <a:schemeClr val="dk1"/>
                        </a:buClr>
                        <a:buSzPts val="900"/>
                        <a:buFont typeface="Arial"/>
                        <a:buNone/>
                      </a:pPr>
                      <a:endParaRPr sz="900" b="1" u="none" strike="noStrike" cap="none">
                        <a:solidFill>
                          <a:schemeClr val="dk1"/>
                        </a:solidFill>
                        <a:latin typeface="Arial"/>
                        <a:ea typeface="Arial"/>
                        <a:cs typeface="Arial"/>
                        <a:sym typeface="Arial"/>
                      </a:endParaRPr>
                    </a:p>
                  </a:txBody>
                  <a:tcPr marL="78900" marR="78900" marT="78900" marB="789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900"/>
                        <a:buFont typeface="Arial"/>
                        <a:buNone/>
                      </a:pPr>
                      <a:r>
                        <a:rPr lang="sv-SE" sz="900" b="1" u="none" strike="noStrike" cap="none">
                          <a:solidFill>
                            <a:schemeClr val="dk1"/>
                          </a:solidFill>
                          <a:latin typeface="Arial"/>
                          <a:ea typeface="Arial"/>
                          <a:cs typeface="Arial"/>
                          <a:sym typeface="Arial"/>
                        </a:rPr>
                        <a:t>VAD SKA DU GÖRA?</a:t>
                      </a:r>
                      <a:endParaRPr sz="900" b="1" u="none" strike="noStrike" cap="none">
                        <a:solidFill>
                          <a:schemeClr val="dk1"/>
                        </a:solidFill>
                        <a:latin typeface="Arial"/>
                        <a:ea typeface="Arial"/>
                        <a:cs typeface="Arial"/>
                        <a:sym typeface="Arial"/>
                      </a:endParaRPr>
                    </a:p>
                  </a:txBody>
                  <a:tcPr marL="78900" marR="78900" marT="78900" marB="789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000"/>
                        <a:buFont typeface="Arial"/>
                        <a:buNone/>
                      </a:pPr>
                      <a:r>
                        <a:rPr lang="sv-SE" sz="1000" b="1" u="none" strike="noStrike" cap="none">
                          <a:solidFill>
                            <a:schemeClr val="dk1"/>
                          </a:solidFill>
                          <a:latin typeface="Arial"/>
                          <a:ea typeface="Arial"/>
                          <a:cs typeface="Arial"/>
                          <a:sym typeface="Arial"/>
                        </a:rPr>
                        <a:t>INSTRUKTIONER</a:t>
                      </a:r>
                      <a:endParaRPr/>
                    </a:p>
                  </a:txBody>
                  <a:tcPr marL="78900" marR="78900" marT="78900" marB="789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9325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1</a:t>
                      </a:r>
                      <a:endParaRPr sz="1100" b="0" u="none" strike="noStrike" cap="none">
                        <a:solidFill>
                          <a:schemeClr val="dk1"/>
                        </a:solidFill>
                        <a:latin typeface="Arial"/>
                        <a:ea typeface="Arial"/>
                        <a:cs typeface="Arial"/>
                        <a:sym typeface="Arial"/>
                      </a:endParaRPr>
                    </a:p>
                  </a:txBody>
                  <a:tcPr marL="52600"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Öppna Power BI Desktop</a:t>
                      </a:r>
                      <a:endParaRPr sz="1100" b="0" u="none" strike="noStrike" cap="none">
                        <a:solidFill>
                          <a:schemeClr val="dk1"/>
                        </a:solidFill>
                        <a:latin typeface="Arial"/>
                        <a:ea typeface="Arial"/>
                        <a:cs typeface="Arial"/>
                        <a:sym typeface="Arial"/>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Sök efter </a:t>
                      </a:r>
                      <a:r>
                        <a:rPr lang="sv-SE" sz="1100" b="1" u="none" strike="noStrike" cap="none">
                          <a:solidFill>
                            <a:schemeClr val="dk1"/>
                          </a:solidFill>
                          <a:latin typeface="Arial"/>
                          <a:ea typeface="Arial"/>
                          <a:cs typeface="Arial"/>
                          <a:sym typeface="Arial"/>
                        </a:rPr>
                        <a:t>"Power BI Desktop"</a:t>
                      </a:r>
                      <a:r>
                        <a:rPr lang="sv-SE" sz="1100" b="0" u="none" strike="noStrike" cap="none">
                          <a:solidFill>
                            <a:schemeClr val="dk1"/>
                          </a:solidFill>
                          <a:latin typeface="Arial"/>
                          <a:ea typeface="Arial"/>
                          <a:cs typeface="Arial"/>
                          <a:sym typeface="Arial"/>
                        </a:rPr>
                        <a:t> i Windows startmeny. Klicka för att öppna programmet. Ett vitt arbetsfält öppnas.</a:t>
                      </a:r>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1"/>
                  </a:ext>
                </a:extLst>
              </a:tr>
              <a:tr h="39325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2</a:t>
                      </a:r>
                      <a:endParaRPr sz="1100" b="0" u="none" strike="noStrike" cap="none">
                        <a:solidFill>
                          <a:schemeClr val="dk1"/>
                        </a:solidFill>
                        <a:latin typeface="Arial"/>
                        <a:ea typeface="Arial"/>
                        <a:cs typeface="Arial"/>
                        <a:sym typeface="Arial"/>
                      </a:endParaRPr>
                    </a:p>
                  </a:txBody>
                  <a:tcPr marL="52600"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Hämta data från SQL Server</a:t>
                      </a:r>
                      <a:endParaRPr sz="1100" b="0" u="none" strike="noStrike" cap="none">
                        <a:solidFill>
                          <a:schemeClr val="dk1"/>
                        </a:solidFill>
                        <a:latin typeface="Arial"/>
                        <a:ea typeface="Arial"/>
                        <a:cs typeface="Arial"/>
                        <a:sym typeface="Arial"/>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Klicka på </a:t>
                      </a:r>
                      <a:r>
                        <a:rPr lang="sv-SE" sz="1100" b="1" u="none" strike="noStrike" cap="none">
                          <a:solidFill>
                            <a:schemeClr val="dk1"/>
                          </a:solidFill>
                          <a:latin typeface="Arial"/>
                          <a:ea typeface="Arial"/>
                          <a:cs typeface="Arial"/>
                          <a:sym typeface="Arial"/>
                        </a:rPr>
                        <a:t>"Hämta data"</a:t>
                      </a:r>
                      <a:r>
                        <a:rPr lang="sv-SE" sz="1100" b="0" u="none" strike="noStrike" cap="none">
                          <a:solidFill>
                            <a:schemeClr val="dk1"/>
                          </a:solidFill>
                          <a:latin typeface="Arial"/>
                          <a:ea typeface="Arial"/>
                          <a:cs typeface="Arial"/>
                          <a:sym typeface="Arial"/>
                        </a:rPr>
                        <a:t> (Get Data) i menyfliksområdet högst upp (Home-fliken). I rullgardinsmenyn, välj </a:t>
                      </a:r>
                      <a:r>
                        <a:rPr lang="sv-SE" sz="1100" b="1" u="none" strike="noStrike" cap="none">
                          <a:solidFill>
                            <a:schemeClr val="dk1"/>
                          </a:solidFill>
                          <a:latin typeface="Arial"/>
                          <a:ea typeface="Arial"/>
                          <a:cs typeface="Arial"/>
                          <a:sym typeface="Arial"/>
                        </a:rPr>
                        <a:t>"SQL Server"</a:t>
                      </a:r>
                      <a:r>
                        <a:rPr lang="sv-SE" sz="1100" b="0" u="none" strike="noStrike" cap="none">
                          <a:solidFill>
                            <a:schemeClr val="dk1"/>
                          </a:solidFill>
                          <a:latin typeface="Arial"/>
                          <a:ea typeface="Arial"/>
                          <a:cs typeface="Arial"/>
                          <a:sym typeface="Arial"/>
                        </a:rPr>
                        <a:t> .</a:t>
                      </a:r>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186235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3</a:t>
                      </a:r>
                      <a:endParaRPr sz="1100" b="0" u="none" strike="noStrike" cap="none">
                        <a:solidFill>
                          <a:schemeClr val="dk1"/>
                        </a:solidFill>
                        <a:latin typeface="Arial"/>
                        <a:ea typeface="Arial"/>
                        <a:cs typeface="Arial"/>
                        <a:sym typeface="Arial"/>
                      </a:endParaRPr>
                    </a:p>
                  </a:txBody>
                  <a:tcPr marL="52600"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Ange server och databas</a:t>
                      </a:r>
                      <a:endParaRPr sz="1100" b="0" u="none" strike="noStrike" cap="none">
                        <a:solidFill>
                          <a:schemeClr val="dk1"/>
                        </a:solidFill>
                        <a:latin typeface="Arial"/>
                        <a:ea typeface="Arial"/>
                        <a:cs typeface="Arial"/>
                        <a:sym typeface="Arial"/>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Ett fönster med rubriken </a:t>
                      </a:r>
                      <a:r>
                        <a:rPr lang="sv-SE" sz="1100" b="1" u="none" strike="noStrike" cap="none">
                          <a:solidFill>
                            <a:schemeClr val="dk1"/>
                          </a:solidFill>
                          <a:latin typeface="Arial"/>
                          <a:ea typeface="Arial"/>
                          <a:cs typeface="Arial"/>
                          <a:sym typeface="Arial"/>
                        </a:rPr>
                        <a:t>"SQL Server-databas"</a:t>
                      </a:r>
                      <a:r>
                        <a:rPr lang="sv-SE" sz="1100" b="0" u="none" strike="noStrike" cap="none">
                          <a:solidFill>
                            <a:schemeClr val="dk1"/>
                          </a:solidFill>
                          <a:latin typeface="Arial"/>
                          <a:ea typeface="Arial"/>
                          <a:cs typeface="Arial"/>
                          <a:sym typeface="Arial"/>
                        </a:rPr>
                        <a:t> öppnas. Fyll i:</a:t>
                      </a:r>
                      <a:br>
                        <a:rPr lang="sv-SE" sz="1100" b="0" u="none" strike="noStrike" cap="none">
                          <a:solidFill>
                            <a:srgbClr val="000000"/>
                          </a:solidFill>
                          <a:latin typeface="Arial"/>
                          <a:ea typeface="Arial"/>
                          <a:cs typeface="Arial"/>
                          <a:sym typeface="Arial"/>
                        </a:rPr>
                      </a:br>
                      <a:br>
                        <a:rPr lang="sv-SE" sz="1100" b="0" u="none" strike="noStrike" cap="none">
                          <a:solidFill>
                            <a:srgbClr val="000000"/>
                          </a:solidFill>
                          <a:latin typeface="Arial"/>
                          <a:ea typeface="Arial"/>
                          <a:cs typeface="Arial"/>
                          <a:sym typeface="Arial"/>
                        </a:rPr>
                      </a:br>
                      <a:r>
                        <a:rPr lang="sv-SE" sz="1100" b="1" u="none" strike="noStrike" cap="none">
                          <a:solidFill>
                            <a:schemeClr val="dk1"/>
                          </a:solidFill>
                          <a:latin typeface="Arial"/>
                          <a:ea typeface="Arial"/>
                          <a:cs typeface="Arial"/>
                          <a:sym typeface="Arial"/>
                        </a:rPr>
                        <a:t>Server:</a:t>
                      </a:r>
                      <a:r>
                        <a:rPr lang="sv-SE" sz="1100" b="0" u="none" strike="noStrike" cap="none">
                          <a:solidFill>
                            <a:schemeClr val="dk1"/>
                          </a:solidFill>
                          <a:latin typeface="Arial"/>
                          <a:ea typeface="Arial"/>
                          <a:cs typeface="Arial"/>
                          <a:sym typeface="Arial"/>
                        </a:rPr>
                        <a:t> Skriv in ditt servernamn (exakt samma som du använder i SSMS).</a:t>
                      </a: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 Vanliga exempel: localhost , (localdb)\MSSQLLocalDB , DESKTOP-ABC123 eller DESKTOP-ABC123\SQLEXPRESS</a:t>
                      </a:r>
                      <a:br>
                        <a:rPr lang="sv-SE" sz="1100" b="0" u="none" strike="noStrike" cap="none">
                          <a:solidFill>
                            <a:srgbClr val="000000"/>
                          </a:solidFill>
                          <a:latin typeface="Arial"/>
                          <a:ea typeface="Arial"/>
                          <a:cs typeface="Arial"/>
                          <a:sym typeface="Arial"/>
                        </a:rPr>
                      </a:br>
                      <a:br>
                        <a:rPr lang="sv-SE" sz="1100" b="0" u="none" strike="noStrike" cap="none">
                          <a:solidFill>
                            <a:srgbClr val="000000"/>
                          </a:solidFill>
                          <a:latin typeface="Arial"/>
                          <a:ea typeface="Arial"/>
                          <a:cs typeface="Arial"/>
                          <a:sym typeface="Arial"/>
                        </a:rPr>
                      </a:br>
                      <a:r>
                        <a:rPr lang="sv-SE" sz="1100" b="1" u="none" strike="noStrike" cap="none">
                          <a:solidFill>
                            <a:schemeClr val="dk1"/>
                          </a:solidFill>
                          <a:latin typeface="Arial"/>
                          <a:ea typeface="Arial"/>
                          <a:cs typeface="Arial"/>
                          <a:sym typeface="Arial"/>
                        </a:rPr>
                        <a:t>Databas (valfritt):</a:t>
                      </a:r>
                      <a:r>
                        <a:rPr lang="sv-SE" sz="1100" b="0" u="none" strike="noStrike" cap="none">
                          <a:solidFill>
                            <a:schemeClr val="dk1"/>
                          </a:solidFill>
                          <a:latin typeface="Arial"/>
                          <a:ea typeface="Arial"/>
                          <a:cs typeface="Arial"/>
                          <a:sym typeface="Arial"/>
                        </a:rPr>
                        <a:t> Skriv NetworkSecurityML (detta gör det enklare).</a:t>
                      </a:r>
                      <a:br>
                        <a:rPr lang="sv-SE" sz="1100" b="0" u="none" strike="noStrike" cap="none">
                          <a:solidFill>
                            <a:srgbClr val="000000"/>
                          </a:solidFill>
                          <a:latin typeface="Arial"/>
                          <a:ea typeface="Arial"/>
                          <a:cs typeface="Arial"/>
                          <a:sym typeface="Arial"/>
                        </a:rPr>
                      </a:br>
                      <a:br>
                        <a:rPr lang="sv-SE" sz="1100" b="0" u="none" strike="noStrike" cap="none">
                          <a:solidFill>
                            <a:srgbClr val="000000"/>
                          </a:solidFill>
                          <a:latin typeface="Arial"/>
                          <a:ea typeface="Arial"/>
                          <a:cs typeface="Arial"/>
                          <a:sym typeface="Arial"/>
                        </a:rPr>
                      </a:br>
                      <a:r>
                        <a:rPr lang="sv-SE" sz="1100" b="1" u="none" strike="noStrike" cap="none">
                          <a:solidFill>
                            <a:schemeClr val="dk1"/>
                          </a:solidFill>
                          <a:latin typeface="Arial"/>
                          <a:ea typeface="Arial"/>
                          <a:cs typeface="Arial"/>
                          <a:sym typeface="Arial"/>
                        </a:rPr>
                        <a:t>Data Connectivity mode:</a:t>
                      </a:r>
                      <a:r>
                        <a:rPr lang="sv-SE" sz="1100" b="0" u="none" strike="noStrike" cap="none">
                          <a:solidFill>
                            <a:schemeClr val="dk1"/>
                          </a:solidFill>
                          <a:latin typeface="Arial"/>
                          <a:ea typeface="Arial"/>
                          <a:cs typeface="Arial"/>
                          <a:sym typeface="Arial"/>
                        </a:rPr>
                        <a:t> Välj </a:t>
                      </a:r>
                      <a:r>
                        <a:rPr lang="sv-SE" sz="1100" b="1" u="none" strike="noStrike" cap="none">
                          <a:solidFill>
                            <a:schemeClr val="dk1"/>
                          </a:solidFill>
                          <a:latin typeface="Arial"/>
                          <a:ea typeface="Arial"/>
                          <a:cs typeface="Arial"/>
                          <a:sym typeface="Arial"/>
                        </a:rPr>
                        <a:t>"Import"</a:t>
                      </a:r>
                      <a:r>
                        <a:rPr lang="sv-SE" sz="1100" b="0" u="none" strike="noStrike" cap="none">
                          <a:solidFill>
                            <a:schemeClr val="dk1"/>
                          </a:solidFill>
                          <a:latin typeface="Arial"/>
                          <a:ea typeface="Arial"/>
                          <a:cs typeface="Arial"/>
                          <a:sym typeface="Arial"/>
                        </a:rPr>
                        <a:t> . Detta är det vanligaste valet för produktion .</a:t>
                      </a:r>
                      <a:br>
                        <a:rPr lang="sv-SE" sz="1100" b="0" u="none" strike="noStrike" cap="none">
                          <a:solidFill>
                            <a:srgbClr val="000000"/>
                          </a:solidFill>
                          <a:latin typeface="Arial"/>
                          <a:ea typeface="Arial"/>
                          <a:cs typeface="Arial"/>
                          <a:sym typeface="Arial"/>
                        </a:rPr>
                      </a:b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Klicka på </a:t>
                      </a:r>
                      <a:r>
                        <a:rPr lang="sv-SE" sz="1100" b="1" u="none" strike="noStrike" cap="none">
                          <a:solidFill>
                            <a:schemeClr val="dk1"/>
                          </a:solidFill>
                          <a:latin typeface="Arial"/>
                          <a:ea typeface="Arial"/>
                          <a:cs typeface="Arial"/>
                          <a:sym typeface="Arial"/>
                        </a:rPr>
                        <a:t>"OK"</a:t>
                      </a:r>
                      <a:r>
                        <a:rPr lang="sv-SE" sz="1100" b="0" u="none" strike="noStrike" cap="none">
                          <a:solidFill>
                            <a:schemeClr val="dk1"/>
                          </a:solidFill>
                          <a:latin typeface="Arial"/>
                          <a:ea typeface="Arial"/>
                          <a:cs typeface="Arial"/>
                          <a:sym typeface="Arial"/>
                        </a:rPr>
                        <a:t> .</a:t>
                      </a:r>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3"/>
                  </a:ext>
                </a:extLst>
              </a:tr>
              <a:tr h="39325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4</a:t>
                      </a:r>
                      <a:endParaRPr sz="1100" b="0" u="none" strike="noStrike" cap="none">
                        <a:solidFill>
                          <a:schemeClr val="dk1"/>
                        </a:solidFill>
                        <a:latin typeface="Arial"/>
                        <a:ea typeface="Arial"/>
                        <a:cs typeface="Arial"/>
                        <a:sym typeface="Arial"/>
                      </a:endParaRPr>
                    </a:p>
                  </a:txBody>
                  <a:tcPr marL="52600"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Välj autentiseringsmetod</a:t>
                      </a:r>
                      <a:endParaRPr sz="1100" b="0" u="none" strike="noStrike" cap="none">
                        <a:solidFill>
                          <a:schemeClr val="dk1"/>
                        </a:solidFill>
                        <a:latin typeface="Arial"/>
                        <a:ea typeface="Arial"/>
                        <a:cs typeface="Arial"/>
                        <a:sym typeface="Arial"/>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Ett nytt fönster ber dig logga in. Välj </a:t>
                      </a:r>
                      <a:r>
                        <a:rPr lang="sv-SE" sz="1100" b="1" u="none" strike="noStrike" cap="none">
                          <a:solidFill>
                            <a:schemeClr val="dk1"/>
                          </a:solidFill>
                          <a:latin typeface="Arial"/>
                          <a:ea typeface="Arial"/>
                          <a:cs typeface="Arial"/>
                          <a:sym typeface="Arial"/>
                        </a:rPr>
                        <a:t>"Windows"</a:t>
                      </a:r>
                      <a:r>
                        <a:rPr lang="sv-SE" sz="1100" b="0" u="none" strike="noStrike" cap="none">
                          <a:solidFill>
                            <a:schemeClr val="dk1"/>
                          </a:solidFill>
                          <a:latin typeface="Arial"/>
                          <a:ea typeface="Arial"/>
                          <a:cs typeface="Arial"/>
                          <a:sym typeface="Arial"/>
                        </a:rPr>
                        <a:t> (Windows-autentisering) i vänsterkolumnen . Klicka på </a:t>
                      </a:r>
                      <a:r>
                        <a:rPr lang="sv-SE" sz="1100" b="1" u="none" strike="noStrike" cap="none">
                          <a:solidFill>
                            <a:schemeClr val="dk1"/>
                          </a:solidFill>
                          <a:latin typeface="Arial"/>
                          <a:ea typeface="Arial"/>
                          <a:cs typeface="Arial"/>
                          <a:sym typeface="Arial"/>
                        </a:rPr>
                        <a:t>"Anslut"</a:t>
                      </a:r>
                      <a:r>
                        <a:rPr lang="sv-SE" sz="1100" b="0" u="none" strike="noStrike" cap="none">
                          <a:solidFill>
                            <a:schemeClr val="dk1"/>
                          </a:solidFill>
                          <a:latin typeface="Arial"/>
                          <a:ea typeface="Arial"/>
                          <a:cs typeface="Arial"/>
                          <a:sym typeface="Arial"/>
                        </a:rPr>
                        <a:t> (Connect).</a:t>
                      </a:r>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1194575">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5</a:t>
                      </a:r>
                      <a:endParaRPr sz="1100" b="0" u="none" strike="noStrike" cap="none">
                        <a:solidFill>
                          <a:schemeClr val="dk1"/>
                        </a:solidFill>
                        <a:latin typeface="Arial"/>
                        <a:ea typeface="Arial"/>
                        <a:cs typeface="Arial"/>
                        <a:sym typeface="Arial"/>
                      </a:endParaRPr>
                    </a:p>
                  </a:txBody>
                  <a:tcPr marL="52600"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Välj vilka tabeller som ska hämtas</a:t>
                      </a:r>
                      <a:endParaRPr sz="1100" b="0" u="none" strike="noStrike" cap="none">
                        <a:solidFill>
                          <a:schemeClr val="dk1"/>
                        </a:solidFill>
                        <a:latin typeface="Arial"/>
                        <a:ea typeface="Arial"/>
                        <a:cs typeface="Arial"/>
                        <a:sym typeface="Arial"/>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Nu visas fönstret </a:t>
                      </a:r>
                      <a:r>
                        <a:rPr lang="sv-SE" sz="1100" b="1" u="none" strike="noStrike" cap="none">
                          <a:solidFill>
                            <a:schemeClr val="dk1"/>
                          </a:solidFill>
                          <a:latin typeface="Arial"/>
                          <a:ea typeface="Arial"/>
                          <a:cs typeface="Arial"/>
                          <a:sym typeface="Arial"/>
                        </a:rPr>
                        <a:t>"Navigatör"</a:t>
                      </a:r>
                      <a:r>
                        <a:rPr lang="sv-SE" sz="1100" b="0" u="none" strike="noStrike" cap="none">
                          <a:solidFill>
                            <a:schemeClr val="dk1"/>
                          </a:solidFill>
                          <a:latin typeface="Arial"/>
                          <a:ea typeface="Arial"/>
                          <a:cs typeface="Arial"/>
                          <a:sym typeface="Arial"/>
                        </a:rPr>
                        <a:t> (Navigator) med alla tabeller i din databas . Klicka i kryssrutorna framför följande tabeller (du kan välja flera):</a:t>
                      </a: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 NetworkTrafficLogs (rådata om nätverkstrafik)</a:t>
                      </a: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 ThreatDetections (ML-resultaten – våra prediktioner)</a:t>
                      </a: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 SecurityMetrics (aggregerad statistik, om du vill ha den)</a:t>
                      </a:r>
                      <a:br>
                        <a:rPr lang="sv-SE" sz="1100" b="0" u="none" strike="noStrike" cap="none">
                          <a:solidFill>
                            <a:srgbClr val="000000"/>
                          </a:solidFill>
                          <a:latin typeface="Arial"/>
                          <a:ea typeface="Arial"/>
                          <a:cs typeface="Arial"/>
                          <a:sym typeface="Arial"/>
                        </a:rPr>
                      </a:br>
                      <a:br>
                        <a:rPr lang="sv-SE" sz="1100" b="0" u="none" strike="noStrike" cap="none">
                          <a:solidFill>
                            <a:srgbClr val="000000"/>
                          </a:solidFill>
                          <a:latin typeface="Arial"/>
                          <a:ea typeface="Arial"/>
                          <a:cs typeface="Arial"/>
                          <a:sym typeface="Arial"/>
                        </a:rPr>
                      </a:br>
                      <a:r>
                        <a:rPr lang="sv-SE" sz="1100" b="0" i="1" u="none" strike="noStrike" cap="none">
                          <a:solidFill>
                            <a:schemeClr val="dk1"/>
                          </a:solidFill>
                          <a:latin typeface="Arial"/>
                          <a:ea typeface="Arial"/>
                          <a:cs typeface="Arial"/>
                          <a:sym typeface="Arial"/>
                        </a:rPr>
                        <a:t>Tips:</a:t>
                      </a:r>
                      <a:r>
                        <a:rPr lang="sv-SE" sz="1100" b="0" u="none" strike="noStrike" cap="none">
                          <a:solidFill>
                            <a:schemeClr val="dk1"/>
                          </a:solidFill>
                          <a:latin typeface="Arial"/>
                          <a:ea typeface="Arial"/>
                          <a:cs typeface="Arial"/>
                          <a:sym typeface="Arial"/>
                        </a:rPr>
                        <a:t> Du kan klicka på en tabell för att se en förhandsgranskning av datan till höger .</a:t>
                      </a:r>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5"/>
                  </a:ext>
                </a:extLst>
              </a:tr>
              <a:tr h="118715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6</a:t>
                      </a:r>
                      <a:endParaRPr sz="1100" b="0" u="none" strike="noStrike" cap="none">
                        <a:solidFill>
                          <a:schemeClr val="dk1"/>
                        </a:solidFill>
                        <a:latin typeface="Arial"/>
                        <a:ea typeface="Arial"/>
                        <a:cs typeface="Arial"/>
                        <a:sym typeface="Arial"/>
                      </a:endParaRPr>
                    </a:p>
                  </a:txBody>
                  <a:tcPr marL="52600"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Läs in datan i Power BI</a:t>
                      </a:r>
                      <a:endParaRPr sz="1100" b="0" u="none" strike="noStrike" cap="none">
                        <a:solidFill>
                          <a:schemeClr val="dk1"/>
                        </a:solidFill>
                        <a:latin typeface="Arial"/>
                        <a:ea typeface="Arial"/>
                        <a:cs typeface="Arial"/>
                        <a:sym typeface="Arial"/>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Längst ner i navigatörsfönstret finns två knappar :</a:t>
                      </a: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 </a:t>
                      </a:r>
                      <a:r>
                        <a:rPr lang="sv-SE" sz="1100" b="1" u="none" strike="noStrike" cap="none">
                          <a:solidFill>
                            <a:schemeClr val="dk1"/>
                          </a:solidFill>
                          <a:latin typeface="Arial"/>
                          <a:ea typeface="Arial"/>
                          <a:cs typeface="Arial"/>
                          <a:sym typeface="Arial"/>
                        </a:rPr>
                        <a:t>"Läs in"</a:t>
                      </a:r>
                      <a:r>
                        <a:rPr lang="sv-SE" sz="1100" b="0" u="none" strike="noStrike" cap="none">
                          <a:solidFill>
                            <a:schemeClr val="dk1"/>
                          </a:solidFill>
                          <a:latin typeface="Arial"/>
                          <a:ea typeface="Arial"/>
                          <a:cs typeface="Arial"/>
                          <a:sym typeface="Arial"/>
                        </a:rPr>
                        <a:t> (Load): Hämtar datan direkt som den är.</a:t>
                      </a: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 </a:t>
                      </a:r>
                      <a:r>
                        <a:rPr lang="sv-SE" sz="1100" b="1" u="none" strike="noStrike" cap="none">
                          <a:solidFill>
                            <a:schemeClr val="dk1"/>
                          </a:solidFill>
                          <a:latin typeface="Arial"/>
                          <a:ea typeface="Arial"/>
                          <a:cs typeface="Arial"/>
                          <a:sym typeface="Arial"/>
                        </a:rPr>
                        <a:t>"Transformera data"</a:t>
                      </a:r>
                      <a:r>
                        <a:rPr lang="sv-SE" sz="1100" b="0" u="none" strike="noStrike" cap="none">
                          <a:solidFill>
                            <a:schemeClr val="dk1"/>
                          </a:solidFill>
                          <a:latin typeface="Arial"/>
                          <a:ea typeface="Arial"/>
                          <a:cs typeface="Arial"/>
                          <a:sym typeface="Arial"/>
                        </a:rPr>
                        <a:t> (Transform Data): Öppnar Power Query Editor där du kan rensa och forma datan först.</a:t>
                      </a:r>
                      <a:br>
                        <a:rPr lang="sv-SE" sz="1100" b="0" u="none" strike="noStrike" cap="none">
                          <a:solidFill>
                            <a:srgbClr val="000000"/>
                          </a:solidFill>
                          <a:latin typeface="Arial"/>
                          <a:ea typeface="Arial"/>
                          <a:cs typeface="Arial"/>
                          <a:sym typeface="Arial"/>
                        </a:rPr>
                      </a:br>
                      <a:br>
                        <a:rPr lang="sv-SE" sz="1100" b="0" u="none" strike="noStrike" cap="none">
                          <a:solidFill>
                            <a:srgbClr val="000000"/>
                          </a:solidFill>
                          <a:latin typeface="Arial"/>
                          <a:ea typeface="Arial"/>
                          <a:cs typeface="Arial"/>
                          <a:sym typeface="Arial"/>
                        </a:rPr>
                      </a:br>
                      <a:r>
                        <a:rPr lang="sv-SE" sz="1100" b="0" u="none" strike="noStrike" cap="none">
                          <a:solidFill>
                            <a:schemeClr val="dk1"/>
                          </a:solidFill>
                          <a:latin typeface="Arial"/>
                          <a:ea typeface="Arial"/>
                          <a:cs typeface="Arial"/>
                          <a:sym typeface="Arial"/>
                        </a:rPr>
                        <a:t>För nybörjare: Klicka på </a:t>
                      </a:r>
                      <a:r>
                        <a:rPr lang="sv-SE" sz="1100" b="1" u="none" strike="noStrike" cap="none">
                          <a:solidFill>
                            <a:schemeClr val="dk1"/>
                          </a:solidFill>
                          <a:latin typeface="Arial"/>
                          <a:ea typeface="Arial"/>
                          <a:cs typeface="Arial"/>
                          <a:sym typeface="Arial"/>
                        </a:rPr>
                        <a:t>"Läs in"</a:t>
                      </a:r>
                      <a:r>
                        <a:rPr lang="sv-SE" sz="1100" b="0" u="none" strike="noStrike" cap="none">
                          <a:solidFill>
                            <a:schemeClr val="dk1"/>
                          </a:solidFill>
                          <a:latin typeface="Arial"/>
                          <a:ea typeface="Arial"/>
                          <a:cs typeface="Arial"/>
                          <a:sym typeface="Arial"/>
                        </a:rPr>
                        <a:t> (Load). Power BI börjar nu hämta all data från SQL Server. Detta kan ta några sekunder.</a:t>
                      </a:r>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39325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7</a:t>
                      </a:r>
                      <a:endParaRPr sz="1100" b="0" u="none" strike="noStrike" cap="none">
                        <a:solidFill>
                          <a:schemeClr val="dk1"/>
                        </a:solidFill>
                        <a:latin typeface="Arial"/>
                        <a:ea typeface="Arial"/>
                        <a:cs typeface="Arial"/>
                        <a:sym typeface="Arial"/>
                      </a:endParaRPr>
                    </a:p>
                  </a:txBody>
                  <a:tcPr marL="52600"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Kontrollera att datan har laddats</a:t>
                      </a:r>
                      <a:endParaRPr sz="1100" b="0" u="none" strike="noStrike" cap="none">
                        <a:solidFill>
                          <a:schemeClr val="dk1"/>
                        </a:solidFill>
                        <a:latin typeface="Arial"/>
                        <a:ea typeface="Arial"/>
                        <a:cs typeface="Arial"/>
                        <a:sym typeface="Arial"/>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När laddningen är klar, titta till höger i Power BI-fönstret under fliken </a:t>
                      </a:r>
                      <a:r>
                        <a:rPr lang="sv-SE" sz="1100" b="1" u="none" strike="noStrike" cap="none">
                          <a:solidFill>
                            <a:schemeClr val="dk1"/>
                          </a:solidFill>
                          <a:latin typeface="Arial"/>
                          <a:ea typeface="Arial"/>
                          <a:cs typeface="Arial"/>
                          <a:sym typeface="Arial"/>
                        </a:rPr>
                        <a:t>"Data"</a:t>
                      </a:r>
                      <a:r>
                        <a:rPr lang="sv-SE" sz="1100" b="0" u="none" strike="noStrike" cap="none">
                          <a:solidFill>
                            <a:schemeClr val="dk1"/>
                          </a:solidFill>
                          <a:latin typeface="Arial"/>
                          <a:ea typeface="Arial"/>
                          <a:cs typeface="Arial"/>
                          <a:sym typeface="Arial"/>
                        </a:rPr>
                        <a:t> (ikon med tabell-symbol). Du bör nu se dina tabeller listade (t.ex. NetworkTrafficLogs, ThreatDetections).</a:t>
                      </a:r>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F7"/>
                    </a:solidFill>
                  </a:tcPr>
                </a:tc>
                <a:extLst>
                  <a:ext uri="{0D108BD9-81ED-4DB2-BD59-A6C34878D82A}">
                    <a16:rowId xmlns:a16="http://schemas.microsoft.com/office/drawing/2014/main" val="10007"/>
                  </a:ext>
                </a:extLst>
              </a:tr>
              <a:tr h="549050">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8</a:t>
                      </a:r>
                      <a:endParaRPr sz="1100" b="0" u="none" strike="noStrike" cap="none">
                        <a:solidFill>
                          <a:schemeClr val="dk1"/>
                        </a:solidFill>
                        <a:latin typeface="Arial"/>
                        <a:ea typeface="Arial"/>
                        <a:cs typeface="Arial"/>
                        <a:sym typeface="Arial"/>
                      </a:endParaRPr>
                    </a:p>
                  </a:txBody>
                  <a:tcPr marL="52600"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1" u="none" strike="noStrike" cap="none">
                          <a:solidFill>
                            <a:schemeClr val="dk1"/>
                          </a:solidFill>
                          <a:latin typeface="Arial"/>
                          <a:ea typeface="Arial"/>
                          <a:cs typeface="Arial"/>
                          <a:sym typeface="Arial"/>
                        </a:rPr>
                        <a:t>Kontrollera relationerna</a:t>
                      </a:r>
                      <a:endParaRPr sz="1100" b="0" u="none" strike="noStrike" cap="none">
                        <a:solidFill>
                          <a:schemeClr val="dk1"/>
                        </a:solidFill>
                        <a:latin typeface="Arial"/>
                        <a:ea typeface="Arial"/>
                        <a:cs typeface="Arial"/>
                        <a:sym typeface="Arial"/>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sv-SE" sz="1100" b="0" u="none" strike="noStrike" cap="none">
                          <a:solidFill>
                            <a:schemeClr val="dk1"/>
                          </a:solidFill>
                          <a:latin typeface="Arial"/>
                          <a:ea typeface="Arial"/>
                          <a:cs typeface="Arial"/>
                          <a:sym typeface="Arial"/>
                        </a:rPr>
                        <a:t>Klicka på fliken </a:t>
                      </a:r>
                      <a:r>
                        <a:rPr lang="sv-SE" sz="1100" b="1" u="none" strike="noStrike" cap="none">
                          <a:solidFill>
                            <a:schemeClr val="dk1"/>
                          </a:solidFill>
                          <a:latin typeface="Arial"/>
                          <a:ea typeface="Arial"/>
                          <a:cs typeface="Arial"/>
                          <a:sym typeface="Arial"/>
                        </a:rPr>
                        <a:t>"Modell"</a:t>
                      </a:r>
                      <a:r>
                        <a:rPr lang="sv-SE" sz="1100" b="0" u="none" strike="noStrike" cap="none">
                          <a:solidFill>
                            <a:schemeClr val="dk1"/>
                          </a:solidFill>
                          <a:latin typeface="Arial"/>
                          <a:ea typeface="Arial"/>
                          <a:cs typeface="Arial"/>
                          <a:sym typeface="Arial"/>
                        </a:rPr>
                        <a:t> (Model) i vänsterkanten (ikonen med två ihopkopplade rutor). Du bör se en linje mellan NetworkTrafficLogs och ThreatDetections som kopplar LogID till LogID. Om inte, dra LogID från den ena tabellen till den andra för att skapa relationen .</a:t>
                      </a:r>
                      <a:endParaRPr/>
                    </a:p>
                  </a:txBody>
                  <a:tcPr marL="87675" marR="0" marT="0" marB="52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6"/>
        <p:cNvGrpSpPr/>
        <p:nvPr/>
      </p:nvGrpSpPr>
      <p:grpSpPr>
        <a:xfrm>
          <a:off x="0" y="0"/>
          <a:ext cx="0" cy="0"/>
          <a:chOff x="0" y="0"/>
          <a:chExt cx="0" cy="0"/>
        </a:xfrm>
      </p:grpSpPr>
      <p:sp>
        <p:nvSpPr>
          <p:cNvPr id="737" name="Google Shape;737;p6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38" name="Google Shape;738;p62"/>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39" name="Google Shape;739;p62"/>
          <p:cNvSpPr/>
          <p:nvPr/>
        </p:nvSpPr>
        <p:spPr>
          <a:xfrm rot="-5400000">
            <a:off x="-158495" y="2660473"/>
            <a:ext cx="4355594" cy="4038603"/>
          </a:xfrm>
          <a:prstGeom prst="rect">
            <a:avLst/>
          </a:prstGeom>
          <a:gradFill>
            <a:gsLst>
              <a:gs pos="0">
                <a:srgbClr val="156082">
                  <a:alpha val="50196"/>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40" name="Google Shape;740;p62"/>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41" name="Google Shape;741;p62"/>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42" name="Google Shape;742;p62"/>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Vanliga frågor</a:t>
            </a:r>
            <a:endParaRPr/>
          </a:p>
        </p:txBody>
      </p:sp>
      <p:graphicFrame>
        <p:nvGraphicFramePr>
          <p:cNvPr id="743" name="Google Shape;743;p62"/>
          <p:cNvGraphicFramePr/>
          <p:nvPr/>
        </p:nvGraphicFramePr>
        <p:xfrm>
          <a:off x="4111924" y="57509"/>
          <a:ext cx="3000000" cy="3000000"/>
        </p:xfrm>
        <a:graphic>
          <a:graphicData uri="http://schemas.openxmlformats.org/drawingml/2006/table">
            <a:tbl>
              <a:tblPr firstRow="1" bandRow="1">
                <a:noFill/>
                <a:tableStyleId>{7C427A64-D489-4A59-8F93-1E52C87C3D23}</a:tableStyleId>
              </a:tblPr>
              <a:tblGrid>
                <a:gridCol w="2595975">
                  <a:extLst>
                    <a:ext uri="{9D8B030D-6E8A-4147-A177-3AD203B41FA5}">
                      <a16:colId xmlns:a16="http://schemas.microsoft.com/office/drawing/2014/main" val="20000"/>
                    </a:ext>
                  </a:extLst>
                </a:gridCol>
                <a:gridCol w="5479250">
                  <a:extLst>
                    <a:ext uri="{9D8B030D-6E8A-4147-A177-3AD203B41FA5}">
                      <a16:colId xmlns:a16="http://schemas.microsoft.com/office/drawing/2014/main" val="20001"/>
                    </a:ext>
                  </a:extLst>
                </a:gridCol>
              </a:tblGrid>
              <a:tr h="431275">
                <a:tc>
                  <a:txBody>
                    <a:bodyPr/>
                    <a:lstStyle/>
                    <a:p>
                      <a:pPr marL="0" marR="0" lvl="0" indent="0" algn="l" rtl="0">
                        <a:lnSpc>
                          <a:spcPct val="58593"/>
                        </a:lnSpc>
                        <a:spcBef>
                          <a:spcPts val="0"/>
                        </a:spcBef>
                        <a:spcAft>
                          <a:spcPts val="0"/>
                        </a:spcAft>
                        <a:buClr>
                          <a:schemeClr val="dk1"/>
                        </a:buClr>
                        <a:buSzPts val="3200"/>
                        <a:buFont typeface="Arial"/>
                        <a:buNone/>
                      </a:pPr>
                      <a:r>
                        <a:rPr lang="sv-SE" sz="3200" b="1" u="none" strike="noStrike" cap="none"/>
                        <a:t>Fråga</a:t>
                      </a:r>
                      <a:endParaRPr sz="3200" b="0" u="none" strike="noStrike" cap="none">
                        <a:latin typeface="Arial"/>
                        <a:ea typeface="Arial"/>
                        <a:cs typeface="Arial"/>
                        <a:sym typeface="Arial"/>
                      </a:endParaRPr>
                    </a:p>
                  </a:txBody>
                  <a:tcPr marL="68300" marR="113825" marT="71150" marB="71150" anchor="ctr"/>
                </a:tc>
                <a:tc>
                  <a:txBody>
                    <a:bodyPr/>
                    <a:lstStyle/>
                    <a:p>
                      <a:pPr marL="0" marR="0" lvl="0" indent="0" algn="l" rtl="0">
                        <a:lnSpc>
                          <a:spcPct val="58593"/>
                        </a:lnSpc>
                        <a:spcBef>
                          <a:spcPts val="0"/>
                        </a:spcBef>
                        <a:spcAft>
                          <a:spcPts val="0"/>
                        </a:spcAft>
                        <a:buClr>
                          <a:schemeClr val="dk1"/>
                        </a:buClr>
                        <a:buSzPts val="3200"/>
                        <a:buFont typeface="Arial"/>
                        <a:buNone/>
                      </a:pPr>
                      <a:r>
                        <a:rPr lang="sv-SE" sz="3200" b="1" u="none" strike="noStrike" cap="none"/>
                        <a:t>Svar</a:t>
                      </a:r>
                      <a:endParaRPr sz="3200" b="0" u="none" strike="noStrike" cap="none">
                        <a:latin typeface="Arial"/>
                        <a:ea typeface="Arial"/>
                        <a:cs typeface="Arial"/>
                        <a:sym typeface="Arial"/>
                      </a:endParaRPr>
                    </a:p>
                  </a:txBody>
                  <a:tcPr marL="113825" marR="113825" marT="71150" marB="71150" anchor="ctr"/>
                </a:tc>
                <a:extLst>
                  <a:ext uri="{0D108BD9-81ED-4DB2-BD59-A6C34878D82A}">
                    <a16:rowId xmlns:a16="http://schemas.microsoft.com/office/drawing/2014/main" val="10000"/>
                  </a:ext>
                </a:extLst>
              </a:tr>
              <a:tr h="10261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Vad är skillnaden på Import och DirectQuery?</a:t>
                      </a:r>
                      <a:endParaRPr sz="1800" b="0" u="none" strike="noStrike" cap="none">
                        <a:latin typeface="Arial"/>
                        <a:ea typeface="Arial"/>
                        <a:cs typeface="Arial"/>
                        <a:sym typeface="Arial"/>
                      </a:endParaRPr>
                    </a:p>
                  </a:txBody>
                  <a:tcPr marL="68300" marR="113825" marT="71150" marB="71150" anchor="ctr"/>
                </a:tc>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Import</a:t>
                      </a:r>
                      <a:r>
                        <a:rPr lang="sv-SE" sz="1800" b="0" u="none" strike="noStrike" cap="none"/>
                        <a:t> tar en kopia av datan (snabbare rapporter). </a:t>
                      </a:r>
                      <a:r>
                        <a:rPr lang="sv-SE" sz="1800" b="1" u="none" strike="noStrike" cap="none"/>
                        <a:t>DirectQuery</a:t>
                      </a:r>
                      <a:r>
                        <a:rPr lang="sv-SE" sz="1800" b="0" u="none" strike="noStrike" cap="none"/>
                        <a:t> frågar databasen i realtid (alltid aktuell data). För vårt projekt räcker Import .</a:t>
                      </a:r>
                      <a:endParaRPr sz="1800" b="0" u="none" strike="noStrike" cap="none">
                        <a:latin typeface="Arial"/>
                        <a:ea typeface="Arial"/>
                        <a:cs typeface="Arial"/>
                        <a:sym typeface="Arial"/>
                      </a:endParaRPr>
                    </a:p>
                  </a:txBody>
                  <a:tcPr marL="113825" marR="68300" marT="71150" marB="71150" anchor="ctr"/>
                </a:tc>
                <a:extLst>
                  <a:ext uri="{0D108BD9-81ED-4DB2-BD59-A6C34878D82A}">
                    <a16:rowId xmlns:a16="http://schemas.microsoft.com/office/drawing/2014/main" val="10001"/>
                  </a:ext>
                </a:extLst>
              </a:tr>
              <a:tr h="7138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Måste jag ange databasnamn?</a:t>
                      </a:r>
                      <a:endParaRPr sz="1800" b="0" u="none" strike="noStrike" cap="none">
                        <a:latin typeface="Arial"/>
                        <a:ea typeface="Arial"/>
                        <a:cs typeface="Arial"/>
                        <a:sym typeface="Arial"/>
                      </a:endParaRPr>
                    </a:p>
                  </a:txBody>
                  <a:tcPr marL="68300" marR="113825" marT="71150" marB="71150" anchor="ct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t>Nej, det är valfritt, men det gör det enklare att välja rätt tabeller senare.</a:t>
                      </a:r>
                      <a:endParaRPr sz="1800" b="0" u="none" strike="noStrike" cap="none">
                        <a:latin typeface="Arial"/>
                        <a:ea typeface="Arial"/>
                        <a:cs typeface="Arial"/>
                        <a:sym typeface="Arial"/>
                      </a:endParaRPr>
                    </a:p>
                  </a:txBody>
                  <a:tcPr marL="113825" marR="68300" marT="71150" marB="71150" anchor="ctr"/>
                </a:tc>
                <a:extLst>
                  <a:ext uri="{0D108BD9-81ED-4DB2-BD59-A6C34878D82A}">
                    <a16:rowId xmlns:a16="http://schemas.microsoft.com/office/drawing/2014/main" val="10002"/>
                  </a:ext>
                </a:extLst>
              </a:tr>
              <a:tr h="7138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Vad är Windows-autentisering?</a:t>
                      </a:r>
                      <a:endParaRPr sz="1800" b="0" u="none" strike="noStrike" cap="none">
                        <a:latin typeface="Arial"/>
                        <a:ea typeface="Arial"/>
                        <a:cs typeface="Arial"/>
                        <a:sym typeface="Arial"/>
                      </a:endParaRPr>
                    </a:p>
                  </a:txBody>
                  <a:tcPr marL="68300" marR="113825" marT="71150" marB="71150" anchor="ct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t>Du loggar in med ditt Windows-konto – samma som i SSMS. Enklast för lokal utveckling .</a:t>
                      </a:r>
                      <a:endParaRPr sz="1800" b="0" u="none" strike="noStrike" cap="none">
                        <a:latin typeface="Arial"/>
                        <a:ea typeface="Arial"/>
                        <a:cs typeface="Arial"/>
                        <a:sym typeface="Arial"/>
                      </a:endParaRPr>
                    </a:p>
                  </a:txBody>
                  <a:tcPr marL="113825" marR="68300" marT="71150" marB="71150" anchor="ctr"/>
                </a:tc>
                <a:extLst>
                  <a:ext uri="{0D108BD9-81ED-4DB2-BD59-A6C34878D82A}">
                    <a16:rowId xmlns:a16="http://schemas.microsoft.com/office/drawing/2014/main" val="10003"/>
                  </a:ext>
                </a:extLst>
              </a:tr>
              <a:tr h="9815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Varför ser jag inga tabeller i Navigator?</a:t>
                      </a:r>
                      <a:endParaRPr sz="1800" b="0" u="none" strike="noStrike" cap="none">
                        <a:latin typeface="Arial"/>
                        <a:ea typeface="Arial"/>
                        <a:cs typeface="Arial"/>
                        <a:sym typeface="Arial"/>
                      </a:endParaRPr>
                    </a:p>
                  </a:txBody>
                  <a:tcPr marL="68300" marR="113825" marT="71150" marB="71150" anchor="ct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t>Dubbelkolla att du angett rätt servernamn och att SQL Server är igång. Testa först i SSMS att du kan ansluta.</a:t>
                      </a:r>
                      <a:endParaRPr sz="1800" b="0" u="none" strike="noStrike" cap="none">
                        <a:latin typeface="Arial"/>
                        <a:ea typeface="Arial"/>
                        <a:cs typeface="Arial"/>
                        <a:sym typeface="Arial"/>
                      </a:endParaRPr>
                    </a:p>
                  </a:txBody>
                  <a:tcPr marL="113825" marR="68300" marT="71150" marB="71150" anchor="ctr"/>
                </a:tc>
                <a:extLst>
                  <a:ext uri="{0D108BD9-81ED-4DB2-BD59-A6C34878D82A}">
                    <a16:rowId xmlns:a16="http://schemas.microsoft.com/office/drawing/2014/main" val="10004"/>
                  </a:ext>
                </a:extLst>
              </a:tr>
              <a:tr h="13681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Vad är en relation i Power BI?</a:t>
                      </a:r>
                      <a:endParaRPr sz="1800" b="0" u="none" strike="noStrike" cap="none">
                        <a:latin typeface="Arial"/>
                        <a:ea typeface="Arial"/>
                        <a:cs typeface="Arial"/>
                        <a:sym typeface="Arial"/>
                      </a:endParaRPr>
                    </a:p>
                  </a:txBody>
                  <a:tcPr marL="68300" marR="113825" marT="71150" marB="71150" anchor="ctr"/>
                </a:tc>
                <a:tc>
                  <a:txBody>
                    <a:bodyPr/>
                    <a:lstStyle/>
                    <a:p>
                      <a:pPr marL="0" marR="0" lvl="0" indent="0" algn="l" rtl="0">
                        <a:lnSpc>
                          <a:spcPct val="91666"/>
                        </a:lnSpc>
                        <a:spcBef>
                          <a:spcPts val="0"/>
                        </a:spcBef>
                        <a:spcAft>
                          <a:spcPts val="0"/>
                        </a:spcAft>
                        <a:buClr>
                          <a:schemeClr val="dk1"/>
                        </a:buClr>
                        <a:buSzPts val="1800"/>
                        <a:buFont typeface="Arial"/>
                        <a:buNone/>
                      </a:pPr>
                      <a:r>
                        <a:rPr lang="sv-SE" sz="1800" b="0" u="none" strike="noStrike" cap="none"/>
                        <a:t>En relation kopplar ihop två tabeller, precis som FOREIGN KEY i SQL. Här kopplar vi LogID från NetworkTrafficLogs till LogID i ThreatDetections så att vi kan använda data från båda tabellerna samtidigt .</a:t>
                      </a:r>
                      <a:endParaRPr sz="1800" b="0" u="none" strike="noStrike" cap="none">
                        <a:latin typeface="Arial"/>
                        <a:ea typeface="Arial"/>
                        <a:cs typeface="Arial"/>
                        <a:sym typeface="Arial"/>
                      </a:endParaRPr>
                    </a:p>
                  </a:txBody>
                  <a:tcPr marL="113825" marR="68300" marT="71150" marB="71150" anchor="ctr"/>
                </a:tc>
                <a:extLst>
                  <a:ext uri="{0D108BD9-81ED-4DB2-BD59-A6C34878D82A}">
                    <a16:rowId xmlns:a16="http://schemas.microsoft.com/office/drawing/2014/main" val="10005"/>
                  </a:ext>
                </a:extLst>
              </a:tr>
              <a:tr h="8179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Måste jag skapa relationen manuellt?</a:t>
                      </a:r>
                      <a:endParaRPr sz="1800" b="0" u="none" strike="noStrike" cap="none">
                        <a:latin typeface="Arial"/>
                        <a:ea typeface="Arial"/>
                        <a:cs typeface="Arial"/>
                        <a:sym typeface="Arial"/>
                      </a:endParaRPr>
                    </a:p>
                  </a:txBody>
                  <a:tcPr marL="68300" marR="113825" marT="71150" marB="71150" anchor="ct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t>Ofta gör Power BI det automatiskt om kolumnerna heter samma sak. Men det är bra att kontrollera.</a:t>
                      </a:r>
                      <a:endParaRPr sz="1800" b="0" u="none" strike="noStrike" cap="none">
                        <a:latin typeface="Arial"/>
                        <a:ea typeface="Arial"/>
                        <a:cs typeface="Arial"/>
                        <a:sym typeface="Arial"/>
                      </a:endParaRPr>
                    </a:p>
                  </a:txBody>
                  <a:tcPr marL="113825" marR="68300" marT="71150" marB="71150" anchor="ctr"/>
                </a:tc>
                <a:extLst>
                  <a:ext uri="{0D108BD9-81ED-4DB2-BD59-A6C34878D82A}">
                    <a16:rowId xmlns:a16="http://schemas.microsoft.com/office/drawing/2014/main" val="10006"/>
                  </a:ext>
                </a:extLst>
              </a:tr>
              <a:tr h="71382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Kan jag ladda in fler tabeller senare?</a:t>
                      </a:r>
                      <a:endParaRPr sz="1800" b="0" u="none" strike="noStrike" cap="none">
                        <a:latin typeface="Arial"/>
                        <a:ea typeface="Arial"/>
                        <a:cs typeface="Arial"/>
                        <a:sym typeface="Arial"/>
                      </a:endParaRPr>
                    </a:p>
                  </a:txBody>
                  <a:tcPr marL="68300" marR="113825" marT="71150" marB="71150" anchor="ct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t>Ja! Klicka på </a:t>
                      </a:r>
                      <a:r>
                        <a:rPr lang="sv-SE" sz="1800" b="1" u="none" strike="noStrike" cap="none"/>
                        <a:t>"Hämta data"</a:t>
                      </a:r>
                      <a:r>
                        <a:rPr lang="sv-SE" sz="1800" b="0" u="none" strike="noStrike" cap="none"/>
                        <a:t> → </a:t>
                      </a:r>
                      <a:r>
                        <a:rPr lang="sv-SE" sz="1800" b="1" u="none" strike="noStrike" cap="none"/>
                        <a:t>"SQL Server"</a:t>
                      </a:r>
                      <a:r>
                        <a:rPr lang="sv-SE" sz="1800" b="0" u="none" strike="noStrike" cap="none"/>
                        <a:t> igen och välj fler tabeller.</a:t>
                      </a:r>
                      <a:endParaRPr sz="1800" b="0" u="none" strike="noStrike" cap="none">
                        <a:latin typeface="Arial"/>
                        <a:ea typeface="Arial"/>
                        <a:cs typeface="Arial"/>
                        <a:sym typeface="Arial"/>
                      </a:endParaRPr>
                    </a:p>
                  </a:txBody>
                  <a:tcPr marL="113825" marR="68300" marT="71150" marB="7115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7"/>
        <p:cNvGrpSpPr/>
        <p:nvPr/>
      </p:nvGrpSpPr>
      <p:grpSpPr>
        <a:xfrm>
          <a:off x="0" y="0"/>
          <a:ext cx="0" cy="0"/>
          <a:chOff x="0" y="0"/>
          <a:chExt cx="0" cy="0"/>
        </a:xfrm>
      </p:grpSpPr>
      <p:sp>
        <p:nvSpPr>
          <p:cNvPr id="748" name="Google Shape;748;p6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49" name="Google Shape;749;p63"/>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50" name="Google Shape;750;p63"/>
          <p:cNvSpPr/>
          <p:nvPr/>
        </p:nvSpPr>
        <p:spPr>
          <a:xfrm rot="-5400000">
            <a:off x="-158495" y="2660473"/>
            <a:ext cx="4355594" cy="4038603"/>
          </a:xfrm>
          <a:prstGeom prst="rect">
            <a:avLst/>
          </a:prstGeom>
          <a:gradFill>
            <a:gsLst>
              <a:gs pos="0">
                <a:srgbClr val="156082">
                  <a:alpha val="50196"/>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51" name="Google Shape;751;p63"/>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52" name="Google Shape;752;p63"/>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53" name="Google Shape;753;p63"/>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Felsökning </a:t>
            </a:r>
            <a:endParaRPr/>
          </a:p>
        </p:txBody>
      </p:sp>
      <p:graphicFrame>
        <p:nvGraphicFramePr>
          <p:cNvPr id="754" name="Google Shape;754;p63"/>
          <p:cNvGraphicFramePr/>
          <p:nvPr/>
        </p:nvGraphicFramePr>
        <p:xfrm>
          <a:off x="4097547" y="71886"/>
          <a:ext cx="3000000" cy="3000000"/>
        </p:xfrm>
        <a:graphic>
          <a:graphicData uri="http://schemas.openxmlformats.org/drawingml/2006/table">
            <a:tbl>
              <a:tblPr firstRow="1" bandRow="1">
                <a:solidFill>
                  <a:schemeClr val="lt1"/>
                </a:solidFill>
                <a:tableStyleId>{822C3B93-EF79-491A-80E4-DA79D8C4CF44}</a:tableStyleId>
              </a:tblPr>
              <a:tblGrid>
                <a:gridCol w="2699700">
                  <a:extLst>
                    <a:ext uri="{9D8B030D-6E8A-4147-A177-3AD203B41FA5}">
                      <a16:colId xmlns:a16="http://schemas.microsoft.com/office/drawing/2014/main" val="20000"/>
                    </a:ext>
                  </a:extLst>
                </a:gridCol>
                <a:gridCol w="2564100">
                  <a:extLst>
                    <a:ext uri="{9D8B030D-6E8A-4147-A177-3AD203B41FA5}">
                      <a16:colId xmlns:a16="http://schemas.microsoft.com/office/drawing/2014/main" val="20001"/>
                    </a:ext>
                  </a:extLst>
                </a:gridCol>
                <a:gridCol w="2748950">
                  <a:extLst>
                    <a:ext uri="{9D8B030D-6E8A-4147-A177-3AD203B41FA5}">
                      <a16:colId xmlns:a16="http://schemas.microsoft.com/office/drawing/2014/main" val="20002"/>
                    </a:ext>
                  </a:extLst>
                </a:gridCol>
              </a:tblGrid>
              <a:tr h="584675">
                <a:tc>
                  <a:txBody>
                    <a:bodyPr/>
                    <a:lstStyle/>
                    <a:p>
                      <a:pPr marL="0" marR="0" lvl="0" indent="0" algn="l" rtl="0">
                        <a:lnSpc>
                          <a:spcPct val="93750"/>
                        </a:lnSpc>
                        <a:spcBef>
                          <a:spcPts val="0"/>
                        </a:spcBef>
                        <a:spcAft>
                          <a:spcPts val="0"/>
                        </a:spcAft>
                        <a:buClr>
                          <a:schemeClr val="lt1"/>
                        </a:buClr>
                        <a:buSzPts val="2000"/>
                        <a:buFont typeface="Arial"/>
                        <a:buNone/>
                      </a:pPr>
                      <a:r>
                        <a:rPr lang="sv-SE" sz="2000" b="0" u="none" strike="noStrike" cap="none">
                          <a:solidFill>
                            <a:schemeClr val="lt1"/>
                          </a:solidFill>
                          <a:latin typeface="Arial"/>
                          <a:ea typeface="Arial"/>
                          <a:cs typeface="Arial"/>
                          <a:sym typeface="Arial"/>
                        </a:rPr>
                        <a:t>Problem</a:t>
                      </a:r>
                      <a:endParaRPr/>
                    </a:p>
                  </a:txBody>
                  <a:tcPr marL="120475" marR="154475" marT="92675" marB="9267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93750"/>
                        </a:lnSpc>
                        <a:spcBef>
                          <a:spcPts val="0"/>
                        </a:spcBef>
                        <a:spcAft>
                          <a:spcPts val="0"/>
                        </a:spcAft>
                        <a:buClr>
                          <a:schemeClr val="lt1"/>
                        </a:buClr>
                        <a:buSzPts val="2000"/>
                        <a:buFont typeface="Arial"/>
                        <a:buNone/>
                      </a:pPr>
                      <a:r>
                        <a:rPr lang="sv-SE" sz="2000" b="0" u="none" strike="noStrike" cap="none">
                          <a:solidFill>
                            <a:schemeClr val="lt1"/>
                          </a:solidFill>
                          <a:latin typeface="Arial"/>
                          <a:ea typeface="Arial"/>
                          <a:cs typeface="Arial"/>
                          <a:sym typeface="Arial"/>
                        </a:rPr>
                        <a:t>Felmeddelande</a:t>
                      </a:r>
                      <a:endParaRPr/>
                    </a:p>
                  </a:txBody>
                  <a:tcPr marL="120475" marR="154475" marT="92675" marB="9267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tc>
                  <a:txBody>
                    <a:bodyPr/>
                    <a:lstStyle/>
                    <a:p>
                      <a:pPr marL="0" marR="0" lvl="0" indent="0" algn="l" rtl="0">
                        <a:lnSpc>
                          <a:spcPct val="93750"/>
                        </a:lnSpc>
                        <a:spcBef>
                          <a:spcPts val="0"/>
                        </a:spcBef>
                        <a:spcAft>
                          <a:spcPts val="0"/>
                        </a:spcAft>
                        <a:buClr>
                          <a:schemeClr val="lt1"/>
                        </a:buClr>
                        <a:buSzPts val="2000"/>
                        <a:buFont typeface="Arial"/>
                        <a:buNone/>
                      </a:pPr>
                      <a:r>
                        <a:rPr lang="sv-SE" sz="2000" b="0" u="none" strike="noStrike" cap="none">
                          <a:solidFill>
                            <a:schemeClr val="lt1"/>
                          </a:solidFill>
                          <a:latin typeface="Arial"/>
                          <a:ea typeface="Arial"/>
                          <a:cs typeface="Arial"/>
                          <a:sym typeface="Arial"/>
                        </a:rPr>
                        <a:t>Lösning</a:t>
                      </a:r>
                      <a:endParaRPr/>
                    </a:p>
                  </a:txBody>
                  <a:tcPr marL="120475" marR="154475" marT="92675" marB="92675"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12132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Kan inte ansluta till servern</a:t>
                      </a:r>
                      <a:endParaRPr sz="2000" b="0" u="none" strike="noStrike" cap="none">
                        <a:solidFill>
                          <a:schemeClr val="dk1"/>
                        </a:solidFill>
                        <a:latin typeface="Arial"/>
                        <a:ea typeface="Arial"/>
                        <a:cs typeface="Arial"/>
                        <a:sym typeface="Arial"/>
                      </a:endParaRPr>
                    </a:p>
                  </a:txBody>
                  <a:tcPr marL="120475" marR="154475" marT="92675" marB="92675"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"Failed to connect to server"</a:t>
                      </a:r>
                      <a:endParaRPr/>
                    </a:p>
                  </a:txBody>
                  <a:tcPr marL="120475" marR="154475" marT="92675" marB="926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Kontrollera servernamnet. Är SQL Server igång? Fungerar det i SSMS?</a:t>
                      </a:r>
                      <a:endParaRPr/>
                    </a:p>
                  </a:txBody>
                  <a:tcPr marL="120475" marR="92675" marT="92675" marB="92675"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2132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"Cannot connect to database"</a:t>
                      </a:r>
                      <a:endParaRPr sz="2000" b="0" u="none" strike="noStrike" cap="none">
                        <a:solidFill>
                          <a:schemeClr val="dk1"/>
                        </a:solidFill>
                        <a:latin typeface="Arial"/>
                        <a:ea typeface="Arial"/>
                        <a:cs typeface="Arial"/>
                        <a:sym typeface="Arial"/>
                      </a:endParaRPr>
                    </a:p>
                  </a:txBody>
                  <a:tcPr marL="120475" marR="154475" marT="92675" marB="926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"Database 'NetworkSecurityML' does not exist"</a:t>
                      </a:r>
                      <a:endParaRPr/>
                    </a:p>
                  </a:txBody>
                  <a:tcPr marL="120475" marR="154475" marT="92675" marB="926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Databasen finns inte. Skapa den först (Steg 7).</a:t>
                      </a:r>
                      <a:endParaRPr/>
                    </a:p>
                  </a:txBody>
                  <a:tcPr marL="120475" marR="92675" marT="92675" marB="92675"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12132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Inga tabeller syns</a:t>
                      </a:r>
                      <a:endParaRPr sz="2000" b="0" u="none" strike="noStrike" cap="none">
                        <a:solidFill>
                          <a:schemeClr val="dk1"/>
                        </a:solidFill>
                        <a:latin typeface="Arial"/>
                        <a:ea typeface="Arial"/>
                        <a:cs typeface="Arial"/>
                        <a:sym typeface="Arial"/>
                      </a:endParaRPr>
                    </a:p>
                  </a:txBody>
                  <a:tcPr marL="120475" marR="154475" marT="92675" marB="92675"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a:t>
                      </a:r>
                      <a:endParaRPr/>
                    </a:p>
                  </a:txBody>
                  <a:tcPr marL="120475" marR="154475" marT="92675" marB="926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Du har kanske inte rätt databas vald. Dubbelkolla servernamnet.</a:t>
                      </a:r>
                      <a:endParaRPr/>
                    </a:p>
                  </a:txBody>
                  <a:tcPr marL="120475" marR="92675" marT="92675" marB="92675"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132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Inloggning misslyckas</a:t>
                      </a:r>
                      <a:endParaRPr sz="2000" b="0" u="none" strike="noStrike" cap="none">
                        <a:solidFill>
                          <a:schemeClr val="dk1"/>
                        </a:solidFill>
                        <a:latin typeface="Arial"/>
                        <a:ea typeface="Arial"/>
                        <a:cs typeface="Arial"/>
                        <a:sym typeface="Arial"/>
                      </a:endParaRPr>
                    </a:p>
                  </a:txBody>
                  <a:tcPr marL="120475" marR="154475" marT="92675" marB="926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"Login failed for user"</a:t>
                      </a:r>
                      <a:endParaRPr/>
                    </a:p>
                  </a:txBody>
                  <a:tcPr marL="120475" marR="154475" marT="92675" marB="926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Använd Windows-autentisering. Fungerar det i SSMS?</a:t>
                      </a:r>
                      <a:endParaRPr/>
                    </a:p>
                  </a:txBody>
                  <a:tcPr marL="120475" marR="92675" marT="92675" marB="92675" anchor="ctr">
                    <a:lnL w="9525" cap="flat" cmpd="sng">
                      <a:solidFill>
                        <a:srgbClr val="7F7F7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12132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Data laddas inte</a:t>
                      </a:r>
                      <a:endParaRPr sz="2000" b="0" u="none" strike="noStrike" cap="none">
                        <a:solidFill>
                          <a:schemeClr val="dk1"/>
                        </a:solidFill>
                        <a:latin typeface="Arial"/>
                        <a:ea typeface="Arial"/>
                        <a:cs typeface="Arial"/>
                        <a:sym typeface="Arial"/>
                      </a:endParaRPr>
                    </a:p>
                  </a:txBody>
                  <a:tcPr marL="120475" marR="154475" marT="92675" marB="92675" anchor="ctr">
                    <a:lnL w="19050"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a:t>
                      </a:r>
                      <a:endParaRPr/>
                    </a:p>
                  </a:txBody>
                  <a:tcPr marL="120475" marR="154475" marT="92675" marB="926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Prova att starta om Power BI. Kontrollera att SQL Server är igång.</a:t>
                      </a:r>
                      <a:endParaRPr/>
                    </a:p>
                  </a:txBody>
                  <a:tcPr marL="120475" marR="92675" marT="92675" marB="92675" anchor="ctr">
                    <a:lnL w="9525" cap="flat" cmpd="sng">
                      <a:solidFill>
                        <a:srgbClr val="7F7F7F"/>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8"/>
        <p:cNvGrpSpPr/>
        <p:nvPr/>
      </p:nvGrpSpPr>
      <p:grpSpPr>
        <a:xfrm>
          <a:off x="0" y="0"/>
          <a:ext cx="0" cy="0"/>
          <a:chOff x="0" y="0"/>
          <a:chExt cx="0" cy="0"/>
        </a:xfrm>
      </p:grpSpPr>
      <p:sp>
        <p:nvSpPr>
          <p:cNvPr id="759" name="Google Shape;759;p6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0" name="Google Shape;760;p64"/>
          <p:cNvSpPr/>
          <p:nvPr/>
        </p:nvSpPr>
        <p:spPr>
          <a:xfrm flipH="1">
            <a:off x="-1" y="-1"/>
            <a:ext cx="12191998" cy="1590742"/>
          </a:xfrm>
          <a:prstGeom prst="rect">
            <a:avLst/>
          </a:prstGeom>
          <a:gradFill>
            <a:gsLst>
              <a:gs pos="0">
                <a:srgbClr val="000000"/>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1" name="Google Shape;761;p64"/>
          <p:cNvSpPr/>
          <p:nvPr/>
        </p:nvSpPr>
        <p:spPr>
          <a:xfrm rot="10800000" flipH="1">
            <a:off x="-3" y="0"/>
            <a:ext cx="8115306" cy="1590742"/>
          </a:xfrm>
          <a:prstGeom prst="rect">
            <a:avLst/>
          </a:prstGeom>
          <a:gradFill>
            <a:gsLst>
              <a:gs pos="0">
                <a:srgbClr val="156082">
                  <a:alpha val="0"/>
                </a:srgbClr>
              </a:gs>
              <a:gs pos="20000">
                <a:srgbClr val="156082">
                  <a:alpha val="0"/>
                </a:srgbClr>
              </a:gs>
              <a:gs pos="100000">
                <a:srgbClr val="0A3041">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2" name="Google Shape;762;p64"/>
          <p:cNvSpPr/>
          <p:nvPr/>
        </p:nvSpPr>
        <p:spPr>
          <a:xfrm flipH="1">
            <a:off x="8115299" y="-1"/>
            <a:ext cx="4076698" cy="1590742"/>
          </a:xfrm>
          <a:prstGeom prst="rect">
            <a:avLst/>
          </a:prstGeom>
          <a:gradFill>
            <a:gsLst>
              <a:gs pos="0">
                <a:srgbClr val="156082">
                  <a:alpha val="65882"/>
                </a:srgbClr>
              </a:gs>
              <a:gs pos="100000">
                <a:srgbClr val="000000">
                  <a:alpha val="30196"/>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3" name="Google Shape;763;p64"/>
          <p:cNvSpPr/>
          <p:nvPr/>
        </p:nvSpPr>
        <p:spPr>
          <a:xfrm>
            <a:off x="459350" y="-1"/>
            <a:ext cx="11732646" cy="1597433"/>
          </a:xfrm>
          <a:prstGeom prst="rect">
            <a:avLst/>
          </a:prstGeom>
          <a:gradFill>
            <a:gsLst>
              <a:gs pos="0">
                <a:srgbClr val="000000">
                  <a:alpha val="0"/>
                </a:srgbClr>
              </a:gs>
              <a:gs pos="50000">
                <a:srgbClr val="000000">
                  <a:alpha val="0"/>
                </a:srgbClr>
              </a:gs>
              <a:gs pos="99000">
                <a:srgbClr val="0A3041">
                  <a:alpha val="52156"/>
                </a:srgbClr>
              </a:gs>
              <a:gs pos="100000">
                <a:srgbClr val="0A3041">
                  <a:alpha val="52156"/>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4" name="Google Shape;764;p64"/>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400"/>
              <a:buFont typeface="Play"/>
              <a:buNone/>
            </a:pPr>
            <a:r>
              <a:rPr lang="sv-SE" sz="3400">
                <a:solidFill>
                  <a:srgbClr val="FFFFFF"/>
                </a:solidFill>
              </a:rPr>
              <a:t>Steg 12: Skapa Power BI-rapport för att visualisera ML-resultaten</a:t>
            </a:r>
            <a:endParaRPr sz="3400">
              <a:solidFill>
                <a:srgbClr val="FFFFFF"/>
              </a:solidFill>
            </a:endParaRPr>
          </a:p>
        </p:txBody>
      </p:sp>
      <p:sp>
        <p:nvSpPr>
          <p:cNvPr id="765" name="Google Shape;765;p64"/>
          <p:cNvSpPr txBox="1">
            <a:spLocks noGrp="1"/>
          </p:cNvSpPr>
          <p:nvPr>
            <p:ph type="body" idx="1"/>
          </p:nvPr>
        </p:nvSpPr>
        <p:spPr>
          <a:xfrm>
            <a:off x="235788" y="1714348"/>
            <a:ext cx="11751238" cy="4962942"/>
          </a:xfrm>
          <a:prstGeom prst="rect">
            <a:avLst/>
          </a:prstGeom>
          <a:noFill/>
          <a:ln>
            <a:noFill/>
          </a:ln>
        </p:spPr>
        <p:txBody>
          <a:bodyPr spcFirstLastPara="1" wrap="square" lIns="91425" tIns="45700" rIns="91425" bIns="45700" anchor="ctr" anchorCtr="0">
            <a:noAutofit/>
          </a:bodyPr>
          <a:lstStyle/>
          <a:p>
            <a:pPr marL="228600" lvl="0" indent="-228600" algn="l" rtl="0">
              <a:lnSpc>
                <a:spcPct val="90000"/>
              </a:lnSpc>
              <a:spcBef>
                <a:spcPts val="0"/>
              </a:spcBef>
              <a:spcAft>
                <a:spcPts val="0"/>
              </a:spcAft>
              <a:buClr>
                <a:schemeClr val="dk1"/>
              </a:buClr>
              <a:buSzPts val="2000"/>
              <a:buChar char="•"/>
            </a:pPr>
            <a:r>
              <a:rPr lang="sv-SE" sz="2000" b="1">
                <a:highlight>
                  <a:srgbClr val="FFFFFF"/>
                </a:highlight>
              </a:rPr>
              <a:t>Vad är detta? </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Nu ska vi förvandla våra ML-resultat till en tydlig och interaktiv </a:t>
            </a:r>
            <a:r>
              <a:rPr lang="sv-SE" sz="2000" b="1">
                <a:highlight>
                  <a:srgbClr val="FFFFFF"/>
                </a:highlight>
              </a:rPr>
              <a:t>instrumentpanel</a:t>
            </a:r>
            <a:r>
              <a:rPr lang="sv-SE" sz="2000">
                <a:highlight>
                  <a:srgbClr val="FFFFFF"/>
                </a:highlight>
              </a:rPr>
              <a:t> (dashboard) som säkerhetsanalytiker kan använda dagligen. Här skapar vi diagram som visar:</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Hur många attacker som upptäckts</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Vilken typ av attacker det rör sig om</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Hur säker modellen är (konfidens)</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Vilka IP-adresser som är mest misstänkta</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Trender över tid</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Målet är att i en enda bild kunna se läget i nätverket och snabbt kunna agera på hot .</a:t>
            </a:r>
            <a:endParaRPr sz="2000"/>
          </a:p>
          <a:p>
            <a:pPr marL="228600" lvl="0" indent="-228600" algn="l" rtl="0">
              <a:lnSpc>
                <a:spcPct val="90000"/>
              </a:lnSpc>
              <a:spcBef>
                <a:spcPts val="1000"/>
              </a:spcBef>
              <a:spcAft>
                <a:spcPts val="0"/>
              </a:spcAft>
              <a:buClr>
                <a:schemeClr val="dk1"/>
              </a:buClr>
              <a:buSzPts val="2000"/>
              <a:buChar char="•"/>
            </a:pPr>
            <a:r>
              <a:rPr lang="sv-SE" sz="2000" b="1">
                <a:highlight>
                  <a:srgbClr val="FFFFFF"/>
                </a:highlight>
              </a:rPr>
              <a:t>Varför gör vi detta?</a:t>
            </a:r>
            <a:endParaRPr sz="2000"/>
          </a:p>
          <a:p>
            <a:pPr marL="228600" lvl="0" indent="-228600" algn="l" rtl="0">
              <a:lnSpc>
                <a:spcPct val="90000"/>
              </a:lnSpc>
              <a:spcBef>
                <a:spcPts val="1000"/>
              </a:spcBef>
              <a:spcAft>
                <a:spcPts val="0"/>
              </a:spcAft>
              <a:buClr>
                <a:schemeClr val="dk1"/>
              </a:buClr>
              <a:buSzPts val="2000"/>
              <a:buChar char="•"/>
            </a:pPr>
            <a:r>
              <a:rPr lang="sv-SE" sz="2000">
                <a:highlight>
                  <a:srgbClr val="FFFFFF"/>
                </a:highlight>
              </a:rPr>
              <a:t>För att göra ML-resultaten </a:t>
            </a:r>
            <a:r>
              <a:rPr lang="sv-SE" sz="2000" b="1">
                <a:highlight>
                  <a:srgbClr val="FFFFFF"/>
                </a:highlight>
              </a:rPr>
              <a:t>begripliga och användbara</a:t>
            </a:r>
            <a:r>
              <a:rPr lang="sv-SE" sz="2000">
                <a:highlight>
                  <a:srgbClr val="FFFFFF"/>
                </a:highlight>
              </a:rPr>
              <a:t> för en analytiker. Siffror i en databas är svåra att tolka – med diagram och grafer ser man direkt mönster och avvikelser .</a:t>
            </a:r>
            <a:endParaRPr sz="2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9"/>
        <p:cNvGrpSpPr/>
        <p:nvPr/>
      </p:nvGrpSpPr>
      <p:grpSpPr>
        <a:xfrm>
          <a:off x="0" y="0"/>
          <a:ext cx="0" cy="0"/>
          <a:chOff x="0" y="0"/>
          <a:chExt cx="0" cy="0"/>
        </a:xfrm>
      </p:grpSpPr>
      <p:sp>
        <p:nvSpPr>
          <p:cNvPr id="770" name="Google Shape;770;p6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1" name="Google Shape;771;p65"/>
          <p:cNvSpPr/>
          <p:nvPr/>
        </p:nvSpPr>
        <p:spPr>
          <a:xfrm rot="-2700000" flipH="1">
            <a:off x="-376156" y="-253670"/>
            <a:ext cx="1827638" cy="1376989"/>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2" name="Google Shape;772;p65"/>
          <p:cNvSpPr/>
          <p:nvPr/>
        </p:nvSpPr>
        <p:spPr>
          <a:xfrm rot="-2700000" flipH="1">
            <a:off x="891641" y="422146"/>
            <a:ext cx="645368" cy="645368"/>
          </a:xfrm>
          <a:prstGeom prst="rect">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3" name="Google Shape;773;p65"/>
          <p:cNvSpPr/>
          <p:nvPr/>
        </p:nvSpPr>
        <p:spPr>
          <a:xfrm rot="-2700000" flipH="1">
            <a:off x="10043482" y="655140"/>
            <a:ext cx="687472" cy="687472"/>
          </a:xfrm>
          <a:prstGeom prst="rect">
            <a:avLst/>
          </a:pr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4" name="Google Shape;774;p65"/>
          <p:cNvSpPr/>
          <p:nvPr/>
        </p:nvSpPr>
        <p:spPr>
          <a:xfrm rot="10800000" flipH="1">
            <a:off x="9356643" y="0"/>
            <a:ext cx="2835357" cy="1480837"/>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5" name="Google Shape;775;p65"/>
          <p:cNvSpPr/>
          <p:nvPr/>
        </p:nvSpPr>
        <p:spPr>
          <a:xfrm flipH="1">
            <a:off x="7976344" y="6115501"/>
            <a:ext cx="1494513" cy="742499"/>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6" name="Google Shape;776;p65"/>
          <p:cNvSpPr/>
          <p:nvPr/>
        </p:nvSpPr>
        <p:spPr>
          <a:xfrm flipH="1">
            <a:off x="7604080" y="6453143"/>
            <a:ext cx="814903" cy="404857"/>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777" name="Google Shape;777;p65"/>
          <p:cNvGraphicFramePr/>
          <p:nvPr/>
        </p:nvGraphicFramePr>
        <p:xfrm>
          <a:off x="-3514" y="1621"/>
          <a:ext cx="3000000" cy="3000000"/>
        </p:xfrm>
        <a:graphic>
          <a:graphicData uri="http://schemas.openxmlformats.org/drawingml/2006/table">
            <a:tbl>
              <a:tblPr firstRow="1" bandRow="1">
                <a:noFill/>
                <a:tableStyleId>{300B5AD4-025D-4A69-B917-D395503BAA86}</a:tableStyleId>
              </a:tblPr>
              <a:tblGrid>
                <a:gridCol w="433275">
                  <a:extLst>
                    <a:ext uri="{9D8B030D-6E8A-4147-A177-3AD203B41FA5}">
                      <a16:colId xmlns:a16="http://schemas.microsoft.com/office/drawing/2014/main" val="20000"/>
                    </a:ext>
                  </a:extLst>
                </a:gridCol>
                <a:gridCol w="3588575">
                  <a:extLst>
                    <a:ext uri="{9D8B030D-6E8A-4147-A177-3AD203B41FA5}">
                      <a16:colId xmlns:a16="http://schemas.microsoft.com/office/drawing/2014/main" val="20001"/>
                    </a:ext>
                  </a:extLst>
                </a:gridCol>
                <a:gridCol w="8207375">
                  <a:extLst>
                    <a:ext uri="{9D8B030D-6E8A-4147-A177-3AD203B41FA5}">
                      <a16:colId xmlns:a16="http://schemas.microsoft.com/office/drawing/2014/main" val="20002"/>
                    </a:ext>
                  </a:extLst>
                </a:gridCol>
              </a:tblGrid>
              <a:tr h="255425">
                <a:tc>
                  <a:txBody>
                    <a:bodyPr/>
                    <a:lstStyle/>
                    <a:p>
                      <a:pPr marL="0" marR="0" lvl="0" indent="0" algn="l" rtl="0">
                        <a:lnSpc>
                          <a:spcPct val="104166"/>
                        </a:lnSpc>
                        <a:spcBef>
                          <a:spcPts val="0"/>
                        </a:spcBef>
                        <a:spcAft>
                          <a:spcPts val="0"/>
                        </a:spcAft>
                        <a:buClr>
                          <a:schemeClr val="dk1"/>
                        </a:buClr>
                        <a:buSzPts val="1800"/>
                        <a:buFont typeface="Arial"/>
                        <a:buNone/>
                      </a:pPr>
                      <a:endParaRPr sz="1800" b="1" u="none" strike="noStrike" cap="none">
                        <a:latin typeface="Arial"/>
                        <a:ea typeface="Arial"/>
                        <a:cs typeface="Arial"/>
                        <a:sym typeface="Arial"/>
                      </a:endParaRPr>
                    </a:p>
                  </a:txBody>
                  <a:tcPr marL="72850" marR="0" marT="75875" marB="0" anchor="ctr"/>
                </a:tc>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Vad ska du göra?</a:t>
                      </a:r>
                      <a:endParaRPr sz="1800" b="0" u="none" strike="noStrike" cap="none">
                        <a:latin typeface="Arial"/>
                        <a:ea typeface="Arial"/>
                        <a:cs typeface="Arial"/>
                        <a:sym typeface="Arial"/>
                      </a:endParaRPr>
                    </a:p>
                  </a:txBody>
                  <a:tcPr marL="121425" marR="0" marT="75875" marB="0" anchor="ctr"/>
                </a:tc>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t>Instruktioner </a:t>
                      </a:r>
                      <a:endParaRPr sz="1800" b="0" u="none" strike="noStrike" cap="none">
                        <a:latin typeface="Arial"/>
                        <a:ea typeface="Arial"/>
                        <a:cs typeface="Arial"/>
                        <a:sym typeface="Arial"/>
                      </a:endParaRPr>
                    </a:p>
                  </a:txBody>
                  <a:tcPr marL="121425" marR="0" marT="75875" marB="0" anchor="ctr"/>
                </a:tc>
                <a:extLst>
                  <a:ext uri="{0D108BD9-81ED-4DB2-BD59-A6C34878D82A}">
                    <a16:rowId xmlns:a16="http://schemas.microsoft.com/office/drawing/2014/main" val="10000"/>
                  </a:ext>
                </a:extLst>
              </a:tr>
              <a:tr h="1055450">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1</a:t>
                      </a:r>
                      <a:endParaRPr sz="1400" b="0" u="none" strike="noStrike" cap="none">
                        <a:latin typeface="Arial"/>
                        <a:ea typeface="Arial"/>
                        <a:cs typeface="Arial"/>
                        <a:sym typeface="Arial"/>
                      </a:endParaRPr>
                    </a:p>
                  </a:txBody>
                  <a:tcPr marL="72850" marR="0" marT="75875" marB="0" anchor="ctr"/>
                </a:tc>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Skapa en titel på rapporten</a:t>
                      </a:r>
                      <a:endParaRPr sz="1400" b="0" u="none" strike="noStrike" cap="none">
                        <a:latin typeface="Arial"/>
                        <a:ea typeface="Arial"/>
                        <a:cs typeface="Arial"/>
                        <a:sym typeface="Arial"/>
                      </a:endParaRPr>
                    </a:p>
                  </a:txBody>
                  <a:tcPr marL="121425" marR="0" marT="75875" marB="0" anchor="ctr"/>
                </a:tc>
                <a:tc>
                  <a:txBody>
                    <a:bodyPr/>
                    <a:lstStyle/>
                    <a:p>
                      <a:pPr marL="0" marR="0" lvl="0" indent="0" algn="l" rtl="0">
                        <a:lnSpc>
                          <a:spcPct val="133928"/>
                        </a:lnSpc>
                        <a:spcBef>
                          <a:spcPts val="0"/>
                        </a:spcBef>
                        <a:spcAft>
                          <a:spcPts val="0"/>
                        </a:spcAft>
                        <a:buClr>
                          <a:schemeClr val="dk1"/>
                        </a:buClr>
                        <a:buSzPts val="1400"/>
                        <a:buFont typeface="Arial"/>
                        <a:buNone/>
                      </a:pPr>
                      <a:r>
                        <a:rPr lang="sv-SE" sz="1400" b="0" u="none" strike="noStrike" cap="none"/>
                        <a:t>Klicka på </a:t>
                      </a:r>
                      <a:r>
                        <a:rPr lang="sv-SE" sz="1400" b="1" u="none" strike="noStrike" cap="none"/>
                        <a:t>"Textruta"</a:t>
                      </a:r>
                      <a:r>
                        <a:rPr lang="sv-SE" sz="1400" b="0" u="none" strike="noStrike" cap="none"/>
                        <a:t> (Text box) i menyfliksområdet (Start-fliken). Rita en stor ruta högst upp på den tomma sidan. Skriv: </a:t>
                      </a:r>
                      <a:r>
                        <a:rPr lang="sv-SE" sz="1400" b="1" u="none" strike="noStrike" cap="none"/>
                        <a:t>"🔐 NÄTVERKSSÄKERHET - ML-BASERAD HOTDETEKTERING"</a:t>
                      </a:r>
                      <a:r>
                        <a:rPr lang="sv-SE" sz="1400" b="0" u="none" strike="noStrike" cap="none"/>
                        <a:t> . Markera texten och använd panelen </a:t>
                      </a:r>
                      <a:r>
                        <a:rPr lang="sv-SE" sz="1400" b="1" u="none" strike="noStrike" cap="none"/>
                        <a:t>"Format"</a:t>
                      </a:r>
                      <a:r>
                        <a:rPr lang="sv-SE" sz="1400" b="0" u="none" strike="noStrike" cap="none"/>
                        <a:t> (rullikonen) till höger för att:</a:t>
                      </a:r>
                      <a:br>
                        <a:rPr lang="sv-SE" sz="1400" b="0" u="none" strike="noStrike" cap="none"/>
                      </a:br>
                      <a:r>
                        <a:rPr lang="sv-SE" sz="1400" b="0" u="none" strike="noStrike" cap="none"/>
                        <a:t>• Teckenstorlek: </a:t>
                      </a:r>
                      <a:r>
                        <a:rPr lang="sv-SE" sz="1400" b="1" u="none" strike="noStrike" cap="none"/>
                        <a:t>24</a:t>
                      </a:r>
                      <a:r>
                        <a:rPr lang="sv-SE" sz="1400" b="0" u="none" strike="noStrike" cap="none"/>
                        <a:t> eller </a:t>
                      </a:r>
                      <a:r>
                        <a:rPr lang="sv-SE" sz="1400" b="1" u="none" strike="noStrike" cap="none"/>
                        <a:t>28</a:t>
                      </a:r>
                      <a:br>
                        <a:rPr lang="sv-SE" sz="1400" b="0" u="none" strike="noStrike" cap="none"/>
                      </a:br>
                      <a:r>
                        <a:rPr lang="sv-SE" sz="1400" b="0" u="none" strike="noStrike" cap="none"/>
                        <a:t>• Fetstil: Klicka på </a:t>
                      </a:r>
                      <a:r>
                        <a:rPr lang="sv-SE" sz="1400" b="1" u="none" strike="noStrike" cap="none"/>
                        <a:t>B</a:t>
                      </a:r>
                      <a:br>
                        <a:rPr lang="sv-SE" sz="1400" b="0" u="none" strike="noStrike" cap="none"/>
                      </a:br>
                      <a:r>
                        <a:rPr lang="sv-SE" sz="1400" b="0" u="none" strike="noStrike" cap="none"/>
                        <a:t>• Centrera: Klicka på centreringsikonen</a:t>
                      </a:r>
                      <a:endParaRPr sz="1400" b="0" u="none" strike="noStrike" cap="none">
                        <a:latin typeface="Arial"/>
                        <a:ea typeface="Arial"/>
                        <a:cs typeface="Arial"/>
                        <a:sym typeface="Arial"/>
                      </a:endParaRPr>
                    </a:p>
                  </a:txBody>
                  <a:tcPr marL="121425" marR="0" marT="75875" marB="0" anchor="ctr"/>
                </a:tc>
                <a:extLst>
                  <a:ext uri="{0D108BD9-81ED-4DB2-BD59-A6C34878D82A}">
                    <a16:rowId xmlns:a16="http://schemas.microsoft.com/office/drawing/2014/main" val="10001"/>
                  </a:ext>
                </a:extLst>
              </a:tr>
              <a:tr h="379000">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2</a:t>
                      </a:r>
                      <a:endParaRPr sz="1400" b="0" u="none" strike="noStrike" cap="none">
                        <a:latin typeface="Arial"/>
                        <a:ea typeface="Arial"/>
                        <a:cs typeface="Arial"/>
                        <a:sym typeface="Arial"/>
                      </a:endParaRPr>
                    </a:p>
                  </a:txBody>
                  <a:tcPr marL="72850" marR="0" marT="75875" marB="0" anchor="ctr"/>
                </a:tc>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Skapa KPI-kort – Totalt antal detekterade hot</a:t>
                      </a:r>
                      <a:endParaRPr sz="1400" b="0" u="none" strike="noStrike" cap="none">
                        <a:latin typeface="Arial"/>
                        <a:ea typeface="Arial"/>
                        <a:cs typeface="Arial"/>
                        <a:sym typeface="Arial"/>
                      </a:endParaRPr>
                    </a:p>
                  </a:txBody>
                  <a:tcPr marL="121425" marR="0" marT="75875" marB="0" anchor="ctr"/>
                </a:tc>
                <a:tc>
                  <a:txBody>
                    <a:bodyPr/>
                    <a:lstStyle/>
                    <a:p>
                      <a:pPr marL="0" marR="0" lvl="0" indent="0" algn="l" rtl="0">
                        <a:lnSpc>
                          <a:spcPct val="117857"/>
                        </a:lnSpc>
                        <a:spcBef>
                          <a:spcPts val="0"/>
                        </a:spcBef>
                        <a:spcAft>
                          <a:spcPts val="0"/>
                        </a:spcAft>
                        <a:buClr>
                          <a:schemeClr val="dk1"/>
                        </a:buClr>
                        <a:buSzPts val="1400"/>
                        <a:buFont typeface="Arial"/>
                        <a:buNone/>
                      </a:pPr>
                      <a:r>
                        <a:rPr lang="sv-SE" sz="1400" b="0" u="none" strike="noStrike" cap="none"/>
                        <a:t>Klicka på </a:t>
                      </a:r>
                      <a:r>
                        <a:rPr lang="sv-SE" sz="1400" b="1" u="none" strike="noStrike" cap="none"/>
                        <a:t>"Kort"</a:t>
                      </a:r>
                      <a:r>
                        <a:rPr lang="sv-SE" sz="1400" b="0" u="none" strike="noStrike" cap="none"/>
                        <a:t> (Card) i panelen "Visualiseringar" (den med 1 ikon). Dra fältet Prediction från ThreatDetections till rutan "Fält". Klicka på pilen bredvid Prediction och välj </a:t>
                      </a:r>
                      <a:r>
                        <a:rPr lang="sv-SE" sz="1400" b="1" u="none" strike="noStrike" cap="none"/>
                        <a:t>"Summa"</a:t>
                      </a:r>
                      <a:r>
                        <a:rPr lang="sv-SE" sz="1400" b="0" u="none" strike="noStrike" cap="none"/>
                        <a:t> (Sum). Detta visar totala antalet attacker .</a:t>
                      </a:r>
                      <a:endParaRPr sz="1400" b="0" u="none" strike="noStrike" cap="none">
                        <a:latin typeface="Arial"/>
                        <a:ea typeface="Arial"/>
                        <a:cs typeface="Arial"/>
                        <a:sym typeface="Arial"/>
                      </a:endParaRPr>
                    </a:p>
                  </a:txBody>
                  <a:tcPr marL="121425" marR="0" marT="75875" marB="0" anchor="ctr"/>
                </a:tc>
                <a:extLst>
                  <a:ext uri="{0D108BD9-81ED-4DB2-BD59-A6C34878D82A}">
                    <a16:rowId xmlns:a16="http://schemas.microsoft.com/office/drawing/2014/main" val="10002"/>
                  </a:ext>
                </a:extLst>
              </a:tr>
              <a:tr h="524175">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3</a:t>
                      </a:r>
                      <a:endParaRPr sz="1400" b="0" u="none" strike="noStrike" cap="none">
                        <a:latin typeface="Arial"/>
                        <a:ea typeface="Arial"/>
                        <a:cs typeface="Arial"/>
                        <a:sym typeface="Arial"/>
                      </a:endParaRPr>
                    </a:p>
                  </a:txBody>
                  <a:tcPr marL="72850" marR="0" marT="75875" marB="0" anchor="ctr"/>
                </a:tc>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Skapa KPI-kort – Genomsnittlig konfidens</a:t>
                      </a:r>
                      <a:endParaRPr sz="1400" b="0" u="none" strike="noStrike" cap="none">
                        <a:latin typeface="Arial"/>
                        <a:ea typeface="Arial"/>
                        <a:cs typeface="Arial"/>
                        <a:sym typeface="Arial"/>
                      </a:endParaRPr>
                    </a:p>
                  </a:txBody>
                  <a:tcPr marL="121425" marR="0" marT="75875" marB="0" anchor="ctr"/>
                </a:tc>
                <a:tc>
                  <a:txBody>
                    <a:bodyPr/>
                    <a:lstStyle/>
                    <a:p>
                      <a:pPr marL="0" marR="0" lvl="0" indent="0" algn="l" rtl="0">
                        <a:lnSpc>
                          <a:spcPct val="117857"/>
                        </a:lnSpc>
                        <a:spcBef>
                          <a:spcPts val="0"/>
                        </a:spcBef>
                        <a:spcAft>
                          <a:spcPts val="0"/>
                        </a:spcAft>
                        <a:buClr>
                          <a:schemeClr val="dk1"/>
                        </a:buClr>
                        <a:buSzPts val="1400"/>
                        <a:buFont typeface="Arial"/>
                        <a:buNone/>
                      </a:pPr>
                      <a:r>
                        <a:rPr lang="sv-SE" sz="1400" b="0" u="none" strike="noStrike" cap="none"/>
                        <a:t>Klicka på </a:t>
                      </a:r>
                      <a:r>
                        <a:rPr lang="sv-SE" sz="1400" b="1" u="none" strike="noStrike" cap="none"/>
                        <a:t>"Kort"</a:t>
                      </a:r>
                      <a:r>
                        <a:rPr lang="sv-SE" sz="1400" b="0" u="none" strike="noStrike" cap="none"/>
                        <a:t> igen (nytt kort). Dra fältet Confidence från ThreatDetections till "Fält". Ändra aggregering till </a:t>
                      </a:r>
                      <a:r>
                        <a:rPr lang="sv-SE" sz="1400" b="1" u="none" strike="noStrike" cap="none"/>
                        <a:t>"Genomsnitt"</a:t>
                      </a:r>
                      <a:r>
                        <a:rPr lang="sv-SE" sz="1400" b="0" u="none" strike="noStrike" cap="none"/>
                        <a:t> (Average). I formatpanelen (rullikonen), hitta "Visningsenheter" och välj </a:t>
                      </a:r>
                      <a:r>
                        <a:rPr lang="sv-SE" sz="1400" b="1" u="none" strike="noStrike" cap="none"/>
                        <a:t>"Ingen"</a:t>
                      </a:r>
                      <a:r>
                        <a:rPr lang="sv-SE" sz="1400" b="0" u="none" strike="noStrike" cap="none"/>
                        <a:t>. Ställ in </a:t>
                      </a:r>
                      <a:r>
                        <a:rPr lang="sv-SE" sz="1400" b="1" u="none" strike="noStrike" cap="none"/>
                        <a:t>Decimaler</a:t>
                      </a:r>
                      <a:r>
                        <a:rPr lang="sv-SE" sz="1400" b="0" u="none" strike="noStrike" cap="none"/>
                        <a:t> till 2. Detta visar hur säker modellen är i genomsnitt .</a:t>
                      </a:r>
                      <a:endParaRPr sz="1400" b="0" u="none" strike="noStrike" cap="none">
                        <a:latin typeface="Arial"/>
                        <a:ea typeface="Arial"/>
                        <a:cs typeface="Arial"/>
                        <a:sym typeface="Arial"/>
                      </a:endParaRPr>
                    </a:p>
                  </a:txBody>
                  <a:tcPr marL="121425" marR="0" marT="75875" marB="0" anchor="ctr"/>
                </a:tc>
                <a:extLst>
                  <a:ext uri="{0D108BD9-81ED-4DB2-BD59-A6C34878D82A}">
                    <a16:rowId xmlns:a16="http://schemas.microsoft.com/office/drawing/2014/main" val="10003"/>
                  </a:ext>
                </a:extLst>
              </a:tr>
              <a:tr h="379000">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4</a:t>
                      </a:r>
                      <a:endParaRPr sz="1400" b="0" u="none" strike="noStrike" cap="none">
                        <a:latin typeface="Arial"/>
                        <a:ea typeface="Arial"/>
                        <a:cs typeface="Arial"/>
                        <a:sym typeface="Arial"/>
                      </a:endParaRPr>
                    </a:p>
                  </a:txBody>
                  <a:tcPr marL="72850" marR="0" marT="75875" marB="0" anchor="ctr"/>
                </a:tc>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Skapa KPI-kort – Totalt antal analyserade loggar</a:t>
                      </a:r>
                      <a:endParaRPr sz="1400" b="0" u="none" strike="noStrike" cap="none">
                        <a:latin typeface="Arial"/>
                        <a:ea typeface="Arial"/>
                        <a:cs typeface="Arial"/>
                        <a:sym typeface="Arial"/>
                      </a:endParaRPr>
                    </a:p>
                  </a:txBody>
                  <a:tcPr marL="121425" marR="0" marT="75875" marB="0" anchor="ctr"/>
                </a:tc>
                <a:tc>
                  <a:txBody>
                    <a:bodyPr/>
                    <a:lstStyle/>
                    <a:p>
                      <a:pPr marL="0" marR="0" lvl="0" indent="0" algn="l" rtl="0">
                        <a:lnSpc>
                          <a:spcPct val="117857"/>
                        </a:lnSpc>
                        <a:spcBef>
                          <a:spcPts val="0"/>
                        </a:spcBef>
                        <a:spcAft>
                          <a:spcPts val="0"/>
                        </a:spcAft>
                        <a:buClr>
                          <a:schemeClr val="dk1"/>
                        </a:buClr>
                        <a:buSzPts val="1400"/>
                        <a:buFont typeface="Arial"/>
                        <a:buNone/>
                      </a:pPr>
                      <a:r>
                        <a:rPr lang="sv-SE" sz="1400" b="0" u="none" strike="noStrike" cap="none"/>
                        <a:t>Klicka på </a:t>
                      </a:r>
                      <a:r>
                        <a:rPr lang="sv-SE" sz="1400" b="1" u="none" strike="noStrike" cap="none"/>
                        <a:t>"Kort"</a:t>
                      </a:r>
                      <a:r>
                        <a:rPr lang="sv-SE" sz="1400" b="0" u="none" strike="noStrike" cap="none"/>
                        <a:t> igen. Dra fältet LogID från NetworkTrafficLogs till "Fält". Låt aggregeringen vara </a:t>
                      </a:r>
                      <a:r>
                        <a:rPr lang="sv-SE" sz="1400" b="1" u="none" strike="noStrike" cap="none"/>
                        <a:t>"Antal"</a:t>
                      </a:r>
                      <a:r>
                        <a:rPr lang="sv-SE" sz="1400" b="0" u="none" strike="noStrike" cap="none"/>
                        <a:t> (Count). Detta visar hur många loggrader som analyserats totalt .</a:t>
                      </a:r>
                      <a:endParaRPr sz="1400" b="0" u="none" strike="noStrike" cap="none">
                        <a:latin typeface="Arial"/>
                        <a:ea typeface="Arial"/>
                        <a:cs typeface="Arial"/>
                        <a:sym typeface="Arial"/>
                      </a:endParaRPr>
                    </a:p>
                  </a:txBody>
                  <a:tcPr marL="121425" marR="0" marT="75875" marB="0" anchor="ctr"/>
                </a:tc>
                <a:extLst>
                  <a:ext uri="{0D108BD9-81ED-4DB2-BD59-A6C34878D82A}">
                    <a16:rowId xmlns:a16="http://schemas.microsoft.com/office/drawing/2014/main" val="10004"/>
                  </a:ext>
                </a:extLst>
              </a:tr>
              <a:tr h="406425">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5</a:t>
                      </a:r>
                      <a:endParaRPr sz="1400" b="0" u="none" strike="noStrike" cap="none">
                        <a:latin typeface="Arial"/>
                        <a:ea typeface="Arial"/>
                        <a:cs typeface="Arial"/>
                        <a:sym typeface="Arial"/>
                      </a:endParaRPr>
                    </a:p>
                  </a:txBody>
                  <a:tcPr marL="72850" marR="0" marT="75875" marB="0" anchor="ctr"/>
                </a:tc>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Ordna korten snyggt</a:t>
                      </a:r>
                      <a:endParaRPr sz="1400" b="0" u="none" strike="noStrike" cap="none">
                        <a:latin typeface="Arial"/>
                        <a:ea typeface="Arial"/>
                        <a:cs typeface="Arial"/>
                        <a:sym typeface="Arial"/>
                      </a:endParaRPr>
                    </a:p>
                  </a:txBody>
                  <a:tcPr marL="121425" marR="0" marT="75875" marB="0" anchor="ctr"/>
                </a:tc>
                <a:tc>
                  <a:txBody>
                    <a:bodyPr/>
                    <a:lstStyle/>
                    <a:p>
                      <a:pPr marL="0" marR="0" lvl="0" indent="0" algn="l" rtl="0">
                        <a:lnSpc>
                          <a:spcPct val="133928"/>
                        </a:lnSpc>
                        <a:spcBef>
                          <a:spcPts val="0"/>
                        </a:spcBef>
                        <a:spcAft>
                          <a:spcPts val="0"/>
                        </a:spcAft>
                        <a:buClr>
                          <a:schemeClr val="dk1"/>
                        </a:buClr>
                        <a:buSzPts val="1400"/>
                        <a:buFont typeface="Arial"/>
                        <a:buNone/>
                      </a:pPr>
                      <a:r>
                        <a:rPr lang="sv-SE" sz="1400" b="0" u="none" strike="noStrike" cap="none"/>
                        <a:t>Dra korten så att de ligger bredvid varandra högst upp under titeln. Klicka på ett kort, håll ner </a:t>
                      </a:r>
                      <a:r>
                        <a:rPr lang="sv-SE" sz="1400" b="1" u="none" strike="noStrike" cap="none"/>
                        <a:t>Ctrl</a:t>
                      </a:r>
                      <a:r>
                        <a:rPr lang="sv-SE" sz="1400" b="0" u="none" strike="noStrike" cap="none"/>
                        <a:t> och klicka på de andra två. Högerklicka → </a:t>
                      </a:r>
                      <a:r>
                        <a:rPr lang="sv-SE" sz="1400" b="1" u="none" strike="noStrike" cap="none"/>
                        <a:t>"Justera"</a:t>
                      </a:r>
                      <a:r>
                        <a:rPr lang="sv-SE" sz="1400" b="0" u="none" strike="noStrike" cap="none"/>
                        <a:t> → </a:t>
                      </a:r>
                      <a:r>
                        <a:rPr lang="sv-SE" sz="1400" b="1" u="none" strike="noStrike" cap="none"/>
                        <a:t>"Justera lodrätt"</a:t>
                      </a:r>
                      <a:r>
                        <a:rPr lang="sv-SE" sz="1400" b="0" u="none" strike="noStrike" cap="none"/>
                        <a:t> (Align vertically) för att få dem i rak linje.</a:t>
                      </a:r>
                      <a:endParaRPr sz="1400" b="0" u="none" strike="noStrike" cap="none">
                        <a:latin typeface="Arial"/>
                        <a:ea typeface="Arial"/>
                        <a:cs typeface="Arial"/>
                        <a:sym typeface="Arial"/>
                      </a:endParaRPr>
                    </a:p>
                  </a:txBody>
                  <a:tcPr marL="121425" marR="0" marT="75875" marB="0" anchor="ctr"/>
                </a:tc>
                <a:extLst>
                  <a:ext uri="{0D108BD9-81ED-4DB2-BD59-A6C34878D82A}">
                    <a16:rowId xmlns:a16="http://schemas.microsoft.com/office/drawing/2014/main" val="10005"/>
                  </a:ext>
                </a:extLst>
              </a:tr>
              <a:tr h="524175">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6</a:t>
                      </a:r>
                      <a:endParaRPr sz="1400" b="0" u="none" strike="noStrike" cap="none">
                        <a:latin typeface="Arial"/>
                        <a:ea typeface="Arial"/>
                        <a:cs typeface="Arial"/>
                        <a:sym typeface="Arial"/>
                      </a:endParaRPr>
                    </a:p>
                  </a:txBody>
                  <a:tcPr marL="72850" marR="0" marT="75875" marB="0" anchor="ctr"/>
                </a:tc>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Skapa stapeldiagram över attacktyper</a:t>
                      </a:r>
                      <a:endParaRPr sz="1400" b="0" u="none" strike="noStrike" cap="none">
                        <a:latin typeface="Arial"/>
                        <a:ea typeface="Arial"/>
                        <a:cs typeface="Arial"/>
                        <a:sym typeface="Arial"/>
                      </a:endParaRPr>
                    </a:p>
                  </a:txBody>
                  <a:tcPr marL="121425" marR="0" marT="75875" marB="0" anchor="ctr"/>
                </a:tc>
                <a:tc>
                  <a:txBody>
                    <a:bodyPr/>
                    <a:lstStyle/>
                    <a:p>
                      <a:pPr marL="0" marR="0" lvl="0" indent="0" algn="l" rtl="0">
                        <a:lnSpc>
                          <a:spcPct val="117857"/>
                        </a:lnSpc>
                        <a:spcBef>
                          <a:spcPts val="0"/>
                        </a:spcBef>
                        <a:spcAft>
                          <a:spcPts val="0"/>
                        </a:spcAft>
                        <a:buClr>
                          <a:schemeClr val="dk1"/>
                        </a:buClr>
                        <a:buSzPts val="1400"/>
                        <a:buFont typeface="Arial"/>
                        <a:buNone/>
                      </a:pPr>
                      <a:r>
                        <a:rPr lang="sv-SE" sz="1400" b="0" u="none" strike="noStrike" cap="none"/>
                        <a:t>Klicka på </a:t>
                      </a:r>
                      <a:r>
                        <a:rPr lang="sv-SE" sz="1400" b="1" u="none" strike="noStrike" cap="none"/>
                        <a:t>"Stapeldiagram"</a:t>
                      </a:r>
                      <a:r>
                        <a:rPr lang="sv-SE" sz="1400" b="0" u="none" strike="noStrike" cap="none"/>
                        <a:t> (Clustered column chart) i panelen "Visualiseringar". Dra ThreatType från ThreatDetections till </a:t>
                      </a:r>
                      <a:r>
                        <a:rPr lang="sv-SE" sz="1400" b="1" u="none" strike="noStrike" cap="none"/>
                        <a:t>"X-axel"</a:t>
                      </a:r>
                      <a:r>
                        <a:rPr lang="sv-SE" sz="1400" b="0" u="none" strike="noStrike" cap="none"/>
                        <a:t> (Axis). Dra LogID från ThreatDetections till </a:t>
                      </a:r>
                      <a:r>
                        <a:rPr lang="sv-SE" sz="1400" b="1" u="none" strike="noStrike" cap="none"/>
                        <a:t>"Y-axel"</a:t>
                      </a:r>
                      <a:r>
                        <a:rPr lang="sv-SE" sz="1400" b="0" u="none" strike="noStrike" cap="none"/>
                        <a:t> (Values). Se till att aggregeringen är </a:t>
                      </a:r>
                      <a:r>
                        <a:rPr lang="sv-SE" sz="1400" b="1" u="none" strike="noStrike" cap="none"/>
                        <a:t>"Antal"</a:t>
                      </a:r>
                      <a:r>
                        <a:rPr lang="sv-SE" sz="1400" b="0" u="none" strike="noStrike" cap="none"/>
                        <a:t> (Count). Detta visar hur många av varje attacktyp som upptäckts .</a:t>
                      </a:r>
                      <a:endParaRPr sz="1400" b="0" u="none" strike="noStrike" cap="none">
                        <a:latin typeface="Arial"/>
                        <a:ea typeface="Arial"/>
                        <a:cs typeface="Arial"/>
                        <a:sym typeface="Arial"/>
                      </a:endParaRPr>
                    </a:p>
                  </a:txBody>
                  <a:tcPr marL="121425" marR="0" marT="75875" marB="0" anchor="ctr"/>
                </a:tc>
                <a:extLst>
                  <a:ext uri="{0D108BD9-81ED-4DB2-BD59-A6C34878D82A}">
                    <a16:rowId xmlns:a16="http://schemas.microsoft.com/office/drawing/2014/main" val="10006"/>
                  </a:ext>
                </a:extLst>
              </a:tr>
              <a:tr h="669350">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7</a:t>
                      </a:r>
                      <a:endParaRPr sz="1400" b="0" u="none" strike="noStrike" cap="none">
                        <a:latin typeface="Arial"/>
                        <a:ea typeface="Arial"/>
                        <a:cs typeface="Arial"/>
                        <a:sym typeface="Arial"/>
                      </a:endParaRPr>
                    </a:p>
                  </a:txBody>
                  <a:tcPr marL="72850" marR="0" marT="75875" marB="0" anchor="ctr"/>
                </a:tc>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Skapa tidslinje över attacker</a:t>
                      </a:r>
                      <a:endParaRPr sz="1400" b="0" u="none" strike="noStrike" cap="none">
                        <a:latin typeface="Arial"/>
                        <a:ea typeface="Arial"/>
                        <a:cs typeface="Arial"/>
                        <a:sym typeface="Arial"/>
                      </a:endParaRPr>
                    </a:p>
                  </a:txBody>
                  <a:tcPr marL="121425" marR="0" marT="75875" marB="0" anchor="ctr"/>
                </a:tc>
                <a:tc>
                  <a:txBody>
                    <a:bodyPr/>
                    <a:lstStyle/>
                    <a:p>
                      <a:pPr marL="0" marR="0" lvl="0" indent="0" algn="l" rtl="0">
                        <a:lnSpc>
                          <a:spcPct val="117857"/>
                        </a:lnSpc>
                        <a:spcBef>
                          <a:spcPts val="0"/>
                        </a:spcBef>
                        <a:spcAft>
                          <a:spcPts val="0"/>
                        </a:spcAft>
                        <a:buClr>
                          <a:schemeClr val="dk1"/>
                        </a:buClr>
                        <a:buSzPts val="1400"/>
                        <a:buFont typeface="Arial"/>
                        <a:buNone/>
                      </a:pPr>
                      <a:r>
                        <a:rPr lang="sv-SE" sz="1400" b="0" u="none" strike="noStrike" cap="none"/>
                        <a:t>Klicka på </a:t>
                      </a:r>
                      <a:r>
                        <a:rPr lang="sv-SE" sz="1400" b="1" u="none" strike="noStrike" cap="none"/>
                        <a:t>"Linjediagram"</a:t>
                      </a:r>
                      <a:r>
                        <a:rPr lang="sv-SE" sz="1400" b="0" u="none" strike="noStrike" cap="none"/>
                        <a:t> (Line chart) i panelen "Visualiseringar". Dra ProcessedDate från ThreatDetections till </a:t>
                      </a:r>
                      <a:r>
                        <a:rPr lang="sv-SE" sz="1400" b="1" u="none" strike="noStrike" cap="none"/>
                        <a:t>"X-axel"</a:t>
                      </a:r>
                      <a:r>
                        <a:rPr lang="sv-SE" sz="1400" b="0" u="none" strike="noStrike" cap="none"/>
                        <a:t>. Power BI skapar automatiskt en hierarki (År, Kvartal, Månad, Dag). För enkelhet, klicka på X-axeln och välj bara ProcessedDate . Dra LogID från ThreatDetections till </a:t>
                      </a:r>
                      <a:r>
                        <a:rPr lang="sv-SE" sz="1400" b="1" u="none" strike="noStrike" cap="none"/>
                        <a:t>"Y-axel"</a:t>
                      </a:r>
                      <a:r>
                        <a:rPr lang="sv-SE" sz="1400" b="0" u="none" strike="noStrike" cap="none"/>
                        <a:t> och ändra aggregering till </a:t>
                      </a:r>
                      <a:r>
                        <a:rPr lang="sv-SE" sz="1400" b="1" u="none" strike="noStrike" cap="none"/>
                        <a:t>"Antal"</a:t>
                      </a:r>
                      <a:r>
                        <a:rPr lang="sv-SE" sz="1400" b="0" u="none" strike="noStrike" cap="none"/>
                        <a:t>. Detta visar hur attacker varierar över tid .</a:t>
                      </a:r>
                      <a:endParaRPr sz="1400" b="0" u="none" strike="noStrike" cap="none">
                        <a:latin typeface="Arial"/>
                        <a:ea typeface="Arial"/>
                        <a:cs typeface="Arial"/>
                        <a:sym typeface="Arial"/>
                      </a:endParaRPr>
                    </a:p>
                  </a:txBody>
                  <a:tcPr marL="121425" marR="0" marT="75875" marB="0" anchor="ctr"/>
                </a:tc>
                <a:extLst>
                  <a:ext uri="{0D108BD9-81ED-4DB2-BD59-A6C34878D82A}">
                    <a16:rowId xmlns:a16="http://schemas.microsoft.com/office/drawing/2014/main" val="10007"/>
                  </a:ext>
                </a:extLst>
              </a:tr>
              <a:tr h="379000">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8</a:t>
                      </a:r>
                      <a:endParaRPr sz="1400" b="0" u="none" strike="noStrike" cap="none">
                        <a:latin typeface="Arial"/>
                        <a:ea typeface="Arial"/>
                        <a:cs typeface="Arial"/>
                        <a:sym typeface="Arial"/>
                      </a:endParaRPr>
                    </a:p>
                  </a:txBody>
                  <a:tcPr marL="72850" marR="0" marT="75875" marB="0" anchor="ctr"/>
                </a:tc>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t>Skapa cirkeldiagram – Normal vs Attack</a:t>
                      </a:r>
                      <a:endParaRPr sz="1400" b="0" u="none" strike="noStrike" cap="none">
                        <a:latin typeface="Arial"/>
                        <a:ea typeface="Arial"/>
                        <a:cs typeface="Arial"/>
                        <a:sym typeface="Arial"/>
                      </a:endParaRPr>
                    </a:p>
                  </a:txBody>
                  <a:tcPr marL="121425" marR="0" marT="75875" marB="0" anchor="ctr"/>
                </a:tc>
                <a:tc>
                  <a:txBody>
                    <a:bodyPr/>
                    <a:lstStyle/>
                    <a:p>
                      <a:pPr marL="0" marR="0" lvl="0" indent="0" algn="l" rtl="0">
                        <a:lnSpc>
                          <a:spcPct val="117857"/>
                        </a:lnSpc>
                        <a:spcBef>
                          <a:spcPts val="0"/>
                        </a:spcBef>
                        <a:spcAft>
                          <a:spcPts val="0"/>
                        </a:spcAft>
                        <a:buClr>
                          <a:schemeClr val="dk1"/>
                        </a:buClr>
                        <a:buSzPts val="1400"/>
                        <a:buFont typeface="Arial"/>
                        <a:buNone/>
                      </a:pPr>
                      <a:r>
                        <a:rPr lang="sv-SE" sz="1400" b="0" u="none" strike="noStrike" cap="none"/>
                        <a:t>Klicka på </a:t>
                      </a:r>
                      <a:r>
                        <a:rPr lang="sv-SE" sz="1400" b="1" u="none" strike="noStrike" cap="none"/>
                        <a:t>"Cirkeldiagram"</a:t>
                      </a:r>
                      <a:r>
                        <a:rPr lang="sv-SE" sz="1400" b="0" u="none" strike="noStrike" cap="none"/>
                        <a:t> (Pie chart). Dra Prediction från ThreatDetections till </a:t>
                      </a:r>
                      <a:r>
                        <a:rPr lang="sv-SE" sz="1400" b="1" u="none" strike="noStrike" cap="none"/>
                        <a:t>"Förklaring"</a:t>
                      </a:r>
                      <a:r>
                        <a:rPr lang="sv-SE" sz="1400" b="0" u="none" strike="noStrike" cap="none"/>
                        <a:t> (Legend). Dra LogID från ThreatDetections till </a:t>
                      </a:r>
                      <a:r>
                        <a:rPr lang="sv-SE" sz="1400" b="1" u="none" strike="noStrike" cap="none"/>
                        <a:t>"Värden"</a:t>
                      </a:r>
                      <a:r>
                        <a:rPr lang="sv-SE" sz="1400" b="0" u="none" strike="noStrike" cap="none"/>
                        <a:t> (Values). Detta visar andelen normal trafik vs attacker .</a:t>
                      </a:r>
                      <a:endParaRPr sz="1400" b="0" u="none" strike="noStrike" cap="none">
                        <a:latin typeface="Arial"/>
                        <a:ea typeface="Arial"/>
                        <a:cs typeface="Arial"/>
                        <a:sym typeface="Arial"/>
                      </a:endParaRPr>
                    </a:p>
                  </a:txBody>
                  <a:tcPr marL="121425" marR="0" marT="75875" marB="0"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1"/>
        <p:cNvGrpSpPr/>
        <p:nvPr/>
      </p:nvGrpSpPr>
      <p:grpSpPr>
        <a:xfrm>
          <a:off x="0" y="0"/>
          <a:ext cx="0" cy="0"/>
          <a:chOff x="0" y="0"/>
          <a:chExt cx="0" cy="0"/>
        </a:xfrm>
      </p:grpSpPr>
      <p:sp>
        <p:nvSpPr>
          <p:cNvPr id="782" name="Google Shape;782;p6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3" name="Google Shape;783;p66"/>
          <p:cNvSpPr/>
          <p:nvPr/>
        </p:nvSpPr>
        <p:spPr>
          <a:xfrm rot="-2700000" flipH="1">
            <a:off x="-376156" y="-253670"/>
            <a:ext cx="1827638" cy="1376989"/>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4" name="Google Shape;784;p66"/>
          <p:cNvSpPr/>
          <p:nvPr/>
        </p:nvSpPr>
        <p:spPr>
          <a:xfrm rot="-2700000" flipH="1">
            <a:off x="891641" y="422146"/>
            <a:ext cx="645368" cy="645368"/>
          </a:xfrm>
          <a:prstGeom prst="rect">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5" name="Google Shape;785;p66"/>
          <p:cNvSpPr/>
          <p:nvPr/>
        </p:nvSpPr>
        <p:spPr>
          <a:xfrm rot="-2700000" flipH="1">
            <a:off x="10043482" y="655140"/>
            <a:ext cx="687472" cy="687472"/>
          </a:xfrm>
          <a:prstGeom prst="rect">
            <a:avLst/>
          </a:pr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6" name="Google Shape;786;p66"/>
          <p:cNvSpPr/>
          <p:nvPr/>
        </p:nvSpPr>
        <p:spPr>
          <a:xfrm rot="10800000" flipH="1">
            <a:off x="9356643" y="0"/>
            <a:ext cx="2835357" cy="1480837"/>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7" name="Google Shape;787;p66"/>
          <p:cNvSpPr/>
          <p:nvPr/>
        </p:nvSpPr>
        <p:spPr>
          <a:xfrm flipH="1">
            <a:off x="7976344" y="6115501"/>
            <a:ext cx="1494513" cy="742499"/>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8" name="Google Shape;788;p66"/>
          <p:cNvSpPr/>
          <p:nvPr/>
        </p:nvSpPr>
        <p:spPr>
          <a:xfrm flipH="1">
            <a:off x="7604080" y="6453143"/>
            <a:ext cx="814903" cy="404857"/>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789" name="Google Shape;789;p66"/>
          <p:cNvGraphicFramePr/>
          <p:nvPr/>
        </p:nvGraphicFramePr>
        <p:xfrm>
          <a:off x="57509" y="14377"/>
          <a:ext cx="3000000" cy="3000000"/>
        </p:xfrm>
        <a:graphic>
          <a:graphicData uri="http://schemas.openxmlformats.org/drawingml/2006/table">
            <a:tbl>
              <a:tblPr firstRow="1" bandRow="1">
                <a:noFill/>
                <a:tableStyleId>{822C3B93-EF79-491A-80E4-DA79D8C4CF44}</a:tableStyleId>
              </a:tblPr>
              <a:tblGrid>
                <a:gridCol w="540225">
                  <a:extLst>
                    <a:ext uri="{9D8B030D-6E8A-4147-A177-3AD203B41FA5}">
                      <a16:colId xmlns:a16="http://schemas.microsoft.com/office/drawing/2014/main" val="20000"/>
                    </a:ext>
                  </a:extLst>
                </a:gridCol>
                <a:gridCol w="2170675">
                  <a:extLst>
                    <a:ext uri="{9D8B030D-6E8A-4147-A177-3AD203B41FA5}">
                      <a16:colId xmlns:a16="http://schemas.microsoft.com/office/drawing/2014/main" val="20001"/>
                    </a:ext>
                  </a:extLst>
                </a:gridCol>
                <a:gridCol w="9393425">
                  <a:extLst>
                    <a:ext uri="{9D8B030D-6E8A-4147-A177-3AD203B41FA5}">
                      <a16:colId xmlns:a16="http://schemas.microsoft.com/office/drawing/2014/main" val="20002"/>
                    </a:ext>
                  </a:extLst>
                </a:gridCol>
              </a:tblGrid>
              <a:tr h="449425">
                <a:tc>
                  <a:txBody>
                    <a:bodyPr/>
                    <a:lstStyle/>
                    <a:p>
                      <a:pPr marL="0" marR="0" lvl="0" indent="0" algn="l" rtl="0">
                        <a:lnSpc>
                          <a:spcPct val="93750"/>
                        </a:lnSpc>
                        <a:spcBef>
                          <a:spcPts val="0"/>
                        </a:spcBef>
                        <a:spcAft>
                          <a:spcPts val="0"/>
                        </a:spcAft>
                        <a:buClr>
                          <a:schemeClr val="dk1"/>
                        </a:buClr>
                        <a:buSzPts val="2000"/>
                        <a:buFont typeface="Arial"/>
                        <a:buNone/>
                      </a:pPr>
                      <a:endParaRPr sz="2000" b="1" u="none" strike="noStrike" cap="none">
                        <a:solidFill>
                          <a:schemeClr val="dk1"/>
                        </a:solidFill>
                        <a:latin typeface="Arial"/>
                        <a:ea typeface="Arial"/>
                        <a:cs typeface="Arial"/>
                        <a:sym typeface="Arial"/>
                      </a:endParaRPr>
                    </a:p>
                  </a:txBody>
                  <a:tcPr marL="59600" marR="0" marT="17025" marB="12770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Vad ska du göra?</a:t>
                      </a:r>
                      <a:endParaRPr sz="2000" b="1" u="none" strike="noStrike" cap="none">
                        <a:solidFill>
                          <a:schemeClr val="dk1"/>
                        </a:solidFill>
                        <a:latin typeface="Arial"/>
                        <a:ea typeface="Arial"/>
                        <a:cs typeface="Arial"/>
                        <a:sym typeface="Arial"/>
                      </a:endParaRPr>
                    </a:p>
                  </a:txBody>
                  <a:tcPr marL="59600" marR="0" marT="17025" marB="12770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Instruktioner</a:t>
                      </a:r>
                      <a:endParaRPr sz="2000" b="1" u="none" strike="noStrike" cap="none">
                        <a:solidFill>
                          <a:schemeClr val="dk1"/>
                        </a:solidFill>
                        <a:latin typeface="Arial"/>
                        <a:ea typeface="Arial"/>
                        <a:cs typeface="Arial"/>
                        <a:sym typeface="Arial"/>
                      </a:endParaRPr>
                    </a:p>
                  </a:txBody>
                  <a:tcPr marL="59600" marR="0" marT="17025" marB="12770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95985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9</a:t>
                      </a:r>
                      <a:endParaRPr sz="1600" b="0" u="none" strike="noStrike" cap="none">
                        <a:solidFill>
                          <a:schemeClr val="dk1"/>
                        </a:solidFill>
                        <a:latin typeface="Arial"/>
                        <a:ea typeface="Arial"/>
                        <a:cs typeface="Arial"/>
                        <a:sym typeface="Arial"/>
                      </a:endParaRPr>
                    </a:p>
                  </a:txBody>
                  <a:tcPr marL="59600" marR="0" marT="17025" marB="12770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Skapa punktdiagram – Konfidens per loggrad</a:t>
                      </a:r>
                      <a:endParaRPr sz="1600" b="0" u="none" strike="noStrike" cap="none">
                        <a:solidFill>
                          <a:schemeClr val="dk1"/>
                        </a:solidFill>
                        <a:latin typeface="Arial"/>
                        <a:ea typeface="Arial"/>
                        <a:cs typeface="Arial"/>
                        <a:sym typeface="Arial"/>
                      </a:endParaRPr>
                    </a:p>
                  </a:txBody>
                  <a:tcPr marL="59600" marR="0" marT="17025" marB="127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3125"/>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Klicka på </a:t>
                      </a:r>
                      <a:r>
                        <a:rPr lang="sv-SE" sz="1600" b="1" u="none" strike="noStrike" cap="none">
                          <a:solidFill>
                            <a:schemeClr val="dk1"/>
                          </a:solidFill>
                          <a:latin typeface="Arial"/>
                          <a:ea typeface="Arial"/>
                          <a:cs typeface="Arial"/>
                          <a:sym typeface="Arial"/>
                        </a:rPr>
                        <a:t>"Punktdiagram"</a:t>
                      </a:r>
                      <a:r>
                        <a:rPr lang="sv-SE" sz="1600" b="0" u="none" strike="noStrike" cap="none">
                          <a:solidFill>
                            <a:schemeClr val="dk1"/>
                          </a:solidFill>
                          <a:latin typeface="Arial"/>
                          <a:ea typeface="Arial"/>
                          <a:cs typeface="Arial"/>
                          <a:sym typeface="Arial"/>
                        </a:rPr>
                        <a:t> (Scatter chart). Dra LogID från ThreatDetections till </a:t>
                      </a:r>
                      <a:r>
                        <a:rPr lang="sv-SE" sz="1600" b="1" u="none" strike="noStrike" cap="none">
                          <a:solidFill>
                            <a:schemeClr val="dk1"/>
                          </a:solidFill>
                          <a:latin typeface="Arial"/>
                          <a:ea typeface="Arial"/>
                          <a:cs typeface="Arial"/>
                          <a:sym typeface="Arial"/>
                        </a:rPr>
                        <a:t>"X-axel"</a:t>
                      </a:r>
                      <a:r>
                        <a:rPr lang="sv-SE" sz="1600" b="0" u="none" strike="noStrike" cap="none">
                          <a:solidFill>
                            <a:schemeClr val="dk1"/>
                          </a:solidFill>
                          <a:latin typeface="Arial"/>
                          <a:ea typeface="Arial"/>
                          <a:cs typeface="Arial"/>
                          <a:sym typeface="Arial"/>
                        </a:rPr>
                        <a:t>. Dra Confidence från ThreatDetections till </a:t>
                      </a:r>
                      <a:r>
                        <a:rPr lang="sv-SE" sz="1600" b="1" u="none" strike="noStrike" cap="none">
                          <a:solidFill>
                            <a:schemeClr val="dk1"/>
                          </a:solidFill>
                          <a:latin typeface="Arial"/>
                          <a:ea typeface="Arial"/>
                          <a:cs typeface="Arial"/>
                          <a:sym typeface="Arial"/>
                        </a:rPr>
                        <a:t>"Y-axel"</a:t>
                      </a:r>
                      <a:r>
                        <a:rPr lang="sv-SE" sz="1600" b="0" u="none" strike="noStrike" cap="none">
                          <a:solidFill>
                            <a:schemeClr val="dk1"/>
                          </a:solidFill>
                          <a:latin typeface="Arial"/>
                          <a:ea typeface="Arial"/>
                          <a:cs typeface="Arial"/>
                          <a:sym typeface="Arial"/>
                        </a:rPr>
                        <a:t>. Dra ThreatType till </a:t>
                      </a:r>
                      <a:r>
                        <a:rPr lang="sv-SE" sz="1600" b="1" u="none" strike="noStrike" cap="none">
                          <a:solidFill>
                            <a:schemeClr val="dk1"/>
                          </a:solidFill>
                          <a:latin typeface="Arial"/>
                          <a:ea typeface="Arial"/>
                          <a:cs typeface="Arial"/>
                          <a:sym typeface="Arial"/>
                        </a:rPr>
                        <a:t>"Förklaring"</a:t>
                      </a:r>
                      <a:r>
                        <a:rPr lang="sv-SE" sz="1600" b="0" u="none" strike="noStrike" cap="none">
                          <a:solidFill>
                            <a:schemeClr val="dk1"/>
                          </a:solidFill>
                          <a:latin typeface="Arial"/>
                          <a:ea typeface="Arial"/>
                          <a:cs typeface="Arial"/>
                          <a:sym typeface="Arial"/>
                        </a:rPr>
                        <a:t> (Legend) för färgkodning. Detta visar varje analys som en punkt – högt förtroende = högt på Y-axeln .</a:t>
                      </a:r>
                      <a:endParaRPr sz="1600" u="none" strike="noStrike" cap="none">
                        <a:solidFill>
                          <a:schemeClr val="dk1"/>
                        </a:solidFill>
                      </a:endParaRPr>
                    </a:p>
                  </a:txBody>
                  <a:tcPr marL="59600" marR="0" marT="17025" marB="127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89695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10</a:t>
                      </a:r>
                      <a:endParaRPr sz="1600" b="0" u="none" strike="noStrike" cap="none">
                        <a:solidFill>
                          <a:schemeClr val="dk1"/>
                        </a:solidFill>
                        <a:latin typeface="Arial"/>
                        <a:ea typeface="Arial"/>
                        <a:cs typeface="Arial"/>
                        <a:sym typeface="Arial"/>
                      </a:endParaRPr>
                    </a:p>
                  </a:txBody>
                  <a:tcPr marL="59600" marR="0" marT="17025" marB="12770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Skapa detaljtabell för att granska enskilda händelser</a:t>
                      </a:r>
                      <a:endParaRPr sz="1600" b="0" u="none" strike="noStrike" cap="none">
                        <a:solidFill>
                          <a:schemeClr val="dk1"/>
                        </a:solidFill>
                        <a:latin typeface="Arial"/>
                        <a:ea typeface="Arial"/>
                        <a:cs typeface="Arial"/>
                        <a:sym typeface="Arial"/>
                      </a:endParaRPr>
                    </a:p>
                  </a:txBody>
                  <a:tcPr marL="59600" marR="0" marT="17025" marB="127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3125"/>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Klicka på </a:t>
                      </a:r>
                      <a:r>
                        <a:rPr lang="sv-SE" sz="1600" b="1" u="none" strike="noStrike" cap="none">
                          <a:solidFill>
                            <a:schemeClr val="dk1"/>
                          </a:solidFill>
                          <a:latin typeface="Arial"/>
                          <a:ea typeface="Arial"/>
                          <a:cs typeface="Arial"/>
                          <a:sym typeface="Arial"/>
                        </a:rPr>
                        <a:t>"Tabell"</a:t>
                      </a:r>
                      <a:r>
                        <a:rPr lang="sv-SE" sz="1600" b="0" u="none" strike="noStrike" cap="none">
                          <a:solidFill>
                            <a:schemeClr val="dk1"/>
                          </a:solidFill>
                          <a:latin typeface="Arial"/>
                          <a:ea typeface="Arial"/>
                          <a:cs typeface="Arial"/>
                          <a:sym typeface="Arial"/>
                        </a:rPr>
                        <a:t> (Table). Dra följande fält till </a:t>
                      </a:r>
                      <a:r>
                        <a:rPr lang="sv-SE" sz="1600" b="1" u="none" strike="noStrike" cap="none">
                          <a:solidFill>
                            <a:schemeClr val="dk1"/>
                          </a:solidFill>
                          <a:latin typeface="Arial"/>
                          <a:ea typeface="Arial"/>
                          <a:cs typeface="Arial"/>
                          <a:sym typeface="Arial"/>
                        </a:rPr>
                        <a:t>"Kolumner"</a:t>
                      </a:r>
                      <a:r>
                        <a:rPr lang="sv-SE" sz="1600" b="0" u="none" strike="noStrike" cap="none">
                          <a:solidFill>
                            <a:schemeClr val="dk1"/>
                          </a:solidFill>
                          <a:latin typeface="Arial"/>
                          <a:ea typeface="Arial"/>
                          <a:cs typeface="Arial"/>
                          <a:sym typeface="Arial"/>
                        </a:rPr>
                        <a:t> i DENNA ORDNING:</a:t>
                      </a:r>
                      <a:br>
                        <a:rPr lang="sv-SE" sz="1600" b="0" u="none" strike="noStrike" cap="none">
                          <a:solidFill>
                            <a:srgbClr val="000000"/>
                          </a:solidFill>
                          <a:latin typeface="Arial"/>
                          <a:ea typeface="Arial"/>
                          <a:cs typeface="Arial"/>
                          <a:sym typeface="Arial"/>
                        </a:rPr>
                      </a:br>
                      <a:r>
                        <a:rPr lang="sv-SE" sz="1600" b="0" u="none" strike="noStrike" cap="none">
                          <a:solidFill>
                            <a:schemeClr val="dk1"/>
                          </a:solidFill>
                          <a:latin typeface="Arial"/>
                          <a:ea typeface="Arial"/>
                          <a:cs typeface="Arial"/>
                          <a:sym typeface="Arial"/>
                        </a:rPr>
                        <a:t>1. ProcessedDate från ThreatDetections (när analysen gjordes)</a:t>
                      </a:r>
                      <a:br>
                        <a:rPr lang="sv-SE" sz="1600" b="0" u="none" strike="noStrike" cap="none">
                          <a:solidFill>
                            <a:srgbClr val="000000"/>
                          </a:solidFill>
                          <a:latin typeface="Arial"/>
                          <a:ea typeface="Arial"/>
                          <a:cs typeface="Arial"/>
                          <a:sym typeface="Arial"/>
                        </a:rPr>
                      </a:br>
                      <a:r>
                        <a:rPr lang="sv-SE" sz="1600" b="0" u="none" strike="noStrike" cap="none">
                          <a:solidFill>
                            <a:schemeClr val="dk1"/>
                          </a:solidFill>
                          <a:latin typeface="Arial"/>
                          <a:ea typeface="Arial"/>
                          <a:cs typeface="Arial"/>
                          <a:sym typeface="Arial"/>
                        </a:rPr>
                        <a:t>2. SourceIP från NetworkTrafficLogs (varifrån trafiken kom)</a:t>
                      </a:r>
                      <a:br>
                        <a:rPr lang="sv-SE" sz="1600" b="0" u="none" strike="noStrike" cap="none">
                          <a:solidFill>
                            <a:srgbClr val="000000"/>
                          </a:solidFill>
                          <a:latin typeface="Arial"/>
                          <a:ea typeface="Arial"/>
                          <a:cs typeface="Arial"/>
                          <a:sym typeface="Arial"/>
                        </a:rPr>
                      </a:br>
                      <a:r>
                        <a:rPr lang="sv-SE" sz="1600" b="0" u="none" strike="noStrike" cap="none">
                          <a:solidFill>
                            <a:schemeClr val="dk1"/>
                          </a:solidFill>
                          <a:latin typeface="Arial"/>
                          <a:ea typeface="Arial"/>
                          <a:cs typeface="Arial"/>
                          <a:sym typeface="Arial"/>
                        </a:rPr>
                        <a:t>3. DestinationPort från NetworkTrafficLogs (vilken port som anropades)</a:t>
                      </a:r>
                      <a:br>
                        <a:rPr lang="sv-SE" sz="1600" b="0" u="none" strike="noStrike" cap="none">
                          <a:solidFill>
                            <a:srgbClr val="000000"/>
                          </a:solidFill>
                          <a:latin typeface="Arial"/>
                          <a:ea typeface="Arial"/>
                          <a:cs typeface="Arial"/>
                          <a:sym typeface="Arial"/>
                        </a:rPr>
                      </a:br>
                      <a:r>
                        <a:rPr lang="sv-SE" sz="1600" b="0" u="none" strike="noStrike" cap="none">
                          <a:solidFill>
                            <a:schemeClr val="dk1"/>
                          </a:solidFill>
                          <a:latin typeface="Arial"/>
                          <a:ea typeface="Arial"/>
                          <a:cs typeface="Arial"/>
                          <a:sym typeface="Arial"/>
                        </a:rPr>
                        <a:t>4. ThreatType från ThreatDetections (vad modellen klassificerade det som)</a:t>
                      </a:r>
                      <a:br>
                        <a:rPr lang="sv-SE" sz="1600" b="0" u="none" strike="noStrike" cap="none">
                          <a:solidFill>
                            <a:srgbClr val="000000"/>
                          </a:solidFill>
                          <a:latin typeface="Arial"/>
                          <a:ea typeface="Arial"/>
                          <a:cs typeface="Arial"/>
                          <a:sym typeface="Arial"/>
                        </a:rPr>
                      </a:br>
                      <a:r>
                        <a:rPr lang="sv-SE" sz="1600" b="0" u="none" strike="noStrike" cap="none">
                          <a:solidFill>
                            <a:schemeClr val="dk1"/>
                          </a:solidFill>
                          <a:latin typeface="Arial"/>
                          <a:ea typeface="Arial"/>
                          <a:cs typeface="Arial"/>
                          <a:sym typeface="Arial"/>
                        </a:rPr>
                        <a:t>5. Confidence från ThreatDetections (hur säker modellen var)</a:t>
                      </a:r>
                      <a:br>
                        <a:rPr lang="sv-SE" sz="1600" b="0" u="none" strike="noStrike" cap="none">
                          <a:solidFill>
                            <a:srgbClr val="000000"/>
                          </a:solidFill>
                          <a:latin typeface="Arial"/>
                          <a:ea typeface="Arial"/>
                          <a:cs typeface="Arial"/>
                          <a:sym typeface="Arial"/>
                        </a:rPr>
                      </a:br>
                      <a:r>
                        <a:rPr lang="sv-SE" sz="1600" b="0" u="none" strike="noStrike" cap="none">
                          <a:solidFill>
                            <a:schemeClr val="dk1"/>
                          </a:solidFill>
                          <a:latin typeface="Arial"/>
                          <a:ea typeface="Arial"/>
                          <a:cs typeface="Arial"/>
                          <a:sym typeface="Arial"/>
                        </a:rPr>
                        <a:t>6. Prediction från ThreatDetections (1 = attack, 0 = normal)</a:t>
                      </a:r>
                      <a:endParaRPr/>
                    </a:p>
                  </a:txBody>
                  <a:tcPr marL="59600" marR="0" marT="17025" marB="127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1143625">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11</a:t>
                      </a:r>
                      <a:endParaRPr sz="1600" b="0" u="none" strike="noStrike" cap="none">
                        <a:solidFill>
                          <a:schemeClr val="dk1"/>
                        </a:solidFill>
                        <a:latin typeface="Arial"/>
                        <a:ea typeface="Arial"/>
                        <a:cs typeface="Arial"/>
                        <a:sym typeface="Arial"/>
                      </a:endParaRPr>
                    </a:p>
                  </a:txBody>
                  <a:tcPr marL="59600" marR="0" marT="17025" marB="12770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Skapa filter (Slicers) för att göra rapporten interaktiv</a:t>
                      </a:r>
                      <a:endParaRPr sz="1600" b="0" u="none" strike="noStrike" cap="none">
                        <a:solidFill>
                          <a:schemeClr val="dk1"/>
                        </a:solidFill>
                        <a:latin typeface="Arial"/>
                        <a:ea typeface="Arial"/>
                        <a:cs typeface="Arial"/>
                        <a:sym typeface="Arial"/>
                      </a:endParaRPr>
                    </a:p>
                  </a:txBody>
                  <a:tcPr marL="59600" marR="0" marT="17025" marB="127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3125"/>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Klicka på </a:t>
                      </a:r>
                      <a:r>
                        <a:rPr lang="sv-SE" sz="1600" b="1" u="none" strike="noStrike" cap="none">
                          <a:solidFill>
                            <a:schemeClr val="dk1"/>
                          </a:solidFill>
                          <a:latin typeface="Arial"/>
                          <a:ea typeface="Arial"/>
                          <a:cs typeface="Arial"/>
                          <a:sym typeface="Arial"/>
                        </a:rPr>
                        <a:t>"Utfällare"</a:t>
                      </a:r>
                      <a:r>
                        <a:rPr lang="sv-SE" sz="1600" b="0" u="none" strike="noStrike" cap="none">
                          <a:solidFill>
                            <a:schemeClr val="dk1"/>
                          </a:solidFill>
                          <a:latin typeface="Arial"/>
                          <a:ea typeface="Arial"/>
                          <a:cs typeface="Arial"/>
                          <a:sym typeface="Arial"/>
                        </a:rPr>
                        <a:t> (Slicer) i panelen "Visualiseringar". Dra ThreatType från ThreatDetections till "Fält". Nu har du en lista med kryssrutor där du kan välja att bara visa en viss typ av hot.</a:t>
                      </a:r>
                      <a:br>
                        <a:rPr lang="sv-SE" sz="1600" b="0" u="none" strike="noStrike" cap="none">
                          <a:solidFill>
                            <a:srgbClr val="000000"/>
                          </a:solidFill>
                          <a:latin typeface="Arial"/>
                          <a:ea typeface="Arial"/>
                          <a:cs typeface="Arial"/>
                          <a:sym typeface="Arial"/>
                        </a:rPr>
                      </a:br>
                      <a:r>
                        <a:rPr lang="sv-SE" sz="1600" b="0" u="none" strike="noStrike" cap="none">
                          <a:solidFill>
                            <a:schemeClr val="dk1"/>
                          </a:solidFill>
                          <a:latin typeface="Arial"/>
                          <a:ea typeface="Arial"/>
                          <a:cs typeface="Arial"/>
                          <a:sym typeface="Arial"/>
                        </a:rPr>
                        <a:t>Skapa en till </a:t>
                      </a:r>
                      <a:r>
                        <a:rPr lang="sv-SE" sz="1600" b="1" u="none" strike="noStrike" cap="none">
                          <a:solidFill>
                            <a:schemeClr val="dk1"/>
                          </a:solidFill>
                          <a:latin typeface="Arial"/>
                          <a:ea typeface="Arial"/>
                          <a:cs typeface="Arial"/>
                          <a:sym typeface="Arial"/>
                        </a:rPr>
                        <a:t>"Utfällare"</a:t>
                      </a:r>
                      <a:r>
                        <a:rPr lang="sv-SE" sz="1600" b="0" u="none" strike="noStrike" cap="none">
                          <a:solidFill>
                            <a:schemeClr val="dk1"/>
                          </a:solidFill>
                          <a:latin typeface="Arial"/>
                          <a:ea typeface="Arial"/>
                          <a:cs typeface="Arial"/>
                          <a:sym typeface="Arial"/>
                        </a:rPr>
                        <a:t> och dra ProcessedDate från ThreatDetections till "Fält". Detta skapar ett datumfilter där du kan välja ett datumintervall, till exempel bara de senaste 7 dagarna .</a:t>
                      </a:r>
                      <a:endParaRPr/>
                    </a:p>
                  </a:txBody>
                  <a:tcPr marL="59600" marR="0" marT="17025" marB="127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53125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12</a:t>
                      </a:r>
                      <a:endParaRPr sz="1600" b="0" u="none" strike="noStrike" cap="none">
                        <a:solidFill>
                          <a:schemeClr val="dk1"/>
                        </a:solidFill>
                        <a:latin typeface="Arial"/>
                        <a:ea typeface="Arial"/>
                        <a:cs typeface="Arial"/>
                        <a:sym typeface="Arial"/>
                      </a:endParaRPr>
                    </a:p>
                  </a:txBody>
                  <a:tcPr marL="59600" marR="0" marT="17025" marB="12770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Gör rapporten snygg och pedagogisk</a:t>
                      </a:r>
                      <a:endParaRPr sz="1600" b="0" u="none" strike="noStrike" cap="none">
                        <a:solidFill>
                          <a:schemeClr val="dk1"/>
                        </a:solidFill>
                        <a:latin typeface="Arial"/>
                        <a:ea typeface="Arial"/>
                        <a:cs typeface="Arial"/>
                        <a:sym typeface="Arial"/>
                      </a:endParaRPr>
                    </a:p>
                  </a:txBody>
                  <a:tcPr marL="59600" marR="0" marT="17025" marB="127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Använd </a:t>
                      </a:r>
                      <a:r>
                        <a:rPr lang="sv-SE" sz="1600" b="1" u="none" strike="noStrike" cap="none">
                          <a:solidFill>
                            <a:schemeClr val="dk1"/>
                          </a:solidFill>
                          <a:latin typeface="Arial"/>
                          <a:ea typeface="Arial"/>
                          <a:cs typeface="Arial"/>
                          <a:sym typeface="Arial"/>
                        </a:rPr>
                        <a:t>"Format"-panelen</a:t>
                      </a:r>
                      <a:r>
                        <a:rPr lang="sv-SE" sz="1600" b="0" u="none" strike="noStrike" cap="none">
                          <a:solidFill>
                            <a:schemeClr val="dk1"/>
                          </a:solidFill>
                          <a:latin typeface="Arial"/>
                          <a:ea typeface="Arial"/>
                          <a:cs typeface="Arial"/>
                          <a:sym typeface="Arial"/>
                        </a:rPr>
                        <a:t> (målarrullen) för varje diagram för att justera färger, etiketter och titlar. Till exempel:</a:t>
                      </a:r>
                      <a:br>
                        <a:rPr lang="sv-SE" sz="1600" b="0" u="none" strike="noStrike" cap="none">
                          <a:solidFill>
                            <a:srgbClr val="000000"/>
                          </a:solidFill>
                          <a:latin typeface="Arial"/>
                          <a:ea typeface="Arial"/>
                          <a:cs typeface="Arial"/>
                          <a:sym typeface="Arial"/>
                        </a:rPr>
                      </a:br>
                      <a:r>
                        <a:rPr lang="sv-SE" sz="1600" b="0" u="none" strike="noStrike" cap="none">
                          <a:solidFill>
                            <a:schemeClr val="dk1"/>
                          </a:solidFill>
                          <a:latin typeface="Arial"/>
                          <a:ea typeface="Arial"/>
                          <a:cs typeface="Arial"/>
                          <a:sym typeface="Arial"/>
                        </a:rPr>
                        <a:t>• För attackdiagram: använd </a:t>
                      </a:r>
                      <a:r>
                        <a:rPr lang="sv-SE" sz="1600" b="1" u="none" strike="noStrike" cap="none">
                          <a:solidFill>
                            <a:schemeClr val="dk1"/>
                          </a:solidFill>
                          <a:latin typeface="Arial"/>
                          <a:ea typeface="Arial"/>
                          <a:cs typeface="Arial"/>
                          <a:sym typeface="Arial"/>
                        </a:rPr>
                        <a:t>röd</a:t>
                      </a:r>
                      <a:r>
                        <a:rPr lang="sv-SE" sz="1600" b="0" u="none" strike="noStrike" cap="none">
                          <a:solidFill>
                            <a:schemeClr val="dk1"/>
                          </a:solidFill>
                          <a:latin typeface="Arial"/>
                          <a:ea typeface="Arial"/>
                          <a:cs typeface="Arial"/>
                          <a:sym typeface="Arial"/>
                        </a:rPr>
                        <a:t> färg för attacker, </a:t>
                      </a:r>
                      <a:r>
                        <a:rPr lang="sv-SE" sz="1600" b="1" u="none" strike="noStrike" cap="none">
                          <a:solidFill>
                            <a:schemeClr val="dk1"/>
                          </a:solidFill>
                          <a:latin typeface="Arial"/>
                          <a:ea typeface="Arial"/>
                          <a:cs typeface="Arial"/>
                          <a:sym typeface="Arial"/>
                        </a:rPr>
                        <a:t>grön</a:t>
                      </a:r>
                      <a:r>
                        <a:rPr lang="sv-SE" sz="1600" b="0" u="none" strike="noStrike" cap="none">
                          <a:solidFill>
                            <a:schemeClr val="dk1"/>
                          </a:solidFill>
                          <a:latin typeface="Arial"/>
                          <a:ea typeface="Arial"/>
                          <a:cs typeface="Arial"/>
                          <a:sym typeface="Arial"/>
                        </a:rPr>
                        <a:t> för normal</a:t>
                      </a:r>
                      <a:br>
                        <a:rPr lang="sv-SE" sz="1600" b="0" u="none" strike="noStrike" cap="none">
                          <a:solidFill>
                            <a:srgbClr val="000000"/>
                          </a:solidFill>
                          <a:latin typeface="Arial"/>
                          <a:ea typeface="Arial"/>
                          <a:cs typeface="Arial"/>
                          <a:sym typeface="Arial"/>
                        </a:rPr>
                      </a:br>
                      <a:r>
                        <a:rPr lang="sv-SE" sz="1600" b="0" u="none" strike="noStrike" cap="none">
                          <a:solidFill>
                            <a:schemeClr val="dk1"/>
                          </a:solidFill>
                          <a:latin typeface="Arial"/>
                          <a:ea typeface="Arial"/>
                          <a:cs typeface="Arial"/>
                          <a:sym typeface="Arial"/>
                        </a:rPr>
                        <a:t>• Slå på </a:t>
                      </a:r>
                      <a:r>
                        <a:rPr lang="sv-SE" sz="1600" b="1" u="none" strike="noStrike" cap="none">
                          <a:solidFill>
                            <a:schemeClr val="dk1"/>
                          </a:solidFill>
                          <a:latin typeface="Arial"/>
                          <a:ea typeface="Arial"/>
                          <a:cs typeface="Arial"/>
                          <a:sym typeface="Arial"/>
                        </a:rPr>
                        <a:t>"Titel"</a:t>
                      </a:r>
                      <a:r>
                        <a:rPr lang="sv-SE" sz="1600" b="0" u="none" strike="noStrike" cap="none">
                          <a:solidFill>
                            <a:schemeClr val="dk1"/>
                          </a:solidFill>
                          <a:latin typeface="Arial"/>
                          <a:ea typeface="Arial"/>
                          <a:cs typeface="Arial"/>
                          <a:sym typeface="Arial"/>
                        </a:rPr>
                        <a:t> under "Allmänt" och ge varje diagram en tydlig rubrik</a:t>
                      </a:r>
                      <a:br>
                        <a:rPr lang="sv-SE" sz="1600" b="0" u="none" strike="noStrike" cap="none">
                          <a:solidFill>
                            <a:srgbClr val="000000"/>
                          </a:solidFill>
                          <a:latin typeface="Arial"/>
                          <a:ea typeface="Arial"/>
                          <a:cs typeface="Arial"/>
                          <a:sym typeface="Arial"/>
                        </a:rPr>
                      </a:br>
                      <a:r>
                        <a:rPr lang="sv-SE" sz="1600" b="0" u="none" strike="noStrike" cap="none">
                          <a:solidFill>
                            <a:schemeClr val="dk1"/>
                          </a:solidFill>
                          <a:latin typeface="Arial"/>
                          <a:ea typeface="Arial"/>
                          <a:cs typeface="Arial"/>
                          <a:sym typeface="Arial"/>
                        </a:rPr>
                        <a:t>• Justera storlek och placering så allt passar på en sida</a:t>
                      </a:r>
                      <a:endParaRPr/>
                    </a:p>
                  </a:txBody>
                  <a:tcPr marL="59600" marR="0" marT="17025" marB="127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891300">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13</a:t>
                      </a:r>
                      <a:endParaRPr sz="1600" b="0" u="none" strike="noStrike" cap="none">
                        <a:solidFill>
                          <a:schemeClr val="dk1"/>
                        </a:solidFill>
                        <a:latin typeface="Arial"/>
                        <a:ea typeface="Arial"/>
                        <a:cs typeface="Arial"/>
                        <a:sym typeface="Arial"/>
                      </a:endParaRPr>
                    </a:p>
                  </a:txBody>
                  <a:tcPr marL="59600" marR="0" marT="17025" marB="127700"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17187"/>
                        </a:lnSpc>
                        <a:spcBef>
                          <a:spcPts val="0"/>
                        </a:spcBef>
                        <a:spcAft>
                          <a:spcPts val="0"/>
                        </a:spcAft>
                        <a:buClr>
                          <a:schemeClr val="dk1"/>
                        </a:buClr>
                        <a:buSzPts val="1600"/>
                        <a:buFont typeface="Arial"/>
                        <a:buNone/>
                      </a:pPr>
                      <a:r>
                        <a:rPr lang="sv-SE" sz="1600" b="1" u="none" strike="noStrike" cap="none">
                          <a:solidFill>
                            <a:schemeClr val="dk1"/>
                          </a:solidFill>
                          <a:latin typeface="Arial"/>
                          <a:ea typeface="Arial"/>
                          <a:cs typeface="Arial"/>
                          <a:sym typeface="Arial"/>
                        </a:rPr>
                        <a:t>Spara rapporten</a:t>
                      </a:r>
                      <a:endParaRPr sz="1600" b="0" u="none" strike="noStrike" cap="none">
                        <a:solidFill>
                          <a:schemeClr val="dk1"/>
                        </a:solidFill>
                        <a:latin typeface="Arial"/>
                        <a:ea typeface="Arial"/>
                        <a:cs typeface="Arial"/>
                        <a:sym typeface="Arial"/>
                      </a:endParaRPr>
                    </a:p>
                  </a:txBody>
                  <a:tcPr marL="59600" marR="0" marT="17025" marB="127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3125"/>
                        </a:lnSpc>
                        <a:spcBef>
                          <a:spcPts val="0"/>
                        </a:spcBef>
                        <a:spcAft>
                          <a:spcPts val="0"/>
                        </a:spcAft>
                        <a:buClr>
                          <a:schemeClr val="dk1"/>
                        </a:buClr>
                        <a:buSzPts val="1600"/>
                        <a:buFont typeface="Arial"/>
                        <a:buNone/>
                      </a:pPr>
                      <a:r>
                        <a:rPr lang="sv-SE" sz="1600" b="0" u="none" strike="noStrike" cap="none">
                          <a:solidFill>
                            <a:schemeClr val="dk1"/>
                          </a:solidFill>
                          <a:latin typeface="Arial"/>
                          <a:ea typeface="Arial"/>
                          <a:cs typeface="Arial"/>
                          <a:sym typeface="Arial"/>
                        </a:rPr>
                        <a:t>Klicka på </a:t>
                      </a:r>
                      <a:r>
                        <a:rPr lang="sv-SE" sz="1600" b="1" u="none" strike="noStrike" cap="none">
                          <a:solidFill>
                            <a:schemeClr val="dk1"/>
                          </a:solidFill>
                          <a:latin typeface="Arial"/>
                          <a:ea typeface="Arial"/>
                          <a:cs typeface="Arial"/>
                          <a:sym typeface="Arial"/>
                        </a:rPr>
                        <a:t>"Arkiv"</a:t>
                      </a:r>
                      <a:r>
                        <a:rPr lang="sv-SE" sz="1600" b="0" u="none" strike="noStrike" cap="none">
                          <a:solidFill>
                            <a:schemeClr val="dk1"/>
                          </a:solidFill>
                          <a:latin typeface="Arial"/>
                          <a:ea typeface="Arial"/>
                          <a:cs typeface="Arial"/>
                          <a:sym typeface="Arial"/>
                        </a:rPr>
                        <a:t> (File) → </a:t>
                      </a:r>
                      <a:r>
                        <a:rPr lang="sv-SE" sz="1600" b="1" u="none" strike="noStrike" cap="none">
                          <a:solidFill>
                            <a:schemeClr val="dk1"/>
                          </a:solidFill>
                          <a:latin typeface="Arial"/>
                          <a:ea typeface="Arial"/>
                          <a:cs typeface="Arial"/>
                          <a:sym typeface="Arial"/>
                        </a:rPr>
                        <a:t>"Spara som"</a:t>
                      </a:r>
                      <a:r>
                        <a:rPr lang="sv-SE" sz="1600" b="0" u="none" strike="noStrike" cap="none">
                          <a:solidFill>
                            <a:schemeClr val="dk1"/>
                          </a:solidFill>
                          <a:latin typeface="Arial"/>
                          <a:ea typeface="Arial"/>
                          <a:cs typeface="Arial"/>
                          <a:sym typeface="Arial"/>
                        </a:rPr>
                        <a:t> (Save As). Välj din projektmapp (t.ex. D:\FSHI\...\SQL2025\network_model\) och namnge filen: NetworkSecurityReport.pbix. Klicka på </a:t>
                      </a:r>
                      <a:r>
                        <a:rPr lang="sv-SE" sz="1600" b="1" u="none" strike="noStrike" cap="none">
                          <a:solidFill>
                            <a:schemeClr val="dk1"/>
                          </a:solidFill>
                          <a:latin typeface="Arial"/>
                          <a:ea typeface="Arial"/>
                          <a:cs typeface="Arial"/>
                          <a:sym typeface="Arial"/>
                        </a:rPr>
                        <a:t>"Spara"</a:t>
                      </a:r>
                      <a:r>
                        <a:rPr lang="sv-SE" sz="1600" b="0" u="none" strike="noStrike" cap="none">
                          <a:solidFill>
                            <a:schemeClr val="dk1"/>
                          </a:solidFill>
                          <a:latin typeface="Arial"/>
                          <a:ea typeface="Arial"/>
                          <a:cs typeface="Arial"/>
                          <a:sym typeface="Arial"/>
                        </a:rPr>
                        <a:t> .</a:t>
                      </a:r>
                      <a:endParaRPr/>
                    </a:p>
                  </a:txBody>
                  <a:tcPr marL="59600" marR="0" marT="17025" marB="1277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3"/>
        <p:cNvGrpSpPr/>
        <p:nvPr/>
      </p:nvGrpSpPr>
      <p:grpSpPr>
        <a:xfrm>
          <a:off x="0" y="0"/>
          <a:ext cx="0" cy="0"/>
          <a:chOff x="0" y="0"/>
          <a:chExt cx="0" cy="0"/>
        </a:xfrm>
      </p:grpSpPr>
      <p:sp>
        <p:nvSpPr>
          <p:cNvPr id="794" name="Google Shape;794;p6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5" name="Google Shape;795;p67"/>
          <p:cNvSpPr/>
          <p:nvPr/>
        </p:nvSpPr>
        <p:spPr>
          <a:xfrm rot="-2700000" flipH="1">
            <a:off x="-376156" y="-253670"/>
            <a:ext cx="1827638" cy="1376989"/>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6" name="Google Shape;796;p67"/>
          <p:cNvSpPr/>
          <p:nvPr/>
        </p:nvSpPr>
        <p:spPr>
          <a:xfrm rot="-2700000" flipH="1">
            <a:off x="891641" y="422146"/>
            <a:ext cx="645368" cy="645368"/>
          </a:xfrm>
          <a:prstGeom prst="rect">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7" name="Google Shape;797;p67"/>
          <p:cNvSpPr/>
          <p:nvPr/>
        </p:nvSpPr>
        <p:spPr>
          <a:xfrm rot="-2700000" flipH="1">
            <a:off x="10043482" y="655140"/>
            <a:ext cx="687472" cy="687472"/>
          </a:xfrm>
          <a:prstGeom prst="rect">
            <a:avLst/>
          </a:pr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8" name="Google Shape;798;p67"/>
          <p:cNvSpPr/>
          <p:nvPr/>
        </p:nvSpPr>
        <p:spPr>
          <a:xfrm rot="10800000" flipH="1">
            <a:off x="9356643" y="0"/>
            <a:ext cx="2835357" cy="1480837"/>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9" name="Google Shape;799;p67"/>
          <p:cNvSpPr/>
          <p:nvPr/>
        </p:nvSpPr>
        <p:spPr>
          <a:xfrm flipH="1">
            <a:off x="7976344" y="6115501"/>
            <a:ext cx="1494513" cy="742499"/>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0" name="Google Shape;800;p67"/>
          <p:cNvSpPr/>
          <p:nvPr/>
        </p:nvSpPr>
        <p:spPr>
          <a:xfrm flipH="1">
            <a:off x="7604080" y="6453143"/>
            <a:ext cx="814903" cy="404857"/>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801" name="Google Shape;801;p67"/>
          <p:cNvGraphicFramePr/>
          <p:nvPr/>
        </p:nvGraphicFramePr>
        <p:xfrm>
          <a:off x="150025" y="165840"/>
          <a:ext cx="3000000" cy="3000000"/>
        </p:xfrm>
        <a:graphic>
          <a:graphicData uri="http://schemas.openxmlformats.org/drawingml/2006/table">
            <a:tbl>
              <a:tblPr firstRow="1" bandRow="1">
                <a:noFill/>
                <a:tableStyleId>{CCBEF902-2C5E-4BBE-9D97-C6D18260B670}</a:tableStyleId>
              </a:tblPr>
              <a:tblGrid>
                <a:gridCol w="2697700">
                  <a:extLst>
                    <a:ext uri="{9D8B030D-6E8A-4147-A177-3AD203B41FA5}">
                      <a16:colId xmlns:a16="http://schemas.microsoft.com/office/drawing/2014/main" val="20000"/>
                    </a:ext>
                  </a:extLst>
                </a:gridCol>
                <a:gridCol w="4429300">
                  <a:extLst>
                    <a:ext uri="{9D8B030D-6E8A-4147-A177-3AD203B41FA5}">
                      <a16:colId xmlns:a16="http://schemas.microsoft.com/office/drawing/2014/main" val="20001"/>
                    </a:ext>
                  </a:extLst>
                </a:gridCol>
                <a:gridCol w="4764950">
                  <a:extLst>
                    <a:ext uri="{9D8B030D-6E8A-4147-A177-3AD203B41FA5}">
                      <a16:colId xmlns:a16="http://schemas.microsoft.com/office/drawing/2014/main" val="20002"/>
                    </a:ext>
                  </a:extLst>
                </a:gridCol>
              </a:tblGrid>
              <a:tr h="515400">
                <a:tc>
                  <a:txBody>
                    <a:bodyPr/>
                    <a:lstStyle/>
                    <a:p>
                      <a:pPr marL="0" marR="0" lvl="0" indent="0" algn="l" rtl="0">
                        <a:lnSpc>
                          <a:spcPct val="78125"/>
                        </a:lnSpc>
                        <a:spcBef>
                          <a:spcPts val="0"/>
                        </a:spcBef>
                        <a:spcAft>
                          <a:spcPts val="0"/>
                        </a:spcAft>
                        <a:buClr>
                          <a:schemeClr val="dk1"/>
                        </a:buClr>
                        <a:buSzPts val="2400"/>
                        <a:buFont typeface="Arial"/>
                        <a:buNone/>
                      </a:pPr>
                      <a:r>
                        <a:rPr lang="sv-SE" sz="2400" b="1" u="none" strike="noStrike" cap="none"/>
                        <a:t>Visualisering</a:t>
                      </a:r>
                      <a:endParaRPr sz="2400" b="0" u="none" strike="noStrike" cap="none">
                        <a:latin typeface="Arial"/>
                        <a:ea typeface="Arial"/>
                        <a:cs typeface="Arial"/>
                        <a:sym typeface="Arial"/>
                      </a:endParaRPr>
                    </a:p>
                  </a:txBody>
                  <a:tcPr marL="75275" marR="125450" marT="78400" marB="78400" anchor="ctr"/>
                </a:tc>
                <a:tc>
                  <a:txBody>
                    <a:bodyPr/>
                    <a:lstStyle/>
                    <a:p>
                      <a:pPr marL="0" marR="0" lvl="0" indent="0" algn="l" rtl="0">
                        <a:lnSpc>
                          <a:spcPct val="78125"/>
                        </a:lnSpc>
                        <a:spcBef>
                          <a:spcPts val="0"/>
                        </a:spcBef>
                        <a:spcAft>
                          <a:spcPts val="0"/>
                        </a:spcAft>
                        <a:buClr>
                          <a:schemeClr val="dk1"/>
                        </a:buClr>
                        <a:buSzPts val="2400"/>
                        <a:buFont typeface="Arial"/>
                        <a:buNone/>
                      </a:pPr>
                      <a:r>
                        <a:rPr lang="sv-SE" sz="2400" b="1" u="none" strike="noStrike" cap="none"/>
                        <a:t>Vad visar den?</a:t>
                      </a:r>
                      <a:endParaRPr sz="2400" b="0" u="none" strike="noStrike" cap="none">
                        <a:latin typeface="Arial"/>
                        <a:ea typeface="Arial"/>
                        <a:cs typeface="Arial"/>
                        <a:sym typeface="Arial"/>
                      </a:endParaRPr>
                    </a:p>
                  </a:txBody>
                  <a:tcPr marL="125450" marR="125450" marT="78400" marB="78400" anchor="ctr"/>
                </a:tc>
                <a:tc>
                  <a:txBody>
                    <a:bodyPr/>
                    <a:lstStyle/>
                    <a:p>
                      <a:pPr marL="0" marR="0" lvl="0" indent="0" algn="l" rtl="0">
                        <a:lnSpc>
                          <a:spcPct val="78125"/>
                        </a:lnSpc>
                        <a:spcBef>
                          <a:spcPts val="0"/>
                        </a:spcBef>
                        <a:spcAft>
                          <a:spcPts val="0"/>
                        </a:spcAft>
                        <a:buClr>
                          <a:schemeClr val="dk1"/>
                        </a:buClr>
                        <a:buSzPts val="2400"/>
                        <a:buFont typeface="Arial"/>
                        <a:buNone/>
                      </a:pPr>
                      <a:r>
                        <a:rPr lang="sv-SE" sz="2400" b="1" u="none" strike="noStrike" cap="none"/>
                        <a:t>Varför är den viktig?</a:t>
                      </a:r>
                      <a:endParaRPr sz="2400" b="0" u="none" strike="noStrike" cap="none">
                        <a:latin typeface="Arial"/>
                        <a:ea typeface="Arial"/>
                        <a:cs typeface="Arial"/>
                        <a:sym typeface="Arial"/>
                      </a:endParaRPr>
                    </a:p>
                  </a:txBody>
                  <a:tcPr marL="125450" marR="125450" marT="78400" marB="78400" anchor="ctr"/>
                </a:tc>
                <a:extLst>
                  <a:ext uri="{0D108BD9-81ED-4DB2-BD59-A6C34878D82A}">
                    <a16:rowId xmlns:a16="http://schemas.microsoft.com/office/drawing/2014/main" val="10000"/>
                  </a:ext>
                </a:extLst>
              </a:tr>
              <a:tr h="8099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t>KPI-kort</a:t>
                      </a:r>
                      <a:endParaRPr sz="2000" b="0" u="none" strike="noStrike" cap="none">
                        <a:latin typeface="Arial"/>
                        <a:ea typeface="Arial"/>
                        <a:cs typeface="Arial"/>
                        <a:sym typeface="Arial"/>
                      </a:endParaRPr>
                    </a:p>
                  </a:txBody>
                  <a:tcPr marL="75275"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Totala antalet attacker, genomsnittlig konfidens, totala antalet loggar</a:t>
                      </a:r>
                      <a:endParaRPr sz="2000" b="0" u="none" strike="noStrike" cap="none">
                        <a:latin typeface="Arial"/>
                        <a:ea typeface="Arial"/>
                        <a:cs typeface="Arial"/>
                        <a:sym typeface="Arial"/>
                      </a:endParaRPr>
                    </a:p>
                  </a:txBody>
                  <a:tcPr marL="125450"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Ger en snabb överblick över läget .</a:t>
                      </a:r>
                      <a:endParaRPr sz="2000" b="0" u="none" strike="noStrike" cap="none">
                        <a:latin typeface="Arial"/>
                        <a:ea typeface="Arial"/>
                        <a:cs typeface="Arial"/>
                        <a:sym typeface="Arial"/>
                      </a:endParaRPr>
                    </a:p>
                  </a:txBody>
                  <a:tcPr marL="125450" marR="75275" marT="78400" marB="78400" anchor="ctr"/>
                </a:tc>
                <a:extLst>
                  <a:ext uri="{0D108BD9-81ED-4DB2-BD59-A6C34878D82A}">
                    <a16:rowId xmlns:a16="http://schemas.microsoft.com/office/drawing/2014/main" val="10001"/>
                  </a:ext>
                </a:extLst>
              </a:tr>
              <a:tr h="9790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t>Stapeldiagram (attacktyper)</a:t>
                      </a:r>
                      <a:endParaRPr sz="2000" b="0" u="none" strike="noStrike" cap="none">
                        <a:latin typeface="Arial"/>
                        <a:ea typeface="Arial"/>
                        <a:cs typeface="Arial"/>
                        <a:sym typeface="Arial"/>
                      </a:endParaRPr>
                    </a:p>
                  </a:txBody>
                  <a:tcPr marL="75275"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Fördelning av olika attacktyper</a:t>
                      </a:r>
                      <a:endParaRPr sz="2000" b="0" u="none" strike="noStrike" cap="none">
                        <a:latin typeface="Arial"/>
                        <a:ea typeface="Arial"/>
                        <a:cs typeface="Arial"/>
                        <a:sym typeface="Arial"/>
                      </a:endParaRPr>
                    </a:p>
                  </a:txBody>
                  <a:tcPr marL="125450"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Visar vilka hot som är vanligast – kanske behöver man fokusera på Port Scan?</a:t>
                      </a:r>
                      <a:endParaRPr sz="2000" b="0" u="none" strike="noStrike" cap="none">
                        <a:latin typeface="Arial"/>
                        <a:ea typeface="Arial"/>
                        <a:cs typeface="Arial"/>
                        <a:sym typeface="Arial"/>
                      </a:endParaRPr>
                    </a:p>
                  </a:txBody>
                  <a:tcPr marL="125450" marR="75275" marT="78400" marB="78400" anchor="ctr"/>
                </a:tc>
                <a:extLst>
                  <a:ext uri="{0D108BD9-81ED-4DB2-BD59-A6C34878D82A}">
                    <a16:rowId xmlns:a16="http://schemas.microsoft.com/office/drawing/2014/main" val="10002"/>
                  </a:ext>
                </a:extLst>
              </a:tr>
              <a:tr h="9790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t>Linjediagram (tidslinje)</a:t>
                      </a:r>
                      <a:endParaRPr sz="2000" b="0" u="none" strike="noStrike" cap="none">
                        <a:latin typeface="Arial"/>
                        <a:ea typeface="Arial"/>
                        <a:cs typeface="Arial"/>
                        <a:sym typeface="Arial"/>
                      </a:endParaRPr>
                    </a:p>
                  </a:txBody>
                  <a:tcPr marL="75275"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Antal attacker över tid</a:t>
                      </a:r>
                      <a:endParaRPr sz="2000" b="0" u="none" strike="noStrike" cap="none">
                        <a:latin typeface="Arial"/>
                        <a:ea typeface="Arial"/>
                        <a:cs typeface="Arial"/>
                        <a:sym typeface="Arial"/>
                      </a:endParaRPr>
                    </a:p>
                  </a:txBody>
                  <a:tcPr marL="125450"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Hjälper att upptäcka trender och toppar – pågår en DDoS-attack just nu?</a:t>
                      </a:r>
                      <a:endParaRPr sz="2000" b="0" u="none" strike="noStrike" cap="none">
                        <a:latin typeface="Arial"/>
                        <a:ea typeface="Arial"/>
                        <a:cs typeface="Arial"/>
                        <a:sym typeface="Arial"/>
                      </a:endParaRPr>
                    </a:p>
                  </a:txBody>
                  <a:tcPr marL="125450" marR="75275" marT="78400" marB="78400" anchor="ctr"/>
                </a:tc>
                <a:extLst>
                  <a:ext uri="{0D108BD9-81ED-4DB2-BD59-A6C34878D82A}">
                    <a16:rowId xmlns:a16="http://schemas.microsoft.com/office/drawing/2014/main" val="10003"/>
                  </a:ext>
                </a:extLst>
              </a:tr>
              <a:tr h="8099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t>Cirkeldiagram</a:t>
                      </a:r>
                      <a:endParaRPr sz="2000" b="0" u="none" strike="noStrike" cap="none">
                        <a:latin typeface="Arial"/>
                        <a:ea typeface="Arial"/>
                        <a:cs typeface="Arial"/>
                        <a:sym typeface="Arial"/>
                      </a:endParaRPr>
                    </a:p>
                  </a:txBody>
                  <a:tcPr marL="75275"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Andel normal trafik vs attacker</a:t>
                      </a:r>
                      <a:endParaRPr sz="2000" b="0" u="none" strike="noStrike" cap="none">
                        <a:latin typeface="Arial"/>
                        <a:ea typeface="Arial"/>
                        <a:cs typeface="Arial"/>
                        <a:sym typeface="Arial"/>
                      </a:endParaRPr>
                    </a:p>
                  </a:txBody>
                  <a:tcPr marL="125450"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Ger en känsla för hur stor del av trafiken som är skadlig .</a:t>
                      </a:r>
                      <a:endParaRPr sz="2000" b="0" u="none" strike="noStrike" cap="none">
                        <a:latin typeface="Arial"/>
                        <a:ea typeface="Arial"/>
                        <a:cs typeface="Arial"/>
                        <a:sym typeface="Arial"/>
                      </a:endParaRPr>
                    </a:p>
                  </a:txBody>
                  <a:tcPr marL="125450" marR="75275" marT="78400" marB="78400" anchor="ctr"/>
                </a:tc>
                <a:extLst>
                  <a:ext uri="{0D108BD9-81ED-4DB2-BD59-A6C34878D82A}">
                    <a16:rowId xmlns:a16="http://schemas.microsoft.com/office/drawing/2014/main" val="10004"/>
                  </a:ext>
                </a:extLst>
              </a:tr>
              <a:tr h="8099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t>Punktdiagram</a:t>
                      </a:r>
                      <a:endParaRPr sz="2000" b="0" u="none" strike="noStrike" cap="none">
                        <a:latin typeface="Arial"/>
                        <a:ea typeface="Arial"/>
                        <a:cs typeface="Arial"/>
                        <a:sym typeface="Arial"/>
                      </a:endParaRPr>
                    </a:p>
                  </a:txBody>
                  <a:tcPr marL="75275"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Konfidens per analys</a:t>
                      </a:r>
                      <a:endParaRPr sz="2000" b="0" u="none" strike="noStrike" cap="none">
                        <a:latin typeface="Arial"/>
                        <a:ea typeface="Arial"/>
                        <a:cs typeface="Arial"/>
                        <a:sym typeface="Arial"/>
                      </a:endParaRPr>
                    </a:p>
                  </a:txBody>
                  <a:tcPr marL="125450"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Visar om det finns många osäkra klassificeringar (låg konfidens) .</a:t>
                      </a:r>
                      <a:endParaRPr sz="2000" b="0" u="none" strike="noStrike" cap="none">
                        <a:latin typeface="Arial"/>
                        <a:ea typeface="Arial"/>
                        <a:cs typeface="Arial"/>
                        <a:sym typeface="Arial"/>
                      </a:endParaRPr>
                    </a:p>
                  </a:txBody>
                  <a:tcPr marL="125450" marR="75275" marT="78400" marB="78400" anchor="ctr"/>
                </a:tc>
                <a:extLst>
                  <a:ext uri="{0D108BD9-81ED-4DB2-BD59-A6C34878D82A}">
                    <a16:rowId xmlns:a16="http://schemas.microsoft.com/office/drawing/2014/main" val="10005"/>
                  </a:ext>
                </a:extLst>
              </a:tr>
              <a:tr h="8099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t>Tabell</a:t>
                      </a:r>
                      <a:endParaRPr sz="2000" b="0" u="none" strike="noStrike" cap="none">
                        <a:latin typeface="Arial"/>
                        <a:ea typeface="Arial"/>
                        <a:cs typeface="Arial"/>
                        <a:sym typeface="Arial"/>
                      </a:endParaRPr>
                    </a:p>
                  </a:txBody>
                  <a:tcPr marL="75275"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Detaljerad information om varje händelse</a:t>
                      </a:r>
                      <a:endParaRPr sz="2000" b="0" u="none" strike="noStrike" cap="none">
                        <a:latin typeface="Arial"/>
                        <a:ea typeface="Arial"/>
                        <a:cs typeface="Arial"/>
                        <a:sym typeface="Arial"/>
                      </a:endParaRPr>
                    </a:p>
                  </a:txBody>
                  <a:tcPr marL="125450"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Gör att analytikern kan granska misstänkta händelser manuellt .</a:t>
                      </a:r>
                      <a:endParaRPr sz="2000" b="0" u="none" strike="noStrike" cap="none">
                        <a:latin typeface="Arial"/>
                        <a:ea typeface="Arial"/>
                        <a:cs typeface="Arial"/>
                        <a:sym typeface="Arial"/>
                      </a:endParaRPr>
                    </a:p>
                  </a:txBody>
                  <a:tcPr marL="125450" marR="75275" marT="78400" marB="78400" anchor="ctr"/>
                </a:tc>
                <a:extLst>
                  <a:ext uri="{0D108BD9-81ED-4DB2-BD59-A6C34878D82A}">
                    <a16:rowId xmlns:a16="http://schemas.microsoft.com/office/drawing/2014/main" val="10006"/>
                  </a:ext>
                </a:extLst>
              </a:tr>
              <a:tr h="9090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t>Filter (Slicers)</a:t>
                      </a:r>
                      <a:endParaRPr sz="2000" b="0" u="none" strike="noStrike" cap="none">
                        <a:latin typeface="Arial"/>
                        <a:ea typeface="Arial"/>
                        <a:cs typeface="Arial"/>
                        <a:sym typeface="Arial"/>
                      </a:endParaRPr>
                    </a:p>
                  </a:txBody>
                  <a:tcPr marL="75275"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Välj attacktyp eller datumintervall</a:t>
                      </a:r>
                      <a:endParaRPr sz="2000" b="0" u="none" strike="noStrike" cap="none">
                        <a:latin typeface="Arial"/>
                        <a:ea typeface="Arial"/>
                        <a:cs typeface="Arial"/>
                        <a:sym typeface="Arial"/>
                      </a:endParaRPr>
                    </a:p>
                  </a:txBody>
                  <a:tcPr marL="125450" marR="125450" marT="78400" marB="78400" anchor="ct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t>Gör rapporten interaktiv – användaren kan själv välja vad som ska visas .</a:t>
                      </a:r>
                      <a:endParaRPr sz="2000" b="0" u="none" strike="noStrike" cap="none">
                        <a:latin typeface="Arial"/>
                        <a:ea typeface="Arial"/>
                        <a:cs typeface="Arial"/>
                        <a:sym typeface="Arial"/>
                      </a:endParaRPr>
                    </a:p>
                  </a:txBody>
                  <a:tcPr marL="125450" marR="75275" marT="78400" marB="7840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5"/>
        <p:cNvGrpSpPr/>
        <p:nvPr/>
      </p:nvGrpSpPr>
      <p:grpSpPr>
        <a:xfrm>
          <a:off x="0" y="0"/>
          <a:ext cx="0" cy="0"/>
          <a:chOff x="0" y="0"/>
          <a:chExt cx="0" cy="0"/>
        </a:xfrm>
      </p:grpSpPr>
      <p:sp>
        <p:nvSpPr>
          <p:cNvPr id="806" name="Google Shape;806;p6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7" name="Google Shape;807;p68"/>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8" name="Google Shape;808;p68"/>
          <p:cNvSpPr/>
          <p:nvPr/>
        </p:nvSpPr>
        <p:spPr>
          <a:xfrm rot="-5400000">
            <a:off x="-158495" y="2660473"/>
            <a:ext cx="4355594" cy="4038603"/>
          </a:xfrm>
          <a:prstGeom prst="rect">
            <a:avLst/>
          </a:prstGeom>
          <a:gradFill>
            <a:gsLst>
              <a:gs pos="0">
                <a:srgbClr val="156082">
                  <a:alpha val="50196"/>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9" name="Google Shape;809;p68"/>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0" name="Google Shape;810;p68"/>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1" name="Google Shape;811;p68"/>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Vanliga frågor</a:t>
            </a:r>
            <a:endParaRPr/>
          </a:p>
        </p:txBody>
      </p:sp>
      <p:graphicFrame>
        <p:nvGraphicFramePr>
          <p:cNvPr id="812" name="Google Shape;812;p68"/>
          <p:cNvGraphicFramePr/>
          <p:nvPr/>
        </p:nvGraphicFramePr>
        <p:xfrm>
          <a:off x="4140679" y="71886"/>
          <a:ext cx="3000000" cy="3000000"/>
        </p:xfrm>
        <a:graphic>
          <a:graphicData uri="http://schemas.openxmlformats.org/drawingml/2006/table">
            <a:tbl>
              <a:tblPr firstRow="1" bandRow="1">
                <a:solidFill>
                  <a:srgbClr val="C0E4F5"/>
                </a:solidFill>
                <a:tableStyleId>{822C3B93-EF79-491A-80E4-DA79D8C4CF44}</a:tableStyleId>
              </a:tblPr>
              <a:tblGrid>
                <a:gridCol w="2311825">
                  <a:extLst>
                    <a:ext uri="{9D8B030D-6E8A-4147-A177-3AD203B41FA5}">
                      <a16:colId xmlns:a16="http://schemas.microsoft.com/office/drawing/2014/main" val="20000"/>
                    </a:ext>
                  </a:extLst>
                </a:gridCol>
                <a:gridCol w="5725900">
                  <a:extLst>
                    <a:ext uri="{9D8B030D-6E8A-4147-A177-3AD203B41FA5}">
                      <a16:colId xmlns:a16="http://schemas.microsoft.com/office/drawing/2014/main" val="20001"/>
                    </a:ext>
                  </a:extLst>
                </a:gridCol>
              </a:tblGrid>
              <a:tr h="50940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FRÅGA</a:t>
                      </a:r>
                      <a:endParaRPr/>
                    </a:p>
                  </a:txBody>
                  <a:tcPr marL="120800" marR="120800" marT="120800" marB="1208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SVAR</a:t>
                      </a:r>
                      <a:endParaRPr/>
                    </a:p>
                  </a:txBody>
                  <a:tcPr marL="120800" marR="120800" marT="120800" marB="1208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2016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en KPI?</a:t>
                      </a:r>
                      <a:endParaRPr sz="1800" b="0" u="none" strike="noStrike" cap="none">
                        <a:solidFill>
                          <a:schemeClr val="dk1"/>
                        </a:solidFill>
                        <a:latin typeface="Arial"/>
                        <a:ea typeface="Arial"/>
                        <a:cs typeface="Arial"/>
                        <a:sym typeface="Arial"/>
                      </a:endParaRPr>
                    </a:p>
                  </a:txBody>
                  <a:tcPr marL="80550" marR="134225" marT="83900" marB="80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Key Performance Indicator – ett viktigt nyckeltal som ger en snabb överblick. Här använder vi kort för att visa antal attacker, konfidens etc.</a:t>
                      </a:r>
                      <a:endParaRPr/>
                    </a:p>
                  </a:txBody>
                  <a:tcPr marL="134225" marR="80550" marT="83900" marB="80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2016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Vad är en Slicer (utfällare)?</a:t>
                      </a:r>
                      <a:endParaRPr sz="1800" b="0" u="none" strike="noStrike" cap="none">
                        <a:solidFill>
                          <a:schemeClr val="dk1"/>
                        </a:solidFill>
                        <a:latin typeface="Arial"/>
                        <a:ea typeface="Arial"/>
                        <a:cs typeface="Arial"/>
                        <a:sym typeface="Arial"/>
                      </a:endParaRPr>
                    </a:p>
                  </a:txBody>
                  <a:tcPr marL="80550" marR="134225" marT="83900" marB="80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AE3F3">
                        <a:alpha val="50196"/>
                      </a:srgbClr>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Ett interaktivt filter som låter användaren själv välja vad som ska visas, t.ex. bara "Webbserverattack" eller bara de senaste 7 dagarna .</a:t>
                      </a:r>
                      <a:endParaRPr/>
                    </a:p>
                  </a:txBody>
                  <a:tcPr marL="134225" marR="80550" marT="83900" marB="80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AE3F3">
                        <a:alpha val="50196"/>
                      </a:srgbClr>
                    </a:solidFill>
                  </a:tcPr>
                </a:tc>
                <a:extLst>
                  <a:ext uri="{0D108BD9-81ED-4DB2-BD59-A6C34878D82A}">
                    <a16:rowId xmlns:a16="http://schemas.microsoft.com/office/drawing/2014/main" val="10002"/>
                  </a:ext>
                </a:extLst>
              </a:tr>
              <a:tr h="12016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Varför ser jag konstiga datum i tidslinjen?</a:t>
                      </a:r>
                      <a:endParaRPr sz="1800" b="0" u="none" strike="noStrike" cap="none">
                        <a:solidFill>
                          <a:schemeClr val="dk1"/>
                        </a:solidFill>
                        <a:latin typeface="Arial"/>
                        <a:ea typeface="Arial"/>
                        <a:cs typeface="Arial"/>
                        <a:sym typeface="Arial"/>
                      </a:endParaRPr>
                    </a:p>
                  </a:txBody>
                  <a:tcPr marL="80550" marR="134225" marT="83900" marB="80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Power BI skapar automatiskt en datumhierarki (År, Kvartal, Månad, Dag). Klicka på X-axeln och välj bara datumfältet för att få en enkel tidslinje.</a:t>
                      </a:r>
                      <a:endParaRPr/>
                    </a:p>
                  </a:txBody>
                  <a:tcPr marL="134225" marR="80550" marT="83900" marB="80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9534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Hur ändrar jag färger i diagrammen?</a:t>
                      </a:r>
                      <a:endParaRPr sz="1800" b="0" u="none" strike="noStrike" cap="none">
                        <a:solidFill>
                          <a:schemeClr val="dk1"/>
                        </a:solidFill>
                        <a:latin typeface="Arial"/>
                        <a:ea typeface="Arial"/>
                        <a:cs typeface="Arial"/>
                        <a:sym typeface="Arial"/>
                      </a:endParaRPr>
                    </a:p>
                  </a:txBody>
                  <a:tcPr marL="80550" marR="134225" marT="83900" marB="80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AE3F3">
                        <a:alpha val="50196"/>
                      </a:srgbClr>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Klicka på diagrammet, gå till formatpanelen (rullikonen), hitta "Datafärger" och välj dina egna färger .</a:t>
                      </a:r>
                      <a:endParaRPr/>
                    </a:p>
                  </a:txBody>
                  <a:tcPr marL="134225" marR="80550" marT="83900" marB="80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AE3F3">
                        <a:alpha val="50196"/>
                      </a:srgbClr>
                    </a:solidFill>
                  </a:tcPr>
                </a:tc>
                <a:extLst>
                  <a:ext uri="{0D108BD9-81ED-4DB2-BD59-A6C34878D82A}">
                    <a16:rowId xmlns:a16="http://schemas.microsoft.com/office/drawing/2014/main" val="10004"/>
                  </a:ext>
                </a:extLst>
              </a:tr>
              <a:tr h="692250">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Kan jag spara filtervalen?</a:t>
                      </a:r>
                      <a:endParaRPr sz="1800" b="0" u="none" strike="noStrike" cap="none">
                        <a:solidFill>
                          <a:schemeClr val="dk1"/>
                        </a:solidFill>
                        <a:latin typeface="Arial"/>
                        <a:ea typeface="Arial"/>
                        <a:cs typeface="Arial"/>
                        <a:sym typeface="Arial"/>
                      </a:endParaRPr>
                    </a:p>
                  </a:txBody>
                  <a:tcPr marL="80550" marR="134225" marT="83900" marB="80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Ja, när du sparar rapporten sparas även de aktiva filtren.</a:t>
                      </a:r>
                      <a:endParaRPr/>
                    </a:p>
                  </a:txBody>
                  <a:tcPr marL="134225" marR="80550" marT="83900" marB="80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953475">
                <a:tc>
                  <a:txBody>
                    <a:bodyPr/>
                    <a:lstStyle/>
                    <a:p>
                      <a:pPr marL="0" marR="0" lvl="0" indent="0" algn="l" rtl="0">
                        <a:lnSpc>
                          <a:spcPct val="104166"/>
                        </a:lnSpc>
                        <a:spcBef>
                          <a:spcPts val="0"/>
                        </a:spcBef>
                        <a:spcAft>
                          <a:spcPts val="0"/>
                        </a:spcAft>
                        <a:buClr>
                          <a:schemeClr val="dk1"/>
                        </a:buClr>
                        <a:buSzPts val="1800"/>
                        <a:buFont typeface="Arial"/>
                        <a:buNone/>
                      </a:pPr>
                      <a:r>
                        <a:rPr lang="sv-SE" sz="1800" b="1" u="none" strike="noStrike" cap="none">
                          <a:solidFill>
                            <a:schemeClr val="dk1"/>
                          </a:solidFill>
                          <a:latin typeface="Arial"/>
                          <a:ea typeface="Arial"/>
                          <a:cs typeface="Arial"/>
                          <a:sym typeface="Arial"/>
                        </a:rPr>
                        <a:t>Hur uppdaterar jag rapporten med ny data?</a:t>
                      </a:r>
                      <a:endParaRPr sz="1800" b="0" u="none" strike="noStrike" cap="none">
                        <a:solidFill>
                          <a:schemeClr val="dk1"/>
                        </a:solidFill>
                        <a:latin typeface="Arial"/>
                        <a:ea typeface="Arial"/>
                        <a:cs typeface="Arial"/>
                        <a:sym typeface="Arial"/>
                      </a:endParaRPr>
                    </a:p>
                  </a:txBody>
                  <a:tcPr marL="80550" marR="134225" marT="83900" marB="80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AE3F3">
                        <a:alpha val="50196"/>
                      </a:srgbClr>
                    </a:solidFill>
                  </a:tcPr>
                </a:tc>
                <a:tc>
                  <a:txBody>
                    <a:bodyPr/>
                    <a:lstStyle/>
                    <a:p>
                      <a:pPr marL="0" marR="0" lvl="0" indent="0" algn="l" rtl="0">
                        <a:lnSpc>
                          <a:spcPct val="104166"/>
                        </a:lnSpc>
                        <a:spcBef>
                          <a:spcPts val="0"/>
                        </a:spcBef>
                        <a:spcAft>
                          <a:spcPts val="0"/>
                        </a:spcAft>
                        <a:buClr>
                          <a:schemeClr val="dk1"/>
                        </a:buClr>
                        <a:buSzPts val="1800"/>
                        <a:buFont typeface="Arial"/>
                        <a:buNone/>
                      </a:pPr>
                      <a:r>
                        <a:rPr lang="sv-SE" sz="1800" b="0" u="none" strike="noStrike" cap="none">
                          <a:solidFill>
                            <a:schemeClr val="dk1"/>
                          </a:solidFill>
                          <a:latin typeface="Arial"/>
                          <a:ea typeface="Arial"/>
                          <a:cs typeface="Arial"/>
                          <a:sym typeface="Arial"/>
                        </a:rPr>
                        <a:t>Klicka på </a:t>
                      </a:r>
                      <a:r>
                        <a:rPr lang="sv-SE" sz="1800" b="1" u="none" strike="noStrike" cap="none">
                          <a:solidFill>
                            <a:schemeClr val="dk1"/>
                          </a:solidFill>
                          <a:latin typeface="Arial"/>
                          <a:ea typeface="Arial"/>
                          <a:cs typeface="Arial"/>
                          <a:sym typeface="Arial"/>
                        </a:rPr>
                        <a:t>"Uppdatera"</a:t>
                      </a:r>
                      <a:r>
                        <a:rPr lang="sv-SE" sz="1800" b="0" u="none" strike="noStrike" cap="none">
                          <a:solidFill>
                            <a:schemeClr val="dk1"/>
                          </a:solidFill>
                          <a:latin typeface="Arial"/>
                          <a:ea typeface="Arial"/>
                          <a:cs typeface="Arial"/>
                          <a:sym typeface="Arial"/>
                        </a:rPr>
                        <a:t> (Refresh) i menyfliksområdet. Power BI hämtar då ny data från SQL Server.</a:t>
                      </a:r>
                      <a:endParaRPr/>
                    </a:p>
                  </a:txBody>
                  <a:tcPr marL="134225" marR="80550" marT="83900" marB="80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AE3F3">
                        <a:alpha val="50196"/>
                      </a:srgb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16"/>
        <p:cNvGrpSpPr/>
        <p:nvPr/>
      </p:nvGrpSpPr>
      <p:grpSpPr>
        <a:xfrm>
          <a:off x="0" y="0"/>
          <a:ext cx="0" cy="0"/>
          <a:chOff x="0" y="0"/>
          <a:chExt cx="0" cy="0"/>
        </a:xfrm>
      </p:grpSpPr>
      <p:sp>
        <p:nvSpPr>
          <p:cNvPr id="817" name="Google Shape;817;p6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8" name="Google Shape;818;p69"/>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9" name="Google Shape;819;p69"/>
          <p:cNvSpPr/>
          <p:nvPr/>
        </p:nvSpPr>
        <p:spPr>
          <a:xfrm rot="-5400000">
            <a:off x="-158495" y="2660473"/>
            <a:ext cx="4355594" cy="4038603"/>
          </a:xfrm>
          <a:prstGeom prst="rect">
            <a:avLst/>
          </a:prstGeom>
          <a:gradFill>
            <a:gsLst>
              <a:gs pos="0">
                <a:srgbClr val="156082">
                  <a:alpha val="50196"/>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20" name="Google Shape;820;p69"/>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21" name="Google Shape;821;p69"/>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22" name="Google Shape;822;p69"/>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4000"/>
              <a:buFont typeface="Play"/>
              <a:buNone/>
            </a:pPr>
            <a:r>
              <a:rPr lang="sv-SE" sz="4000">
                <a:solidFill>
                  <a:srgbClr val="FFFFFF"/>
                </a:solidFill>
                <a:latin typeface="Play"/>
                <a:ea typeface="Play"/>
                <a:cs typeface="Play"/>
                <a:sym typeface="Play"/>
              </a:rPr>
              <a:t>Felsökning </a:t>
            </a:r>
            <a:endParaRPr/>
          </a:p>
        </p:txBody>
      </p:sp>
      <p:graphicFrame>
        <p:nvGraphicFramePr>
          <p:cNvPr id="823" name="Google Shape;823;p69"/>
          <p:cNvGraphicFramePr/>
          <p:nvPr/>
        </p:nvGraphicFramePr>
        <p:xfrm>
          <a:off x="4040037" y="43132"/>
          <a:ext cx="3000000" cy="3000000"/>
        </p:xfrm>
        <a:graphic>
          <a:graphicData uri="http://schemas.openxmlformats.org/drawingml/2006/table">
            <a:tbl>
              <a:tblPr firstRow="1" bandRow="1">
                <a:noFill/>
                <a:tableStyleId>{822C3B93-EF79-491A-80E4-DA79D8C4CF44}</a:tableStyleId>
              </a:tblPr>
              <a:tblGrid>
                <a:gridCol w="2131025">
                  <a:extLst>
                    <a:ext uri="{9D8B030D-6E8A-4147-A177-3AD203B41FA5}">
                      <a16:colId xmlns:a16="http://schemas.microsoft.com/office/drawing/2014/main" val="20000"/>
                    </a:ext>
                  </a:extLst>
                </a:gridCol>
                <a:gridCol w="5994175">
                  <a:extLst>
                    <a:ext uri="{9D8B030D-6E8A-4147-A177-3AD203B41FA5}">
                      <a16:colId xmlns:a16="http://schemas.microsoft.com/office/drawing/2014/main" val="20001"/>
                    </a:ext>
                  </a:extLst>
                </a:gridCol>
              </a:tblGrid>
              <a:tr h="759900">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PROBLEM</a:t>
                      </a:r>
                      <a:endParaRPr/>
                    </a:p>
                  </a:txBody>
                  <a:tcPr marL="75275" marR="125475" marT="75275" marB="752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33928"/>
                        </a:lnSpc>
                        <a:spcBef>
                          <a:spcPts val="0"/>
                        </a:spcBef>
                        <a:spcAft>
                          <a:spcPts val="0"/>
                        </a:spcAft>
                        <a:buClr>
                          <a:schemeClr val="dk1"/>
                        </a:buClr>
                        <a:buSzPts val="1400"/>
                        <a:buFont typeface="Arial"/>
                        <a:buNone/>
                      </a:pPr>
                      <a:r>
                        <a:rPr lang="sv-SE" sz="1400" b="1" u="none" strike="noStrike" cap="none">
                          <a:solidFill>
                            <a:schemeClr val="dk1"/>
                          </a:solidFill>
                          <a:latin typeface="Arial"/>
                          <a:ea typeface="Arial"/>
                          <a:cs typeface="Arial"/>
                          <a:sym typeface="Arial"/>
                        </a:rPr>
                        <a:t>LÖSNING</a:t>
                      </a:r>
                      <a:endParaRPr/>
                    </a:p>
                  </a:txBody>
                  <a:tcPr marL="125475" marR="125475" marT="75275" marB="752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23895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Korten visar fel siffror</a:t>
                      </a:r>
                      <a:endParaRPr sz="2000" b="0" u="none" strike="noStrike" cap="none">
                        <a:solidFill>
                          <a:schemeClr val="dk1"/>
                        </a:solidFill>
                        <a:latin typeface="Arial"/>
                        <a:ea typeface="Arial"/>
                        <a:cs typeface="Arial"/>
                        <a:sym typeface="Arial"/>
                      </a:endParaRPr>
                    </a:p>
                  </a:txBody>
                  <a:tcPr marL="75275" marR="125475" marT="78425" marB="7527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Kontrollera aggregeringen (Summa, Antal, Genomsnitt). Klicka på fältet i "Fält"-rutan och välj rätt.</a:t>
                      </a:r>
                      <a:endParaRPr/>
                    </a:p>
                  </a:txBody>
                  <a:tcPr marL="125475" marR="75275" marT="78425" marB="75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5990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Tidslinjen visar konstiga luckor</a:t>
                      </a:r>
                      <a:endParaRPr sz="2000" b="0" u="none" strike="noStrike" cap="none">
                        <a:solidFill>
                          <a:schemeClr val="dk1"/>
                        </a:solidFill>
                        <a:latin typeface="Arial"/>
                        <a:ea typeface="Arial"/>
                        <a:cs typeface="Arial"/>
                        <a:sym typeface="Arial"/>
                      </a:endParaRPr>
                    </a:p>
                  </a:txBody>
                  <a:tcPr marL="75275" marR="125475" marT="78425" marB="75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Högerklicka på X-axeln → välj rätt datumfält (inte hierarkin).</a:t>
                      </a:r>
                      <a:endParaRPr/>
                    </a:p>
                  </a:txBody>
                  <a:tcPr marL="125475" marR="75275" marT="78425" marB="75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1552825">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Relationen mellan tabeller saknas</a:t>
                      </a:r>
                      <a:endParaRPr sz="2000" b="0" u="none" strike="noStrike" cap="none">
                        <a:solidFill>
                          <a:schemeClr val="dk1"/>
                        </a:solidFill>
                        <a:latin typeface="Arial"/>
                        <a:ea typeface="Arial"/>
                        <a:cs typeface="Arial"/>
                        <a:sym typeface="Arial"/>
                      </a:endParaRPr>
                    </a:p>
                  </a:txBody>
                  <a:tcPr marL="75275" marR="125475" marT="78425" marB="7527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8250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Gå till Modell-vyn och dra LogID från NetworkTrafficLogs till LogID i ThreatDetections.</a:t>
                      </a:r>
                      <a:endParaRPr/>
                    </a:p>
                  </a:txBody>
                  <a:tcPr marL="125475" marR="75275" marT="78425" marB="75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23895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Filter fungerar inte</a:t>
                      </a:r>
                      <a:endParaRPr sz="2000" b="0" u="none" strike="noStrike" cap="none">
                        <a:solidFill>
                          <a:schemeClr val="dk1"/>
                        </a:solidFill>
                        <a:latin typeface="Arial"/>
                        <a:ea typeface="Arial"/>
                        <a:cs typeface="Arial"/>
                        <a:sym typeface="Arial"/>
                      </a:endParaRPr>
                    </a:p>
                  </a:txBody>
                  <a:tcPr marL="75275" marR="125475" marT="78425" marB="75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Kontrollera att filtret är kopplat till rätt tabell. Klicka på filtret och se vilka kolumner som används.</a:t>
                      </a:r>
                      <a:endParaRPr/>
                    </a:p>
                  </a:txBody>
                  <a:tcPr marL="125475" marR="75275" marT="78425" marB="75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1238950">
                <a:tc>
                  <a:txBody>
                    <a:bodyPr/>
                    <a:lstStyle/>
                    <a:p>
                      <a:pPr marL="0" marR="0" lvl="0" indent="0" algn="l" rtl="0">
                        <a:lnSpc>
                          <a:spcPct val="93750"/>
                        </a:lnSpc>
                        <a:spcBef>
                          <a:spcPts val="0"/>
                        </a:spcBef>
                        <a:spcAft>
                          <a:spcPts val="0"/>
                        </a:spcAft>
                        <a:buClr>
                          <a:schemeClr val="dk1"/>
                        </a:buClr>
                        <a:buSzPts val="2000"/>
                        <a:buFont typeface="Arial"/>
                        <a:buNone/>
                      </a:pPr>
                      <a:r>
                        <a:rPr lang="sv-SE" sz="2000" b="1" u="none" strike="noStrike" cap="none">
                          <a:solidFill>
                            <a:schemeClr val="dk1"/>
                          </a:solidFill>
                          <a:latin typeface="Arial"/>
                          <a:ea typeface="Arial"/>
                          <a:cs typeface="Arial"/>
                          <a:sym typeface="Arial"/>
                        </a:rPr>
                        <a:t>Siffror uppdateras inte</a:t>
                      </a:r>
                      <a:endParaRPr sz="2000" b="0" u="none" strike="noStrike" cap="none">
                        <a:solidFill>
                          <a:schemeClr val="dk1"/>
                        </a:solidFill>
                        <a:latin typeface="Arial"/>
                        <a:ea typeface="Arial"/>
                        <a:cs typeface="Arial"/>
                        <a:sym typeface="Arial"/>
                      </a:endParaRPr>
                    </a:p>
                  </a:txBody>
                  <a:tcPr marL="75275" marR="125475" marT="78425" marB="7527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93750"/>
                        </a:lnSpc>
                        <a:spcBef>
                          <a:spcPts val="0"/>
                        </a:spcBef>
                        <a:spcAft>
                          <a:spcPts val="0"/>
                        </a:spcAft>
                        <a:buClr>
                          <a:schemeClr val="dk1"/>
                        </a:buClr>
                        <a:buSzPts val="2000"/>
                        <a:buFont typeface="Arial"/>
                        <a:buNone/>
                      </a:pPr>
                      <a:r>
                        <a:rPr lang="sv-SE" sz="2000" b="0" u="none" strike="noStrike" cap="none">
                          <a:solidFill>
                            <a:schemeClr val="dk1"/>
                          </a:solidFill>
                          <a:latin typeface="Arial"/>
                          <a:ea typeface="Arial"/>
                          <a:cs typeface="Arial"/>
                          <a:sym typeface="Arial"/>
                        </a:rPr>
                        <a:t>Klicka på </a:t>
                      </a:r>
                      <a:r>
                        <a:rPr lang="sv-SE" sz="2000" b="1" u="none" strike="noStrike" cap="none">
                          <a:solidFill>
                            <a:schemeClr val="dk1"/>
                          </a:solidFill>
                          <a:latin typeface="Arial"/>
                          <a:ea typeface="Arial"/>
                          <a:cs typeface="Arial"/>
                          <a:sym typeface="Arial"/>
                        </a:rPr>
                        <a:t>"Uppdatera"</a:t>
                      </a:r>
                      <a:r>
                        <a:rPr lang="sv-SE" sz="2000" b="0" u="none" strike="noStrike" cap="none">
                          <a:solidFill>
                            <a:schemeClr val="dk1"/>
                          </a:solidFill>
                          <a:latin typeface="Arial"/>
                          <a:ea typeface="Arial"/>
                          <a:cs typeface="Arial"/>
                          <a:sym typeface="Arial"/>
                        </a:rPr>
                        <a:t> (Refresh). Kontrollera att SQL Server är igång och att ny data finns.</a:t>
                      </a:r>
                      <a:endParaRPr/>
                    </a:p>
                  </a:txBody>
                  <a:tcPr marL="125475" marR="75275" marT="78425" marB="75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7"/>
        <p:cNvGrpSpPr/>
        <p:nvPr/>
      </p:nvGrpSpPr>
      <p:grpSpPr>
        <a:xfrm>
          <a:off x="0" y="0"/>
          <a:ext cx="0" cy="0"/>
          <a:chOff x="0" y="0"/>
          <a:chExt cx="0" cy="0"/>
        </a:xfrm>
      </p:grpSpPr>
      <p:sp>
        <p:nvSpPr>
          <p:cNvPr id="828" name="Google Shape;828;p7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29" name="Google Shape;829;p70"/>
          <p:cNvSpPr/>
          <p:nvPr/>
        </p:nvSpPr>
        <p:spPr>
          <a:xfrm>
            <a:off x="-1" y="0"/>
            <a:ext cx="4818889" cy="6858000"/>
          </a:xfrm>
          <a:custGeom>
            <a:avLst/>
            <a:gdLst/>
            <a:ahLst/>
            <a:cxnLst/>
            <a:rect l="l" t="t" r="r" b="b"/>
            <a:pathLst>
              <a:path w="4818889" h="6858000" extrusionOk="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w="9525" cap="flat" cmpd="sng">
            <a:solidFill>
              <a:srgbClr val="EFEFEF"/>
            </a:solidFill>
            <a:prstDash val="solid"/>
            <a:miter lim="8000"/>
            <a:headEnd type="none" w="sm" len="sm"/>
            <a:tailEnd type="none" w="sm" len="sm"/>
          </a:ln>
          <a:effectLst>
            <a:outerShdw blurRad="88900" dist="38100" algn="l" rotWithShape="0">
              <a:srgbClr val="D8D8D8">
                <a:alpha val="5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0" name="Google Shape;830;p70"/>
          <p:cNvSpPr/>
          <p:nvPr/>
        </p:nvSpPr>
        <p:spPr>
          <a:xfrm>
            <a:off x="1" y="0"/>
            <a:ext cx="4811477" cy="6858000"/>
          </a:xfrm>
          <a:custGeom>
            <a:avLst/>
            <a:gdLst/>
            <a:ahLst/>
            <a:cxnLst/>
            <a:rect l="l" t="t" r="r" b="b"/>
            <a:pathLst>
              <a:path w="4811477" h="6858000" extrusionOk="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1" name="Google Shape;831;p70"/>
          <p:cNvSpPr txBox="1">
            <a:spLocks noGrp="1"/>
          </p:cNvSpPr>
          <p:nvPr>
            <p:ph type="title"/>
          </p:nvPr>
        </p:nvSpPr>
        <p:spPr>
          <a:xfrm>
            <a:off x="621792" y="1161288"/>
            <a:ext cx="3602736" cy="45262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Play"/>
              <a:buNone/>
            </a:pPr>
            <a:r>
              <a:rPr lang="sv-SE" sz="4000"/>
              <a:t>Du har slutfört hela projektet!</a:t>
            </a:r>
            <a:endParaRPr sz="4000"/>
          </a:p>
        </p:txBody>
      </p:sp>
      <p:sp>
        <p:nvSpPr>
          <p:cNvPr id="832" name="Google Shape;832;p70"/>
          <p:cNvSpPr/>
          <p:nvPr/>
        </p:nvSpPr>
        <p:spPr>
          <a:xfrm>
            <a:off x="0" y="3081528"/>
            <a:ext cx="128016"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pSp>
        <p:nvGrpSpPr>
          <p:cNvPr id="833" name="Google Shape;833;p70"/>
          <p:cNvGrpSpPr/>
          <p:nvPr/>
        </p:nvGrpSpPr>
        <p:grpSpPr>
          <a:xfrm>
            <a:off x="5303520" y="680963"/>
            <a:ext cx="6364224" cy="5505217"/>
            <a:chOff x="0" y="4307"/>
            <a:chExt cx="6364224" cy="5505217"/>
          </a:xfrm>
        </p:grpSpPr>
        <p:sp>
          <p:nvSpPr>
            <p:cNvPr id="834" name="Google Shape;834;p70"/>
            <p:cNvSpPr/>
            <p:nvPr/>
          </p:nvSpPr>
          <p:spPr>
            <a:xfrm>
              <a:off x="0" y="4307"/>
              <a:ext cx="6364224" cy="91753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70"/>
            <p:cNvSpPr/>
            <p:nvPr/>
          </p:nvSpPr>
          <p:spPr>
            <a:xfrm>
              <a:off x="277554" y="210753"/>
              <a:ext cx="504644" cy="504644"/>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70"/>
            <p:cNvSpPr/>
            <p:nvPr/>
          </p:nvSpPr>
          <p:spPr>
            <a:xfrm>
              <a:off x="1059754" y="4307"/>
              <a:ext cx="5304469" cy="9175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70"/>
            <p:cNvSpPr txBox="1"/>
            <p:nvPr/>
          </p:nvSpPr>
          <p:spPr>
            <a:xfrm>
              <a:off x="1059754" y="4307"/>
              <a:ext cx="5304469" cy="917536"/>
            </a:xfrm>
            <a:prstGeom prst="rect">
              <a:avLst/>
            </a:prstGeom>
            <a:noFill/>
            <a:ln>
              <a:noFill/>
            </a:ln>
          </p:spPr>
          <p:txBody>
            <a:bodyPr spcFirstLastPara="1" wrap="square" lIns="97100" tIns="97100" rIns="97100" bIns="97100" anchor="ctr" anchorCtr="0">
              <a:noAutofit/>
            </a:bodyPr>
            <a:lstStyle/>
            <a:p>
              <a:pPr marL="0" marR="0" lvl="0" indent="0" algn="l" rtl="0">
                <a:lnSpc>
                  <a:spcPct val="90000"/>
                </a:lnSpc>
                <a:spcBef>
                  <a:spcPts val="0"/>
                </a:spcBef>
                <a:spcAft>
                  <a:spcPts val="0"/>
                </a:spcAft>
                <a:buClr>
                  <a:schemeClr val="dk1"/>
                </a:buClr>
                <a:buSzPts val="1900"/>
                <a:buFont typeface="Arial"/>
                <a:buNone/>
              </a:pPr>
              <a:r>
                <a:rPr lang="sv-SE" sz="1900">
                  <a:solidFill>
                    <a:schemeClr val="dk1"/>
                  </a:solidFill>
                  <a:latin typeface="Arial"/>
                  <a:ea typeface="Arial"/>
                  <a:cs typeface="Arial"/>
                  <a:sym typeface="Arial"/>
                </a:rPr>
                <a:t>Du har nu byggt ett komplett system där:</a:t>
              </a:r>
              <a:endParaRPr/>
            </a:p>
          </p:txBody>
        </p:sp>
        <p:sp>
          <p:nvSpPr>
            <p:cNvPr id="838" name="Google Shape;838;p70"/>
            <p:cNvSpPr/>
            <p:nvPr/>
          </p:nvSpPr>
          <p:spPr>
            <a:xfrm>
              <a:off x="0" y="1151227"/>
              <a:ext cx="6364224" cy="91753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70"/>
            <p:cNvSpPr/>
            <p:nvPr/>
          </p:nvSpPr>
          <p:spPr>
            <a:xfrm>
              <a:off x="277554" y="1357673"/>
              <a:ext cx="504644" cy="504644"/>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70"/>
            <p:cNvSpPr/>
            <p:nvPr/>
          </p:nvSpPr>
          <p:spPr>
            <a:xfrm>
              <a:off x="1059754" y="1151227"/>
              <a:ext cx="5304469" cy="9175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70"/>
            <p:cNvSpPr txBox="1"/>
            <p:nvPr/>
          </p:nvSpPr>
          <p:spPr>
            <a:xfrm>
              <a:off x="1059754" y="1151227"/>
              <a:ext cx="5304469" cy="917536"/>
            </a:xfrm>
            <a:prstGeom prst="rect">
              <a:avLst/>
            </a:prstGeom>
            <a:noFill/>
            <a:ln>
              <a:noFill/>
            </a:ln>
          </p:spPr>
          <p:txBody>
            <a:bodyPr spcFirstLastPara="1" wrap="square" lIns="97100" tIns="97100" rIns="97100" bIns="97100" anchor="ctr" anchorCtr="0">
              <a:noAutofit/>
            </a:bodyPr>
            <a:lstStyle/>
            <a:p>
              <a:pPr marL="0" marR="0" lvl="0" indent="0" algn="l" rtl="0">
                <a:lnSpc>
                  <a:spcPct val="90000"/>
                </a:lnSpc>
                <a:spcBef>
                  <a:spcPts val="0"/>
                </a:spcBef>
                <a:spcAft>
                  <a:spcPts val="0"/>
                </a:spcAft>
                <a:buClr>
                  <a:schemeClr val="dk1"/>
                </a:buClr>
                <a:buSzPts val="1900"/>
                <a:buFont typeface="Arial"/>
                <a:buNone/>
              </a:pPr>
              <a:r>
                <a:rPr lang="sv-SE" sz="1900">
                  <a:solidFill>
                    <a:schemeClr val="dk1"/>
                  </a:solidFill>
                  <a:latin typeface="Arial"/>
                  <a:ea typeface="Arial"/>
                  <a:cs typeface="Arial"/>
                  <a:sym typeface="Arial"/>
                </a:rPr>
                <a:t>✅ </a:t>
              </a:r>
              <a:r>
                <a:rPr lang="sv-SE" sz="1900" b="1">
                  <a:solidFill>
                    <a:schemeClr val="dk1"/>
                  </a:solidFill>
                  <a:latin typeface="Arial"/>
                  <a:ea typeface="Arial"/>
                  <a:cs typeface="Arial"/>
                  <a:sym typeface="Arial"/>
                </a:rPr>
                <a:t>Nätverkstrafik lagras i SQL Server</a:t>
              </a:r>
              <a:endParaRPr sz="1900">
                <a:solidFill>
                  <a:schemeClr val="dk1"/>
                </a:solidFill>
                <a:latin typeface="Arial"/>
                <a:ea typeface="Arial"/>
                <a:cs typeface="Arial"/>
                <a:sym typeface="Arial"/>
              </a:endParaRPr>
            </a:p>
          </p:txBody>
        </p:sp>
        <p:sp>
          <p:nvSpPr>
            <p:cNvPr id="842" name="Google Shape;842;p70"/>
            <p:cNvSpPr/>
            <p:nvPr/>
          </p:nvSpPr>
          <p:spPr>
            <a:xfrm>
              <a:off x="0" y="2298147"/>
              <a:ext cx="6364224" cy="91753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70"/>
            <p:cNvSpPr/>
            <p:nvPr/>
          </p:nvSpPr>
          <p:spPr>
            <a:xfrm>
              <a:off x="277554" y="2504593"/>
              <a:ext cx="504644" cy="504644"/>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70"/>
            <p:cNvSpPr/>
            <p:nvPr/>
          </p:nvSpPr>
          <p:spPr>
            <a:xfrm>
              <a:off x="1059754" y="2298147"/>
              <a:ext cx="5304469" cy="9175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70"/>
            <p:cNvSpPr txBox="1"/>
            <p:nvPr/>
          </p:nvSpPr>
          <p:spPr>
            <a:xfrm>
              <a:off x="1059754" y="2298147"/>
              <a:ext cx="5304469" cy="917536"/>
            </a:xfrm>
            <a:prstGeom prst="rect">
              <a:avLst/>
            </a:prstGeom>
            <a:noFill/>
            <a:ln>
              <a:noFill/>
            </a:ln>
          </p:spPr>
          <p:txBody>
            <a:bodyPr spcFirstLastPara="1" wrap="square" lIns="97100" tIns="97100" rIns="97100" bIns="97100" anchor="ctr" anchorCtr="0">
              <a:noAutofit/>
            </a:bodyPr>
            <a:lstStyle/>
            <a:p>
              <a:pPr marL="0" marR="0" lvl="0" indent="0" algn="l" rtl="0">
                <a:lnSpc>
                  <a:spcPct val="90000"/>
                </a:lnSpc>
                <a:spcBef>
                  <a:spcPts val="0"/>
                </a:spcBef>
                <a:spcAft>
                  <a:spcPts val="0"/>
                </a:spcAft>
                <a:buClr>
                  <a:schemeClr val="dk1"/>
                </a:buClr>
                <a:buSzPts val="1900"/>
                <a:buFont typeface="Arial"/>
                <a:buNone/>
              </a:pPr>
              <a:r>
                <a:rPr lang="sv-SE" sz="1900">
                  <a:solidFill>
                    <a:schemeClr val="dk1"/>
                  </a:solidFill>
                  <a:latin typeface="Arial"/>
                  <a:ea typeface="Arial"/>
                  <a:cs typeface="Arial"/>
                  <a:sym typeface="Arial"/>
                </a:rPr>
                <a:t>✅ </a:t>
              </a:r>
              <a:r>
                <a:rPr lang="sv-SE" sz="1900" b="1">
                  <a:solidFill>
                    <a:schemeClr val="dk1"/>
                  </a:solidFill>
                  <a:latin typeface="Arial"/>
                  <a:ea typeface="Arial"/>
                  <a:cs typeface="Arial"/>
                  <a:sym typeface="Arial"/>
                </a:rPr>
                <a:t>En ML-modell är tränad</a:t>
              </a:r>
              <a:r>
                <a:rPr lang="sv-SE" sz="1900">
                  <a:solidFill>
                    <a:schemeClr val="dk1"/>
                  </a:solidFill>
                  <a:latin typeface="Arial"/>
                  <a:ea typeface="Arial"/>
                  <a:cs typeface="Arial"/>
                  <a:sym typeface="Arial"/>
                </a:rPr>
                <a:t> att känna igen attacker</a:t>
              </a:r>
              <a:endParaRPr/>
            </a:p>
          </p:txBody>
        </p:sp>
        <p:sp>
          <p:nvSpPr>
            <p:cNvPr id="846" name="Google Shape;846;p70"/>
            <p:cNvSpPr/>
            <p:nvPr/>
          </p:nvSpPr>
          <p:spPr>
            <a:xfrm>
              <a:off x="0" y="3445068"/>
              <a:ext cx="6364224" cy="91753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70"/>
            <p:cNvSpPr/>
            <p:nvPr/>
          </p:nvSpPr>
          <p:spPr>
            <a:xfrm>
              <a:off x="277554" y="3651513"/>
              <a:ext cx="504644" cy="504644"/>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70"/>
            <p:cNvSpPr/>
            <p:nvPr/>
          </p:nvSpPr>
          <p:spPr>
            <a:xfrm>
              <a:off x="1059754" y="3445068"/>
              <a:ext cx="5304469" cy="9175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70"/>
            <p:cNvSpPr txBox="1"/>
            <p:nvPr/>
          </p:nvSpPr>
          <p:spPr>
            <a:xfrm>
              <a:off x="1059754" y="3445068"/>
              <a:ext cx="5304469" cy="917536"/>
            </a:xfrm>
            <a:prstGeom prst="rect">
              <a:avLst/>
            </a:prstGeom>
            <a:noFill/>
            <a:ln>
              <a:noFill/>
            </a:ln>
          </p:spPr>
          <p:txBody>
            <a:bodyPr spcFirstLastPara="1" wrap="square" lIns="97100" tIns="97100" rIns="97100" bIns="97100" anchor="ctr" anchorCtr="0">
              <a:noAutofit/>
            </a:bodyPr>
            <a:lstStyle/>
            <a:p>
              <a:pPr marL="0" marR="0" lvl="0" indent="0" algn="l" rtl="0">
                <a:lnSpc>
                  <a:spcPct val="90000"/>
                </a:lnSpc>
                <a:spcBef>
                  <a:spcPts val="0"/>
                </a:spcBef>
                <a:spcAft>
                  <a:spcPts val="0"/>
                </a:spcAft>
                <a:buClr>
                  <a:schemeClr val="dk1"/>
                </a:buClr>
                <a:buSzPts val="1900"/>
                <a:buFont typeface="Arial"/>
                <a:buNone/>
              </a:pPr>
              <a:r>
                <a:rPr lang="sv-SE" sz="1900">
                  <a:solidFill>
                    <a:schemeClr val="dk1"/>
                  </a:solidFill>
                  <a:latin typeface="Arial"/>
                  <a:ea typeface="Arial"/>
                  <a:cs typeface="Arial"/>
                  <a:sym typeface="Arial"/>
                </a:rPr>
                <a:t>✅ </a:t>
              </a:r>
              <a:r>
                <a:rPr lang="sv-SE" sz="1900" b="1">
                  <a:solidFill>
                    <a:schemeClr val="dk1"/>
                  </a:solidFill>
                  <a:latin typeface="Arial"/>
                  <a:ea typeface="Arial"/>
                  <a:cs typeface="Arial"/>
                  <a:sym typeface="Arial"/>
                </a:rPr>
                <a:t>Ett automatiserat skript analyserar ny data</a:t>
              </a:r>
              <a:r>
                <a:rPr lang="sv-SE" sz="1900">
                  <a:solidFill>
                    <a:schemeClr val="dk1"/>
                  </a:solidFill>
                  <a:latin typeface="Arial"/>
                  <a:ea typeface="Arial"/>
                  <a:cs typeface="Arial"/>
                  <a:sym typeface="Arial"/>
                </a:rPr>
                <a:t> och sparar resultat</a:t>
              </a:r>
              <a:endParaRPr/>
            </a:p>
          </p:txBody>
        </p:sp>
        <p:sp>
          <p:nvSpPr>
            <p:cNvPr id="850" name="Google Shape;850;p70"/>
            <p:cNvSpPr/>
            <p:nvPr/>
          </p:nvSpPr>
          <p:spPr>
            <a:xfrm>
              <a:off x="0" y="4591988"/>
              <a:ext cx="6364224" cy="91753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70"/>
            <p:cNvSpPr/>
            <p:nvPr/>
          </p:nvSpPr>
          <p:spPr>
            <a:xfrm>
              <a:off x="277554" y="4798433"/>
              <a:ext cx="504644" cy="504644"/>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70"/>
            <p:cNvSpPr/>
            <p:nvPr/>
          </p:nvSpPr>
          <p:spPr>
            <a:xfrm>
              <a:off x="1059754" y="4591988"/>
              <a:ext cx="5304469" cy="9175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70"/>
            <p:cNvSpPr txBox="1"/>
            <p:nvPr/>
          </p:nvSpPr>
          <p:spPr>
            <a:xfrm>
              <a:off x="1059754" y="4591988"/>
              <a:ext cx="5304469" cy="917536"/>
            </a:xfrm>
            <a:prstGeom prst="rect">
              <a:avLst/>
            </a:prstGeom>
            <a:noFill/>
            <a:ln>
              <a:noFill/>
            </a:ln>
          </p:spPr>
          <p:txBody>
            <a:bodyPr spcFirstLastPara="1" wrap="square" lIns="97100" tIns="97100" rIns="97100" bIns="97100" anchor="ctr" anchorCtr="0">
              <a:noAutofit/>
            </a:bodyPr>
            <a:lstStyle/>
            <a:p>
              <a:pPr marL="0" marR="0" lvl="0" indent="0" algn="l" rtl="0">
                <a:lnSpc>
                  <a:spcPct val="90000"/>
                </a:lnSpc>
                <a:spcBef>
                  <a:spcPts val="0"/>
                </a:spcBef>
                <a:spcAft>
                  <a:spcPts val="0"/>
                </a:spcAft>
                <a:buClr>
                  <a:schemeClr val="dk1"/>
                </a:buClr>
                <a:buSzPts val="1900"/>
                <a:buFont typeface="Arial"/>
                <a:buNone/>
              </a:pPr>
              <a:r>
                <a:rPr lang="sv-SE" sz="1900">
                  <a:solidFill>
                    <a:schemeClr val="dk1"/>
                  </a:solidFill>
                  <a:latin typeface="Arial"/>
                  <a:ea typeface="Arial"/>
                  <a:cs typeface="Arial"/>
                  <a:sym typeface="Arial"/>
                </a:rPr>
                <a:t>✅ </a:t>
              </a:r>
              <a:r>
                <a:rPr lang="sv-SE" sz="1900" b="1">
                  <a:solidFill>
                    <a:schemeClr val="dk1"/>
                  </a:solidFill>
                  <a:latin typeface="Arial"/>
                  <a:ea typeface="Arial"/>
                  <a:cs typeface="Arial"/>
                  <a:sym typeface="Arial"/>
                </a:rPr>
                <a:t>Power BI visualiserar resultaten</a:t>
              </a:r>
              <a:r>
                <a:rPr lang="sv-SE" sz="1900">
                  <a:solidFill>
                    <a:schemeClr val="dk1"/>
                  </a:solidFill>
                  <a:latin typeface="Arial"/>
                  <a:ea typeface="Arial"/>
                  <a:cs typeface="Arial"/>
                  <a:sym typeface="Arial"/>
                </a:rPr>
                <a:t> i en interaktiv rapport</a:t>
              </a:r>
              <a:endParaRPr/>
            </a:p>
          </p:txBody>
        </p:sp>
      </p:grpSp>
    </p:spTree>
  </p:cSld>
  <p:clrMapOvr>
    <a:masterClrMapping/>
  </p:clrMapOvr>
</p:sld>
</file>

<file path=ppt/theme/theme1.xml><?xml version="1.0" encoding="utf-8"?>
<a:theme xmlns:a="http://schemas.openxmlformats.org/drawingml/2006/main" name="Office-tema">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11640</Words>
  <Application>Microsoft Office PowerPoint</Application>
  <PresentationFormat>Widescreen</PresentationFormat>
  <Paragraphs>1089</Paragraphs>
  <Slides>70</Slides>
  <Notes>70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Consolas</vt:lpstr>
      <vt:lpstr>Calibri</vt:lpstr>
      <vt:lpstr>Play</vt:lpstr>
      <vt:lpstr>Office-tema</vt:lpstr>
      <vt:lpstr>Maskininlärning för nätverkssäkerhet analys av stora datamängder</vt:lpstr>
      <vt:lpstr>Översikt</vt:lpstr>
      <vt:lpstr>Mål</vt:lpstr>
      <vt:lpstr>Teknologier som används</vt:lpstr>
      <vt:lpstr>Projektets 12 steg – från installation till färdig rapport</vt:lpstr>
      <vt:lpstr>PowerPoint Presentation</vt:lpstr>
      <vt:lpstr>Flödet i projektet – så hänger allt ihop</vt:lpstr>
      <vt:lpstr>Sammanfattning</vt:lpstr>
      <vt:lpstr>Steg 1: Installera SQL Server (Databasmotorn). Vanliga frågor </vt:lpstr>
      <vt:lpstr>Steg 1: Installera SQL Server (Databasmotorn) SQL Server är själva motorn som lagrar och hanterar all data.</vt:lpstr>
      <vt:lpstr>Steg 2: Installera SSMS (SQL Server Management Studio).</vt:lpstr>
      <vt:lpstr>Steg-för-steg instruktioner för SSMS-installation</vt:lpstr>
      <vt:lpstr>Så här ser det ut när du är ansluten</vt:lpstr>
      <vt:lpstr>Vanliga frågor</vt:lpstr>
      <vt:lpstr>Felsökning – om du inte kan ansluta</vt:lpstr>
      <vt:lpstr>Steg 3: Koppla ihop SSMS med SQL Server</vt:lpstr>
      <vt:lpstr>Koppla ihop SSMS med SQL Server</vt:lpstr>
      <vt:lpstr>Vanliga frågor</vt:lpstr>
      <vt:lpstr>Felsökning</vt:lpstr>
      <vt:lpstr>Steg 4:   Installera Python.  Python är språket som vår ML-modell talar. </vt:lpstr>
      <vt:lpstr>Python-installation</vt:lpstr>
      <vt:lpstr>Installationsfönstret – VIKTIGA STEGET</vt:lpstr>
      <vt:lpstr>Testa i PowerShell</vt:lpstr>
      <vt:lpstr>Vad är pip?</vt:lpstr>
      <vt:lpstr>Vanliga frågor</vt:lpstr>
      <vt:lpstr>Felsökning </vt:lpstr>
      <vt:lpstr>Steg 5: Installera VS Code (Visual Studio Code). VS Code är vår arbetsyta och textredigerare. </vt:lpstr>
      <vt:lpstr>VS Code-installation</vt:lpstr>
      <vt:lpstr>PowerPoint Presentation</vt:lpstr>
      <vt:lpstr>Vanliga frågor</vt:lpstr>
      <vt:lpstr>Steg 6: Installera Python-tillägg i VS Code</vt:lpstr>
      <vt:lpstr>PowerPoint Presentation</vt:lpstr>
      <vt:lpstr>Vanliga frågor</vt:lpstr>
      <vt:lpstr>Felsökning </vt:lpstr>
      <vt:lpstr>Steg 7: Skapa databasen NetworkSecurityML</vt:lpstr>
      <vt:lpstr>PowerPoint Presentation</vt:lpstr>
      <vt:lpstr>Skapa ny databas</vt:lpstr>
      <vt:lpstr>Vanliga frågor</vt:lpstr>
      <vt:lpstr>Felsökning </vt:lpstr>
      <vt:lpstr>Steg 8: Skapa tabeller i databasen</vt:lpstr>
      <vt:lpstr>Varför gör vi detta? För att skapa de specifika tabeller som vårt nätverkssäkerhetsprojekt behöver. Utan tabeller har vi ingen struktur att lagra data i. De tre tabellerna är:</vt:lpstr>
      <vt:lpstr>PowerPoint Presentation</vt:lpstr>
      <vt:lpstr>Automatisk skapande av tabeller i SQL Server  (kort besrkivning)</vt:lpstr>
      <vt:lpstr>Vanliga frågor</vt:lpstr>
      <vt:lpstr>Felsökning </vt:lpstr>
      <vt:lpstr>Steg 9: Träna ML-modell i Google Colab</vt:lpstr>
      <vt:lpstr>Olika format för ML-modeller.  För vårt projekt är .pkl med joblib perfekt – det är standard för scikit-learn, enkelt och fungerar utmärkt i vår Python-baserade pipeline</vt:lpstr>
      <vt:lpstr>PowerPoint Presentation</vt:lpstr>
      <vt:lpstr>Vad innehåller den nedladdade zip-filen? network_model.zip</vt:lpstr>
      <vt:lpstr>PowerPoint Presentation</vt:lpstr>
      <vt:lpstr>Steg 10: Koppla ML-modellen till databasen och kör analys</vt:lpstr>
      <vt:lpstr>Förberedelser </vt:lpstr>
      <vt:lpstr>Steg-för-steg instruktioner för att köra ML-analysen</vt:lpstr>
      <vt:lpstr>PowerPoint Presentation</vt:lpstr>
      <vt:lpstr>Vad betyder utskrifterna?</vt:lpstr>
      <vt:lpstr>Vanliga frågor</vt:lpstr>
      <vt:lpstr>Felsökning</vt:lpstr>
      <vt:lpstr>PowerPoint Presentation</vt:lpstr>
      <vt:lpstr>Så här får du projektet att fungera på din dator</vt:lpstr>
      <vt:lpstr>Steg 11: Koppla Power BI till SQL Server</vt:lpstr>
      <vt:lpstr>Instruktioner för att koppla Power BI till SQL Server</vt:lpstr>
      <vt:lpstr>Vanliga frågor</vt:lpstr>
      <vt:lpstr>Felsökning </vt:lpstr>
      <vt:lpstr>Steg 12: Skapa Power BI-rapport för att visualisera ML-resultaten</vt:lpstr>
      <vt:lpstr>PowerPoint Presentation</vt:lpstr>
      <vt:lpstr>PowerPoint Presentation</vt:lpstr>
      <vt:lpstr>PowerPoint Presentation</vt:lpstr>
      <vt:lpstr>Vanliga frågor</vt:lpstr>
      <vt:lpstr>Felsökning </vt:lpstr>
      <vt:lpstr>Du har slutfört hela projektet!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Arseniy Buzyan (extern)</cp:lastModifiedBy>
  <cp:revision>1</cp:revision>
  <dcterms:created xsi:type="dcterms:W3CDTF">2026-03-09T11:28:11Z</dcterms:created>
  <dcterms:modified xsi:type="dcterms:W3CDTF">2026-09-25T14:03:14Z</dcterms:modified>
</cp:coreProperties>
</file>